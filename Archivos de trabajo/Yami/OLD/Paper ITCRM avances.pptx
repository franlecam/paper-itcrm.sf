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2" r:id="rId4"/>
    <p:sldId id="266" r:id="rId5"/>
    <p:sldId id="260" r:id="rId6"/>
    <p:sldId id="263" r:id="rId7"/>
    <p:sldId id="264" r:id="rId8"/>
    <p:sldId id="268" r:id="rId9"/>
    <p:sldId id="265" r:id="rId10"/>
    <p:sldId id="267" r:id="rId11"/>
    <p:sldId id="269" r:id="rId12"/>
    <p:sldId id="259" r:id="rId13"/>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4"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la Sonder" userId="bd03ae9016654ccc" providerId="LiveId" clId="{E0EB2C10-073A-4D13-B380-B11373A0D25D}"/>
    <pc:docChg chg="undo custSel addSld delSld modSld sldOrd">
      <pc:chgData name="Yamila Sonder" userId="bd03ae9016654ccc" providerId="LiveId" clId="{E0EB2C10-073A-4D13-B380-B11373A0D25D}" dt="2026-02-10T21:04:08.494" v="1367" actId="1076"/>
      <pc:docMkLst>
        <pc:docMk/>
      </pc:docMkLst>
      <pc:sldChg chg="addSp modSp mod">
        <pc:chgData name="Yamila Sonder" userId="bd03ae9016654ccc" providerId="LiveId" clId="{E0EB2C10-073A-4D13-B380-B11373A0D25D}" dt="2026-02-09T00:56:40.851" v="513" actId="1036"/>
        <pc:sldMkLst>
          <pc:docMk/>
          <pc:sldMk cId="3246655295" sldId="256"/>
        </pc:sldMkLst>
        <pc:spChg chg="add mod">
          <ac:chgData name="Yamila Sonder" userId="bd03ae9016654ccc" providerId="LiveId" clId="{E0EB2C10-073A-4D13-B380-B11373A0D25D}" dt="2026-02-08T20:14:30.541" v="104" actId="1076"/>
          <ac:spMkLst>
            <pc:docMk/>
            <pc:sldMk cId="3246655295" sldId="256"/>
            <ac:spMk id="2" creationId="{65666721-813E-350A-4E4C-D6312BE0728D}"/>
          </ac:spMkLst>
        </pc:spChg>
        <pc:picChg chg="mod">
          <ac:chgData name="Yamila Sonder" userId="bd03ae9016654ccc" providerId="LiveId" clId="{E0EB2C10-073A-4D13-B380-B11373A0D25D}" dt="2026-02-09T00:56:40.851" v="513" actId="1036"/>
          <ac:picMkLst>
            <pc:docMk/>
            <pc:sldMk cId="3246655295" sldId="256"/>
            <ac:picMk id="5" creationId="{ABE2BDF7-1DE0-4F48-E8D4-7F6F0358456D}"/>
          </ac:picMkLst>
        </pc:picChg>
      </pc:sldChg>
      <pc:sldChg chg="addSp delSp modSp mod">
        <pc:chgData name="Yamila Sonder" userId="bd03ae9016654ccc" providerId="LiveId" clId="{E0EB2C10-073A-4D13-B380-B11373A0D25D}" dt="2026-02-10T20:50:58.737" v="1083" actId="14100"/>
        <pc:sldMkLst>
          <pc:docMk/>
          <pc:sldMk cId="1528651842" sldId="258"/>
        </pc:sldMkLst>
        <pc:spChg chg="add del mod">
          <ac:chgData name="Yamila Sonder" userId="bd03ae9016654ccc" providerId="LiveId" clId="{E0EB2C10-073A-4D13-B380-B11373A0D25D}" dt="2026-02-10T20:44:04.556" v="859" actId="478"/>
          <ac:spMkLst>
            <pc:docMk/>
            <pc:sldMk cId="1528651842" sldId="258"/>
            <ac:spMk id="2" creationId="{45D6B7AC-C4BB-D67A-E510-0859C1F11532}"/>
          </ac:spMkLst>
        </pc:spChg>
        <pc:spChg chg="add mod">
          <ac:chgData name="Yamila Sonder" userId="bd03ae9016654ccc" providerId="LiveId" clId="{E0EB2C10-073A-4D13-B380-B11373A0D25D}" dt="2026-02-10T20:49:26.192" v="1043" actId="113"/>
          <ac:spMkLst>
            <pc:docMk/>
            <pc:sldMk cId="1528651842" sldId="258"/>
            <ac:spMk id="3" creationId="{681CB091-B273-1C27-A1C4-4328D4ACE89D}"/>
          </ac:spMkLst>
        </pc:spChg>
        <pc:spChg chg="add mod">
          <ac:chgData name="Yamila Sonder" userId="bd03ae9016654ccc" providerId="LiveId" clId="{E0EB2C10-073A-4D13-B380-B11373A0D25D}" dt="2026-02-10T20:47:33.984" v="997" actId="2710"/>
          <ac:spMkLst>
            <pc:docMk/>
            <pc:sldMk cId="1528651842" sldId="258"/>
            <ac:spMk id="5" creationId="{09EC4BFC-A99F-7BB4-E7B0-AAFDF7E08402}"/>
          </ac:spMkLst>
        </pc:spChg>
        <pc:spChg chg="add mod">
          <ac:chgData name="Yamila Sonder" userId="bd03ae9016654ccc" providerId="LiveId" clId="{E0EB2C10-073A-4D13-B380-B11373A0D25D}" dt="2026-02-10T20:50:58.737" v="1083" actId="14100"/>
          <ac:spMkLst>
            <pc:docMk/>
            <pc:sldMk cId="1528651842" sldId="258"/>
            <ac:spMk id="6" creationId="{9DF798A2-F070-42AA-14C3-DB8CDAE839AD}"/>
          </ac:spMkLst>
        </pc:spChg>
        <pc:picChg chg="mod">
          <ac:chgData name="Yamila Sonder" userId="bd03ae9016654ccc" providerId="LiveId" clId="{E0EB2C10-073A-4D13-B380-B11373A0D25D}" dt="2026-02-10T20:49:42.682" v="1048" actId="1076"/>
          <ac:picMkLst>
            <pc:docMk/>
            <pc:sldMk cId="1528651842" sldId="258"/>
            <ac:picMk id="4" creationId="{C10CEDF8-C788-72B6-E9E6-EBC4268C7B97}"/>
          </ac:picMkLst>
        </pc:picChg>
        <pc:cxnChg chg="add mod">
          <ac:chgData name="Yamila Sonder" userId="bd03ae9016654ccc" providerId="LiveId" clId="{E0EB2C10-073A-4D13-B380-B11373A0D25D}" dt="2026-02-10T20:49:41.957" v="1047" actId="13822"/>
          <ac:cxnSpMkLst>
            <pc:docMk/>
            <pc:sldMk cId="1528651842" sldId="258"/>
            <ac:cxnSpMk id="8" creationId="{BA2909B8-D04A-7547-7E6D-2A18BB0B5DFE}"/>
          </ac:cxnSpMkLst>
        </pc:cxnChg>
      </pc:sldChg>
      <pc:sldChg chg="addSp delSp modSp add mod ord">
        <pc:chgData name="Yamila Sonder" userId="bd03ae9016654ccc" providerId="LiveId" clId="{E0EB2C10-073A-4D13-B380-B11373A0D25D}" dt="2026-02-10T20:56:50.657" v="1235"/>
        <pc:sldMkLst>
          <pc:docMk/>
          <pc:sldMk cId="1933044650" sldId="260"/>
        </pc:sldMkLst>
        <pc:spChg chg="add del">
          <ac:chgData name="Yamila Sonder" userId="bd03ae9016654ccc" providerId="LiveId" clId="{E0EB2C10-073A-4D13-B380-B11373A0D25D}" dt="2026-02-10T20:37:43.052" v="686" actId="478"/>
          <ac:spMkLst>
            <pc:docMk/>
            <pc:sldMk cId="1933044650" sldId="260"/>
            <ac:spMk id="2" creationId="{E4569323-311A-D914-02E9-4DFDE625DE09}"/>
          </ac:spMkLst>
        </pc:spChg>
        <pc:spChg chg="del mod">
          <ac:chgData name="Yamila Sonder" userId="bd03ae9016654ccc" providerId="LiveId" clId="{E0EB2C10-073A-4D13-B380-B11373A0D25D}" dt="2026-02-10T20:38:19.289" v="712" actId="478"/>
          <ac:spMkLst>
            <pc:docMk/>
            <pc:sldMk cId="1933044650" sldId="260"/>
            <ac:spMk id="3" creationId="{B5BE83B6-061C-B15A-9A95-DFB8F3E01CE1}"/>
          </ac:spMkLst>
        </pc:spChg>
        <pc:spChg chg="add mod">
          <ac:chgData name="Yamila Sonder" userId="bd03ae9016654ccc" providerId="LiveId" clId="{E0EB2C10-073A-4D13-B380-B11373A0D25D}" dt="2026-02-10T20:38:14.817" v="710" actId="255"/>
          <ac:spMkLst>
            <pc:docMk/>
            <pc:sldMk cId="1933044650" sldId="260"/>
            <ac:spMk id="6" creationId="{23AA9947-F040-432B-8F54-232A41397273}"/>
          </ac:spMkLst>
        </pc:spChg>
        <pc:picChg chg="add del mod">
          <ac:chgData name="Yamila Sonder" userId="bd03ae9016654ccc" providerId="LiveId" clId="{E0EB2C10-073A-4D13-B380-B11373A0D25D}" dt="2026-02-10T20:37:43.052" v="686" actId="478"/>
          <ac:picMkLst>
            <pc:docMk/>
            <pc:sldMk cId="1933044650" sldId="260"/>
            <ac:picMk id="4" creationId="{40FDB3CB-7FF1-4705-787B-8F7AC43C87E6}"/>
          </ac:picMkLst>
        </pc:picChg>
        <pc:picChg chg="add mod">
          <ac:chgData name="Yamila Sonder" userId="bd03ae9016654ccc" providerId="LiveId" clId="{E0EB2C10-073A-4D13-B380-B11373A0D25D}" dt="2026-02-10T20:37:34.298" v="685"/>
          <ac:picMkLst>
            <pc:docMk/>
            <pc:sldMk cId="1933044650" sldId="260"/>
            <ac:picMk id="5" creationId="{4D175B7E-45C2-8209-34DF-BD50BD625979}"/>
          </ac:picMkLst>
        </pc:picChg>
        <pc:picChg chg="add del mod">
          <ac:chgData name="Yamila Sonder" userId="bd03ae9016654ccc" providerId="LiveId" clId="{E0EB2C10-073A-4D13-B380-B11373A0D25D}" dt="2026-02-10T20:39:28.264" v="749" actId="478"/>
          <ac:picMkLst>
            <pc:docMk/>
            <pc:sldMk cId="1933044650" sldId="260"/>
            <ac:picMk id="1026" creationId="{8ABD6F65-13CB-C1CF-C18F-FFF5FD4EAECA}"/>
          </ac:picMkLst>
        </pc:picChg>
        <pc:picChg chg="add mod">
          <ac:chgData name="Yamila Sonder" userId="bd03ae9016654ccc" providerId="LiveId" clId="{E0EB2C10-073A-4D13-B380-B11373A0D25D}" dt="2026-02-10T20:39:32.419" v="752" actId="1076"/>
          <ac:picMkLst>
            <pc:docMk/>
            <pc:sldMk cId="1933044650" sldId="260"/>
            <ac:picMk id="1028" creationId="{0A50C981-7984-2E7C-C8ED-170A3BEF124D}"/>
          </ac:picMkLst>
        </pc:picChg>
      </pc:sldChg>
      <pc:sldChg chg="delSp modSp add del mod">
        <pc:chgData name="Yamila Sonder" userId="bd03ae9016654ccc" providerId="LiveId" clId="{E0EB2C10-073A-4D13-B380-B11373A0D25D}" dt="2026-02-10T20:59:26.843" v="1339" actId="2696"/>
        <pc:sldMkLst>
          <pc:docMk/>
          <pc:sldMk cId="1740647609" sldId="261"/>
        </pc:sldMkLst>
        <pc:spChg chg="del mod">
          <ac:chgData name="Yamila Sonder" userId="bd03ae9016654ccc" providerId="LiveId" clId="{E0EB2C10-073A-4D13-B380-B11373A0D25D}" dt="2026-02-10T20:56:57.011" v="1236" actId="478"/>
          <ac:spMkLst>
            <pc:docMk/>
            <pc:sldMk cId="1740647609" sldId="261"/>
            <ac:spMk id="3" creationId="{DB2B2130-26AF-3119-EB54-98BD491B557A}"/>
          </ac:spMkLst>
        </pc:spChg>
        <pc:picChg chg="mod">
          <ac:chgData name="Yamila Sonder" userId="bd03ae9016654ccc" providerId="LiveId" clId="{E0EB2C10-073A-4D13-B380-B11373A0D25D}" dt="2026-02-10T20:39:40.260" v="756" actId="1076"/>
          <ac:picMkLst>
            <pc:docMk/>
            <pc:sldMk cId="1740647609" sldId="261"/>
            <ac:picMk id="4" creationId="{8B26F119-A062-69C3-2559-402447F360C3}"/>
          </ac:picMkLst>
        </pc:picChg>
      </pc:sldChg>
      <pc:sldChg chg="addSp modSp add mod">
        <pc:chgData name="Yamila Sonder" userId="bd03ae9016654ccc" providerId="LiveId" clId="{E0EB2C10-073A-4D13-B380-B11373A0D25D}" dt="2026-02-10T21:04:08.494" v="1367" actId="1076"/>
        <pc:sldMkLst>
          <pc:docMk/>
          <pc:sldMk cId="1101920774" sldId="262"/>
        </pc:sldMkLst>
        <pc:spChg chg="add mod">
          <ac:chgData name="Yamila Sonder" userId="bd03ae9016654ccc" providerId="LiveId" clId="{E0EB2C10-073A-4D13-B380-B11373A0D25D}" dt="2026-02-10T21:04:08.494" v="1367" actId="1076"/>
          <ac:spMkLst>
            <pc:docMk/>
            <pc:sldMk cId="1101920774" sldId="262"/>
            <ac:spMk id="2" creationId="{3CED2F11-3FAC-A8A2-D2C5-2320A976C00F}"/>
          </ac:spMkLst>
        </pc:spChg>
        <pc:spChg chg="mod">
          <ac:chgData name="Yamila Sonder" userId="bd03ae9016654ccc" providerId="LiveId" clId="{E0EB2C10-073A-4D13-B380-B11373A0D25D}" dt="2026-02-10T21:04:00.397" v="1363" actId="1076"/>
          <ac:spMkLst>
            <pc:docMk/>
            <pc:sldMk cId="1101920774" sldId="262"/>
            <ac:spMk id="3" creationId="{BCC49EA3-F184-1E2F-DBF2-5686A9F344F4}"/>
          </ac:spMkLst>
        </pc:spChg>
        <pc:picChg chg="mod">
          <ac:chgData name="Yamila Sonder" userId="bd03ae9016654ccc" providerId="LiveId" clId="{E0EB2C10-073A-4D13-B380-B11373A0D25D}" dt="2026-02-10T21:04:05.760" v="1366" actId="1076"/>
          <ac:picMkLst>
            <pc:docMk/>
            <pc:sldMk cId="1101920774" sldId="262"/>
            <ac:picMk id="4" creationId="{DAEF3063-D496-6507-31B4-43B255B02B40}"/>
          </ac:picMkLst>
        </pc:picChg>
      </pc:sldChg>
      <pc:sldChg chg="addSp delSp modSp add mod ord">
        <pc:chgData name="Yamila Sonder" userId="bd03ae9016654ccc" providerId="LiveId" clId="{E0EB2C10-073A-4D13-B380-B11373A0D25D}" dt="2026-02-10T21:03:04.386" v="1345" actId="1076"/>
        <pc:sldMkLst>
          <pc:docMk/>
          <pc:sldMk cId="3097799983" sldId="263"/>
        </pc:sldMkLst>
        <pc:spChg chg="del mod">
          <ac:chgData name="Yamila Sonder" userId="bd03ae9016654ccc" providerId="LiveId" clId="{E0EB2C10-073A-4D13-B380-B11373A0D25D}" dt="2026-02-09T00:46:52.893" v="447" actId="478"/>
          <ac:spMkLst>
            <pc:docMk/>
            <pc:sldMk cId="3097799983" sldId="263"/>
            <ac:spMk id="3" creationId="{7225846E-F48F-0105-6AF5-3257413C95B2}"/>
          </ac:spMkLst>
        </pc:spChg>
        <pc:spChg chg="add mod">
          <ac:chgData name="Yamila Sonder" userId="bd03ae9016654ccc" providerId="LiveId" clId="{E0EB2C10-073A-4D13-B380-B11373A0D25D}" dt="2026-02-10T20:39:19.563" v="746" actId="1076"/>
          <ac:spMkLst>
            <pc:docMk/>
            <pc:sldMk cId="3097799983" sldId="263"/>
            <ac:spMk id="3" creationId="{BA3D035A-23F7-3C21-AF4E-B1FD17E4F12F}"/>
          </ac:spMkLst>
        </pc:spChg>
        <pc:spChg chg="add del mod">
          <ac:chgData name="Yamila Sonder" userId="bd03ae9016654ccc" providerId="LiveId" clId="{E0EB2C10-073A-4D13-B380-B11373A0D25D}" dt="2026-02-10T20:38:49.247" v="718" actId="478"/>
          <ac:spMkLst>
            <pc:docMk/>
            <pc:sldMk cId="3097799983" sldId="263"/>
            <ac:spMk id="5" creationId="{A07648F0-D8B2-B7CC-AEDC-20ED0B7F7155}"/>
          </ac:spMkLst>
        </pc:spChg>
        <pc:graphicFrameChg chg="add del mod modGraphic">
          <ac:chgData name="Yamila Sonder" userId="bd03ae9016654ccc" providerId="LiveId" clId="{E0EB2C10-073A-4D13-B380-B11373A0D25D}" dt="2026-02-10T21:03:04.386" v="1345" actId="1076"/>
          <ac:graphicFrameMkLst>
            <pc:docMk/>
            <pc:sldMk cId="3097799983" sldId="263"/>
            <ac:graphicFrameMk id="2" creationId="{D8FE13B4-55BC-BE68-1F9F-6C3843F421E8}"/>
          </ac:graphicFrameMkLst>
        </pc:graphicFrameChg>
        <pc:picChg chg="mod">
          <ac:chgData name="Yamila Sonder" userId="bd03ae9016654ccc" providerId="LiveId" clId="{E0EB2C10-073A-4D13-B380-B11373A0D25D}" dt="2026-02-09T00:56:46.153" v="514" actId="1037"/>
          <ac:picMkLst>
            <pc:docMk/>
            <pc:sldMk cId="3097799983" sldId="263"/>
            <ac:picMk id="4" creationId="{5BE6E915-C0FC-7F06-2A6D-9BBA1444BB39}"/>
          </ac:picMkLst>
        </pc:picChg>
        <pc:picChg chg="add mod">
          <ac:chgData name="Yamila Sonder" userId="bd03ae9016654ccc" providerId="LiveId" clId="{E0EB2C10-073A-4D13-B380-B11373A0D25D}" dt="2026-02-10T20:39:38.358" v="755" actId="1076"/>
          <ac:picMkLst>
            <pc:docMk/>
            <pc:sldMk cId="3097799983" sldId="263"/>
            <ac:picMk id="6" creationId="{DFDAD657-093C-782E-D654-9E0B42DBCE20}"/>
          </ac:picMkLst>
        </pc:picChg>
      </pc:sldChg>
      <pc:sldChg chg="addSp delSp modSp add mod">
        <pc:chgData name="Yamila Sonder" userId="bd03ae9016654ccc" providerId="LiveId" clId="{E0EB2C10-073A-4D13-B380-B11373A0D25D}" dt="2026-02-10T20:57:55.027" v="1251" actId="20577"/>
        <pc:sldMkLst>
          <pc:docMk/>
          <pc:sldMk cId="2309206629" sldId="264"/>
        </pc:sldMkLst>
        <pc:spChg chg="add mod">
          <ac:chgData name="Yamila Sonder" userId="bd03ae9016654ccc" providerId="LiveId" clId="{E0EB2C10-073A-4D13-B380-B11373A0D25D}" dt="2026-02-10T20:04:06.738" v="661" actId="1076"/>
          <ac:spMkLst>
            <pc:docMk/>
            <pc:sldMk cId="2309206629" sldId="264"/>
            <ac:spMk id="2" creationId="{CEDD22DF-45C2-D41B-3D58-F722D3E30436}"/>
          </ac:spMkLst>
        </pc:spChg>
        <pc:spChg chg="del">
          <ac:chgData name="Yamila Sonder" userId="bd03ae9016654ccc" providerId="LiveId" clId="{E0EB2C10-073A-4D13-B380-B11373A0D25D}" dt="2026-02-10T19:48:06.048" v="523" actId="478"/>
          <ac:spMkLst>
            <pc:docMk/>
            <pc:sldMk cId="2309206629" sldId="264"/>
            <ac:spMk id="3" creationId="{A80CB530-57B6-0D21-3AC2-6393220902EC}"/>
          </ac:spMkLst>
        </pc:spChg>
        <pc:spChg chg="add mod">
          <ac:chgData name="Yamila Sonder" userId="bd03ae9016654ccc" providerId="LiveId" clId="{E0EB2C10-073A-4D13-B380-B11373A0D25D}" dt="2026-02-10T20:57:55.027" v="1251" actId="20577"/>
          <ac:spMkLst>
            <pc:docMk/>
            <pc:sldMk cId="2309206629" sldId="264"/>
            <ac:spMk id="7" creationId="{B40CA2AC-5892-BC0D-F83C-3F275BD9A96D}"/>
          </ac:spMkLst>
        </pc:spChg>
        <pc:spChg chg="add mod">
          <ac:chgData name="Yamila Sonder" userId="bd03ae9016654ccc" providerId="LiveId" clId="{E0EB2C10-073A-4D13-B380-B11373A0D25D}" dt="2026-02-10T20:37:19.753" v="682"/>
          <ac:spMkLst>
            <pc:docMk/>
            <pc:sldMk cId="2309206629" sldId="264"/>
            <ac:spMk id="8" creationId="{6FEBC68B-D597-ADCF-0792-08A57F73875F}"/>
          </ac:spMkLst>
        </pc:spChg>
        <pc:picChg chg="add del mod">
          <ac:chgData name="Yamila Sonder" userId="bd03ae9016654ccc" providerId="LiveId" clId="{E0EB2C10-073A-4D13-B380-B11373A0D25D}" dt="2026-02-10T20:37:23.465" v="684" actId="21"/>
          <ac:picMkLst>
            <pc:docMk/>
            <pc:sldMk cId="2309206629" sldId="264"/>
            <ac:picMk id="4" creationId="{4D175B7E-45C2-8209-34DF-BD50BD625979}"/>
          </ac:picMkLst>
        </pc:picChg>
        <pc:picChg chg="add mod">
          <ac:chgData name="Yamila Sonder" userId="bd03ae9016654ccc" providerId="LiveId" clId="{E0EB2C10-073A-4D13-B380-B11373A0D25D}" dt="2026-02-10T20:04:13.208" v="664" actId="1076"/>
          <ac:picMkLst>
            <pc:docMk/>
            <pc:sldMk cId="2309206629" sldId="264"/>
            <ac:picMk id="6" creationId="{14842196-80B1-0425-0C7C-0575630C6EA0}"/>
          </ac:picMkLst>
        </pc:picChg>
      </pc:sldChg>
      <pc:sldChg chg="addSp delSp modSp add mod">
        <pc:chgData name="Yamila Sonder" userId="bd03ae9016654ccc" providerId="LiveId" clId="{E0EB2C10-073A-4D13-B380-B11373A0D25D}" dt="2026-02-10T20:58:51.454" v="1328" actId="113"/>
        <pc:sldMkLst>
          <pc:docMk/>
          <pc:sldMk cId="4060738294" sldId="265"/>
        </pc:sldMkLst>
        <pc:spChg chg="del mod">
          <ac:chgData name="Yamila Sonder" userId="bd03ae9016654ccc" providerId="LiveId" clId="{E0EB2C10-073A-4D13-B380-B11373A0D25D}" dt="2026-02-10T20:35:06.857" v="677"/>
          <ac:spMkLst>
            <pc:docMk/>
            <pc:sldMk cId="4060738294" sldId="265"/>
            <ac:spMk id="2" creationId="{F6A4EA8F-9D30-52BD-F304-DDC6BBDF4A31}"/>
          </ac:spMkLst>
        </pc:spChg>
        <pc:spChg chg="add mod">
          <ac:chgData name="Yamila Sonder" userId="bd03ae9016654ccc" providerId="LiveId" clId="{E0EB2C10-073A-4D13-B380-B11373A0D25D}" dt="2026-02-10T20:58:51.454" v="1328" actId="113"/>
          <ac:spMkLst>
            <pc:docMk/>
            <pc:sldMk cId="4060738294" sldId="265"/>
            <ac:spMk id="5" creationId="{7DCAC650-D1E9-6F86-5E92-EA454C36CA9C}"/>
          </ac:spMkLst>
        </pc:spChg>
        <pc:spChg chg="del mod">
          <ac:chgData name="Yamila Sonder" userId="bd03ae9016654ccc" providerId="LiveId" clId="{E0EB2C10-073A-4D13-B380-B11373A0D25D}" dt="2026-02-10T20:35:06.857" v="675"/>
          <ac:spMkLst>
            <pc:docMk/>
            <pc:sldMk cId="4060738294" sldId="265"/>
            <ac:spMk id="7" creationId="{C139D9B1-5876-9C6F-E76F-0A2A6E450380}"/>
          </ac:spMkLst>
        </pc:spChg>
        <pc:picChg chg="add mod">
          <ac:chgData name="Yamila Sonder" userId="bd03ae9016654ccc" providerId="LiveId" clId="{E0EB2C10-073A-4D13-B380-B11373A0D25D}" dt="2026-02-10T20:58:14.280" v="1256" actId="1076"/>
          <ac:picMkLst>
            <pc:docMk/>
            <pc:sldMk cId="4060738294" sldId="265"/>
            <ac:picMk id="3" creationId="{3C73FBB2-7AB4-47BF-FA06-8D0FB279224C}"/>
          </ac:picMkLst>
        </pc:picChg>
        <pc:picChg chg="del">
          <ac:chgData name="Yamila Sonder" userId="bd03ae9016654ccc" providerId="LiveId" clId="{E0EB2C10-073A-4D13-B380-B11373A0D25D}" dt="2026-02-10T20:04:25.363" v="666" actId="478"/>
          <ac:picMkLst>
            <pc:docMk/>
            <pc:sldMk cId="4060738294" sldId="265"/>
            <ac:picMk id="6" creationId="{0ED817D3-805B-F413-D5E0-E85CA064278A}"/>
          </ac:picMkLst>
        </pc:picChg>
      </pc:sldChg>
      <pc:sldChg chg="addSp delSp modSp new mod">
        <pc:chgData name="Yamila Sonder" userId="bd03ae9016654ccc" providerId="LiveId" clId="{E0EB2C10-073A-4D13-B380-B11373A0D25D}" dt="2026-02-10T20:56:41.924" v="1233" actId="2711"/>
        <pc:sldMkLst>
          <pc:docMk/>
          <pc:sldMk cId="839492070" sldId="266"/>
        </pc:sldMkLst>
        <pc:spChg chg="mod">
          <ac:chgData name="Yamila Sonder" userId="bd03ae9016654ccc" providerId="LiveId" clId="{E0EB2C10-073A-4D13-B380-B11373A0D25D}" dt="2026-02-10T20:55:49.355" v="1230" actId="1076"/>
          <ac:spMkLst>
            <pc:docMk/>
            <pc:sldMk cId="839492070" sldId="266"/>
            <ac:spMk id="2" creationId="{0BC0A99B-AB43-6DA3-43B7-173FBB0BCB80}"/>
          </ac:spMkLst>
        </pc:spChg>
        <pc:spChg chg="mod">
          <ac:chgData name="Yamila Sonder" userId="bd03ae9016654ccc" providerId="LiveId" clId="{E0EB2C10-073A-4D13-B380-B11373A0D25D}" dt="2026-02-10T20:55:04.571" v="1218" actId="20577"/>
          <ac:spMkLst>
            <pc:docMk/>
            <pc:sldMk cId="839492070" sldId="266"/>
            <ac:spMk id="3" creationId="{8499D088-F31D-9A18-D1BD-6FD0681D6492}"/>
          </ac:spMkLst>
        </pc:spChg>
        <pc:spChg chg="add del mod">
          <ac:chgData name="Yamila Sonder" userId="bd03ae9016654ccc" providerId="LiveId" clId="{E0EB2C10-073A-4D13-B380-B11373A0D25D}" dt="2026-02-10T20:55:45.461" v="1229" actId="478"/>
          <ac:spMkLst>
            <pc:docMk/>
            <pc:sldMk cId="839492070" sldId="266"/>
            <ac:spMk id="4" creationId="{68FC33E2-950A-439B-0ED6-A3AAD6557357}"/>
          </ac:spMkLst>
        </pc:spChg>
        <pc:spChg chg="add mod">
          <ac:chgData name="Yamila Sonder" userId="bd03ae9016654ccc" providerId="LiveId" clId="{E0EB2C10-073A-4D13-B380-B11373A0D25D}" dt="2026-02-10T20:56:41.924" v="1233" actId="2711"/>
          <ac:spMkLst>
            <pc:docMk/>
            <pc:sldMk cId="839492070" sldId="266"/>
            <ac:spMk id="6" creationId="{8EC9A27D-DB34-E166-7114-275FC33A6DA5}"/>
          </ac:spMkLst>
        </pc:spChg>
        <pc:picChg chg="add mod ord">
          <ac:chgData name="Yamila Sonder" userId="bd03ae9016654ccc" providerId="LiveId" clId="{E0EB2C10-073A-4D13-B380-B11373A0D25D}" dt="2026-02-10T20:55:41.839" v="1227" actId="167"/>
          <ac:picMkLst>
            <pc:docMk/>
            <pc:sldMk cId="839492070" sldId="266"/>
            <ac:picMk id="5" creationId="{DCA0CB9D-3D5F-33EE-C504-7D5FD83647D2}"/>
          </ac:picMkLst>
        </pc:picChg>
      </pc:sldChg>
      <pc:sldChg chg="addSp modSp new mod">
        <pc:chgData name="Yamila Sonder" userId="bd03ae9016654ccc" providerId="LiveId" clId="{E0EB2C10-073A-4D13-B380-B11373A0D25D}" dt="2026-02-10T20:59:17.266" v="1338" actId="113"/>
        <pc:sldMkLst>
          <pc:docMk/>
          <pc:sldMk cId="710555655" sldId="267"/>
        </pc:sldMkLst>
        <pc:spChg chg="add mod">
          <ac:chgData name="Yamila Sonder" userId="bd03ae9016654ccc" providerId="LiveId" clId="{E0EB2C10-073A-4D13-B380-B11373A0D25D}" dt="2026-02-10T20:59:17.266" v="1338" actId="113"/>
          <ac:spMkLst>
            <pc:docMk/>
            <pc:sldMk cId="710555655" sldId="267"/>
            <ac:spMk id="5" creationId="{172C170B-5BBB-6093-55DA-AFA4E0C961F4}"/>
          </ac:spMkLst>
        </pc:spChg>
        <pc:picChg chg="add mod">
          <ac:chgData name="Yamila Sonder" userId="bd03ae9016654ccc" providerId="LiveId" clId="{E0EB2C10-073A-4D13-B380-B11373A0D25D}" dt="2026-02-10T20:58:08.558" v="1255" actId="962"/>
          <ac:picMkLst>
            <pc:docMk/>
            <pc:sldMk cId="710555655" sldId="267"/>
            <ac:picMk id="4" creationId="{A7AB8252-EF6F-DF75-6BC4-5D7F0E4CA34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9EC154-30E9-EF29-489C-B43B68BD4BB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0B15C3B6-09DB-71BD-5F46-DC389FA687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DDB6ADB6-B33B-AE54-B375-E62581E3BAF0}"/>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D4F03F27-BE7B-3B43-CCE8-141813ABD19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8F99C53-DF2B-DF4E-94A4-EB4AAE0349E8}"/>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05538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9968A-43A7-7D2C-A2E6-DB3882F7CBD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CF4CB93-0F23-9887-CDE2-13CBA879AF2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3CCAD1B-58A3-07AB-FD24-FF95DE891850}"/>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A2360B34-B3FD-47D1-FB59-4B34CD22503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278B881-DBE6-C35E-0A34-D8461B0AD4B9}"/>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469526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687E5-06C3-BD6E-631A-3BBC57C18A6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1491D6B2-0F3C-C1F4-68CF-371A8A8012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A6057ED-E780-19A8-324E-5F3BD115C581}"/>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0C819255-3D2B-FB76-D7A5-31ADF5FED0C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BBEDEAD-2AA0-92FB-B745-264ECA6614AE}"/>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0957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DBE4C9-F9C0-E5A1-50DB-BAD0153676C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F151AE2-2815-4E09-430C-ECBD0562CA3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CEEC1895-99D1-A76F-8BBE-47C4CB7831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29E3452E-2CB4-592E-0744-4CDB07C2948A}"/>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6" name="Marcador de pie de página 5">
            <a:extLst>
              <a:ext uri="{FF2B5EF4-FFF2-40B4-BE49-F238E27FC236}">
                <a16:creationId xmlns:a16="http://schemas.microsoft.com/office/drawing/2014/main" id="{F5215361-241B-66D7-3228-261F80F170A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21C0257-F93A-CCCC-0CD6-E40CF7CC6ABB}"/>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949764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BC95A-9433-3981-B69F-79547655CA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1AEC650-EDE2-8972-05C3-0A46939A0E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75E8982-E4A7-6F67-4F97-F658549BC3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CC81A947-FF73-5310-2C6F-6A73EAD891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5AC5D0E-40FC-7D2D-E95B-6BCF02DBE00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DFC438E0-9ED4-8652-2477-F8F719B35051}"/>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8" name="Marcador de pie de página 7">
            <a:extLst>
              <a:ext uri="{FF2B5EF4-FFF2-40B4-BE49-F238E27FC236}">
                <a16:creationId xmlns:a16="http://schemas.microsoft.com/office/drawing/2014/main" id="{B35B0B31-E7E8-3075-7C00-BDD4DE30593E}"/>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AEA52677-0835-64C6-58BA-BB61D6C94A1D}"/>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806853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5E3F0-1C54-F246-DB6F-07C9027C5E2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C5A28F39-7511-9ACB-0EE8-4B8849E3C362}"/>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4" name="Marcador de pie de página 3">
            <a:extLst>
              <a:ext uri="{FF2B5EF4-FFF2-40B4-BE49-F238E27FC236}">
                <a16:creationId xmlns:a16="http://schemas.microsoft.com/office/drawing/2014/main" id="{D105F9BF-5C23-B0A9-ABB6-2A4FB4CF8153}"/>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181FF16C-98E0-6F36-2201-275FC1F72D70}"/>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682398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0A0640-F59C-29BC-B63F-6BB2BFF2D880}"/>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3" name="Marcador de pie de página 2">
            <a:extLst>
              <a:ext uri="{FF2B5EF4-FFF2-40B4-BE49-F238E27FC236}">
                <a16:creationId xmlns:a16="http://schemas.microsoft.com/office/drawing/2014/main" id="{C918BECD-D145-5850-ACE3-B8103448CF87}"/>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8D26A912-7B88-1E0B-E8A0-2AF5B46E6718}"/>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1618646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B4A485-76C4-C202-27D6-EE144FF9C0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B2FE9EC-B7C3-1090-9D00-B8D4863F5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E72D177A-4ECA-5CAB-7F5A-57B0FDA89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DF096D-EE15-5BB1-D17E-8B9D0BE2E673}"/>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6" name="Marcador de pie de página 5">
            <a:extLst>
              <a:ext uri="{FF2B5EF4-FFF2-40B4-BE49-F238E27FC236}">
                <a16:creationId xmlns:a16="http://schemas.microsoft.com/office/drawing/2014/main" id="{FE0C004B-AC11-B1D3-912D-E0D47B89B7D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5895C9C3-0DC2-B230-2B35-49E39325A60A}"/>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61687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A695AF-F504-460B-4B61-BDFA4BF9F0D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27086E57-C466-B934-6476-7B1FE9D5CB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1E6C6A2A-387A-87AA-6EFD-B17D040DB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D776AF-1267-CF99-3783-6675FF1C16A0}"/>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6" name="Marcador de pie de página 5">
            <a:extLst>
              <a:ext uri="{FF2B5EF4-FFF2-40B4-BE49-F238E27FC236}">
                <a16:creationId xmlns:a16="http://schemas.microsoft.com/office/drawing/2014/main" id="{6B1CAD16-FA69-FC4F-E5C2-F76362DB99CA}"/>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5C5B05F-3A4B-FA60-9F47-775F9C58447A}"/>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164526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697E9C-F87A-6E6A-F846-34373B8FE61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886A8BF5-3CC3-3DBB-6226-1BF42E89F85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3F5BDFD-205D-6DB6-140A-308AC3A19F93}"/>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A423969C-A7AA-9F6C-C3B8-02D068C1959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DEAD8EC-BE6B-51E8-C661-2E0B1EFE7BE5}"/>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697854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85937B-5805-5DF1-9EB7-C855FDB12EF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89B523C-F635-968A-AAF2-70F0163F81A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E9C530B9-26C6-30F6-6C95-972C31B0C29E}"/>
              </a:ext>
            </a:extLst>
          </p:cNvPr>
          <p:cNvSpPr>
            <a:spLocks noGrp="1"/>
          </p:cNvSpPr>
          <p:nvPr>
            <p:ph type="dt" sz="half" idx="10"/>
          </p:nvPr>
        </p:nvSpPr>
        <p:spPr/>
        <p:txBody>
          <a:body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F0D2EE5B-8D08-FFD5-9A03-765AF2CCD5E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2A70773-0E2A-2AEE-D4AF-121F266C8145}"/>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55661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0E40EB-3E1B-C460-ED4D-C698BED2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F225B6E-FD87-4207-FBA2-831CE2A0A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47EC728-2169-938C-FAE1-9D0664829F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D193A1-2DAB-45D5-92F1-EB622BEC63D8}" type="datetimeFigureOut">
              <a:rPr lang="es-AR" smtClean="0"/>
              <a:t>11/2/2026</a:t>
            </a:fld>
            <a:endParaRPr lang="es-AR"/>
          </a:p>
        </p:txBody>
      </p:sp>
      <p:sp>
        <p:nvSpPr>
          <p:cNvPr id="5" name="Marcador de pie de página 4">
            <a:extLst>
              <a:ext uri="{FF2B5EF4-FFF2-40B4-BE49-F238E27FC236}">
                <a16:creationId xmlns:a16="http://schemas.microsoft.com/office/drawing/2014/main" id="{CC8B361D-F260-D504-D8B6-7D2903353A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D2CF07FC-1887-8B2D-A4F7-C605600FA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09482D-DF10-4C80-BB3E-80A640B00394}" type="slidenum">
              <a:rPr lang="es-AR" smtClean="0"/>
              <a:t>‹Nº›</a:t>
            </a:fld>
            <a:endParaRPr lang="es-AR"/>
          </a:p>
        </p:txBody>
      </p:sp>
    </p:spTree>
    <p:extLst>
      <p:ext uri="{BB962C8B-B14F-4D97-AF65-F5344CB8AC3E}">
        <p14:creationId xmlns:p14="http://schemas.microsoft.com/office/powerpoint/2010/main" val="333831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Interfaz de usuario gráfica&#10;&#10;El contenido generado por IA puede ser incorrecto.">
            <a:extLst>
              <a:ext uri="{FF2B5EF4-FFF2-40B4-BE49-F238E27FC236}">
                <a16:creationId xmlns:a16="http://schemas.microsoft.com/office/drawing/2014/main" id="{ABE2BDF7-1DE0-4F48-E8D4-7F6F03584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55"/>
            <a:ext cx="12192000" cy="6857143"/>
          </a:xfrm>
          <a:prstGeom prst="rect">
            <a:avLst/>
          </a:prstGeom>
        </p:spPr>
      </p:pic>
      <p:sp>
        <p:nvSpPr>
          <p:cNvPr id="2" name="CuadroTexto 1">
            <a:extLst>
              <a:ext uri="{FF2B5EF4-FFF2-40B4-BE49-F238E27FC236}">
                <a16:creationId xmlns:a16="http://schemas.microsoft.com/office/drawing/2014/main" id="{65666721-813E-350A-4E4C-D6312BE0728D}"/>
              </a:ext>
            </a:extLst>
          </p:cNvPr>
          <p:cNvSpPr txBox="1"/>
          <p:nvPr/>
        </p:nvSpPr>
        <p:spPr>
          <a:xfrm>
            <a:off x="2187019" y="3429000"/>
            <a:ext cx="8446416" cy="1754326"/>
          </a:xfrm>
          <a:prstGeom prst="rect">
            <a:avLst/>
          </a:prstGeom>
          <a:noFill/>
        </p:spPr>
        <p:txBody>
          <a:bodyPr wrap="square" rtlCol="0">
            <a:spAutoFit/>
          </a:bodyPr>
          <a:lstStyle/>
          <a:p>
            <a:pPr algn="ctr"/>
            <a:r>
              <a:rPr lang="es-MX" sz="3600" b="1" dirty="0">
                <a:solidFill>
                  <a:schemeClr val="bg1"/>
                </a:solidFill>
                <a:effectLst>
                  <a:outerShdw blurRad="38100" dist="38100" dir="2700000" algn="tl">
                    <a:srgbClr val="000000">
                      <a:alpha val="43137"/>
                    </a:srgbClr>
                  </a:outerShdw>
                </a:effectLst>
                <a:latin typeface="Lucida Bright" panose="02040602050505020304" pitchFamily="18" charset="0"/>
              </a:rPr>
              <a:t>Un nuevo tipo de cambio real multilateral para la provincia de Santa Fe</a:t>
            </a:r>
            <a:endParaRPr lang="es-AR" sz="3600" b="1" dirty="0">
              <a:solidFill>
                <a:schemeClr val="bg1"/>
              </a:solidFill>
              <a:effectLst>
                <a:outerShdw blurRad="38100" dist="38100" dir="2700000" algn="tl">
                  <a:srgbClr val="000000">
                    <a:alpha val="43137"/>
                  </a:srgbClr>
                </a:outerShdw>
              </a:effectLst>
              <a:latin typeface="Lucida Bright" panose="02040602050505020304" pitchFamily="18" charset="0"/>
            </a:endParaRPr>
          </a:p>
        </p:txBody>
      </p:sp>
    </p:spTree>
    <p:extLst>
      <p:ext uri="{BB962C8B-B14F-4D97-AF65-F5344CB8AC3E}">
        <p14:creationId xmlns:p14="http://schemas.microsoft.com/office/powerpoint/2010/main" val="3246655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A11CC-1C1A-A205-4C6C-C90B3F542FF0}"/>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C10CEDF8-C788-72B6-E9E6-EBC4268C7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3" name="CuadroTexto 2">
            <a:extLst>
              <a:ext uri="{FF2B5EF4-FFF2-40B4-BE49-F238E27FC236}">
                <a16:creationId xmlns:a16="http://schemas.microsoft.com/office/drawing/2014/main" id="{681CB091-B273-1C27-A1C4-4328D4ACE89D}"/>
              </a:ext>
            </a:extLst>
          </p:cNvPr>
          <p:cNvSpPr txBox="1"/>
          <p:nvPr/>
        </p:nvSpPr>
        <p:spPr>
          <a:xfrm>
            <a:off x="211341" y="3317818"/>
            <a:ext cx="6543420" cy="1892249"/>
          </a:xfrm>
          <a:prstGeom prst="rect">
            <a:avLst/>
          </a:prstGeom>
          <a:noFill/>
        </p:spPr>
        <p:txBody>
          <a:bodyPr wrap="square" rtlCol="0">
            <a:spAutoFit/>
          </a:bodyPr>
          <a:lstStyle/>
          <a:p>
            <a:pPr>
              <a:lnSpc>
                <a:spcPct val="150000"/>
              </a:lnSpc>
            </a:pPr>
            <a:r>
              <a:rPr lang="es-MX" sz="1600" b="1" dirty="0">
                <a:latin typeface="Lucida Bright" panose="02040602050505020304" pitchFamily="18" charset="0"/>
              </a:rPr>
              <a:t>Antecedentes internacionales:</a:t>
            </a:r>
          </a:p>
          <a:p>
            <a:pPr>
              <a:lnSpc>
                <a:spcPct val="150000"/>
              </a:lnSpc>
            </a:pPr>
            <a:r>
              <a:rPr lang="es-MX" sz="1600" dirty="0">
                <a:latin typeface="Lucida Bright" panose="02040602050505020304" pitchFamily="18" charset="0"/>
              </a:rPr>
              <a:t>Estados Unidos: </a:t>
            </a:r>
            <a:r>
              <a:rPr lang="es-AR" sz="1600" dirty="0">
                <a:latin typeface="Lucida Bright" panose="02040602050505020304" pitchFamily="18" charset="0"/>
              </a:rPr>
              <a:t>Clark </a:t>
            </a:r>
            <a:r>
              <a:rPr lang="es-AR" sz="1600" i="1" dirty="0">
                <a:latin typeface="Lucida Bright" panose="02040602050505020304" pitchFamily="18" charset="0"/>
              </a:rPr>
              <a:t>et al.</a:t>
            </a:r>
            <a:r>
              <a:rPr lang="es-AR" sz="1600" dirty="0">
                <a:latin typeface="Lucida Bright" panose="02040602050505020304" pitchFamily="18" charset="0"/>
              </a:rPr>
              <a:t> (1999); Harvey y Strauss, (1996); Goldberg, (2003).</a:t>
            </a:r>
          </a:p>
          <a:p>
            <a:pPr>
              <a:lnSpc>
                <a:spcPct val="150000"/>
              </a:lnSpc>
            </a:pPr>
            <a:r>
              <a:rPr lang="es-MX" sz="1600" dirty="0">
                <a:latin typeface="Lucida Bright" panose="02040602050505020304" pitchFamily="18" charset="0"/>
              </a:rPr>
              <a:t>China: </a:t>
            </a:r>
            <a:r>
              <a:rPr lang="es-AR" sz="1600" dirty="0">
                <a:latin typeface="Lucida Bright" panose="02040602050505020304" pitchFamily="18" charset="0"/>
              </a:rPr>
              <a:t>Yan </a:t>
            </a:r>
            <a:r>
              <a:rPr lang="es-AR" sz="1600" i="1" dirty="0">
                <a:latin typeface="Lucida Bright" panose="02040602050505020304" pitchFamily="18" charset="0"/>
              </a:rPr>
              <a:t>et al. </a:t>
            </a:r>
            <a:r>
              <a:rPr lang="es-AR" sz="1600" dirty="0">
                <a:latin typeface="Lucida Bright" panose="02040602050505020304" pitchFamily="18" charset="0"/>
              </a:rPr>
              <a:t>2016  </a:t>
            </a:r>
          </a:p>
          <a:p>
            <a:pPr>
              <a:lnSpc>
                <a:spcPct val="150000"/>
              </a:lnSpc>
            </a:pPr>
            <a:r>
              <a:rPr lang="es-AR" sz="1600" dirty="0">
                <a:latin typeface="Lucida Bright" panose="02040602050505020304" pitchFamily="18" charset="0"/>
              </a:rPr>
              <a:t>Rusia: </a:t>
            </a:r>
            <a:r>
              <a:rPr lang="es-AR" sz="1600" dirty="0" err="1">
                <a:latin typeface="Lucida Bright" panose="02040602050505020304" pitchFamily="18" charset="0"/>
              </a:rPr>
              <a:t>Tochkov</a:t>
            </a:r>
            <a:r>
              <a:rPr lang="es-AR" sz="1600" dirty="0">
                <a:latin typeface="Lucida Bright" panose="02040602050505020304" pitchFamily="18" charset="0"/>
              </a:rPr>
              <a:t> , 2021</a:t>
            </a:r>
          </a:p>
        </p:txBody>
      </p:sp>
      <p:sp>
        <p:nvSpPr>
          <p:cNvPr id="5" name="CuadroTexto 4">
            <a:extLst>
              <a:ext uri="{FF2B5EF4-FFF2-40B4-BE49-F238E27FC236}">
                <a16:creationId xmlns:a16="http://schemas.microsoft.com/office/drawing/2014/main" id="{09EC4BFC-A99F-7BB4-E7B0-AAFDF7E08402}"/>
              </a:ext>
            </a:extLst>
          </p:cNvPr>
          <p:cNvSpPr txBox="1"/>
          <p:nvPr/>
        </p:nvSpPr>
        <p:spPr>
          <a:xfrm>
            <a:off x="383357" y="871895"/>
            <a:ext cx="9935850" cy="2157898"/>
          </a:xfrm>
          <a:prstGeom prst="rect">
            <a:avLst/>
          </a:prstGeom>
          <a:noFill/>
        </p:spPr>
        <p:txBody>
          <a:bodyPr wrap="square" rtlCol="0">
            <a:spAutoFit/>
          </a:bodyPr>
          <a:lstStyle/>
          <a:p>
            <a:r>
              <a:rPr lang="es-MX" sz="2800" b="1" dirty="0">
                <a:latin typeface="Lucida Bright" panose="02040602050505020304" pitchFamily="18" charset="0"/>
              </a:rPr>
              <a:t>Limitaciones de un único REER nacional</a:t>
            </a:r>
          </a:p>
          <a:p>
            <a:endParaRPr lang="es-MX" sz="2800" b="1" dirty="0">
              <a:latin typeface="Lucida Bright" panose="02040602050505020304" pitchFamily="18" charset="0"/>
            </a:endParaRPr>
          </a:p>
          <a:p>
            <a:pPr>
              <a:lnSpc>
                <a:spcPct val="150000"/>
              </a:lnSpc>
            </a:pPr>
            <a:r>
              <a:rPr lang="es-MX" dirty="0">
                <a:latin typeface="Lucida Bright" panose="02040602050505020304" pitchFamily="18" charset="0"/>
              </a:rPr>
              <a:t>En economías extensas y heterogéneas, la estructura productiva varía entre regiones y los socios comerciales difieren a nivel subnacional. De modo que un único índice nacional puede ocultar dinámicas regionales relevantes</a:t>
            </a:r>
            <a:endParaRPr lang="es-AR" dirty="0"/>
          </a:p>
        </p:txBody>
      </p:sp>
      <p:sp>
        <p:nvSpPr>
          <p:cNvPr id="6" name="CuadroTexto 5">
            <a:extLst>
              <a:ext uri="{FF2B5EF4-FFF2-40B4-BE49-F238E27FC236}">
                <a16:creationId xmlns:a16="http://schemas.microsoft.com/office/drawing/2014/main" id="{9DF798A2-F070-42AA-14C3-DB8CDAE839AD}"/>
              </a:ext>
            </a:extLst>
          </p:cNvPr>
          <p:cNvSpPr txBox="1"/>
          <p:nvPr/>
        </p:nvSpPr>
        <p:spPr>
          <a:xfrm>
            <a:off x="6966102" y="3305528"/>
            <a:ext cx="5225898" cy="3096617"/>
          </a:xfrm>
          <a:prstGeom prst="rect">
            <a:avLst/>
          </a:prstGeom>
          <a:noFill/>
        </p:spPr>
        <p:txBody>
          <a:bodyPr wrap="square" rtlCol="0">
            <a:spAutoFit/>
          </a:bodyPr>
          <a:lstStyle/>
          <a:p>
            <a:pPr algn="ctr">
              <a:lnSpc>
                <a:spcPct val="150000"/>
              </a:lnSpc>
            </a:pPr>
            <a:r>
              <a:rPr lang="es-AR" sz="1600" b="1" dirty="0">
                <a:latin typeface="Lucida Bright" panose="02040602050505020304" pitchFamily="18" charset="0"/>
              </a:rPr>
              <a:t>Resultados</a:t>
            </a:r>
            <a:r>
              <a:rPr lang="es-AR" sz="1600" dirty="0">
                <a:latin typeface="Lucida Bright" panose="02040602050505020304" pitchFamily="18" charset="0"/>
              </a:rPr>
              <a:t>: </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Discrepancias no triviales entre índices regionales y nacional.</a:t>
            </a:r>
          </a:p>
          <a:p>
            <a:pPr marL="285750" indent="-285750">
              <a:lnSpc>
                <a:spcPct val="150000"/>
              </a:lnSpc>
              <a:buFont typeface="Arial" panose="020B0604020202020204" pitchFamily="34" charset="0"/>
              <a:buChar char="•"/>
            </a:pPr>
            <a:r>
              <a:rPr lang="es-AR" sz="1600" dirty="0">
                <a:latin typeface="Lucida Bright" panose="02040602050505020304" pitchFamily="18" charset="0"/>
              </a:rPr>
              <a:t>Efectos compensados</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REER regionales que no comparten tendencia de largo plazo con el nacional</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REER nacional tiende a </a:t>
            </a:r>
            <a:r>
              <a:rPr lang="es-AR" sz="1600" dirty="0">
                <a:latin typeface="Lucida Bright" panose="02040602050505020304" pitchFamily="18" charset="0"/>
              </a:rPr>
              <a:t>subestimar o sobrestimar la competitividad regional</a:t>
            </a:r>
          </a:p>
        </p:txBody>
      </p:sp>
      <p:cxnSp>
        <p:nvCxnSpPr>
          <p:cNvPr id="8" name="Conector recto de flecha 7">
            <a:extLst>
              <a:ext uri="{FF2B5EF4-FFF2-40B4-BE49-F238E27FC236}">
                <a16:creationId xmlns:a16="http://schemas.microsoft.com/office/drawing/2014/main" id="{BA2909B8-D04A-7547-7E6D-2A18BB0B5DFE}"/>
              </a:ext>
            </a:extLst>
          </p:cNvPr>
          <p:cNvCxnSpPr/>
          <p:nvPr/>
        </p:nvCxnSpPr>
        <p:spPr>
          <a:xfrm>
            <a:off x="6169795" y="3571079"/>
            <a:ext cx="8701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2865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3CF4-9D4E-1F9A-846B-B7566B6AE8F6}"/>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DAEF3063-D496-6507-31B4-43B255B02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7" y="18854"/>
            <a:ext cx="12192000" cy="6857143"/>
          </a:xfrm>
          <a:prstGeom prst="rect">
            <a:avLst/>
          </a:prstGeom>
        </p:spPr>
      </p:pic>
      <p:sp>
        <p:nvSpPr>
          <p:cNvPr id="3" name="CuadroTexto 2">
            <a:extLst>
              <a:ext uri="{FF2B5EF4-FFF2-40B4-BE49-F238E27FC236}">
                <a16:creationId xmlns:a16="http://schemas.microsoft.com/office/drawing/2014/main" id="{BCC49EA3-F184-1E2F-DBF2-5686A9F344F4}"/>
              </a:ext>
            </a:extLst>
          </p:cNvPr>
          <p:cNvSpPr txBox="1"/>
          <p:nvPr/>
        </p:nvSpPr>
        <p:spPr>
          <a:xfrm>
            <a:off x="433633" y="1004653"/>
            <a:ext cx="11491274" cy="5441233"/>
          </a:xfrm>
          <a:prstGeom prst="rect">
            <a:avLst/>
          </a:prstGeom>
          <a:noFill/>
        </p:spPr>
        <p:txBody>
          <a:bodyPr wrap="square" rtlCol="0">
            <a:spAutoFit/>
          </a:bodyPr>
          <a:lstStyle/>
          <a:p>
            <a:pPr fontAlgn="base">
              <a:lnSpc>
                <a:spcPct val="150000"/>
              </a:lnSpc>
            </a:pPr>
            <a:r>
              <a:rPr lang="es-MX" b="1" dirty="0">
                <a:latin typeface="Lucida Bright" panose="02040602050505020304" pitchFamily="18" charset="0"/>
              </a:rPr>
              <a:t>Decisiones macro</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Tipo de índice: nominal o real.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Elección del deflactor de precios externos (PPI, IPC u otras alternativas).</a:t>
            </a:r>
          </a:p>
          <a:p>
            <a:pPr lvl="1" fontAlgn="base">
              <a:lnSpc>
                <a:spcPct val="150000"/>
              </a:lnSpc>
            </a:pPr>
            <a:endParaRPr lang="es-MX" b="1" dirty="0">
              <a:latin typeface="Lucida Bright" panose="02040602050505020304" pitchFamily="18" charset="0"/>
            </a:endParaRPr>
          </a:p>
          <a:p>
            <a:pPr fontAlgn="base">
              <a:lnSpc>
                <a:spcPct val="150000"/>
              </a:lnSpc>
            </a:pPr>
            <a:r>
              <a:rPr lang="es-MX" b="1" dirty="0">
                <a:latin typeface="Lucida Bright" panose="02040602050505020304" pitchFamily="18" charset="0"/>
              </a:rPr>
              <a:t>Decisiones sobre la canasta de socios comerciales</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Esquema de ponderación: bilateral versus multilateral.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Selección de ponderaciones comerciales: exportaciones, importaciones o comercio total.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Nivel de agregación del comercio considerado: bienes o bienes y servicios.</a:t>
            </a:r>
          </a:p>
          <a:p>
            <a:pPr lvl="1" fontAlgn="base">
              <a:lnSpc>
                <a:spcPct val="150000"/>
              </a:lnSpc>
            </a:pPr>
            <a:endParaRPr lang="es-MX" b="1" dirty="0">
              <a:latin typeface="Lucida Bright" panose="02040602050505020304" pitchFamily="18" charset="0"/>
            </a:endParaRPr>
          </a:p>
          <a:p>
            <a:pPr fontAlgn="base">
              <a:lnSpc>
                <a:spcPct val="150000"/>
              </a:lnSpc>
            </a:pPr>
            <a:r>
              <a:rPr lang="es-MX" b="1" dirty="0">
                <a:latin typeface="Lucida Bright" panose="02040602050505020304" pitchFamily="18" charset="0"/>
              </a:rPr>
              <a:t>Decisiones de agregación y dinámica del índice</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Tipo de promedio utilizado para la agregación: aritmético o geométrico.</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Actualización temporal de las ponderaciones: pesos fijos o pesos móviles.</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Frecuencia temporal del índice.</a:t>
            </a:r>
            <a:endParaRPr lang="es-AR" dirty="0">
              <a:latin typeface="Lucida Bright" panose="02040602050505020304" pitchFamily="18" charset="0"/>
            </a:endParaRPr>
          </a:p>
        </p:txBody>
      </p:sp>
      <p:sp>
        <p:nvSpPr>
          <p:cNvPr id="2" name="CuadroTexto 1">
            <a:extLst>
              <a:ext uri="{FF2B5EF4-FFF2-40B4-BE49-F238E27FC236}">
                <a16:creationId xmlns:a16="http://schemas.microsoft.com/office/drawing/2014/main" id="{3CED2F11-3FAC-A8A2-D2C5-2320A976C00F}"/>
              </a:ext>
            </a:extLst>
          </p:cNvPr>
          <p:cNvSpPr txBox="1"/>
          <p:nvPr/>
        </p:nvSpPr>
        <p:spPr>
          <a:xfrm>
            <a:off x="985362" y="342157"/>
            <a:ext cx="7536338" cy="523220"/>
          </a:xfrm>
          <a:prstGeom prst="rect">
            <a:avLst/>
          </a:prstGeom>
          <a:noFill/>
        </p:spPr>
        <p:txBody>
          <a:bodyPr wrap="square" rtlCol="0">
            <a:spAutoFit/>
          </a:bodyPr>
          <a:lstStyle/>
          <a:p>
            <a:r>
              <a:rPr lang="es-MX" sz="2800" b="1" dirty="0">
                <a:latin typeface="Lucida Bright" panose="02040602050505020304" pitchFamily="18" charset="0"/>
              </a:rPr>
              <a:t>Metodología de construcción de ITCRM </a:t>
            </a:r>
            <a:endParaRPr lang="es-AR" sz="2800" b="1" dirty="0">
              <a:latin typeface="Lucida Bright" panose="02040602050505020304" pitchFamily="18" charset="0"/>
            </a:endParaRPr>
          </a:p>
        </p:txBody>
      </p:sp>
    </p:spTree>
    <p:extLst>
      <p:ext uri="{BB962C8B-B14F-4D97-AF65-F5344CB8AC3E}">
        <p14:creationId xmlns:p14="http://schemas.microsoft.com/office/powerpoint/2010/main" val="1101920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Texto">
            <a:extLst>
              <a:ext uri="{FF2B5EF4-FFF2-40B4-BE49-F238E27FC236}">
                <a16:creationId xmlns:a16="http://schemas.microsoft.com/office/drawing/2014/main" id="{DCA0CB9D-3D5F-33EE-C504-7D5FD8364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143"/>
          </a:xfrm>
          <a:prstGeom prst="rect">
            <a:avLst/>
          </a:prstGeom>
        </p:spPr>
      </p:pic>
      <p:sp>
        <p:nvSpPr>
          <p:cNvPr id="2" name="Título 1">
            <a:extLst>
              <a:ext uri="{FF2B5EF4-FFF2-40B4-BE49-F238E27FC236}">
                <a16:creationId xmlns:a16="http://schemas.microsoft.com/office/drawing/2014/main" id="{0BC0A99B-AB43-6DA3-43B7-173FBB0BCB80}"/>
              </a:ext>
            </a:extLst>
          </p:cNvPr>
          <p:cNvSpPr>
            <a:spLocks noGrp="1"/>
          </p:cNvSpPr>
          <p:nvPr>
            <p:ph type="title"/>
          </p:nvPr>
        </p:nvSpPr>
        <p:spPr>
          <a:xfrm>
            <a:off x="838200" y="482664"/>
            <a:ext cx="10515600" cy="1325563"/>
          </a:xfrm>
        </p:spPr>
        <p:txBody>
          <a:bodyPr>
            <a:normAutofit/>
          </a:bodyPr>
          <a:lstStyle/>
          <a:p>
            <a:r>
              <a:rPr lang="es-MX" sz="2800" b="1" dirty="0">
                <a:latin typeface="Lucida Bright" panose="02040602050505020304" pitchFamily="18" charset="0"/>
              </a:rPr>
              <a:t>Evidencia empírica para Argentina</a:t>
            </a:r>
            <a:br>
              <a:rPr lang="es-MX" sz="2800" b="1" dirty="0">
                <a:latin typeface="Lucida Bright" panose="02040602050505020304" pitchFamily="18" charset="0"/>
              </a:rPr>
            </a:br>
            <a:endParaRPr lang="es-AR" sz="2800" dirty="0">
              <a:latin typeface="Lucida Bright" panose="02040602050505020304" pitchFamily="18" charset="0"/>
            </a:endParaRPr>
          </a:p>
        </p:txBody>
      </p:sp>
      <p:sp>
        <p:nvSpPr>
          <p:cNvPr id="3" name="Marcador de contenido 2">
            <a:extLst>
              <a:ext uri="{FF2B5EF4-FFF2-40B4-BE49-F238E27FC236}">
                <a16:creationId xmlns:a16="http://schemas.microsoft.com/office/drawing/2014/main" id="{8499D088-F31D-9A18-D1BD-6FD0681D6492}"/>
              </a:ext>
            </a:extLst>
          </p:cNvPr>
          <p:cNvSpPr>
            <a:spLocks noGrp="1"/>
          </p:cNvSpPr>
          <p:nvPr>
            <p:ph idx="1"/>
          </p:nvPr>
        </p:nvSpPr>
        <p:spPr/>
        <p:txBody>
          <a:bodyPr>
            <a:normAutofit/>
          </a:bodyPr>
          <a:lstStyle/>
          <a:p>
            <a:pPr marL="0" indent="0">
              <a:lnSpc>
                <a:spcPct val="150000"/>
              </a:lnSpc>
              <a:buNone/>
            </a:pPr>
            <a:r>
              <a:rPr lang="es-MX" sz="1800" dirty="0">
                <a:latin typeface="Lucida Bright" panose="02040602050505020304" pitchFamily="18" charset="0"/>
              </a:rPr>
              <a:t>Estudios muestran efectos regionales diferenciados del tipo de cambio:</a:t>
            </a:r>
          </a:p>
          <a:p>
            <a:pPr lvl="1">
              <a:lnSpc>
                <a:spcPct val="150000"/>
              </a:lnSpc>
            </a:pPr>
            <a:r>
              <a:rPr lang="es-MX" sz="1800" dirty="0">
                <a:latin typeface="Lucida Bright" panose="02040602050505020304" pitchFamily="18" charset="0"/>
              </a:rPr>
              <a:t>Impactos heterogéneos sobre el empleo</a:t>
            </a:r>
          </a:p>
          <a:p>
            <a:pPr lvl="1">
              <a:lnSpc>
                <a:spcPct val="150000"/>
              </a:lnSpc>
            </a:pPr>
            <a:r>
              <a:rPr lang="es-MX" sz="1800" dirty="0">
                <a:latin typeface="Lucida Bright" panose="02040602050505020304" pitchFamily="18" charset="0"/>
              </a:rPr>
              <a:t>Diferencias regionales en el </a:t>
            </a:r>
            <a:r>
              <a:rPr lang="es-MX" sz="1800" dirty="0" err="1">
                <a:latin typeface="Lucida Bright" panose="02040602050505020304" pitchFamily="18" charset="0"/>
              </a:rPr>
              <a:t>pass-through</a:t>
            </a:r>
            <a:r>
              <a:rPr lang="es-MX" sz="1800" dirty="0">
                <a:latin typeface="Lucida Bright" panose="02040602050505020304" pitchFamily="18" charset="0"/>
              </a:rPr>
              <a:t> a precios </a:t>
            </a:r>
          </a:p>
          <a:p>
            <a:pPr lvl="1">
              <a:lnSpc>
                <a:spcPct val="150000"/>
              </a:lnSpc>
            </a:pPr>
            <a:endParaRPr lang="es-MX" sz="1800" dirty="0">
              <a:latin typeface="Lucida Bright" panose="02040602050505020304" pitchFamily="18" charset="0"/>
            </a:endParaRPr>
          </a:p>
          <a:p>
            <a:pPr marL="0" indent="0">
              <a:lnSpc>
                <a:spcPct val="150000"/>
              </a:lnSpc>
              <a:buNone/>
            </a:pPr>
            <a:r>
              <a:rPr lang="es-MX" sz="1800" dirty="0">
                <a:latin typeface="Lucida Bright" panose="02040602050505020304" pitchFamily="18" charset="0"/>
              </a:rPr>
              <a:t>La literatura argentina reconoce las limitaciones del ITCRM nacional, mas no desarrolla índices provinciales alternativos (si hay casos de </a:t>
            </a:r>
            <a:r>
              <a:rPr lang="es-MX" sz="1800" dirty="0" err="1">
                <a:latin typeface="Lucida Bright" panose="02040602050505020304" pitchFamily="18" charset="0"/>
              </a:rPr>
              <a:t>ITCRMs</a:t>
            </a:r>
            <a:r>
              <a:rPr lang="es-MX" sz="1800" dirty="0">
                <a:latin typeface="Lucida Bright" panose="02040602050505020304" pitchFamily="18" charset="0"/>
              </a:rPr>
              <a:t> sectoriales)</a:t>
            </a:r>
          </a:p>
          <a:p>
            <a:pPr>
              <a:lnSpc>
                <a:spcPct val="150000"/>
              </a:lnSpc>
            </a:pPr>
            <a:endParaRPr lang="es-AR" sz="1800" dirty="0">
              <a:latin typeface="Lucida Bright" panose="02040602050505020304" pitchFamily="18" charset="0"/>
            </a:endParaRPr>
          </a:p>
        </p:txBody>
      </p:sp>
      <p:sp>
        <p:nvSpPr>
          <p:cNvPr id="6" name="CuadroTexto 5">
            <a:extLst>
              <a:ext uri="{FF2B5EF4-FFF2-40B4-BE49-F238E27FC236}">
                <a16:creationId xmlns:a16="http://schemas.microsoft.com/office/drawing/2014/main" id="{8EC9A27D-DB34-E166-7114-275FC33A6DA5}"/>
              </a:ext>
            </a:extLst>
          </p:cNvPr>
          <p:cNvSpPr txBox="1"/>
          <p:nvPr/>
        </p:nvSpPr>
        <p:spPr>
          <a:xfrm>
            <a:off x="838200" y="5114739"/>
            <a:ext cx="5712643" cy="646331"/>
          </a:xfrm>
          <a:prstGeom prst="rect">
            <a:avLst/>
          </a:prstGeom>
          <a:noFill/>
        </p:spPr>
        <p:txBody>
          <a:bodyPr wrap="square" rtlCol="0">
            <a:spAutoFit/>
          </a:bodyPr>
          <a:lstStyle/>
          <a:p>
            <a:r>
              <a:rPr lang="es-AR" dirty="0">
                <a:latin typeface="Lucida Bright" panose="02040602050505020304" pitchFamily="18" charset="0"/>
              </a:rPr>
              <a:t>(Noguera y </a:t>
            </a:r>
            <a:r>
              <a:rPr lang="es-AR" dirty="0" err="1">
                <a:latin typeface="Lucida Bright" panose="02040602050505020304" pitchFamily="18" charset="0"/>
              </a:rPr>
              <a:t>Pedrazzi</a:t>
            </a:r>
            <a:r>
              <a:rPr lang="es-AR" dirty="0">
                <a:latin typeface="Lucida Bright" panose="02040602050505020304" pitchFamily="18" charset="0"/>
              </a:rPr>
              <a:t>, 2020)</a:t>
            </a:r>
            <a:endParaRPr lang="es-MX" dirty="0">
              <a:latin typeface="Lucida Bright" panose="02040602050505020304" pitchFamily="18" charset="0"/>
            </a:endParaRPr>
          </a:p>
          <a:p>
            <a:endParaRPr lang="es-AR" dirty="0">
              <a:latin typeface="Lucida Bright" panose="02040602050505020304" pitchFamily="18" charset="0"/>
            </a:endParaRPr>
          </a:p>
        </p:txBody>
      </p:sp>
    </p:spTree>
    <p:extLst>
      <p:ext uri="{BB962C8B-B14F-4D97-AF65-F5344CB8AC3E}">
        <p14:creationId xmlns:p14="http://schemas.microsoft.com/office/powerpoint/2010/main" val="839492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882E-AA8A-0ED5-5DA3-5ABCE9786EDD}"/>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40FDB3CB-7FF1-4705-787B-8F7AC43C8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 y="857"/>
            <a:ext cx="12192000" cy="6857143"/>
          </a:xfrm>
          <a:prstGeom prst="rect">
            <a:avLst/>
          </a:prstGeom>
        </p:spPr>
      </p:pic>
      <p:pic>
        <p:nvPicPr>
          <p:cNvPr id="1028" name="Picture 4">
            <a:extLst>
              <a:ext uri="{FF2B5EF4-FFF2-40B4-BE49-F238E27FC236}">
                <a16:creationId xmlns:a16="http://schemas.microsoft.com/office/drawing/2014/main" id="{0A50C981-7984-2E7C-C8ED-170A3BEF1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9423" y="1451751"/>
            <a:ext cx="7031994" cy="501117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E4569323-311A-D914-02E9-4DFDE625DE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6" name="CuadroTexto 5">
            <a:extLst>
              <a:ext uri="{FF2B5EF4-FFF2-40B4-BE49-F238E27FC236}">
                <a16:creationId xmlns:a16="http://schemas.microsoft.com/office/drawing/2014/main" id="{23AA9947-F040-432B-8F54-232A41397273}"/>
              </a:ext>
            </a:extLst>
          </p:cNvPr>
          <p:cNvSpPr txBox="1"/>
          <p:nvPr/>
        </p:nvSpPr>
        <p:spPr>
          <a:xfrm>
            <a:off x="499621" y="367645"/>
            <a:ext cx="4694548" cy="523220"/>
          </a:xfrm>
          <a:prstGeom prst="rect">
            <a:avLst/>
          </a:prstGeom>
          <a:noFill/>
        </p:spPr>
        <p:txBody>
          <a:bodyPr wrap="square" rtlCol="0">
            <a:spAutoFit/>
          </a:bodyPr>
          <a:lstStyle/>
          <a:p>
            <a:r>
              <a:rPr lang="es-AR" sz="2800" b="1" dirty="0">
                <a:latin typeface="Lucida Bright" panose="02040602050505020304" pitchFamily="18" charset="0"/>
              </a:rPr>
              <a:t>Análisis descriptivo</a:t>
            </a:r>
          </a:p>
        </p:txBody>
      </p:sp>
      <p:sp>
        <p:nvSpPr>
          <p:cNvPr id="3" name="CuadroTexto 2">
            <a:extLst>
              <a:ext uri="{FF2B5EF4-FFF2-40B4-BE49-F238E27FC236}">
                <a16:creationId xmlns:a16="http://schemas.microsoft.com/office/drawing/2014/main" id="{1E089B57-1C70-AAFE-9518-730F10B3D651}"/>
              </a:ext>
            </a:extLst>
          </p:cNvPr>
          <p:cNvSpPr txBox="1"/>
          <p:nvPr/>
        </p:nvSpPr>
        <p:spPr>
          <a:xfrm>
            <a:off x="3440982" y="1056674"/>
            <a:ext cx="4528876" cy="253916"/>
          </a:xfrm>
          <a:prstGeom prst="rect">
            <a:avLst/>
          </a:prstGeom>
          <a:noFill/>
        </p:spPr>
        <p:txBody>
          <a:bodyPr wrap="square" rtlCol="0">
            <a:spAutoFit/>
          </a:bodyPr>
          <a:lstStyle/>
          <a:p>
            <a:r>
              <a:rPr lang="es-MX" sz="1050" b="1" dirty="0">
                <a:latin typeface="Lucida Bright" panose="02040602050505020304" pitchFamily="18" charset="0"/>
              </a:rPr>
              <a:t>Figura 1</a:t>
            </a:r>
            <a:r>
              <a:rPr lang="es-MX" sz="1050" dirty="0">
                <a:latin typeface="Lucida Bright" panose="02040602050505020304" pitchFamily="18" charset="0"/>
              </a:rPr>
              <a:t> | Exportaciones provinciales según rubro. 2002 a 2025</a:t>
            </a:r>
            <a:endParaRPr lang="es-AR" sz="1050" dirty="0">
              <a:latin typeface="Lucida Bright" panose="02040602050505020304" pitchFamily="18" charset="0"/>
            </a:endParaRPr>
          </a:p>
        </p:txBody>
      </p:sp>
    </p:spTree>
    <p:extLst>
      <p:ext uri="{BB962C8B-B14F-4D97-AF65-F5344CB8AC3E}">
        <p14:creationId xmlns:p14="http://schemas.microsoft.com/office/powerpoint/2010/main" val="1933044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E6C1-390C-E477-92FB-77F66280541E}"/>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5BE6E915-C0FC-7F06-2A6D-9BBA1444B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 y="857"/>
            <a:ext cx="12192000" cy="6857143"/>
          </a:xfrm>
          <a:prstGeom prst="rect">
            <a:avLst/>
          </a:prstGeom>
        </p:spPr>
      </p:pic>
      <p:graphicFrame>
        <p:nvGraphicFramePr>
          <p:cNvPr id="2" name="Tabla 1">
            <a:extLst>
              <a:ext uri="{FF2B5EF4-FFF2-40B4-BE49-F238E27FC236}">
                <a16:creationId xmlns:a16="http://schemas.microsoft.com/office/drawing/2014/main" id="{D8FE13B4-55BC-BE68-1F9F-6C3843F421E8}"/>
              </a:ext>
            </a:extLst>
          </p:cNvPr>
          <p:cNvGraphicFramePr>
            <a:graphicFrameLocks noGrp="1"/>
          </p:cNvGraphicFramePr>
          <p:nvPr>
            <p:extLst>
              <p:ext uri="{D42A27DB-BD31-4B8C-83A1-F6EECF244321}">
                <p14:modId xmlns:p14="http://schemas.microsoft.com/office/powerpoint/2010/main" val="2141062128"/>
              </p:ext>
            </p:extLst>
          </p:nvPr>
        </p:nvGraphicFramePr>
        <p:xfrm>
          <a:off x="6839712" y="1414681"/>
          <a:ext cx="5036938" cy="4727121"/>
        </p:xfrm>
        <a:graphic>
          <a:graphicData uri="http://schemas.openxmlformats.org/drawingml/2006/table">
            <a:tbl>
              <a:tblPr/>
              <a:tblGrid>
                <a:gridCol w="760611">
                  <a:extLst>
                    <a:ext uri="{9D8B030D-6E8A-4147-A177-3AD203B41FA5}">
                      <a16:colId xmlns:a16="http://schemas.microsoft.com/office/drawing/2014/main" val="35125180"/>
                    </a:ext>
                  </a:extLst>
                </a:gridCol>
                <a:gridCol w="760611">
                  <a:extLst>
                    <a:ext uri="{9D8B030D-6E8A-4147-A177-3AD203B41FA5}">
                      <a16:colId xmlns:a16="http://schemas.microsoft.com/office/drawing/2014/main" val="2131069981"/>
                    </a:ext>
                  </a:extLst>
                </a:gridCol>
                <a:gridCol w="878929">
                  <a:extLst>
                    <a:ext uri="{9D8B030D-6E8A-4147-A177-3AD203B41FA5}">
                      <a16:colId xmlns:a16="http://schemas.microsoft.com/office/drawing/2014/main" val="973783829"/>
                    </a:ext>
                  </a:extLst>
                </a:gridCol>
                <a:gridCol w="878929">
                  <a:extLst>
                    <a:ext uri="{9D8B030D-6E8A-4147-A177-3AD203B41FA5}">
                      <a16:colId xmlns:a16="http://schemas.microsoft.com/office/drawing/2014/main" val="4259639212"/>
                    </a:ext>
                  </a:extLst>
                </a:gridCol>
                <a:gridCol w="878929">
                  <a:extLst>
                    <a:ext uri="{9D8B030D-6E8A-4147-A177-3AD203B41FA5}">
                      <a16:colId xmlns:a16="http://schemas.microsoft.com/office/drawing/2014/main" val="512893843"/>
                    </a:ext>
                  </a:extLst>
                </a:gridCol>
                <a:gridCol w="878929">
                  <a:extLst>
                    <a:ext uri="{9D8B030D-6E8A-4147-A177-3AD203B41FA5}">
                      <a16:colId xmlns:a16="http://schemas.microsoft.com/office/drawing/2014/main" val="3280077628"/>
                    </a:ext>
                  </a:extLst>
                </a:gridCol>
              </a:tblGrid>
              <a:tr h="233327">
                <a:tc>
                  <a:txBody>
                    <a:bodyPr/>
                    <a:lstStyle/>
                    <a:p>
                      <a:pPr algn="just" rtl="0" fontAlgn="b">
                        <a:spcBef>
                          <a:spcPts val="1200"/>
                        </a:spcBef>
                        <a:buNone/>
                      </a:pPr>
                      <a:r>
                        <a:rPr lang="es-AR" sz="1050" b="0" i="0" u="none" strike="noStrike">
                          <a:solidFill>
                            <a:srgbClr val="000000"/>
                          </a:solidFill>
                          <a:effectLst/>
                          <a:latin typeface="Arial" panose="020B0604020202020204" pitchFamily="34" charset="0"/>
                        </a:rPr>
                        <a:t> </a:t>
                      </a:r>
                      <a:endParaRPr lang="es-AR" sz="2400">
                        <a:effectLst/>
                      </a:endParaRPr>
                    </a:p>
                  </a:txBody>
                  <a:tcPr marL="50800" marR="50800" anchor="b">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 </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gridSpan="2">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Santa Fe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hMerge="1">
                  <a:txBody>
                    <a:bodyPr/>
                    <a:lstStyle/>
                    <a:p>
                      <a:endParaRPr lang="es-AR"/>
                    </a:p>
                  </a:txBody>
                  <a:tcPr/>
                </a:tc>
                <a:tc gridSpan="2">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Argentina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hMerge="1">
                  <a:txBody>
                    <a:bodyPr/>
                    <a:lstStyle/>
                    <a:p>
                      <a:endParaRPr lang="es-AR"/>
                    </a:p>
                  </a:txBody>
                  <a:tcPr/>
                </a:tc>
                <a:extLst>
                  <a:ext uri="{0D108BD9-81ED-4DB2-BD59-A6C34878D82A}">
                    <a16:rowId xmlns:a16="http://schemas.microsoft.com/office/drawing/2014/main" val="925613948"/>
                  </a:ext>
                </a:extLst>
              </a:tr>
              <a:tr h="233327">
                <a:tc>
                  <a:txBody>
                    <a:bodyPr/>
                    <a:lstStyle/>
                    <a:p>
                      <a:pPr algn="ctr" rtl="0" fontAlgn="b">
                        <a:spcBef>
                          <a:spcPts val="1200"/>
                        </a:spcBef>
                        <a:buNone/>
                      </a:pPr>
                      <a:r>
                        <a:rPr lang="es-AR" sz="1050" b="0" i="0" u="none" strike="noStrike">
                          <a:solidFill>
                            <a:srgbClr val="000000"/>
                          </a:solidFill>
                          <a:effectLst/>
                          <a:latin typeface="Arial" panose="020B0604020202020204" pitchFamily="34" charset="0"/>
                        </a:rPr>
                        <a:t>Año</a:t>
                      </a:r>
                      <a:endParaRPr lang="es-AR" sz="2400">
                        <a:effectLst/>
                      </a:endParaRPr>
                    </a:p>
                  </a:txBody>
                  <a:tcPr marL="50800" marR="50800" anchor="b">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Ranking</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País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Porcentaje</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País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Porcentaje</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5361866"/>
                  </a:ext>
                </a:extLst>
              </a:tr>
              <a:tr h="233327">
                <a:tc rowSpan="5">
                  <a:txBody>
                    <a:bodyPr/>
                    <a:lstStyle/>
                    <a:p>
                      <a:pPr fontAlgn="t">
                        <a:buNone/>
                      </a:pPr>
                      <a:endParaRPr lang="es-AR" sz="2400" dirty="0">
                        <a:effectLst/>
                      </a:endParaRPr>
                    </a:p>
                    <a:p>
                      <a:pPr algn="ctr" rtl="0" fontAlgn="t">
                        <a:spcBef>
                          <a:spcPts val="1200"/>
                        </a:spcBef>
                        <a:buNone/>
                      </a:pPr>
                      <a:r>
                        <a:rPr lang="es-AR" sz="1050" b="0" i="0" u="none" strike="noStrike" dirty="0">
                          <a:solidFill>
                            <a:srgbClr val="000000"/>
                          </a:solidFill>
                          <a:effectLst/>
                          <a:latin typeface="Arial" panose="020B0604020202020204" pitchFamily="34" charset="0"/>
                        </a:rPr>
                        <a:t>2002</a:t>
                      </a:r>
                      <a:endParaRPr lang="es-AR" sz="2400" dirty="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Brasil</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18,9</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399850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11,5</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574585685"/>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Italia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11,3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449833694"/>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Países Bajos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4,4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589608562"/>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4,3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3425397"/>
                  </a:ext>
                </a:extLst>
              </a:tr>
              <a:tr h="233327">
                <a:tc rowSpan="5">
                  <a:txBody>
                    <a:bodyPr/>
                    <a:lstStyle/>
                    <a:p>
                      <a:pPr algn="ctr" fontAlgn="t">
                        <a:buNone/>
                      </a:pPr>
                      <a:br>
                        <a:rPr lang="es-AR" sz="2400" dirty="0">
                          <a:effectLst/>
                        </a:rPr>
                      </a:br>
                      <a:endParaRPr lang="es-AR" sz="2400" dirty="0">
                        <a:effectLst/>
                      </a:endParaRPr>
                    </a:p>
                    <a:p>
                      <a:pPr algn="ctr" fontAlgn="t">
                        <a:buNone/>
                      </a:pPr>
                      <a:r>
                        <a:rPr lang="es-AR" sz="1050" b="0" i="0" u="none" strike="noStrike" dirty="0">
                          <a:solidFill>
                            <a:srgbClr val="000000"/>
                          </a:solidFill>
                          <a:effectLst/>
                          <a:latin typeface="Arial" panose="020B0604020202020204" pitchFamily="34" charset="0"/>
                        </a:rPr>
                        <a:t>2012</a:t>
                      </a:r>
                      <a:endParaRPr lang="es-AR" sz="2400" dirty="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10,4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20,6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947145059"/>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89859138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China</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850404591"/>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Países Bajos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4,8</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5,0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923321279"/>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4,6</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3,1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384038"/>
                  </a:ext>
                </a:extLst>
              </a:tr>
              <a:tr h="233327">
                <a:tc rowSpan="5">
                  <a:txBody>
                    <a:bodyPr/>
                    <a:lstStyle/>
                    <a:p>
                      <a:pPr algn="ctr" fontAlgn="t">
                        <a:buNone/>
                      </a:pPr>
                      <a:endParaRPr lang="es-AR" sz="2400" dirty="0">
                        <a:effectLst/>
                      </a:endParaRPr>
                    </a:p>
                    <a:p>
                      <a:pPr algn="ctr" fontAlgn="t">
                        <a:buNone/>
                      </a:pPr>
                      <a:endParaRPr lang="es-AR" sz="1400" b="0" i="0" u="none" strike="noStrike" dirty="0">
                        <a:solidFill>
                          <a:srgbClr val="000000"/>
                        </a:solidFill>
                        <a:effectLst/>
                        <a:latin typeface="Arial" panose="020B0604020202020204" pitchFamily="34" charset="0"/>
                      </a:endParaRPr>
                    </a:p>
                    <a:p>
                      <a:pPr algn="ctr" fontAlgn="t">
                        <a:buNone/>
                      </a:pPr>
                      <a:r>
                        <a:rPr lang="es-AR" sz="1050" b="0" i="0" u="none" strike="noStrike" dirty="0">
                          <a:solidFill>
                            <a:srgbClr val="000000"/>
                          </a:solidFill>
                          <a:effectLst/>
                          <a:latin typeface="Arial" panose="020B0604020202020204" pitchFamily="34" charset="0"/>
                        </a:rPr>
                        <a:t>2024</a:t>
                      </a:r>
                      <a:endParaRPr lang="es-AR" sz="2400" dirty="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11,7</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17,0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7037611"/>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9,4</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7,8</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812916169"/>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Vietnam</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7,2</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4849430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6,7</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91543924"/>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Chile</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4,3</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4,3</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2995159"/>
                  </a:ext>
                </a:extLst>
              </a:tr>
            </a:tbl>
          </a:graphicData>
        </a:graphic>
      </p:graphicFrame>
      <p:sp>
        <p:nvSpPr>
          <p:cNvPr id="3" name="CuadroTexto 2">
            <a:extLst>
              <a:ext uri="{FF2B5EF4-FFF2-40B4-BE49-F238E27FC236}">
                <a16:creationId xmlns:a16="http://schemas.microsoft.com/office/drawing/2014/main" id="{BA3D035A-23F7-3C21-AF4E-B1FD17E4F12F}"/>
              </a:ext>
            </a:extLst>
          </p:cNvPr>
          <p:cNvSpPr txBox="1"/>
          <p:nvPr/>
        </p:nvSpPr>
        <p:spPr>
          <a:xfrm>
            <a:off x="763571" y="433633"/>
            <a:ext cx="5458119" cy="523220"/>
          </a:xfrm>
          <a:prstGeom prst="rect">
            <a:avLst/>
          </a:prstGeom>
          <a:noFill/>
        </p:spPr>
        <p:txBody>
          <a:bodyPr wrap="square" rtlCol="0">
            <a:spAutoFit/>
          </a:bodyPr>
          <a:lstStyle/>
          <a:p>
            <a:r>
              <a:rPr lang="es-AR" sz="2800" b="1" dirty="0">
                <a:latin typeface="Lucida Bright" panose="02040602050505020304" pitchFamily="18" charset="0"/>
              </a:rPr>
              <a:t>Santa Fe vs. Argentina</a:t>
            </a:r>
          </a:p>
        </p:txBody>
      </p:sp>
      <p:pic>
        <p:nvPicPr>
          <p:cNvPr id="6" name="Picture 2">
            <a:extLst>
              <a:ext uri="{FF2B5EF4-FFF2-40B4-BE49-F238E27FC236}">
                <a16:creationId xmlns:a16="http://schemas.microsoft.com/office/drawing/2014/main" id="{DFDAD657-093C-782E-D654-9E0B42DBC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00" y="1785555"/>
            <a:ext cx="6501484" cy="2956128"/>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E3CB1F21-D27E-B492-E87E-7A33CC0D58AC}"/>
              </a:ext>
            </a:extLst>
          </p:cNvPr>
          <p:cNvSpPr txBox="1"/>
          <p:nvPr/>
        </p:nvSpPr>
        <p:spPr>
          <a:xfrm>
            <a:off x="987552" y="1531639"/>
            <a:ext cx="5205490" cy="253916"/>
          </a:xfrm>
          <a:prstGeom prst="rect">
            <a:avLst/>
          </a:prstGeom>
          <a:noFill/>
        </p:spPr>
        <p:txBody>
          <a:bodyPr wrap="square" rtlCol="0">
            <a:spAutoFit/>
          </a:bodyPr>
          <a:lstStyle/>
          <a:p>
            <a:r>
              <a:rPr lang="es-MX" sz="1050" b="1" dirty="0">
                <a:latin typeface="Lucida Bright" panose="02040602050505020304" pitchFamily="18" charset="0"/>
              </a:rPr>
              <a:t>Figura 2</a:t>
            </a:r>
            <a:r>
              <a:rPr lang="es-MX" sz="1050" dirty="0">
                <a:latin typeface="Lucida Bright" panose="02040602050505020304" pitchFamily="18" charset="0"/>
              </a:rPr>
              <a:t> | Exportaciones de Argentina y Santa Fe según rubro. 2002 a 2024</a:t>
            </a:r>
            <a:endParaRPr lang="es-AR" sz="1050" dirty="0">
              <a:latin typeface="Lucida Bright" panose="02040602050505020304" pitchFamily="18" charset="0"/>
            </a:endParaRPr>
          </a:p>
        </p:txBody>
      </p:sp>
      <p:sp>
        <p:nvSpPr>
          <p:cNvPr id="7" name="CuadroTexto 6">
            <a:extLst>
              <a:ext uri="{FF2B5EF4-FFF2-40B4-BE49-F238E27FC236}">
                <a16:creationId xmlns:a16="http://schemas.microsoft.com/office/drawing/2014/main" id="{1C9BBC50-D52A-B5AF-68DC-F63C736EB8E3}"/>
              </a:ext>
            </a:extLst>
          </p:cNvPr>
          <p:cNvSpPr txBox="1"/>
          <p:nvPr/>
        </p:nvSpPr>
        <p:spPr>
          <a:xfrm>
            <a:off x="6839712" y="1016527"/>
            <a:ext cx="5036938" cy="415498"/>
          </a:xfrm>
          <a:prstGeom prst="rect">
            <a:avLst/>
          </a:prstGeom>
          <a:noFill/>
        </p:spPr>
        <p:txBody>
          <a:bodyPr wrap="square" rtlCol="0">
            <a:spAutoFit/>
          </a:bodyPr>
          <a:lstStyle/>
          <a:p>
            <a:r>
              <a:rPr lang="es-MX" sz="1050" b="1" dirty="0">
                <a:latin typeface="Lucida Bright" panose="02040602050505020304" pitchFamily="18" charset="0"/>
              </a:rPr>
              <a:t>Cuadro 1</a:t>
            </a:r>
            <a:r>
              <a:rPr lang="es-MX" sz="1050" dirty="0">
                <a:latin typeface="Lucida Bright" panose="02040602050505020304" pitchFamily="18" charset="0"/>
              </a:rPr>
              <a:t> | Participación de los países en el total exportado de Santa Fe y Argentina Años objetivos</a:t>
            </a:r>
            <a:endParaRPr lang="es-AR" sz="1050" dirty="0">
              <a:latin typeface="Lucida Bright" panose="02040602050505020304" pitchFamily="18" charset="0"/>
            </a:endParaRPr>
          </a:p>
        </p:txBody>
      </p:sp>
    </p:spTree>
    <p:extLst>
      <p:ext uri="{BB962C8B-B14F-4D97-AF65-F5344CB8AC3E}">
        <p14:creationId xmlns:p14="http://schemas.microsoft.com/office/powerpoint/2010/main" val="309779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7B57-146E-772F-8D64-D0F2AFEA18D9}"/>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4D175B7E-45C2-8209-34DF-BD50BD625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2" name="CuadroTexto 1">
            <a:extLst>
              <a:ext uri="{FF2B5EF4-FFF2-40B4-BE49-F238E27FC236}">
                <a16:creationId xmlns:a16="http://schemas.microsoft.com/office/drawing/2014/main" id="{CEDD22DF-45C2-D41B-3D58-F722D3E30436}"/>
              </a:ext>
            </a:extLst>
          </p:cNvPr>
          <p:cNvSpPr txBox="1"/>
          <p:nvPr/>
        </p:nvSpPr>
        <p:spPr>
          <a:xfrm>
            <a:off x="433633" y="822918"/>
            <a:ext cx="6966408" cy="954107"/>
          </a:xfrm>
          <a:prstGeom prst="rect">
            <a:avLst/>
          </a:prstGeom>
          <a:noFill/>
        </p:spPr>
        <p:txBody>
          <a:bodyPr wrap="square" rtlCol="0">
            <a:spAutoFit/>
          </a:bodyPr>
          <a:lstStyle/>
          <a:p>
            <a:r>
              <a:rPr lang="es-MX" sz="2800" b="1" dirty="0">
                <a:latin typeface="Lucida Bright" panose="02040602050505020304" pitchFamily="18" charset="0"/>
              </a:rPr>
              <a:t>ITCRM Argentina: metodología</a:t>
            </a:r>
            <a:r>
              <a:rPr lang="es-AR" sz="2800" b="1" dirty="0">
                <a:latin typeface="Lucida Bright" panose="02040602050505020304" pitchFamily="18" charset="0"/>
              </a:rPr>
              <a:t> BCRA</a:t>
            </a:r>
          </a:p>
          <a:p>
            <a:endParaRPr lang="es-AR" sz="2800" b="1" dirty="0">
              <a:latin typeface="Lucida Bright" panose="02040602050505020304" pitchFamily="18" charset="0"/>
            </a:endParaRPr>
          </a:p>
        </p:txBody>
      </p:sp>
      <p:pic>
        <p:nvPicPr>
          <p:cNvPr id="6" name="Imagen 5" descr="Logotipo&#10;&#10;El contenido generado por IA puede ser incorrecto.">
            <a:extLst>
              <a:ext uri="{FF2B5EF4-FFF2-40B4-BE49-F238E27FC236}">
                <a16:creationId xmlns:a16="http://schemas.microsoft.com/office/drawing/2014/main" id="{14842196-80B1-0425-0C7C-0575630C6EA0}"/>
              </a:ext>
            </a:extLst>
          </p:cNvPr>
          <p:cNvPicPr>
            <a:picLocks noChangeAspect="1"/>
          </p:cNvPicPr>
          <p:nvPr/>
        </p:nvPicPr>
        <p:blipFill>
          <a:blip r:embed="rId3"/>
          <a:stretch>
            <a:fillRect/>
          </a:stretch>
        </p:blipFill>
        <p:spPr>
          <a:xfrm>
            <a:off x="4524153" y="1837837"/>
            <a:ext cx="3143689" cy="762106"/>
          </a:xfrm>
          <a:prstGeom prst="rect">
            <a:avLst/>
          </a:prstGeom>
        </p:spPr>
      </p:pic>
      <p:sp>
        <p:nvSpPr>
          <p:cNvPr id="7" name="CuadroTexto 6">
            <a:extLst>
              <a:ext uri="{FF2B5EF4-FFF2-40B4-BE49-F238E27FC236}">
                <a16:creationId xmlns:a16="http://schemas.microsoft.com/office/drawing/2014/main" id="{B40CA2AC-5892-BC0D-F83C-3F275BD9A96D}"/>
              </a:ext>
            </a:extLst>
          </p:cNvPr>
          <p:cNvSpPr txBox="1"/>
          <p:nvPr/>
        </p:nvSpPr>
        <p:spPr>
          <a:xfrm>
            <a:off x="171252" y="2820239"/>
            <a:ext cx="11849493" cy="3363741"/>
          </a:xfrm>
          <a:prstGeom prst="rect">
            <a:avLst/>
          </a:prstGeom>
          <a:noFill/>
        </p:spPr>
        <p:txBody>
          <a:bodyPr wrap="square" rtlCol="0">
            <a:spAutoFit/>
          </a:bodyPr>
          <a:lstStyle/>
          <a:p>
            <a:pPr>
              <a:lnSpc>
                <a:spcPct val="150000"/>
              </a:lnSpc>
            </a:pPr>
            <a:r>
              <a:rPr lang="es-AR" dirty="0">
                <a:latin typeface="Lucida Bright" panose="02040602050505020304" pitchFamily="18" charset="0"/>
              </a:rPr>
              <a:t>Índice “Laspeyres geométrico encadenado”</a:t>
            </a:r>
          </a:p>
          <a:p>
            <a:pPr>
              <a:lnSpc>
                <a:spcPct val="150000"/>
              </a:lnSpc>
            </a:pPr>
            <a:r>
              <a:rPr lang="es-MX" dirty="0">
                <a:latin typeface="Lucida Bright" panose="02040602050505020304" pitchFamily="18" charset="0"/>
              </a:rPr>
              <a:t>Socios comerciales ponderados por su participación en los flujos de comercio (exportaciones + importaciones) de manufacturas </a:t>
            </a:r>
            <a:r>
              <a:rPr lang="es-MX" dirty="0">
                <a:latin typeface="Lucida Bright" panose="02040602050505020304" pitchFamily="18" charset="0"/>
                <a:sym typeface="Wingdings" panose="05000000000000000000" pitchFamily="2" charset="2"/>
              </a:rPr>
              <a:t></a:t>
            </a:r>
            <a:r>
              <a:rPr lang="es-MX" dirty="0">
                <a:latin typeface="Lucida Bright" panose="02040602050505020304" pitchFamily="18" charset="0"/>
              </a:rPr>
              <a:t> fueron incluidos los países cuya participación en el flujo de comercio fue mayor o igual a 2% en al menos un año a partir de 1996 </a:t>
            </a:r>
          </a:p>
          <a:p>
            <a:pPr>
              <a:lnSpc>
                <a:spcPct val="150000"/>
              </a:lnSpc>
            </a:pPr>
            <a:endParaRPr lang="es-MX" dirty="0">
              <a:latin typeface="Lucida Bright" panose="02040602050505020304" pitchFamily="18" charset="0"/>
            </a:endParaRPr>
          </a:p>
          <a:p>
            <a:pPr>
              <a:lnSpc>
                <a:spcPct val="150000"/>
              </a:lnSpc>
            </a:pPr>
            <a:r>
              <a:rPr lang="es-MX" dirty="0">
                <a:latin typeface="Lucida Bright" panose="02040602050505020304" pitchFamily="18" charset="0"/>
              </a:rPr>
              <a:t>Actualmente el índice incluye 13 socios comerciales, considerando la Zona del euro (19 países) como una unidad. Si se desagrega la Zona del euro, el índice comprende 31 países. En el período 1996-2016, la participación conjunta de estos países osciló entre 75% y 83% del flujo de comercio total considerado. </a:t>
            </a:r>
            <a:endParaRPr lang="es-AR" dirty="0">
              <a:latin typeface="Lucida Bright" panose="02040602050505020304" pitchFamily="18" charset="0"/>
            </a:endParaRPr>
          </a:p>
        </p:txBody>
      </p:sp>
    </p:spTree>
    <p:extLst>
      <p:ext uri="{BB962C8B-B14F-4D97-AF65-F5344CB8AC3E}">
        <p14:creationId xmlns:p14="http://schemas.microsoft.com/office/powerpoint/2010/main" val="2309206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C2BED-3FEB-E1FF-B798-1C50BD6AA683}"/>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731EC888-3BBA-D83B-E84D-B44C3BF6B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2" name="CuadroTexto 1">
            <a:extLst>
              <a:ext uri="{FF2B5EF4-FFF2-40B4-BE49-F238E27FC236}">
                <a16:creationId xmlns:a16="http://schemas.microsoft.com/office/drawing/2014/main" id="{3B08D648-41DE-ED62-BB0D-B71F36FCAD7F}"/>
              </a:ext>
            </a:extLst>
          </p:cNvPr>
          <p:cNvSpPr txBox="1"/>
          <p:nvPr/>
        </p:nvSpPr>
        <p:spPr>
          <a:xfrm>
            <a:off x="433632" y="822918"/>
            <a:ext cx="7694367" cy="523220"/>
          </a:xfrm>
          <a:prstGeom prst="rect">
            <a:avLst/>
          </a:prstGeom>
          <a:noFill/>
        </p:spPr>
        <p:txBody>
          <a:bodyPr wrap="square" rtlCol="0">
            <a:spAutoFit/>
          </a:bodyPr>
          <a:lstStyle/>
          <a:p>
            <a:r>
              <a:rPr lang="es-MX" sz="2800" b="1" dirty="0">
                <a:latin typeface="Lucida Bright" panose="02040602050505020304" pitchFamily="18" charset="0"/>
              </a:rPr>
              <a:t>ITCRM CES:</a:t>
            </a:r>
            <a:r>
              <a:rPr lang="es-AR" sz="2800" b="1" dirty="0">
                <a:latin typeface="Lucida Bright" panose="02040602050505020304" pitchFamily="18" charset="0"/>
              </a:rPr>
              <a:t> diferencia respecto del BCRA</a:t>
            </a:r>
          </a:p>
        </p:txBody>
      </p:sp>
      <p:sp>
        <p:nvSpPr>
          <p:cNvPr id="7" name="CuadroTexto 6">
            <a:extLst>
              <a:ext uri="{FF2B5EF4-FFF2-40B4-BE49-F238E27FC236}">
                <a16:creationId xmlns:a16="http://schemas.microsoft.com/office/drawing/2014/main" id="{86F52E34-05EF-76C3-37C6-9B17EFFE19CF}"/>
              </a:ext>
            </a:extLst>
          </p:cNvPr>
          <p:cNvSpPr txBox="1"/>
          <p:nvPr/>
        </p:nvSpPr>
        <p:spPr>
          <a:xfrm>
            <a:off x="171252" y="2820239"/>
            <a:ext cx="11849493" cy="3363741"/>
          </a:xfrm>
          <a:prstGeom prst="rect">
            <a:avLst/>
          </a:prstGeom>
          <a:noFill/>
        </p:spPr>
        <p:txBody>
          <a:bodyPr wrap="square" rtlCol="0">
            <a:spAutoFit/>
          </a:bodyPr>
          <a:lstStyle/>
          <a:p>
            <a:pPr>
              <a:lnSpc>
                <a:spcPct val="150000"/>
              </a:lnSpc>
            </a:pPr>
            <a:r>
              <a:rPr lang="es-AR" dirty="0">
                <a:latin typeface="Lucida Bright" panose="02040602050505020304" pitchFamily="18" charset="0"/>
              </a:rPr>
              <a:t>Se consideran sólo exportaciones</a:t>
            </a:r>
          </a:p>
          <a:p>
            <a:pPr>
              <a:lnSpc>
                <a:spcPct val="150000"/>
              </a:lnSpc>
            </a:pPr>
            <a:r>
              <a:rPr lang="es-AR" dirty="0">
                <a:latin typeface="Lucida Bright" panose="02040602050505020304" pitchFamily="18" charset="0"/>
              </a:rPr>
              <a:t>Se contemplan todos los socios comerciales, incorporándolos en la medida de que se posean datos en cada mes.</a:t>
            </a:r>
          </a:p>
          <a:p>
            <a:pPr>
              <a:lnSpc>
                <a:spcPct val="150000"/>
              </a:lnSpc>
            </a:pPr>
            <a:r>
              <a:rPr lang="es-AR" dirty="0">
                <a:latin typeface="Lucida Bright" panose="02040602050505020304" pitchFamily="18" charset="0"/>
              </a:rPr>
              <a:t>	¿Qué datos se requieren? IPC, TC y, por supuesto, participación en las exportaciones.</a:t>
            </a:r>
          </a:p>
          <a:p>
            <a:pPr>
              <a:lnSpc>
                <a:spcPct val="150000"/>
              </a:lnSpc>
            </a:pPr>
            <a:r>
              <a:rPr lang="es-AR" dirty="0">
                <a:latin typeface="Lucida Bright" panose="02040602050505020304" pitchFamily="18" charset="0"/>
              </a:rPr>
              <a:t>		¿Qué sucede si no se posee información en el mes x respecto del país a? Se quita de la 		canasta de socios comerciales y se </a:t>
            </a:r>
            <a:r>
              <a:rPr lang="es-AR" dirty="0" err="1">
                <a:latin typeface="Lucida Bright" panose="02040602050505020304" pitchFamily="18" charset="0"/>
              </a:rPr>
              <a:t>reescalan</a:t>
            </a:r>
            <a:r>
              <a:rPr lang="es-AR" dirty="0">
                <a:latin typeface="Lucida Bright" panose="02040602050505020304" pitchFamily="18" charset="0"/>
              </a:rPr>
              <a:t> las </a:t>
            </a:r>
            <a:r>
              <a:rPr lang="es-AR" dirty="0" err="1">
                <a:latin typeface="Lucida Bright" panose="02040602050505020304" pitchFamily="18" charset="0"/>
              </a:rPr>
              <a:t>particpaciones</a:t>
            </a:r>
            <a:r>
              <a:rPr lang="es-AR" dirty="0">
                <a:latin typeface="Lucida Bright" panose="02040602050505020304" pitchFamily="18" charset="0"/>
              </a:rPr>
              <a:t> de los demás.</a:t>
            </a:r>
          </a:p>
          <a:p>
            <a:pPr>
              <a:lnSpc>
                <a:spcPct val="150000"/>
              </a:lnSpc>
            </a:pPr>
            <a:r>
              <a:rPr lang="es-AR" dirty="0">
                <a:latin typeface="Lucida Bright" panose="02040602050505020304" pitchFamily="18" charset="0"/>
              </a:rPr>
              <a:t>Socios comerciales tenidos en cuenta en promedio 164 países, con una cobertura del 75% a 90% de las MOA </a:t>
            </a:r>
            <a:r>
              <a:rPr lang="es-AR">
                <a:latin typeface="Lucida Bright" panose="02040602050505020304" pitchFamily="18" charset="0"/>
              </a:rPr>
              <a:t>y MOI durante </a:t>
            </a:r>
            <a:r>
              <a:rPr lang="es-AR" dirty="0">
                <a:latin typeface="Lucida Bright" panose="02040602050505020304" pitchFamily="18" charset="0"/>
              </a:rPr>
              <a:t>2002 a 2007, cercano al 100% de 2008 en adelante.</a:t>
            </a:r>
          </a:p>
        </p:txBody>
      </p:sp>
    </p:spTree>
    <p:extLst>
      <p:ext uri="{BB962C8B-B14F-4D97-AF65-F5344CB8AC3E}">
        <p14:creationId xmlns:p14="http://schemas.microsoft.com/office/powerpoint/2010/main" val="1372679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17D5B-0552-0A2F-76E7-4E3D76F22310}"/>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A262046B-88EC-A30D-07AD-5A5A000A5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pic>
        <p:nvPicPr>
          <p:cNvPr id="3" name="Imagen 2">
            <a:extLst>
              <a:ext uri="{FF2B5EF4-FFF2-40B4-BE49-F238E27FC236}">
                <a16:creationId xmlns:a16="http://schemas.microsoft.com/office/drawing/2014/main" id="{3C73FBB2-7AB4-47BF-FA06-8D0FB279224C}"/>
              </a:ext>
            </a:extLst>
          </p:cNvPr>
          <p:cNvPicPr>
            <a:picLocks noChangeAspect="1"/>
          </p:cNvPicPr>
          <p:nvPr/>
        </p:nvPicPr>
        <p:blipFill>
          <a:blip r:embed="rId3"/>
          <a:srcRect l="189" t="6135"/>
          <a:stretch>
            <a:fillRect/>
          </a:stretch>
        </p:blipFill>
        <p:spPr>
          <a:xfrm>
            <a:off x="877824" y="1581912"/>
            <a:ext cx="10038415" cy="4321195"/>
          </a:xfrm>
          <a:prstGeom prst="rect">
            <a:avLst/>
          </a:prstGeom>
        </p:spPr>
      </p:pic>
      <p:sp>
        <p:nvSpPr>
          <p:cNvPr id="5" name="CuadroTexto 4">
            <a:extLst>
              <a:ext uri="{FF2B5EF4-FFF2-40B4-BE49-F238E27FC236}">
                <a16:creationId xmlns:a16="http://schemas.microsoft.com/office/drawing/2014/main" id="{7DCAC650-D1E9-6F86-5E92-EA454C36CA9C}"/>
              </a:ext>
            </a:extLst>
          </p:cNvPr>
          <p:cNvSpPr txBox="1"/>
          <p:nvPr/>
        </p:nvSpPr>
        <p:spPr>
          <a:xfrm>
            <a:off x="593889" y="329938"/>
            <a:ext cx="2507530" cy="523220"/>
          </a:xfrm>
          <a:prstGeom prst="rect">
            <a:avLst/>
          </a:prstGeom>
          <a:noFill/>
        </p:spPr>
        <p:txBody>
          <a:bodyPr wrap="square" rtlCol="0">
            <a:spAutoFit/>
          </a:bodyPr>
          <a:lstStyle/>
          <a:p>
            <a:r>
              <a:rPr lang="es-MX" sz="2800" b="1" dirty="0">
                <a:latin typeface="Lucida Bright" panose="02040602050505020304" pitchFamily="18" charset="0"/>
              </a:rPr>
              <a:t>Resultados: </a:t>
            </a:r>
            <a:endParaRPr lang="es-AR" sz="2800" b="1" dirty="0">
              <a:latin typeface="Lucida Bright" panose="02040602050505020304" pitchFamily="18" charset="0"/>
            </a:endParaRPr>
          </a:p>
        </p:txBody>
      </p:sp>
      <p:sp>
        <p:nvSpPr>
          <p:cNvPr id="2" name="CuadroTexto 1">
            <a:extLst>
              <a:ext uri="{FF2B5EF4-FFF2-40B4-BE49-F238E27FC236}">
                <a16:creationId xmlns:a16="http://schemas.microsoft.com/office/drawing/2014/main" id="{D83D3B3D-18F8-C578-2347-9EAFD40E1B6C}"/>
              </a:ext>
            </a:extLst>
          </p:cNvPr>
          <p:cNvSpPr txBox="1"/>
          <p:nvPr/>
        </p:nvSpPr>
        <p:spPr>
          <a:xfrm>
            <a:off x="2125476" y="1183096"/>
            <a:ext cx="6479028" cy="253916"/>
          </a:xfrm>
          <a:prstGeom prst="rect">
            <a:avLst/>
          </a:prstGeom>
          <a:noFill/>
        </p:spPr>
        <p:txBody>
          <a:bodyPr wrap="square" rtlCol="0">
            <a:spAutoFit/>
          </a:bodyPr>
          <a:lstStyle/>
          <a:p>
            <a:r>
              <a:rPr lang="es-MX" sz="1050" b="1" dirty="0">
                <a:latin typeface="Lucida Bright" panose="02040602050505020304" pitchFamily="18" charset="0"/>
              </a:rPr>
              <a:t>Figura 3</a:t>
            </a:r>
            <a:r>
              <a:rPr lang="es-MX" sz="1050" dirty="0">
                <a:latin typeface="Lucida Bright" panose="02040602050505020304" pitchFamily="18" charset="0"/>
              </a:rPr>
              <a:t> | ITCRM de Santa Fe (CES) vs ITCRM de Argentina (BCRA). Base diciembre de 2001 = 100</a:t>
            </a:r>
            <a:endParaRPr lang="es-AR" sz="1050" dirty="0">
              <a:latin typeface="Lucida Bright" panose="02040602050505020304" pitchFamily="18" charset="0"/>
            </a:endParaRPr>
          </a:p>
        </p:txBody>
      </p:sp>
    </p:spTree>
    <p:extLst>
      <p:ext uri="{BB962C8B-B14F-4D97-AF65-F5344CB8AC3E}">
        <p14:creationId xmlns:p14="http://schemas.microsoft.com/office/powerpoint/2010/main" val="4060738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Texto">
            <a:extLst>
              <a:ext uri="{FF2B5EF4-FFF2-40B4-BE49-F238E27FC236}">
                <a16:creationId xmlns:a16="http://schemas.microsoft.com/office/drawing/2014/main" id="{A7AB8252-EF6F-DF75-6BC4-5D7F0E4CA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5" name="CuadroTexto 4">
            <a:extLst>
              <a:ext uri="{FF2B5EF4-FFF2-40B4-BE49-F238E27FC236}">
                <a16:creationId xmlns:a16="http://schemas.microsoft.com/office/drawing/2014/main" id="{172C170B-5BBB-6093-55DA-AFA4E0C961F4}"/>
              </a:ext>
            </a:extLst>
          </p:cNvPr>
          <p:cNvSpPr txBox="1"/>
          <p:nvPr/>
        </p:nvSpPr>
        <p:spPr>
          <a:xfrm>
            <a:off x="612742" y="365125"/>
            <a:ext cx="1772239" cy="523220"/>
          </a:xfrm>
          <a:prstGeom prst="rect">
            <a:avLst/>
          </a:prstGeom>
          <a:noFill/>
        </p:spPr>
        <p:txBody>
          <a:bodyPr wrap="square" rtlCol="0">
            <a:spAutoFit/>
          </a:bodyPr>
          <a:lstStyle/>
          <a:p>
            <a:r>
              <a:rPr lang="es-MX" sz="2800" b="1" dirty="0">
                <a:latin typeface="Lucida Bright" panose="02040602050505020304" pitchFamily="18" charset="0"/>
              </a:rPr>
              <a:t>Ajuste</a:t>
            </a:r>
            <a:endParaRPr lang="es-AR" sz="2800" b="1" dirty="0">
              <a:latin typeface="Lucida Bright" panose="02040602050505020304" pitchFamily="18" charset="0"/>
            </a:endParaRPr>
          </a:p>
        </p:txBody>
      </p:sp>
      <p:graphicFrame>
        <p:nvGraphicFramePr>
          <p:cNvPr id="12" name="Marcador de contenido 11">
            <a:extLst>
              <a:ext uri="{FF2B5EF4-FFF2-40B4-BE49-F238E27FC236}">
                <a16:creationId xmlns:a16="http://schemas.microsoft.com/office/drawing/2014/main" id="{A0356ACD-EA59-9006-73C2-313ACA9FD739}"/>
              </a:ext>
            </a:extLst>
          </p:cNvPr>
          <p:cNvGraphicFramePr>
            <a:graphicFrameLocks noGrp="1"/>
          </p:cNvGraphicFramePr>
          <p:nvPr>
            <p:ph idx="1"/>
            <p:extLst>
              <p:ext uri="{D42A27DB-BD31-4B8C-83A1-F6EECF244321}">
                <p14:modId xmlns:p14="http://schemas.microsoft.com/office/powerpoint/2010/main" val="3813412206"/>
              </p:ext>
            </p:extLst>
          </p:nvPr>
        </p:nvGraphicFramePr>
        <p:xfrm>
          <a:off x="882650" y="2474055"/>
          <a:ext cx="10426700" cy="1714500"/>
        </p:xfrm>
        <a:graphic>
          <a:graphicData uri="http://schemas.openxmlformats.org/drawingml/2006/table">
            <a:tbl>
              <a:tblPr/>
              <a:tblGrid>
                <a:gridCol w="1282700">
                  <a:extLst>
                    <a:ext uri="{9D8B030D-6E8A-4147-A177-3AD203B41FA5}">
                      <a16:colId xmlns:a16="http://schemas.microsoft.com/office/drawing/2014/main" val="274767254"/>
                    </a:ext>
                  </a:extLst>
                </a:gridCol>
                <a:gridCol w="762000">
                  <a:extLst>
                    <a:ext uri="{9D8B030D-6E8A-4147-A177-3AD203B41FA5}">
                      <a16:colId xmlns:a16="http://schemas.microsoft.com/office/drawing/2014/main" val="2828085567"/>
                    </a:ext>
                  </a:extLst>
                </a:gridCol>
                <a:gridCol w="762000">
                  <a:extLst>
                    <a:ext uri="{9D8B030D-6E8A-4147-A177-3AD203B41FA5}">
                      <a16:colId xmlns:a16="http://schemas.microsoft.com/office/drawing/2014/main" val="753684733"/>
                    </a:ext>
                  </a:extLst>
                </a:gridCol>
                <a:gridCol w="762000">
                  <a:extLst>
                    <a:ext uri="{9D8B030D-6E8A-4147-A177-3AD203B41FA5}">
                      <a16:colId xmlns:a16="http://schemas.microsoft.com/office/drawing/2014/main" val="4021989135"/>
                    </a:ext>
                  </a:extLst>
                </a:gridCol>
                <a:gridCol w="762000">
                  <a:extLst>
                    <a:ext uri="{9D8B030D-6E8A-4147-A177-3AD203B41FA5}">
                      <a16:colId xmlns:a16="http://schemas.microsoft.com/office/drawing/2014/main" val="2531779624"/>
                    </a:ext>
                  </a:extLst>
                </a:gridCol>
                <a:gridCol w="762000">
                  <a:extLst>
                    <a:ext uri="{9D8B030D-6E8A-4147-A177-3AD203B41FA5}">
                      <a16:colId xmlns:a16="http://schemas.microsoft.com/office/drawing/2014/main" val="2503981789"/>
                    </a:ext>
                  </a:extLst>
                </a:gridCol>
                <a:gridCol w="762000">
                  <a:extLst>
                    <a:ext uri="{9D8B030D-6E8A-4147-A177-3AD203B41FA5}">
                      <a16:colId xmlns:a16="http://schemas.microsoft.com/office/drawing/2014/main" val="1660042784"/>
                    </a:ext>
                  </a:extLst>
                </a:gridCol>
                <a:gridCol w="762000">
                  <a:extLst>
                    <a:ext uri="{9D8B030D-6E8A-4147-A177-3AD203B41FA5}">
                      <a16:colId xmlns:a16="http://schemas.microsoft.com/office/drawing/2014/main" val="1016282941"/>
                    </a:ext>
                  </a:extLst>
                </a:gridCol>
                <a:gridCol w="762000">
                  <a:extLst>
                    <a:ext uri="{9D8B030D-6E8A-4147-A177-3AD203B41FA5}">
                      <a16:colId xmlns:a16="http://schemas.microsoft.com/office/drawing/2014/main" val="3257309952"/>
                    </a:ext>
                  </a:extLst>
                </a:gridCol>
                <a:gridCol w="762000">
                  <a:extLst>
                    <a:ext uri="{9D8B030D-6E8A-4147-A177-3AD203B41FA5}">
                      <a16:colId xmlns:a16="http://schemas.microsoft.com/office/drawing/2014/main" val="3351626756"/>
                    </a:ext>
                  </a:extLst>
                </a:gridCol>
                <a:gridCol w="762000">
                  <a:extLst>
                    <a:ext uri="{9D8B030D-6E8A-4147-A177-3AD203B41FA5}">
                      <a16:colId xmlns:a16="http://schemas.microsoft.com/office/drawing/2014/main" val="4223547852"/>
                    </a:ext>
                  </a:extLst>
                </a:gridCol>
                <a:gridCol w="762000">
                  <a:extLst>
                    <a:ext uri="{9D8B030D-6E8A-4147-A177-3AD203B41FA5}">
                      <a16:colId xmlns:a16="http://schemas.microsoft.com/office/drawing/2014/main" val="1361001394"/>
                    </a:ext>
                  </a:extLst>
                </a:gridCol>
                <a:gridCol w="762000">
                  <a:extLst>
                    <a:ext uri="{9D8B030D-6E8A-4147-A177-3AD203B41FA5}">
                      <a16:colId xmlns:a16="http://schemas.microsoft.com/office/drawing/2014/main" val="24002061"/>
                    </a:ext>
                  </a:extLst>
                </a:gridCol>
              </a:tblGrid>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gridSpan="12">
                  <a:txBody>
                    <a:bodyPr/>
                    <a:lstStyle/>
                    <a:p>
                      <a:pPr algn="ctr" fontAlgn="b">
                        <a:buNone/>
                      </a:pPr>
                      <a:r>
                        <a:rPr lang="es-ES" sz="1100" b="1" i="0" u="none" strike="noStrike" dirty="0">
                          <a:solidFill>
                            <a:srgbClr val="FFFFFF"/>
                          </a:solidFill>
                          <a:effectLst/>
                          <a:latin typeface="Lucida Bright" panose="02040602050505020304" pitchFamily="18" charset="0"/>
                        </a:rPr>
                        <a:t>VARIABLE DEPENDIENTE: EXPORTACIONES TOTALES BRUTAS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dirty="0"/>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extLst>
                  <a:ext uri="{0D108BD9-81ED-4DB2-BD59-A6C34878D82A}">
                    <a16:rowId xmlns:a16="http://schemas.microsoft.com/office/drawing/2014/main" val="3661847330"/>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3">
                  <a:txBody>
                    <a:bodyPr/>
                    <a:lstStyle/>
                    <a:p>
                      <a:pPr algn="ctr" fontAlgn="b">
                        <a:buNone/>
                      </a:pPr>
                      <a:r>
                        <a:rPr lang="es-AR" sz="1100" b="0" i="0" u="none" strike="noStrike">
                          <a:solidFill>
                            <a:srgbClr val="000000"/>
                          </a:solidFill>
                          <a:effectLst/>
                          <a:latin typeface="Lucida Bright" panose="02040602050505020304" pitchFamily="18" charset="0"/>
                        </a:rPr>
                        <a:t>MODELOS SIMPLES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GBEC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INCLUTEN API Y 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2478541887"/>
                  </a:ext>
                </a:extLst>
              </a:tr>
              <a:tr h="190500">
                <a:tc>
                  <a:txBody>
                    <a:bodyPr/>
                    <a:lstStyle/>
                    <a:p>
                      <a:pPr algn="ctr" fontAlgn="b">
                        <a:buNone/>
                      </a:pPr>
                      <a:r>
                        <a:rPr lang="es-AR" sz="1100" b="0" i="0" u="none" strike="noStrike">
                          <a:solidFill>
                            <a:srgbClr val="000000"/>
                          </a:solidFill>
                          <a:effectLst/>
                          <a:latin typeface="Lucida Bright" panose="02040602050505020304" pitchFamily="18" charset="0"/>
                        </a:rPr>
                        <a:t>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143420"/>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(Intercept)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12.570***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11.524***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2.948***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11.751***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3.794***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3.213***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1.493**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0.484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3.084***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1.251*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0.284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71027162"/>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log(ITCRM_ARG)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-0.854***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-0.959***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-0.851***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-0.956***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-0.085</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-0.087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01548762"/>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log(ITCRM_SFE)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0.697***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0.696***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0.101*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0.100*</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611651013"/>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-0.052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-0.183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0.052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0.042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1176211"/>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1.306***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1.312***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1.308***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1.314***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1016685"/>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R² ajustado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0.334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0.302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0.176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0.332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0.299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0.177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0.708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0.71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0.707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0.709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5354172"/>
                  </a:ext>
                </a:extLst>
              </a:tr>
            </a:tbl>
          </a:graphicData>
        </a:graphic>
      </p:graphicFrame>
      <p:sp>
        <p:nvSpPr>
          <p:cNvPr id="13" name="CuadroTexto 12">
            <a:extLst>
              <a:ext uri="{FF2B5EF4-FFF2-40B4-BE49-F238E27FC236}">
                <a16:creationId xmlns:a16="http://schemas.microsoft.com/office/drawing/2014/main" id="{003831CE-821B-EFD5-F396-12A92AFD0A2F}"/>
              </a:ext>
            </a:extLst>
          </p:cNvPr>
          <p:cNvSpPr txBox="1"/>
          <p:nvPr/>
        </p:nvSpPr>
        <p:spPr>
          <a:xfrm>
            <a:off x="3163824" y="2061991"/>
            <a:ext cx="5450645" cy="253916"/>
          </a:xfrm>
          <a:prstGeom prst="rect">
            <a:avLst/>
          </a:prstGeom>
          <a:noFill/>
        </p:spPr>
        <p:txBody>
          <a:bodyPr wrap="square" rtlCol="0">
            <a:spAutoFit/>
          </a:bodyPr>
          <a:lstStyle/>
          <a:p>
            <a:r>
              <a:rPr lang="es-MX" sz="1050" b="1" dirty="0">
                <a:latin typeface="Lucida Bright" panose="02040602050505020304" pitchFamily="18" charset="0"/>
              </a:rPr>
              <a:t>Cuadro 2</a:t>
            </a:r>
            <a:r>
              <a:rPr lang="es-MX" sz="1050" dirty="0">
                <a:latin typeface="Lucida Bright" panose="02040602050505020304" pitchFamily="18" charset="0"/>
              </a:rPr>
              <a:t> | Resultado de regresiones sobre exportaciones </a:t>
            </a:r>
            <a:r>
              <a:rPr lang="es-MX" sz="1050" b="1" dirty="0">
                <a:latin typeface="Lucida Bright" panose="02040602050505020304" pitchFamily="18" charset="0"/>
              </a:rPr>
              <a:t>totales</a:t>
            </a:r>
            <a:r>
              <a:rPr lang="es-MX" sz="1050" dirty="0">
                <a:latin typeface="Lucida Bright" panose="02040602050505020304" pitchFamily="18" charset="0"/>
              </a:rPr>
              <a:t> de Santa Fe</a:t>
            </a:r>
            <a:endParaRPr lang="es-AR" sz="1050" dirty="0">
              <a:latin typeface="Lucida Bright" panose="02040602050505020304" pitchFamily="18" charset="0"/>
            </a:endParaRPr>
          </a:p>
        </p:txBody>
      </p:sp>
    </p:spTree>
    <p:extLst>
      <p:ext uri="{BB962C8B-B14F-4D97-AF65-F5344CB8AC3E}">
        <p14:creationId xmlns:p14="http://schemas.microsoft.com/office/powerpoint/2010/main" val="710555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B74A-3A82-7418-8847-DF90AEB91E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84278F-4C61-547A-5768-5717EA70223D}"/>
              </a:ext>
            </a:extLst>
          </p:cNvPr>
          <p:cNvSpPr>
            <a:spLocks noGrp="1"/>
          </p:cNvSpPr>
          <p:nvPr>
            <p:ph type="title"/>
          </p:nvPr>
        </p:nvSpPr>
        <p:spPr/>
        <p:txBody>
          <a:bodyPr/>
          <a:lstStyle/>
          <a:p>
            <a:endParaRPr lang="es-AR"/>
          </a:p>
        </p:txBody>
      </p:sp>
      <p:graphicFrame>
        <p:nvGraphicFramePr>
          <p:cNvPr id="8" name="Marcador de contenido 7">
            <a:extLst>
              <a:ext uri="{FF2B5EF4-FFF2-40B4-BE49-F238E27FC236}">
                <a16:creationId xmlns:a16="http://schemas.microsoft.com/office/drawing/2014/main" id="{F3BF6789-BE08-B2B6-DDF6-E4F05F232984}"/>
              </a:ext>
            </a:extLst>
          </p:cNvPr>
          <p:cNvGraphicFramePr>
            <a:graphicFrameLocks noGrp="1"/>
          </p:cNvGraphicFramePr>
          <p:nvPr>
            <p:ph idx="1"/>
          </p:nvPr>
        </p:nvGraphicFramePr>
        <p:xfrm>
          <a:off x="1905937" y="1808655"/>
          <a:ext cx="8380125" cy="4385278"/>
        </p:xfrm>
        <a:graphic>
          <a:graphicData uri="http://schemas.openxmlformats.org/drawingml/2006/table">
            <a:tbl>
              <a:tblPr/>
              <a:tblGrid>
                <a:gridCol w="1030929">
                  <a:extLst>
                    <a:ext uri="{9D8B030D-6E8A-4147-A177-3AD203B41FA5}">
                      <a16:colId xmlns:a16="http://schemas.microsoft.com/office/drawing/2014/main" val="3338794064"/>
                    </a:ext>
                  </a:extLst>
                </a:gridCol>
                <a:gridCol w="612433">
                  <a:extLst>
                    <a:ext uri="{9D8B030D-6E8A-4147-A177-3AD203B41FA5}">
                      <a16:colId xmlns:a16="http://schemas.microsoft.com/office/drawing/2014/main" val="3538855033"/>
                    </a:ext>
                  </a:extLst>
                </a:gridCol>
                <a:gridCol w="612433">
                  <a:extLst>
                    <a:ext uri="{9D8B030D-6E8A-4147-A177-3AD203B41FA5}">
                      <a16:colId xmlns:a16="http://schemas.microsoft.com/office/drawing/2014/main" val="603907857"/>
                    </a:ext>
                  </a:extLst>
                </a:gridCol>
                <a:gridCol w="612433">
                  <a:extLst>
                    <a:ext uri="{9D8B030D-6E8A-4147-A177-3AD203B41FA5}">
                      <a16:colId xmlns:a16="http://schemas.microsoft.com/office/drawing/2014/main" val="3093607170"/>
                    </a:ext>
                  </a:extLst>
                </a:gridCol>
                <a:gridCol w="612433">
                  <a:extLst>
                    <a:ext uri="{9D8B030D-6E8A-4147-A177-3AD203B41FA5}">
                      <a16:colId xmlns:a16="http://schemas.microsoft.com/office/drawing/2014/main" val="2455181416"/>
                    </a:ext>
                  </a:extLst>
                </a:gridCol>
                <a:gridCol w="612433">
                  <a:extLst>
                    <a:ext uri="{9D8B030D-6E8A-4147-A177-3AD203B41FA5}">
                      <a16:colId xmlns:a16="http://schemas.microsoft.com/office/drawing/2014/main" val="668714016"/>
                    </a:ext>
                  </a:extLst>
                </a:gridCol>
                <a:gridCol w="612433">
                  <a:extLst>
                    <a:ext uri="{9D8B030D-6E8A-4147-A177-3AD203B41FA5}">
                      <a16:colId xmlns:a16="http://schemas.microsoft.com/office/drawing/2014/main" val="2404293430"/>
                    </a:ext>
                  </a:extLst>
                </a:gridCol>
                <a:gridCol w="612433">
                  <a:extLst>
                    <a:ext uri="{9D8B030D-6E8A-4147-A177-3AD203B41FA5}">
                      <a16:colId xmlns:a16="http://schemas.microsoft.com/office/drawing/2014/main" val="2777787145"/>
                    </a:ext>
                  </a:extLst>
                </a:gridCol>
                <a:gridCol w="612433">
                  <a:extLst>
                    <a:ext uri="{9D8B030D-6E8A-4147-A177-3AD203B41FA5}">
                      <a16:colId xmlns:a16="http://schemas.microsoft.com/office/drawing/2014/main" val="1850172679"/>
                    </a:ext>
                  </a:extLst>
                </a:gridCol>
                <a:gridCol w="612433">
                  <a:extLst>
                    <a:ext uri="{9D8B030D-6E8A-4147-A177-3AD203B41FA5}">
                      <a16:colId xmlns:a16="http://schemas.microsoft.com/office/drawing/2014/main" val="120030644"/>
                    </a:ext>
                  </a:extLst>
                </a:gridCol>
                <a:gridCol w="612433">
                  <a:extLst>
                    <a:ext uri="{9D8B030D-6E8A-4147-A177-3AD203B41FA5}">
                      <a16:colId xmlns:a16="http://schemas.microsoft.com/office/drawing/2014/main" val="360128236"/>
                    </a:ext>
                  </a:extLst>
                </a:gridCol>
                <a:gridCol w="612433">
                  <a:extLst>
                    <a:ext uri="{9D8B030D-6E8A-4147-A177-3AD203B41FA5}">
                      <a16:colId xmlns:a16="http://schemas.microsoft.com/office/drawing/2014/main" val="2459768093"/>
                    </a:ext>
                  </a:extLst>
                </a:gridCol>
                <a:gridCol w="612433">
                  <a:extLst>
                    <a:ext uri="{9D8B030D-6E8A-4147-A177-3AD203B41FA5}">
                      <a16:colId xmlns:a16="http://schemas.microsoft.com/office/drawing/2014/main" val="4043846485"/>
                    </a:ext>
                  </a:extLst>
                </a:gridCol>
              </a:tblGrid>
              <a:tr h="950802">
                <a:tc>
                  <a:txBody>
                    <a:bodyPr/>
                    <a:lstStyle/>
                    <a:p>
                      <a:pPr algn="l"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s-ES" sz="900" b="1" i="0" u="none" strike="noStrike" dirty="0">
                          <a:solidFill>
                            <a:srgbClr val="FFFFFF"/>
                          </a:solidFill>
                          <a:effectLst/>
                          <a:latin typeface="Lucida Bright" panose="02040602050505020304" pitchFamily="18" charset="0"/>
                        </a:rPr>
                        <a:t>VARIABLE DEPENDIENTE: EXPORTACIONES MOA BRUTAS</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extLst>
                  <a:ext uri="{0D108BD9-81ED-4DB2-BD59-A6C34878D82A}">
                    <a16:rowId xmlns:a16="http://schemas.microsoft.com/office/drawing/2014/main" val="3543578814"/>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3">
                  <a:txBody>
                    <a:bodyPr/>
                    <a:lstStyle/>
                    <a:p>
                      <a:pPr algn="ctr" fontAlgn="b">
                        <a:buNone/>
                      </a:pPr>
                      <a:r>
                        <a:rPr lang="es-AR" sz="900" b="0" i="0" u="none" strike="noStrike">
                          <a:solidFill>
                            <a:srgbClr val="000000"/>
                          </a:solidFill>
                          <a:effectLst/>
                          <a:latin typeface="Lucida Bright" panose="02040602050505020304" pitchFamily="18" charset="0"/>
                        </a:rPr>
                        <a:t>MODELOS SIMPLES</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INCLUYEN GBEC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INCLUYEN API</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INCLUTEN API Y GEBC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2386653143"/>
                  </a:ext>
                </a:extLst>
              </a:tr>
              <a:tr h="153108">
                <a:tc>
                  <a:txBody>
                    <a:bodyPr/>
                    <a:lstStyle/>
                    <a:p>
                      <a:pPr algn="ctr" fontAlgn="b">
                        <a:buNone/>
                      </a:pPr>
                      <a:r>
                        <a:rPr lang="es-AR" sz="900" b="0" i="0" u="none" strike="noStrike">
                          <a:solidFill>
                            <a:srgbClr val="000000"/>
                          </a:solidFill>
                          <a:effectLst/>
                          <a:latin typeface="Lucida Bright" panose="02040602050505020304" pitchFamily="18" charset="0"/>
                        </a:rPr>
                        <a:t>X</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5667051"/>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(Intercept)</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12.607***</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11.243***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2.401***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13.120***</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11.782***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3.578***</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3.341***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1.862***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0.088</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3.441***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1.984***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0.297</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0409132"/>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log(ITCRM_ARG)</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-1.077***</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-0.968***</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-1.071***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-0.961***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-0.270***</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-0.151**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-0.269***</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-0.150**</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00095198"/>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log(ITCRM_SFE)</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0.736***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0.734***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0.176***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0.177***</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1239508317"/>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log(GEBC)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-0.118</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-0.124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-0.254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-0.021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-0.026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-0.044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75748073"/>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log(API)</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1.207***</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1.222***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1.232***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1.206***</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1.221***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1.229***</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1366273"/>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R² ajustado</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0.418</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0.315</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0.202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0.417</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0.314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0.206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0.798</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0.679</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0.684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0.798</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0.678</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0.683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0235172"/>
                  </a:ext>
                </a:extLst>
              </a:tr>
              <a:tr h="950802">
                <a:tc>
                  <a:txBody>
                    <a:bodyPr/>
                    <a:lstStyle/>
                    <a:p>
                      <a:pPr algn="l"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s-ES" sz="900" b="1" i="0" u="none" strike="noStrike">
                          <a:solidFill>
                            <a:srgbClr val="FFFFFF"/>
                          </a:solidFill>
                          <a:effectLst/>
                          <a:latin typeface="Lucida Bright" panose="02040602050505020304" pitchFamily="18" charset="0"/>
                        </a:rPr>
                        <a:t>VARIABLE DEPENDIENTE: EXPORTACIONES MOI BRUTAS</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a:txBody>
                    <a:bodyPr/>
                    <a:lstStyle/>
                    <a:p>
                      <a:pPr algn="ctr" fontAlgn="b">
                        <a:buNone/>
                      </a:pPr>
                      <a:r>
                        <a:rPr lang="es-AR" sz="900" b="1" i="0" u="none" strike="noStrike">
                          <a:solidFill>
                            <a:srgbClr val="FFFFFF"/>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extLst>
                  <a:ext uri="{0D108BD9-81ED-4DB2-BD59-A6C34878D82A}">
                    <a16:rowId xmlns:a16="http://schemas.microsoft.com/office/drawing/2014/main" val="3173616149"/>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3">
                  <a:txBody>
                    <a:bodyPr/>
                    <a:lstStyle/>
                    <a:p>
                      <a:pPr algn="ctr" fontAlgn="b">
                        <a:buNone/>
                      </a:pPr>
                      <a:r>
                        <a:rPr lang="es-AR" sz="900" b="0" i="0" u="none" strike="noStrike">
                          <a:solidFill>
                            <a:srgbClr val="000000"/>
                          </a:solidFill>
                          <a:effectLst/>
                          <a:latin typeface="Lucida Bright" panose="02040602050505020304" pitchFamily="18" charset="0"/>
                        </a:rPr>
                        <a:t>MODELOS SIMPLES</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INCLUYEN GBEC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INCLUYEN API</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900" b="0" i="0" u="none" strike="noStrike">
                          <a:solidFill>
                            <a:srgbClr val="000000"/>
                          </a:solidFill>
                          <a:effectLst/>
                          <a:latin typeface="Lucida Bright" panose="02040602050505020304" pitchFamily="18" charset="0"/>
                        </a:rPr>
                        <a:t>INCLUTEN API Y GEBC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444368127"/>
                  </a:ext>
                </a:extLst>
              </a:tr>
              <a:tr h="153108">
                <a:tc>
                  <a:txBody>
                    <a:bodyPr/>
                    <a:lstStyle/>
                    <a:p>
                      <a:pPr algn="ctr" fontAlgn="b">
                        <a:buNone/>
                      </a:pPr>
                      <a:r>
                        <a:rPr lang="es-AR" sz="900" b="0" i="0" u="none" strike="noStrike">
                          <a:solidFill>
                            <a:srgbClr val="000000"/>
                          </a:solidFill>
                          <a:effectLst/>
                          <a:latin typeface="Lucida Bright" panose="02040602050505020304" pitchFamily="18" charset="0"/>
                        </a:rPr>
                        <a:t>X</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ARG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SFE</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1810843"/>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(Intercept)</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11.543***</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10.484***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1.838**</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11.215***</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8.497***</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0.496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1.299**</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-2.803***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-1.656***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0.453</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-5.571***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-4.573***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13455620"/>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log(ITCRM_ARG)</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-0.889***</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-1.156***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-0.893***</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-1.179***</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0.003</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0.001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-0.002</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-0.014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20087929"/>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log(ITCRM_SFE)</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0.544***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0.546***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-0.301***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-0.315***</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079546820"/>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log(GEBC)</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0.075</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0.456**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0.289</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0.182**</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0.596***</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0.614***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29658405"/>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log(API)</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 </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1.334***</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1.731***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1.860***</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1.341***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1.753***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1.899***</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1760440"/>
                  </a:ext>
                </a:extLst>
              </a:tr>
              <a:tr h="153108">
                <a:tc>
                  <a:txBody>
                    <a:bodyPr/>
                    <a:lstStyle/>
                    <a:p>
                      <a:pPr algn="l" fontAlgn="b">
                        <a:buNone/>
                      </a:pPr>
                      <a:r>
                        <a:rPr lang="es-AR" sz="900" b="0" i="0" u="none" strike="noStrike">
                          <a:solidFill>
                            <a:srgbClr val="000000"/>
                          </a:solidFill>
                          <a:effectLst/>
                          <a:latin typeface="Lucida Bright" panose="02040602050505020304" pitchFamily="18" charset="0"/>
                        </a:rPr>
                        <a:t>R² ajustado</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0.285</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0.214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0.05</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0.283</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0.223</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0.051</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0.751</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0.564</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0.577</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0.754</a:t>
                      </a:r>
                    </a:p>
                  </a:txBody>
                  <a:tcPr marL="7655" marR="7655" marT="765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a:solidFill>
                            <a:srgbClr val="000000"/>
                          </a:solidFill>
                          <a:effectLst/>
                          <a:latin typeface="Lucida Bright" panose="02040602050505020304" pitchFamily="18" charset="0"/>
                        </a:rPr>
                        <a:t>0.582</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900" b="0" i="0" u="none" strike="noStrike" dirty="0">
                          <a:solidFill>
                            <a:srgbClr val="000000"/>
                          </a:solidFill>
                          <a:effectLst/>
                          <a:latin typeface="Lucida Bright" panose="02040602050505020304" pitchFamily="18" charset="0"/>
                        </a:rPr>
                        <a:t>0.597</a:t>
                      </a:r>
                    </a:p>
                  </a:txBody>
                  <a:tcPr marL="7655" marR="7655" marT="765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8340004"/>
                  </a:ext>
                </a:extLst>
              </a:tr>
            </a:tbl>
          </a:graphicData>
        </a:graphic>
      </p:graphicFrame>
      <p:pic>
        <p:nvPicPr>
          <p:cNvPr id="4" name="Imagen 3" descr="Imagen que contiene Texto">
            <a:extLst>
              <a:ext uri="{FF2B5EF4-FFF2-40B4-BE49-F238E27FC236}">
                <a16:creationId xmlns:a16="http://schemas.microsoft.com/office/drawing/2014/main" id="{BE376D7B-405B-7A0B-F452-81ED81F91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5" name="CuadroTexto 4">
            <a:extLst>
              <a:ext uri="{FF2B5EF4-FFF2-40B4-BE49-F238E27FC236}">
                <a16:creationId xmlns:a16="http://schemas.microsoft.com/office/drawing/2014/main" id="{9FB78A19-FA16-BDCA-65EF-0CA138297D1F}"/>
              </a:ext>
            </a:extLst>
          </p:cNvPr>
          <p:cNvSpPr txBox="1"/>
          <p:nvPr/>
        </p:nvSpPr>
        <p:spPr>
          <a:xfrm>
            <a:off x="612742" y="365125"/>
            <a:ext cx="1772239" cy="523220"/>
          </a:xfrm>
          <a:prstGeom prst="rect">
            <a:avLst/>
          </a:prstGeom>
          <a:noFill/>
        </p:spPr>
        <p:txBody>
          <a:bodyPr wrap="square" rtlCol="0">
            <a:spAutoFit/>
          </a:bodyPr>
          <a:lstStyle/>
          <a:p>
            <a:r>
              <a:rPr lang="es-MX" sz="2800" b="1" dirty="0">
                <a:latin typeface="Lucida Bright" panose="02040602050505020304" pitchFamily="18" charset="0"/>
              </a:rPr>
              <a:t>Ajuste</a:t>
            </a:r>
            <a:endParaRPr lang="es-AR" sz="2800" b="1" dirty="0">
              <a:latin typeface="Lucida Bright" panose="02040602050505020304" pitchFamily="18" charset="0"/>
            </a:endParaRPr>
          </a:p>
        </p:txBody>
      </p:sp>
      <p:graphicFrame>
        <p:nvGraphicFramePr>
          <p:cNvPr id="10" name="Tabla 9">
            <a:extLst>
              <a:ext uri="{FF2B5EF4-FFF2-40B4-BE49-F238E27FC236}">
                <a16:creationId xmlns:a16="http://schemas.microsoft.com/office/drawing/2014/main" id="{74703DB0-8AA2-76C8-8550-70189C00BCEA}"/>
              </a:ext>
            </a:extLst>
          </p:cNvPr>
          <p:cNvGraphicFramePr>
            <a:graphicFrameLocks noGrp="1"/>
          </p:cNvGraphicFramePr>
          <p:nvPr>
            <p:extLst>
              <p:ext uri="{D42A27DB-BD31-4B8C-83A1-F6EECF244321}">
                <p14:modId xmlns:p14="http://schemas.microsoft.com/office/powerpoint/2010/main" val="556271054"/>
              </p:ext>
            </p:extLst>
          </p:nvPr>
        </p:nvGraphicFramePr>
        <p:xfrm>
          <a:off x="516890" y="1605185"/>
          <a:ext cx="10426700" cy="1714500"/>
        </p:xfrm>
        <a:graphic>
          <a:graphicData uri="http://schemas.openxmlformats.org/drawingml/2006/table">
            <a:tbl>
              <a:tblPr/>
              <a:tblGrid>
                <a:gridCol w="1282700">
                  <a:extLst>
                    <a:ext uri="{9D8B030D-6E8A-4147-A177-3AD203B41FA5}">
                      <a16:colId xmlns:a16="http://schemas.microsoft.com/office/drawing/2014/main" val="3289315653"/>
                    </a:ext>
                  </a:extLst>
                </a:gridCol>
                <a:gridCol w="762000">
                  <a:extLst>
                    <a:ext uri="{9D8B030D-6E8A-4147-A177-3AD203B41FA5}">
                      <a16:colId xmlns:a16="http://schemas.microsoft.com/office/drawing/2014/main" val="3623108457"/>
                    </a:ext>
                  </a:extLst>
                </a:gridCol>
                <a:gridCol w="762000">
                  <a:extLst>
                    <a:ext uri="{9D8B030D-6E8A-4147-A177-3AD203B41FA5}">
                      <a16:colId xmlns:a16="http://schemas.microsoft.com/office/drawing/2014/main" val="2051033243"/>
                    </a:ext>
                  </a:extLst>
                </a:gridCol>
                <a:gridCol w="762000">
                  <a:extLst>
                    <a:ext uri="{9D8B030D-6E8A-4147-A177-3AD203B41FA5}">
                      <a16:colId xmlns:a16="http://schemas.microsoft.com/office/drawing/2014/main" val="1977239773"/>
                    </a:ext>
                  </a:extLst>
                </a:gridCol>
                <a:gridCol w="762000">
                  <a:extLst>
                    <a:ext uri="{9D8B030D-6E8A-4147-A177-3AD203B41FA5}">
                      <a16:colId xmlns:a16="http://schemas.microsoft.com/office/drawing/2014/main" val="1459139928"/>
                    </a:ext>
                  </a:extLst>
                </a:gridCol>
                <a:gridCol w="762000">
                  <a:extLst>
                    <a:ext uri="{9D8B030D-6E8A-4147-A177-3AD203B41FA5}">
                      <a16:colId xmlns:a16="http://schemas.microsoft.com/office/drawing/2014/main" val="3092648166"/>
                    </a:ext>
                  </a:extLst>
                </a:gridCol>
                <a:gridCol w="762000">
                  <a:extLst>
                    <a:ext uri="{9D8B030D-6E8A-4147-A177-3AD203B41FA5}">
                      <a16:colId xmlns:a16="http://schemas.microsoft.com/office/drawing/2014/main" val="1151776047"/>
                    </a:ext>
                  </a:extLst>
                </a:gridCol>
                <a:gridCol w="762000">
                  <a:extLst>
                    <a:ext uri="{9D8B030D-6E8A-4147-A177-3AD203B41FA5}">
                      <a16:colId xmlns:a16="http://schemas.microsoft.com/office/drawing/2014/main" val="466327182"/>
                    </a:ext>
                  </a:extLst>
                </a:gridCol>
                <a:gridCol w="762000">
                  <a:extLst>
                    <a:ext uri="{9D8B030D-6E8A-4147-A177-3AD203B41FA5}">
                      <a16:colId xmlns:a16="http://schemas.microsoft.com/office/drawing/2014/main" val="1993708010"/>
                    </a:ext>
                  </a:extLst>
                </a:gridCol>
                <a:gridCol w="762000">
                  <a:extLst>
                    <a:ext uri="{9D8B030D-6E8A-4147-A177-3AD203B41FA5}">
                      <a16:colId xmlns:a16="http://schemas.microsoft.com/office/drawing/2014/main" val="780746246"/>
                    </a:ext>
                  </a:extLst>
                </a:gridCol>
                <a:gridCol w="762000">
                  <a:extLst>
                    <a:ext uri="{9D8B030D-6E8A-4147-A177-3AD203B41FA5}">
                      <a16:colId xmlns:a16="http://schemas.microsoft.com/office/drawing/2014/main" val="1455150734"/>
                    </a:ext>
                  </a:extLst>
                </a:gridCol>
                <a:gridCol w="762000">
                  <a:extLst>
                    <a:ext uri="{9D8B030D-6E8A-4147-A177-3AD203B41FA5}">
                      <a16:colId xmlns:a16="http://schemas.microsoft.com/office/drawing/2014/main" val="40573132"/>
                    </a:ext>
                  </a:extLst>
                </a:gridCol>
                <a:gridCol w="762000">
                  <a:extLst>
                    <a:ext uri="{9D8B030D-6E8A-4147-A177-3AD203B41FA5}">
                      <a16:colId xmlns:a16="http://schemas.microsoft.com/office/drawing/2014/main" val="445293966"/>
                    </a:ext>
                  </a:extLst>
                </a:gridCol>
              </a:tblGrid>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gridSpan="12">
                  <a:txBody>
                    <a:bodyPr/>
                    <a:lstStyle/>
                    <a:p>
                      <a:pPr algn="ctr" fontAlgn="b">
                        <a:buNone/>
                      </a:pPr>
                      <a:r>
                        <a:rPr lang="es-ES" sz="1100" b="1" i="0" u="none" strike="noStrike" dirty="0">
                          <a:solidFill>
                            <a:srgbClr val="FFFFFF"/>
                          </a:solidFill>
                          <a:effectLst/>
                          <a:latin typeface="Lucida Bright" panose="02040602050505020304" pitchFamily="18" charset="0"/>
                        </a:rPr>
                        <a:t>VARIABLE DEPENDIENTE: EXPORTACIONES MOA BRUTAS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dirty="0"/>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extLst>
                  <a:ext uri="{0D108BD9-81ED-4DB2-BD59-A6C34878D82A}">
                    <a16:rowId xmlns:a16="http://schemas.microsoft.com/office/drawing/2014/main" val="3483995559"/>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3">
                  <a:txBody>
                    <a:bodyPr/>
                    <a:lstStyle/>
                    <a:p>
                      <a:pPr algn="ctr" fontAlgn="b">
                        <a:buNone/>
                      </a:pPr>
                      <a:r>
                        <a:rPr lang="es-AR" sz="1100" b="0" i="0" u="none" strike="noStrike">
                          <a:solidFill>
                            <a:srgbClr val="000000"/>
                          </a:solidFill>
                          <a:effectLst/>
                          <a:latin typeface="Lucida Bright" panose="02040602050505020304" pitchFamily="18" charset="0"/>
                        </a:rPr>
                        <a:t>MODELOS SIMPLES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GBEC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INCLUTEN API Y 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565249657"/>
                  </a:ext>
                </a:extLst>
              </a:tr>
              <a:tr h="190500">
                <a:tc>
                  <a:txBody>
                    <a:bodyPr/>
                    <a:lstStyle/>
                    <a:p>
                      <a:pPr algn="ctr" fontAlgn="b">
                        <a:buNone/>
                      </a:pPr>
                      <a:r>
                        <a:rPr lang="es-AR" sz="1100" b="0" i="0" u="none" strike="noStrike">
                          <a:solidFill>
                            <a:srgbClr val="000000"/>
                          </a:solidFill>
                          <a:effectLst/>
                          <a:latin typeface="Lucida Bright" panose="02040602050505020304" pitchFamily="18" charset="0"/>
                        </a:rPr>
                        <a:t>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028843"/>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(Intercept)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12.607***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11.243***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2.401***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13.120***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11.782***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3.578***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3.341***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1.862***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0.088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3.441***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1.984***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0.297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85172722"/>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log(ITCRM_ARG)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-1.077***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-0.968***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-1.071***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-0.961***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-0.151**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-0.150**</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4008506"/>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log(ITCRM_SFE)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0.736***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0.734***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0.176***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0.177***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986889106"/>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-0.124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-0.254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-0.026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-0.044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01866069"/>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1.222***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1.232***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1.221***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1.229***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6530627"/>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R² ajustado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0.315</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0.202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0.417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0.314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0.206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0.798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0.679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0.684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0.798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0.678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0.683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9242393"/>
                  </a:ext>
                </a:extLst>
              </a:tr>
            </a:tbl>
          </a:graphicData>
        </a:graphic>
      </p:graphicFrame>
      <p:graphicFrame>
        <p:nvGraphicFramePr>
          <p:cNvPr id="12" name="Tabla 11">
            <a:extLst>
              <a:ext uri="{FF2B5EF4-FFF2-40B4-BE49-F238E27FC236}">
                <a16:creationId xmlns:a16="http://schemas.microsoft.com/office/drawing/2014/main" id="{2A444AA9-C7A5-0DFA-7356-F6751F0761E8}"/>
              </a:ext>
            </a:extLst>
          </p:cNvPr>
          <p:cNvGraphicFramePr>
            <a:graphicFrameLocks noGrp="1"/>
          </p:cNvGraphicFramePr>
          <p:nvPr>
            <p:extLst>
              <p:ext uri="{D42A27DB-BD31-4B8C-83A1-F6EECF244321}">
                <p14:modId xmlns:p14="http://schemas.microsoft.com/office/powerpoint/2010/main" val="2906223"/>
              </p:ext>
            </p:extLst>
          </p:nvPr>
        </p:nvGraphicFramePr>
        <p:xfrm>
          <a:off x="516890" y="3744111"/>
          <a:ext cx="10426700" cy="1714500"/>
        </p:xfrm>
        <a:graphic>
          <a:graphicData uri="http://schemas.openxmlformats.org/drawingml/2006/table">
            <a:tbl>
              <a:tblPr/>
              <a:tblGrid>
                <a:gridCol w="1282700">
                  <a:extLst>
                    <a:ext uri="{9D8B030D-6E8A-4147-A177-3AD203B41FA5}">
                      <a16:colId xmlns:a16="http://schemas.microsoft.com/office/drawing/2014/main" val="3418669931"/>
                    </a:ext>
                  </a:extLst>
                </a:gridCol>
                <a:gridCol w="762000">
                  <a:extLst>
                    <a:ext uri="{9D8B030D-6E8A-4147-A177-3AD203B41FA5}">
                      <a16:colId xmlns:a16="http://schemas.microsoft.com/office/drawing/2014/main" val="713511186"/>
                    </a:ext>
                  </a:extLst>
                </a:gridCol>
                <a:gridCol w="762000">
                  <a:extLst>
                    <a:ext uri="{9D8B030D-6E8A-4147-A177-3AD203B41FA5}">
                      <a16:colId xmlns:a16="http://schemas.microsoft.com/office/drawing/2014/main" val="3058253623"/>
                    </a:ext>
                  </a:extLst>
                </a:gridCol>
                <a:gridCol w="762000">
                  <a:extLst>
                    <a:ext uri="{9D8B030D-6E8A-4147-A177-3AD203B41FA5}">
                      <a16:colId xmlns:a16="http://schemas.microsoft.com/office/drawing/2014/main" val="4074939472"/>
                    </a:ext>
                  </a:extLst>
                </a:gridCol>
                <a:gridCol w="762000">
                  <a:extLst>
                    <a:ext uri="{9D8B030D-6E8A-4147-A177-3AD203B41FA5}">
                      <a16:colId xmlns:a16="http://schemas.microsoft.com/office/drawing/2014/main" val="2095697644"/>
                    </a:ext>
                  </a:extLst>
                </a:gridCol>
                <a:gridCol w="762000">
                  <a:extLst>
                    <a:ext uri="{9D8B030D-6E8A-4147-A177-3AD203B41FA5}">
                      <a16:colId xmlns:a16="http://schemas.microsoft.com/office/drawing/2014/main" val="1486237283"/>
                    </a:ext>
                  </a:extLst>
                </a:gridCol>
                <a:gridCol w="762000">
                  <a:extLst>
                    <a:ext uri="{9D8B030D-6E8A-4147-A177-3AD203B41FA5}">
                      <a16:colId xmlns:a16="http://schemas.microsoft.com/office/drawing/2014/main" val="3333153416"/>
                    </a:ext>
                  </a:extLst>
                </a:gridCol>
                <a:gridCol w="762000">
                  <a:extLst>
                    <a:ext uri="{9D8B030D-6E8A-4147-A177-3AD203B41FA5}">
                      <a16:colId xmlns:a16="http://schemas.microsoft.com/office/drawing/2014/main" val="4089136074"/>
                    </a:ext>
                  </a:extLst>
                </a:gridCol>
                <a:gridCol w="762000">
                  <a:extLst>
                    <a:ext uri="{9D8B030D-6E8A-4147-A177-3AD203B41FA5}">
                      <a16:colId xmlns:a16="http://schemas.microsoft.com/office/drawing/2014/main" val="4123229875"/>
                    </a:ext>
                  </a:extLst>
                </a:gridCol>
                <a:gridCol w="762000">
                  <a:extLst>
                    <a:ext uri="{9D8B030D-6E8A-4147-A177-3AD203B41FA5}">
                      <a16:colId xmlns:a16="http://schemas.microsoft.com/office/drawing/2014/main" val="2859548515"/>
                    </a:ext>
                  </a:extLst>
                </a:gridCol>
                <a:gridCol w="762000">
                  <a:extLst>
                    <a:ext uri="{9D8B030D-6E8A-4147-A177-3AD203B41FA5}">
                      <a16:colId xmlns:a16="http://schemas.microsoft.com/office/drawing/2014/main" val="2634185509"/>
                    </a:ext>
                  </a:extLst>
                </a:gridCol>
                <a:gridCol w="762000">
                  <a:extLst>
                    <a:ext uri="{9D8B030D-6E8A-4147-A177-3AD203B41FA5}">
                      <a16:colId xmlns:a16="http://schemas.microsoft.com/office/drawing/2014/main" val="1432328042"/>
                    </a:ext>
                  </a:extLst>
                </a:gridCol>
                <a:gridCol w="762000">
                  <a:extLst>
                    <a:ext uri="{9D8B030D-6E8A-4147-A177-3AD203B41FA5}">
                      <a16:colId xmlns:a16="http://schemas.microsoft.com/office/drawing/2014/main" val="3677943445"/>
                    </a:ext>
                  </a:extLst>
                </a:gridCol>
              </a:tblGrid>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gridSpan="12">
                  <a:txBody>
                    <a:bodyPr/>
                    <a:lstStyle/>
                    <a:p>
                      <a:pPr algn="ctr" fontAlgn="b">
                        <a:buNone/>
                      </a:pPr>
                      <a:r>
                        <a:rPr lang="es-ES" sz="1100" b="1" i="0" u="none" strike="noStrike" dirty="0">
                          <a:solidFill>
                            <a:srgbClr val="FFFFFF"/>
                          </a:solidFill>
                          <a:effectLst/>
                          <a:latin typeface="Lucida Bright" panose="02040602050505020304" pitchFamily="18" charset="0"/>
                        </a:rPr>
                        <a:t>VARIABLE DEPENDIENTE: EXPORTACIONES MOI BRUTAS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tc hMerge="1">
                  <a:txBody>
                    <a:bodyPr/>
                    <a:lstStyle/>
                    <a:p>
                      <a:endParaRPr dirty="0"/>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75623"/>
                    </a:solidFill>
                  </a:tcPr>
                </a:tc>
                <a:extLst>
                  <a:ext uri="{0D108BD9-81ED-4DB2-BD59-A6C34878D82A}">
                    <a16:rowId xmlns:a16="http://schemas.microsoft.com/office/drawing/2014/main" val="4191323926"/>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3">
                  <a:txBody>
                    <a:bodyPr/>
                    <a:lstStyle/>
                    <a:p>
                      <a:pPr algn="ctr" fontAlgn="b">
                        <a:buNone/>
                      </a:pPr>
                      <a:r>
                        <a:rPr lang="es-AR" sz="1100" b="0" i="0" u="none" strike="noStrike">
                          <a:solidFill>
                            <a:srgbClr val="000000"/>
                          </a:solidFill>
                          <a:effectLst/>
                          <a:latin typeface="Lucida Bright" panose="02040602050505020304" pitchFamily="18" charset="0"/>
                        </a:rPr>
                        <a:t>MODELOS SIMPLES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GBEC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INCLUYEN 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tc gridSpan="3">
                  <a:txBody>
                    <a:bodyPr/>
                    <a:lstStyle/>
                    <a:p>
                      <a:pPr algn="ctr" fontAlgn="b">
                        <a:buNone/>
                      </a:pPr>
                      <a:r>
                        <a:rPr lang="es-AR" sz="1100" b="0" i="0" u="none" strike="noStrike">
                          <a:solidFill>
                            <a:srgbClr val="000000"/>
                          </a:solidFill>
                          <a:effectLst/>
                          <a:latin typeface="Lucida Bright" panose="02040602050505020304" pitchFamily="18" charset="0"/>
                        </a:rPr>
                        <a:t>INCLUTEN API Y 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523569670"/>
                  </a:ext>
                </a:extLst>
              </a:tr>
              <a:tr h="190500">
                <a:tc>
                  <a:txBody>
                    <a:bodyPr/>
                    <a:lstStyle/>
                    <a:p>
                      <a:pPr algn="ctr" fontAlgn="b">
                        <a:buNone/>
                      </a:pPr>
                      <a:r>
                        <a:rPr lang="es-AR" sz="1100" b="0" i="0" u="none" strike="noStrike">
                          <a:solidFill>
                            <a:srgbClr val="000000"/>
                          </a:solidFill>
                          <a:effectLst/>
                          <a:latin typeface="Lucida Bright" panose="02040602050505020304" pitchFamily="18" charset="0"/>
                        </a:rPr>
                        <a:t>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ARG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SFE</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07722"/>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(Intercept)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11.543***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10.484***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1.838**</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11.215***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8.497***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0.496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1.299**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-2.803***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-1.656***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0.453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-5.571***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-4.573***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733208553"/>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log(ITCRM_ARG)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-0.889***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-1.156***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-0.893***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-1.179***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0.001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-0.014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848658965"/>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log(ITCRM_SFE)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0.544***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0.546***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-0.301***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-0.315***</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26510533"/>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log(GEBC)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0.456**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0.289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0.596***</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0.614***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71527175"/>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log(API)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 </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1.731***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1.860***</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1.341***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1.753***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0" i="0" u="none" strike="noStrike">
                          <a:solidFill>
                            <a:srgbClr val="000000"/>
                          </a:solidFill>
                          <a:effectLst/>
                          <a:latin typeface="Lucida Bright" panose="02040602050505020304" pitchFamily="18" charset="0"/>
                        </a:rPr>
                        <a:t>1.899***</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4507171"/>
                  </a:ext>
                </a:extLst>
              </a:tr>
              <a:tr h="190500">
                <a:tc>
                  <a:txBody>
                    <a:bodyPr/>
                    <a:lstStyle/>
                    <a:p>
                      <a:pPr algn="l" fontAlgn="b">
                        <a:buNone/>
                      </a:pPr>
                      <a:r>
                        <a:rPr lang="es-AR" sz="1100" b="0" i="0" u="none" strike="noStrike">
                          <a:solidFill>
                            <a:srgbClr val="000000"/>
                          </a:solidFill>
                          <a:effectLst/>
                          <a:latin typeface="Lucida Bright" panose="02040602050505020304" pitchFamily="18" charset="0"/>
                        </a:rPr>
                        <a:t>R² ajustado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0.285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0.214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0.05</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0.283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0.223</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0.051</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0.751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0.564</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0.577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0.754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a:solidFill>
                            <a:srgbClr val="000000"/>
                          </a:solidFill>
                          <a:effectLst/>
                          <a:latin typeface="Lucida Bright" panose="02040602050505020304" pitchFamily="18" charset="0"/>
                        </a:rPr>
                        <a:t>0.582</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AR" sz="1100" b="1" i="0" u="none" strike="noStrike" dirty="0">
                          <a:solidFill>
                            <a:srgbClr val="000000"/>
                          </a:solidFill>
                          <a:effectLst/>
                          <a:latin typeface="Lucida Bright" panose="02040602050505020304" pitchFamily="18" charset="0"/>
                        </a:rPr>
                        <a:t>0.597</a:t>
                      </a:r>
                    </a:p>
                  </a:txBody>
                  <a:tcPr marL="9525" marR="9525" marT="9525"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6195911"/>
                  </a:ext>
                </a:extLst>
              </a:tr>
            </a:tbl>
          </a:graphicData>
        </a:graphic>
      </p:graphicFrame>
      <p:sp>
        <p:nvSpPr>
          <p:cNvPr id="13" name="CuadroTexto 12">
            <a:extLst>
              <a:ext uri="{FF2B5EF4-FFF2-40B4-BE49-F238E27FC236}">
                <a16:creationId xmlns:a16="http://schemas.microsoft.com/office/drawing/2014/main" id="{51AC369A-CFE0-6518-867D-D9AC26036C09}"/>
              </a:ext>
            </a:extLst>
          </p:cNvPr>
          <p:cNvSpPr txBox="1"/>
          <p:nvPr/>
        </p:nvSpPr>
        <p:spPr>
          <a:xfrm>
            <a:off x="3004917" y="1287662"/>
            <a:ext cx="5450645" cy="253916"/>
          </a:xfrm>
          <a:prstGeom prst="rect">
            <a:avLst/>
          </a:prstGeom>
          <a:noFill/>
        </p:spPr>
        <p:txBody>
          <a:bodyPr wrap="square" rtlCol="0">
            <a:spAutoFit/>
          </a:bodyPr>
          <a:lstStyle/>
          <a:p>
            <a:r>
              <a:rPr lang="es-MX" sz="1050" b="1" dirty="0">
                <a:latin typeface="Lucida Bright" panose="02040602050505020304" pitchFamily="18" charset="0"/>
              </a:rPr>
              <a:t>Cuadro 3</a:t>
            </a:r>
            <a:r>
              <a:rPr lang="es-MX" sz="1050" dirty="0">
                <a:latin typeface="Lucida Bright" panose="02040602050505020304" pitchFamily="18" charset="0"/>
              </a:rPr>
              <a:t> | Resultado de regresiones sobre exportaciones de </a:t>
            </a:r>
            <a:r>
              <a:rPr lang="es-MX" sz="1050" b="1" dirty="0">
                <a:latin typeface="Lucida Bright" panose="02040602050505020304" pitchFamily="18" charset="0"/>
              </a:rPr>
              <a:t>MOA</a:t>
            </a:r>
            <a:r>
              <a:rPr lang="es-MX" sz="1050" dirty="0">
                <a:latin typeface="Lucida Bright" panose="02040602050505020304" pitchFamily="18" charset="0"/>
              </a:rPr>
              <a:t> de Santa Fe</a:t>
            </a:r>
            <a:endParaRPr lang="es-AR" sz="1050" dirty="0">
              <a:latin typeface="Lucida Bright" panose="02040602050505020304" pitchFamily="18" charset="0"/>
            </a:endParaRPr>
          </a:p>
        </p:txBody>
      </p:sp>
      <p:sp>
        <p:nvSpPr>
          <p:cNvPr id="14" name="CuadroTexto 13">
            <a:extLst>
              <a:ext uri="{FF2B5EF4-FFF2-40B4-BE49-F238E27FC236}">
                <a16:creationId xmlns:a16="http://schemas.microsoft.com/office/drawing/2014/main" id="{D6A66AB1-5602-B98C-B8F9-B08AAC24B87F}"/>
              </a:ext>
            </a:extLst>
          </p:cNvPr>
          <p:cNvSpPr txBox="1"/>
          <p:nvPr/>
        </p:nvSpPr>
        <p:spPr>
          <a:xfrm>
            <a:off x="3004916" y="3490195"/>
            <a:ext cx="5450645" cy="253916"/>
          </a:xfrm>
          <a:prstGeom prst="rect">
            <a:avLst/>
          </a:prstGeom>
          <a:noFill/>
        </p:spPr>
        <p:txBody>
          <a:bodyPr wrap="square" rtlCol="0">
            <a:spAutoFit/>
          </a:bodyPr>
          <a:lstStyle/>
          <a:p>
            <a:r>
              <a:rPr lang="es-MX" sz="1050" b="1" dirty="0">
                <a:latin typeface="Lucida Bright" panose="02040602050505020304" pitchFamily="18" charset="0"/>
              </a:rPr>
              <a:t>Cuadro 4</a:t>
            </a:r>
            <a:r>
              <a:rPr lang="es-MX" sz="1050" dirty="0">
                <a:latin typeface="Lucida Bright" panose="02040602050505020304" pitchFamily="18" charset="0"/>
              </a:rPr>
              <a:t> | Resultado de regresiones sobre exportaciones de </a:t>
            </a:r>
            <a:r>
              <a:rPr lang="es-MX" sz="1050" b="1" dirty="0">
                <a:latin typeface="Lucida Bright" panose="02040602050505020304" pitchFamily="18" charset="0"/>
              </a:rPr>
              <a:t>MOI</a:t>
            </a:r>
            <a:r>
              <a:rPr lang="es-MX" sz="1050" dirty="0">
                <a:latin typeface="Lucida Bright" panose="02040602050505020304" pitchFamily="18" charset="0"/>
              </a:rPr>
              <a:t> de Santa Fe</a:t>
            </a:r>
            <a:endParaRPr lang="es-AR" sz="1050" dirty="0">
              <a:latin typeface="Lucida Bright" panose="02040602050505020304" pitchFamily="18" charset="0"/>
            </a:endParaRPr>
          </a:p>
        </p:txBody>
      </p:sp>
    </p:spTree>
    <p:extLst>
      <p:ext uri="{BB962C8B-B14F-4D97-AF65-F5344CB8AC3E}">
        <p14:creationId xmlns:p14="http://schemas.microsoft.com/office/powerpoint/2010/main" val="238102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FA576-7D2D-4544-E852-F15026EEE764}"/>
            </a:ext>
          </a:extLst>
        </p:cNvPr>
        <p:cNvGrpSpPr/>
        <p:nvPr/>
      </p:nvGrpSpPr>
      <p:grpSpPr>
        <a:xfrm>
          <a:off x="0" y="0"/>
          <a:ext cx="0" cy="0"/>
          <a:chOff x="0" y="0"/>
          <a:chExt cx="0" cy="0"/>
        </a:xfrm>
      </p:grpSpPr>
      <p:pic>
        <p:nvPicPr>
          <p:cNvPr id="3" name="Imagen 2" descr="Texto&#10;&#10;El contenido generado por IA puede ser incorrecto.">
            <a:extLst>
              <a:ext uri="{FF2B5EF4-FFF2-40B4-BE49-F238E27FC236}">
                <a16:creationId xmlns:a16="http://schemas.microsoft.com/office/drawing/2014/main" id="{39903DAD-A902-16F3-279B-3C40A3B6E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799056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514</TotalTime>
  <Words>1600</Words>
  <Application>Microsoft Office PowerPoint</Application>
  <PresentationFormat>Panorámica</PresentationFormat>
  <Paragraphs>661</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Aptos</vt:lpstr>
      <vt:lpstr>Aptos Display</vt:lpstr>
      <vt:lpstr>Arial</vt:lpstr>
      <vt:lpstr>Lucida Bright</vt:lpstr>
      <vt:lpstr>Tema de Office</vt:lpstr>
      <vt:lpstr>Presentación de PowerPoint</vt:lpstr>
      <vt:lpstr>Presentación de PowerPoint</vt:lpstr>
      <vt:lpstr>Presentación de PowerPoint</vt:lpstr>
      <vt:lpstr>Evidencia empírica para Argentina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Katia Ingerman</dc:creator>
  <cp:lastModifiedBy>Francisco Leiva</cp:lastModifiedBy>
  <cp:revision>6</cp:revision>
  <dcterms:created xsi:type="dcterms:W3CDTF">2025-05-30T17:22:38Z</dcterms:created>
  <dcterms:modified xsi:type="dcterms:W3CDTF">2026-02-11T14:50:07Z</dcterms:modified>
</cp:coreProperties>
</file>