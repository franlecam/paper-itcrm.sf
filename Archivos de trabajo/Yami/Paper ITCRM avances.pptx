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8" r:id="rId3"/>
    <p:sldId id="262" r:id="rId4"/>
    <p:sldId id="266" r:id="rId5"/>
    <p:sldId id="260" r:id="rId6"/>
    <p:sldId id="263" r:id="rId7"/>
    <p:sldId id="264" r:id="rId8"/>
    <p:sldId id="268" r:id="rId9"/>
    <p:sldId id="265" r:id="rId10"/>
    <p:sldId id="267" r:id="rId11"/>
    <p:sldId id="269" r:id="rId12"/>
    <p:sldId id="259" r:id="rId13"/>
  </p:sldIdLst>
  <p:sldSz cx="12192000" cy="6858000"/>
  <p:notesSz cx="6858000" cy="9144000"/>
  <p:defaultTextStyle>
    <a:defPPr>
      <a:defRPr lang="es-A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Estilo medio 2 - Énfasis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4944" autoAdjust="0"/>
    <p:restoredTop sz="94660"/>
  </p:normalViewPr>
  <p:slideViewPr>
    <p:cSldViewPr snapToGrid="0">
      <p:cViewPr varScale="1">
        <p:scale>
          <a:sx n="105" d="100"/>
          <a:sy n="105" d="100"/>
        </p:scale>
        <p:origin x="834" y="9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microsoft.com/office/2016/11/relationships/changesInfo" Target="changesInfos/changesInfo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viewProps" Target="view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presProps" Target="presProp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Yamila Sonder" userId="bd03ae9016654ccc" providerId="LiveId" clId="{E0EB2C10-073A-4D13-B380-B11373A0D25D}"/>
    <pc:docChg chg="undo custSel addSld delSld modSld sldOrd">
      <pc:chgData name="Yamila Sonder" userId="bd03ae9016654ccc" providerId="LiveId" clId="{E0EB2C10-073A-4D13-B380-B11373A0D25D}" dt="2026-02-10T21:04:08.494" v="1367" actId="1076"/>
      <pc:docMkLst>
        <pc:docMk/>
      </pc:docMkLst>
      <pc:sldChg chg="addSp modSp mod">
        <pc:chgData name="Yamila Sonder" userId="bd03ae9016654ccc" providerId="LiveId" clId="{E0EB2C10-073A-4D13-B380-B11373A0D25D}" dt="2026-02-09T00:56:40.851" v="513" actId="1036"/>
        <pc:sldMkLst>
          <pc:docMk/>
          <pc:sldMk cId="3246655295" sldId="256"/>
        </pc:sldMkLst>
        <pc:spChg chg="add mod">
          <ac:chgData name="Yamila Sonder" userId="bd03ae9016654ccc" providerId="LiveId" clId="{E0EB2C10-073A-4D13-B380-B11373A0D25D}" dt="2026-02-08T20:14:30.541" v="104" actId="1076"/>
          <ac:spMkLst>
            <pc:docMk/>
            <pc:sldMk cId="3246655295" sldId="256"/>
            <ac:spMk id="2" creationId="{65666721-813E-350A-4E4C-D6312BE0728D}"/>
          </ac:spMkLst>
        </pc:spChg>
        <pc:picChg chg="mod">
          <ac:chgData name="Yamila Sonder" userId="bd03ae9016654ccc" providerId="LiveId" clId="{E0EB2C10-073A-4D13-B380-B11373A0D25D}" dt="2026-02-09T00:56:40.851" v="513" actId="1036"/>
          <ac:picMkLst>
            <pc:docMk/>
            <pc:sldMk cId="3246655295" sldId="256"/>
            <ac:picMk id="5" creationId="{ABE2BDF7-1DE0-4F48-E8D4-7F6F0358456D}"/>
          </ac:picMkLst>
        </pc:picChg>
      </pc:sldChg>
      <pc:sldChg chg="addSp delSp modSp mod">
        <pc:chgData name="Yamila Sonder" userId="bd03ae9016654ccc" providerId="LiveId" clId="{E0EB2C10-073A-4D13-B380-B11373A0D25D}" dt="2026-02-10T20:50:58.737" v="1083" actId="14100"/>
        <pc:sldMkLst>
          <pc:docMk/>
          <pc:sldMk cId="1528651842" sldId="258"/>
        </pc:sldMkLst>
        <pc:spChg chg="add del mod">
          <ac:chgData name="Yamila Sonder" userId="bd03ae9016654ccc" providerId="LiveId" clId="{E0EB2C10-073A-4D13-B380-B11373A0D25D}" dt="2026-02-10T20:44:04.556" v="859" actId="478"/>
          <ac:spMkLst>
            <pc:docMk/>
            <pc:sldMk cId="1528651842" sldId="258"/>
            <ac:spMk id="2" creationId="{45D6B7AC-C4BB-D67A-E510-0859C1F11532}"/>
          </ac:spMkLst>
        </pc:spChg>
        <pc:spChg chg="add mod">
          <ac:chgData name="Yamila Sonder" userId="bd03ae9016654ccc" providerId="LiveId" clId="{E0EB2C10-073A-4D13-B380-B11373A0D25D}" dt="2026-02-10T20:49:26.192" v="1043" actId="113"/>
          <ac:spMkLst>
            <pc:docMk/>
            <pc:sldMk cId="1528651842" sldId="258"/>
            <ac:spMk id="3" creationId="{681CB091-B273-1C27-A1C4-4328D4ACE89D}"/>
          </ac:spMkLst>
        </pc:spChg>
        <pc:spChg chg="add mod">
          <ac:chgData name="Yamila Sonder" userId="bd03ae9016654ccc" providerId="LiveId" clId="{E0EB2C10-073A-4D13-B380-B11373A0D25D}" dt="2026-02-10T20:47:33.984" v="997" actId="2710"/>
          <ac:spMkLst>
            <pc:docMk/>
            <pc:sldMk cId="1528651842" sldId="258"/>
            <ac:spMk id="5" creationId="{09EC4BFC-A99F-7BB4-E7B0-AAFDF7E08402}"/>
          </ac:spMkLst>
        </pc:spChg>
        <pc:spChg chg="add mod">
          <ac:chgData name="Yamila Sonder" userId="bd03ae9016654ccc" providerId="LiveId" clId="{E0EB2C10-073A-4D13-B380-B11373A0D25D}" dt="2026-02-10T20:50:58.737" v="1083" actId="14100"/>
          <ac:spMkLst>
            <pc:docMk/>
            <pc:sldMk cId="1528651842" sldId="258"/>
            <ac:spMk id="6" creationId="{9DF798A2-F070-42AA-14C3-DB8CDAE839AD}"/>
          </ac:spMkLst>
        </pc:spChg>
        <pc:picChg chg="mod">
          <ac:chgData name="Yamila Sonder" userId="bd03ae9016654ccc" providerId="LiveId" clId="{E0EB2C10-073A-4D13-B380-B11373A0D25D}" dt="2026-02-10T20:49:42.682" v="1048" actId="1076"/>
          <ac:picMkLst>
            <pc:docMk/>
            <pc:sldMk cId="1528651842" sldId="258"/>
            <ac:picMk id="4" creationId="{C10CEDF8-C788-72B6-E9E6-EBC4268C7B97}"/>
          </ac:picMkLst>
        </pc:picChg>
        <pc:cxnChg chg="add mod">
          <ac:chgData name="Yamila Sonder" userId="bd03ae9016654ccc" providerId="LiveId" clId="{E0EB2C10-073A-4D13-B380-B11373A0D25D}" dt="2026-02-10T20:49:41.957" v="1047" actId="13822"/>
          <ac:cxnSpMkLst>
            <pc:docMk/>
            <pc:sldMk cId="1528651842" sldId="258"/>
            <ac:cxnSpMk id="8" creationId="{BA2909B8-D04A-7547-7E6D-2A18BB0B5DFE}"/>
          </ac:cxnSpMkLst>
        </pc:cxnChg>
      </pc:sldChg>
      <pc:sldChg chg="addSp delSp modSp add mod ord">
        <pc:chgData name="Yamila Sonder" userId="bd03ae9016654ccc" providerId="LiveId" clId="{E0EB2C10-073A-4D13-B380-B11373A0D25D}" dt="2026-02-10T20:56:50.657" v="1235"/>
        <pc:sldMkLst>
          <pc:docMk/>
          <pc:sldMk cId="1933044650" sldId="260"/>
        </pc:sldMkLst>
        <pc:spChg chg="add del">
          <ac:chgData name="Yamila Sonder" userId="bd03ae9016654ccc" providerId="LiveId" clId="{E0EB2C10-073A-4D13-B380-B11373A0D25D}" dt="2026-02-10T20:37:43.052" v="686" actId="478"/>
          <ac:spMkLst>
            <pc:docMk/>
            <pc:sldMk cId="1933044650" sldId="260"/>
            <ac:spMk id="2" creationId="{E4569323-311A-D914-02E9-4DFDE625DE09}"/>
          </ac:spMkLst>
        </pc:spChg>
        <pc:spChg chg="del mod">
          <ac:chgData name="Yamila Sonder" userId="bd03ae9016654ccc" providerId="LiveId" clId="{E0EB2C10-073A-4D13-B380-B11373A0D25D}" dt="2026-02-10T20:38:19.289" v="712" actId="478"/>
          <ac:spMkLst>
            <pc:docMk/>
            <pc:sldMk cId="1933044650" sldId="260"/>
            <ac:spMk id="3" creationId="{B5BE83B6-061C-B15A-9A95-DFB8F3E01CE1}"/>
          </ac:spMkLst>
        </pc:spChg>
        <pc:spChg chg="add mod">
          <ac:chgData name="Yamila Sonder" userId="bd03ae9016654ccc" providerId="LiveId" clId="{E0EB2C10-073A-4D13-B380-B11373A0D25D}" dt="2026-02-10T20:38:14.817" v="710" actId="255"/>
          <ac:spMkLst>
            <pc:docMk/>
            <pc:sldMk cId="1933044650" sldId="260"/>
            <ac:spMk id="6" creationId="{23AA9947-F040-432B-8F54-232A41397273}"/>
          </ac:spMkLst>
        </pc:spChg>
        <pc:picChg chg="add del mod">
          <ac:chgData name="Yamila Sonder" userId="bd03ae9016654ccc" providerId="LiveId" clId="{E0EB2C10-073A-4D13-B380-B11373A0D25D}" dt="2026-02-10T20:37:43.052" v="686" actId="478"/>
          <ac:picMkLst>
            <pc:docMk/>
            <pc:sldMk cId="1933044650" sldId="260"/>
            <ac:picMk id="4" creationId="{40FDB3CB-7FF1-4705-787B-8F7AC43C87E6}"/>
          </ac:picMkLst>
        </pc:picChg>
        <pc:picChg chg="add mod">
          <ac:chgData name="Yamila Sonder" userId="bd03ae9016654ccc" providerId="LiveId" clId="{E0EB2C10-073A-4D13-B380-B11373A0D25D}" dt="2026-02-10T20:37:34.298" v="685"/>
          <ac:picMkLst>
            <pc:docMk/>
            <pc:sldMk cId="1933044650" sldId="260"/>
            <ac:picMk id="5" creationId="{4D175B7E-45C2-8209-34DF-BD50BD625979}"/>
          </ac:picMkLst>
        </pc:picChg>
        <pc:picChg chg="add del mod">
          <ac:chgData name="Yamila Sonder" userId="bd03ae9016654ccc" providerId="LiveId" clId="{E0EB2C10-073A-4D13-B380-B11373A0D25D}" dt="2026-02-10T20:39:28.264" v="749" actId="478"/>
          <ac:picMkLst>
            <pc:docMk/>
            <pc:sldMk cId="1933044650" sldId="260"/>
            <ac:picMk id="1026" creationId="{8ABD6F65-13CB-C1CF-C18F-FFF5FD4EAECA}"/>
          </ac:picMkLst>
        </pc:picChg>
        <pc:picChg chg="add mod">
          <ac:chgData name="Yamila Sonder" userId="bd03ae9016654ccc" providerId="LiveId" clId="{E0EB2C10-073A-4D13-B380-B11373A0D25D}" dt="2026-02-10T20:39:32.419" v="752" actId="1076"/>
          <ac:picMkLst>
            <pc:docMk/>
            <pc:sldMk cId="1933044650" sldId="260"/>
            <ac:picMk id="1028" creationId="{0A50C981-7984-2E7C-C8ED-170A3BEF124D}"/>
          </ac:picMkLst>
        </pc:picChg>
      </pc:sldChg>
      <pc:sldChg chg="delSp modSp add del mod">
        <pc:chgData name="Yamila Sonder" userId="bd03ae9016654ccc" providerId="LiveId" clId="{E0EB2C10-073A-4D13-B380-B11373A0D25D}" dt="2026-02-10T20:59:26.843" v="1339" actId="2696"/>
        <pc:sldMkLst>
          <pc:docMk/>
          <pc:sldMk cId="1740647609" sldId="261"/>
        </pc:sldMkLst>
        <pc:spChg chg="del mod">
          <ac:chgData name="Yamila Sonder" userId="bd03ae9016654ccc" providerId="LiveId" clId="{E0EB2C10-073A-4D13-B380-B11373A0D25D}" dt="2026-02-10T20:56:57.011" v="1236" actId="478"/>
          <ac:spMkLst>
            <pc:docMk/>
            <pc:sldMk cId="1740647609" sldId="261"/>
            <ac:spMk id="3" creationId="{DB2B2130-26AF-3119-EB54-98BD491B557A}"/>
          </ac:spMkLst>
        </pc:spChg>
        <pc:picChg chg="mod">
          <ac:chgData name="Yamila Sonder" userId="bd03ae9016654ccc" providerId="LiveId" clId="{E0EB2C10-073A-4D13-B380-B11373A0D25D}" dt="2026-02-10T20:39:40.260" v="756" actId="1076"/>
          <ac:picMkLst>
            <pc:docMk/>
            <pc:sldMk cId="1740647609" sldId="261"/>
            <ac:picMk id="4" creationId="{8B26F119-A062-69C3-2559-402447F360C3}"/>
          </ac:picMkLst>
        </pc:picChg>
      </pc:sldChg>
      <pc:sldChg chg="addSp modSp add mod">
        <pc:chgData name="Yamila Sonder" userId="bd03ae9016654ccc" providerId="LiveId" clId="{E0EB2C10-073A-4D13-B380-B11373A0D25D}" dt="2026-02-10T21:04:08.494" v="1367" actId="1076"/>
        <pc:sldMkLst>
          <pc:docMk/>
          <pc:sldMk cId="1101920774" sldId="262"/>
        </pc:sldMkLst>
        <pc:spChg chg="add mod">
          <ac:chgData name="Yamila Sonder" userId="bd03ae9016654ccc" providerId="LiveId" clId="{E0EB2C10-073A-4D13-B380-B11373A0D25D}" dt="2026-02-10T21:04:08.494" v="1367" actId="1076"/>
          <ac:spMkLst>
            <pc:docMk/>
            <pc:sldMk cId="1101920774" sldId="262"/>
            <ac:spMk id="2" creationId="{3CED2F11-3FAC-A8A2-D2C5-2320A976C00F}"/>
          </ac:spMkLst>
        </pc:spChg>
        <pc:spChg chg="mod">
          <ac:chgData name="Yamila Sonder" userId="bd03ae9016654ccc" providerId="LiveId" clId="{E0EB2C10-073A-4D13-B380-B11373A0D25D}" dt="2026-02-10T21:04:00.397" v="1363" actId="1076"/>
          <ac:spMkLst>
            <pc:docMk/>
            <pc:sldMk cId="1101920774" sldId="262"/>
            <ac:spMk id="3" creationId="{BCC49EA3-F184-1E2F-DBF2-5686A9F344F4}"/>
          </ac:spMkLst>
        </pc:spChg>
        <pc:picChg chg="mod">
          <ac:chgData name="Yamila Sonder" userId="bd03ae9016654ccc" providerId="LiveId" clId="{E0EB2C10-073A-4D13-B380-B11373A0D25D}" dt="2026-02-10T21:04:05.760" v="1366" actId="1076"/>
          <ac:picMkLst>
            <pc:docMk/>
            <pc:sldMk cId="1101920774" sldId="262"/>
            <ac:picMk id="4" creationId="{DAEF3063-D496-6507-31B4-43B255B02B40}"/>
          </ac:picMkLst>
        </pc:picChg>
      </pc:sldChg>
      <pc:sldChg chg="addSp delSp modSp add mod ord">
        <pc:chgData name="Yamila Sonder" userId="bd03ae9016654ccc" providerId="LiveId" clId="{E0EB2C10-073A-4D13-B380-B11373A0D25D}" dt="2026-02-10T21:03:04.386" v="1345" actId="1076"/>
        <pc:sldMkLst>
          <pc:docMk/>
          <pc:sldMk cId="3097799983" sldId="263"/>
        </pc:sldMkLst>
        <pc:spChg chg="del mod">
          <ac:chgData name="Yamila Sonder" userId="bd03ae9016654ccc" providerId="LiveId" clId="{E0EB2C10-073A-4D13-B380-B11373A0D25D}" dt="2026-02-09T00:46:52.893" v="447" actId="478"/>
          <ac:spMkLst>
            <pc:docMk/>
            <pc:sldMk cId="3097799983" sldId="263"/>
            <ac:spMk id="3" creationId="{7225846E-F48F-0105-6AF5-3257413C95B2}"/>
          </ac:spMkLst>
        </pc:spChg>
        <pc:spChg chg="add mod">
          <ac:chgData name="Yamila Sonder" userId="bd03ae9016654ccc" providerId="LiveId" clId="{E0EB2C10-073A-4D13-B380-B11373A0D25D}" dt="2026-02-10T20:39:19.563" v="746" actId="1076"/>
          <ac:spMkLst>
            <pc:docMk/>
            <pc:sldMk cId="3097799983" sldId="263"/>
            <ac:spMk id="3" creationId="{BA3D035A-23F7-3C21-AF4E-B1FD17E4F12F}"/>
          </ac:spMkLst>
        </pc:spChg>
        <pc:spChg chg="add del mod">
          <ac:chgData name="Yamila Sonder" userId="bd03ae9016654ccc" providerId="LiveId" clId="{E0EB2C10-073A-4D13-B380-B11373A0D25D}" dt="2026-02-10T20:38:49.247" v="718" actId="478"/>
          <ac:spMkLst>
            <pc:docMk/>
            <pc:sldMk cId="3097799983" sldId="263"/>
            <ac:spMk id="5" creationId="{A07648F0-D8B2-B7CC-AEDC-20ED0B7F7155}"/>
          </ac:spMkLst>
        </pc:spChg>
        <pc:graphicFrameChg chg="add del mod modGraphic">
          <ac:chgData name="Yamila Sonder" userId="bd03ae9016654ccc" providerId="LiveId" clId="{E0EB2C10-073A-4D13-B380-B11373A0D25D}" dt="2026-02-10T21:03:04.386" v="1345" actId="1076"/>
          <ac:graphicFrameMkLst>
            <pc:docMk/>
            <pc:sldMk cId="3097799983" sldId="263"/>
            <ac:graphicFrameMk id="2" creationId="{D8FE13B4-55BC-BE68-1F9F-6C3843F421E8}"/>
          </ac:graphicFrameMkLst>
        </pc:graphicFrameChg>
        <pc:picChg chg="mod">
          <ac:chgData name="Yamila Sonder" userId="bd03ae9016654ccc" providerId="LiveId" clId="{E0EB2C10-073A-4D13-B380-B11373A0D25D}" dt="2026-02-09T00:56:46.153" v="514" actId="1037"/>
          <ac:picMkLst>
            <pc:docMk/>
            <pc:sldMk cId="3097799983" sldId="263"/>
            <ac:picMk id="4" creationId="{5BE6E915-C0FC-7F06-2A6D-9BBA1444BB39}"/>
          </ac:picMkLst>
        </pc:picChg>
        <pc:picChg chg="add mod">
          <ac:chgData name="Yamila Sonder" userId="bd03ae9016654ccc" providerId="LiveId" clId="{E0EB2C10-073A-4D13-B380-B11373A0D25D}" dt="2026-02-10T20:39:38.358" v="755" actId="1076"/>
          <ac:picMkLst>
            <pc:docMk/>
            <pc:sldMk cId="3097799983" sldId="263"/>
            <ac:picMk id="6" creationId="{DFDAD657-093C-782E-D654-9E0B42DBCE20}"/>
          </ac:picMkLst>
        </pc:picChg>
      </pc:sldChg>
      <pc:sldChg chg="addSp delSp modSp add mod">
        <pc:chgData name="Yamila Sonder" userId="bd03ae9016654ccc" providerId="LiveId" clId="{E0EB2C10-073A-4D13-B380-B11373A0D25D}" dt="2026-02-10T20:57:55.027" v="1251" actId="20577"/>
        <pc:sldMkLst>
          <pc:docMk/>
          <pc:sldMk cId="2309206629" sldId="264"/>
        </pc:sldMkLst>
        <pc:spChg chg="add mod">
          <ac:chgData name="Yamila Sonder" userId="bd03ae9016654ccc" providerId="LiveId" clId="{E0EB2C10-073A-4D13-B380-B11373A0D25D}" dt="2026-02-10T20:04:06.738" v="661" actId="1076"/>
          <ac:spMkLst>
            <pc:docMk/>
            <pc:sldMk cId="2309206629" sldId="264"/>
            <ac:spMk id="2" creationId="{CEDD22DF-45C2-D41B-3D58-F722D3E30436}"/>
          </ac:spMkLst>
        </pc:spChg>
        <pc:spChg chg="del">
          <ac:chgData name="Yamila Sonder" userId="bd03ae9016654ccc" providerId="LiveId" clId="{E0EB2C10-073A-4D13-B380-B11373A0D25D}" dt="2026-02-10T19:48:06.048" v="523" actId="478"/>
          <ac:spMkLst>
            <pc:docMk/>
            <pc:sldMk cId="2309206629" sldId="264"/>
            <ac:spMk id="3" creationId="{A80CB530-57B6-0D21-3AC2-6393220902EC}"/>
          </ac:spMkLst>
        </pc:spChg>
        <pc:spChg chg="add mod">
          <ac:chgData name="Yamila Sonder" userId="bd03ae9016654ccc" providerId="LiveId" clId="{E0EB2C10-073A-4D13-B380-B11373A0D25D}" dt="2026-02-10T20:57:55.027" v="1251" actId="20577"/>
          <ac:spMkLst>
            <pc:docMk/>
            <pc:sldMk cId="2309206629" sldId="264"/>
            <ac:spMk id="7" creationId="{B40CA2AC-5892-BC0D-F83C-3F275BD9A96D}"/>
          </ac:spMkLst>
        </pc:spChg>
        <pc:spChg chg="add mod">
          <ac:chgData name="Yamila Sonder" userId="bd03ae9016654ccc" providerId="LiveId" clId="{E0EB2C10-073A-4D13-B380-B11373A0D25D}" dt="2026-02-10T20:37:19.753" v="682"/>
          <ac:spMkLst>
            <pc:docMk/>
            <pc:sldMk cId="2309206629" sldId="264"/>
            <ac:spMk id="8" creationId="{6FEBC68B-D597-ADCF-0792-08A57F73875F}"/>
          </ac:spMkLst>
        </pc:spChg>
        <pc:picChg chg="add del mod">
          <ac:chgData name="Yamila Sonder" userId="bd03ae9016654ccc" providerId="LiveId" clId="{E0EB2C10-073A-4D13-B380-B11373A0D25D}" dt="2026-02-10T20:37:23.465" v="684" actId="21"/>
          <ac:picMkLst>
            <pc:docMk/>
            <pc:sldMk cId="2309206629" sldId="264"/>
            <ac:picMk id="4" creationId="{4D175B7E-45C2-8209-34DF-BD50BD625979}"/>
          </ac:picMkLst>
        </pc:picChg>
        <pc:picChg chg="add mod">
          <ac:chgData name="Yamila Sonder" userId="bd03ae9016654ccc" providerId="LiveId" clId="{E0EB2C10-073A-4D13-B380-B11373A0D25D}" dt="2026-02-10T20:04:13.208" v="664" actId="1076"/>
          <ac:picMkLst>
            <pc:docMk/>
            <pc:sldMk cId="2309206629" sldId="264"/>
            <ac:picMk id="6" creationId="{14842196-80B1-0425-0C7C-0575630C6EA0}"/>
          </ac:picMkLst>
        </pc:picChg>
      </pc:sldChg>
      <pc:sldChg chg="addSp delSp modSp add mod">
        <pc:chgData name="Yamila Sonder" userId="bd03ae9016654ccc" providerId="LiveId" clId="{E0EB2C10-073A-4D13-B380-B11373A0D25D}" dt="2026-02-10T20:58:51.454" v="1328" actId="113"/>
        <pc:sldMkLst>
          <pc:docMk/>
          <pc:sldMk cId="4060738294" sldId="265"/>
        </pc:sldMkLst>
        <pc:spChg chg="del mod">
          <ac:chgData name="Yamila Sonder" userId="bd03ae9016654ccc" providerId="LiveId" clId="{E0EB2C10-073A-4D13-B380-B11373A0D25D}" dt="2026-02-10T20:35:06.857" v="677"/>
          <ac:spMkLst>
            <pc:docMk/>
            <pc:sldMk cId="4060738294" sldId="265"/>
            <ac:spMk id="2" creationId="{F6A4EA8F-9D30-52BD-F304-DDC6BBDF4A31}"/>
          </ac:spMkLst>
        </pc:spChg>
        <pc:spChg chg="add mod">
          <ac:chgData name="Yamila Sonder" userId="bd03ae9016654ccc" providerId="LiveId" clId="{E0EB2C10-073A-4D13-B380-B11373A0D25D}" dt="2026-02-10T20:58:51.454" v="1328" actId="113"/>
          <ac:spMkLst>
            <pc:docMk/>
            <pc:sldMk cId="4060738294" sldId="265"/>
            <ac:spMk id="5" creationId="{7DCAC650-D1E9-6F86-5E92-EA454C36CA9C}"/>
          </ac:spMkLst>
        </pc:spChg>
        <pc:spChg chg="del mod">
          <ac:chgData name="Yamila Sonder" userId="bd03ae9016654ccc" providerId="LiveId" clId="{E0EB2C10-073A-4D13-B380-B11373A0D25D}" dt="2026-02-10T20:35:06.857" v="675"/>
          <ac:spMkLst>
            <pc:docMk/>
            <pc:sldMk cId="4060738294" sldId="265"/>
            <ac:spMk id="7" creationId="{C139D9B1-5876-9C6F-E76F-0A2A6E450380}"/>
          </ac:spMkLst>
        </pc:spChg>
        <pc:picChg chg="add mod">
          <ac:chgData name="Yamila Sonder" userId="bd03ae9016654ccc" providerId="LiveId" clId="{E0EB2C10-073A-4D13-B380-B11373A0D25D}" dt="2026-02-10T20:58:14.280" v="1256" actId="1076"/>
          <ac:picMkLst>
            <pc:docMk/>
            <pc:sldMk cId="4060738294" sldId="265"/>
            <ac:picMk id="3" creationId="{3C73FBB2-7AB4-47BF-FA06-8D0FB279224C}"/>
          </ac:picMkLst>
        </pc:picChg>
        <pc:picChg chg="del">
          <ac:chgData name="Yamila Sonder" userId="bd03ae9016654ccc" providerId="LiveId" clId="{E0EB2C10-073A-4D13-B380-B11373A0D25D}" dt="2026-02-10T20:04:25.363" v="666" actId="478"/>
          <ac:picMkLst>
            <pc:docMk/>
            <pc:sldMk cId="4060738294" sldId="265"/>
            <ac:picMk id="6" creationId="{0ED817D3-805B-F413-D5E0-E85CA064278A}"/>
          </ac:picMkLst>
        </pc:picChg>
      </pc:sldChg>
      <pc:sldChg chg="addSp delSp modSp new mod">
        <pc:chgData name="Yamila Sonder" userId="bd03ae9016654ccc" providerId="LiveId" clId="{E0EB2C10-073A-4D13-B380-B11373A0D25D}" dt="2026-02-10T20:56:41.924" v="1233" actId="2711"/>
        <pc:sldMkLst>
          <pc:docMk/>
          <pc:sldMk cId="839492070" sldId="266"/>
        </pc:sldMkLst>
        <pc:spChg chg="mod">
          <ac:chgData name="Yamila Sonder" userId="bd03ae9016654ccc" providerId="LiveId" clId="{E0EB2C10-073A-4D13-B380-B11373A0D25D}" dt="2026-02-10T20:55:49.355" v="1230" actId="1076"/>
          <ac:spMkLst>
            <pc:docMk/>
            <pc:sldMk cId="839492070" sldId="266"/>
            <ac:spMk id="2" creationId="{0BC0A99B-AB43-6DA3-43B7-173FBB0BCB80}"/>
          </ac:spMkLst>
        </pc:spChg>
        <pc:spChg chg="mod">
          <ac:chgData name="Yamila Sonder" userId="bd03ae9016654ccc" providerId="LiveId" clId="{E0EB2C10-073A-4D13-B380-B11373A0D25D}" dt="2026-02-10T20:55:04.571" v="1218" actId="20577"/>
          <ac:spMkLst>
            <pc:docMk/>
            <pc:sldMk cId="839492070" sldId="266"/>
            <ac:spMk id="3" creationId="{8499D088-F31D-9A18-D1BD-6FD0681D6492}"/>
          </ac:spMkLst>
        </pc:spChg>
        <pc:spChg chg="add del mod">
          <ac:chgData name="Yamila Sonder" userId="bd03ae9016654ccc" providerId="LiveId" clId="{E0EB2C10-073A-4D13-B380-B11373A0D25D}" dt="2026-02-10T20:55:45.461" v="1229" actId="478"/>
          <ac:spMkLst>
            <pc:docMk/>
            <pc:sldMk cId="839492070" sldId="266"/>
            <ac:spMk id="4" creationId="{68FC33E2-950A-439B-0ED6-A3AAD6557357}"/>
          </ac:spMkLst>
        </pc:spChg>
        <pc:spChg chg="add mod">
          <ac:chgData name="Yamila Sonder" userId="bd03ae9016654ccc" providerId="LiveId" clId="{E0EB2C10-073A-4D13-B380-B11373A0D25D}" dt="2026-02-10T20:56:41.924" v="1233" actId="2711"/>
          <ac:spMkLst>
            <pc:docMk/>
            <pc:sldMk cId="839492070" sldId="266"/>
            <ac:spMk id="6" creationId="{8EC9A27D-DB34-E166-7114-275FC33A6DA5}"/>
          </ac:spMkLst>
        </pc:spChg>
        <pc:picChg chg="add mod ord">
          <ac:chgData name="Yamila Sonder" userId="bd03ae9016654ccc" providerId="LiveId" clId="{E0EB2C10-073A-4D13-B380-B11373A0D25D}" dt="2026-02-10T20:55:41.839" v="1227" actId="167"/>
          <ac:picMkLst>
            <pc:docMk/>
            <pc:sldMk cId="839492070" sldId="266"/>
            <ac:picMk id="5" creationId="{DCA0CB9D-3D5F-33EE-C504-7D5FD83647D2}"/>
          </ac:picMkLst>
        </pc:picChg>
      </pc:sldChg>
      <pc:sldChg chg="addSp modSp new mod">
        <pc:chgData name="Yamila Sonder" userId="bd03ae9016654ccc" providerId="LiveId" clId="{E0EB2C10-073A-4D13-B380-B11373A0D25D}" dt="2026-02-10T20:59:17.266" v="1338" actId="113"/>
        <pc:sldMkLst>
          <pc:docMk/>
          <pc:sldMk cId="710555655" sldId="267"/>
        </pc:sldMkLst>
        <pc:spChg chg="add mod">
          <ac:chgData name="Yamila Sonder" userId="bd03ae9016654ccc" providerId="LiveId" clId="{E0EB2C10-073A-4D13-B380-B11373A0D25D}" dt="2026-02-10T20:59:17.266" v="1338" actId="113"/>
          <ac:spMkLst>
            <pc:docMk/>
            <pc:sldMk cId="710555655" sldId="267"/>
            <ac:spMk id="5" creationId="{172C170B-5BBB-6093-55DA-AFA4E0C961F4}"/>
          </ac:spMkLst>
        </pc:spChg>
        <pc:picChg chg="add mod">
          <ac:chgData name="Yamila Sonder" userId="bd03ae9016654ccc" providerId="LiveId" clId="{E0EB2C10-073A-4D13-B380-B11373A0D25D}" dt="2026-02-10T20:58:08.558" v="1255" actId="962"/>
          <ac:picMkLst>
            <pc:docMk/>
            <pc:sldMk cId="710555655" sldId="267"/>
            <ac:picMk id="4" creationId="{A7AB8252-EF6F-DF75-6BC4-5D7F0E4CA344}"/>
          </ac:picMkLst>
        </pc:picChg>
      </pc:sldChg>
    </pc:docChg>
  </pc:docChgLst>
</pc:chgInfo>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Diapositiva de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D9EC154-30E9-EF29-489C-B43B68BD4BB4}"/>
              </a:ext>
            </a:extLst>
          </p:cNvPr>
          <p:cNvSpPr>
            <a:spLocks noGrp="1"/>
          </p:cNvSpPr>
          <p:nvPr>
            <p:ph type="ctrTitle"/>
          </p:nvPr>
        </p:nvSpPr>
        <p:spPr>
          <a:xfrm>
            <a:off x="1524000" y="1122363"/>
            <a:ext cx="9144000" cy="2387600"/>
          </a:xfrm>
        </p:spPr>
        <p:txBody>
          <a:bodyPr anchor="b"/>
          <a:lstStyle>
            <a:lvl1pPr algn="ctr">
              <a:defRPr sz="6000"/>
            </a:lvl1pPr>
          </a:lstStyle>
          <a:p>
            <a:r>
              <a:rPr lang="es-ES"/>
              <a:t>Haga clic para modificar el estilo de título del patrón</a:t>
            </a:r>
            <a:endParaRPr lang="es-AR"/>
          </a:p>
        </p:txBody>
      </p:sp>
      <p:sp>
        <p:nvSpPr>
          <p:cNvPr id="3" name="Subtítulo 2">
            <a:extLst>
              <a:ext uri="{FF2B5EF4-FFF2-40B4-BE49-F238E27FC236}">
                <a16:creationId xmlns:a16="http://schemas.microsoft.com/office/drawing/2014/main" id="{0B15C3B6-09DB-71BD-5F46-DC389FA687F6}"/>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s-ES"/>
              <a:t>Haga clic para modificar el estilo de subtítulo del patrón</a:t>
            </a:r>
            <a:endParaRPr lang="es-AR"/>
          </a:p>
        </p:txBody>
      </p:sp>
      <p:sp>
        <p:nvSpPr>
          <p:cNvPr id="4" name="Marcador de fecha 3">
            <a:extLst>
              <a:ext uri="{FF2B5EF4-FFF2-40B4-BE49-F238E27FC236}">
                <a16:creationId xmlns:a16="http://schemas.microsoft.com/office/drawing/2014/main" id="{DDB6ADB6-B33B-AE54-B375-E62581E3BAF0}"/>
              </a:ext>
            </a:extLst>
          </p:cNvPr>
          <p:cNvSpPr>
            <a:spLocks noGrp="1"/>
          </p:cNvSpPr>
          <p:nvPr>
            <p:ph type="dt" sz="half" idx="10"/>
          </p:nvPr>
        </p:nvSpPr>
        <p:spPr/>
        <p:txBody>
          <a:bodyPr/>
          <a:lstStyle/>
          <a:p>
            <a:fld id="{63D193A1-2DAB-45D5-92F1-EB622BEC63D8}" type="datetimeFigureOut">
              <a:rPr lang="es-AR" smtClean="0"/>
              <a:t>11/2/2026</a:t>
            </a:fld>
            <a:endParaRPr lang="es-AR"/>
          </a:p>
        </p:txBody>
      </p:sp>
      <p:sp>
        <p:nvSpPr>
          <p:cNvPr id="5" name="Marcador de pie de página 4">
            <a:extLst>
              <a:ext uri="{FF2B5EF4-FFF2-40B4-BE49-F238E27FC236}">
                <a16:creationId xmlns:a16="http://schemas.microsoft.com/office/drawing/2014/main" id="{D4F03F27-BE7B-3B43-CCE8-141813ABD19A}"/>
              </a:ext>
            </a:extLst>
          </p:cNvPr>
          <p:cNvSpPr>
            <a:spLocks noGrp="1"/>
          </p:cNvSpPr>
          <p:nvPr>
            <p:ph type="ftr" sz="quarter" idx="11"/>
          </p:nvPr>
        </p:nvSpPr>
        <p:spPr/>
        <p:txBody>
          <a:bodyPr/>
          <a:lstStyle/>
          <a:p>
            <a:endParaRPr lang="es-AR"/>
          </a:p>
        </p:txBody>
      </p:sp>
      <p:sp>
        <p:nvSpPr>
          <p:cNvPr id="6" name="Marcador de número de diapositiva 5">
            <a:extLst>
              <a:ext uri="{FF2B5EF4-FFF2-40B4-BE49-F238E27FC236}">
                <a16:creationId xmlns:a16="http://schemas.microsoft.com/office/drawing/2014/main" id="{B8F99C53-DF2B-DF4E-94A4-EB4AAE0349E8}"/>
              </a:ext>
            </a:extLst>
          </p:cNvPr>
          <p:cNvSpPr>
            <a:spLocks noGrp="1"/>
          </p:cNvSpPr>
          <p:nvPr>
            <p:ph type="sldNum" sz="quarter" idx="12"/>
          </p:nvPr>
        </p:nvSpPr>
        <p:spPr/>
        <p:txBody>
          <a:bodyPr/>
          <a:lstStyle/>
          <a:p>
            <a:fld id="{0E09482D-DF10-4C80-BB3E-80A640B00394}" type="slidenum">
              <a:rPr lang="es-AR" smtClean="0"/>
              <a:t>‹Nº›</a:t>
            </a:fld>
            <a:endParaRPr lang="es-AR"/>
          </a:p>
        </p:txBody>
      </p:sp>
    </p:spTree>
    <p:extLst>
      <p:ext uri="{BB962C8B-B14F-4D97-AF65-F5344CB8AC3E}">
        <p14:creationId xmlns:p14="http://schemas.microsoft.com/office/powerpoint/2010/main" val="305538276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ítulo y objetos">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7519968A-43A7-7D2C-A2E6-DB3882F7CBD5}"/>
              </a:ext>
            </a:extLst>
          </p:cNvPr>
          <p:cNvSpPr>
            <a:spLocks noGrp="1"/>
          </p:cNvSpPr>
          <p:nvPr>
            <p:ph type="title"/>
          </p:nvPr>
        </p:nvSpPr>
        <p:spPr/>
        <p:txBody>
          <a:bodyPr/>
          <a:lstStyle/>
          <a:p>
            <a:r>
              <a:rPr lang="es-ES"/>
              <a:t>Haga clic para modificar el estilo de título del patrón</a:t>
            </a:r>
            <a:endParaRPr lang="es-AR"/>
          </a:p>
        </p:txBody>
      </p:sp>
      <p:sp>
        <p:nvSpPr>
          <p:cNvPr id="3" name="Marcador de contenido 2">
            <a:extLst>
              <a:ext uri="{FF2B5EF4-FFF2-40B4-BE49-F238E27FC236}">
                <a16:creationId xmlns:a16="http://schemas.microsoft.com/office/drawing/2014/main" id="{6CF4CB93-0F23-9887-CDE2-13CBA879AF2B}"/>
              </a:ext>
            </a:extLst>
          </p:cNvPr>
          <p:cNvSpPr>
            <a:spLocks noGrp="1"/>
          </p:cNvSpPr>
          <p:nvPr>
            <p:ph idx="1"/>
          </p:nvPr>
        </p:nvSpPr>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AR"/>
          </a:p>
        </p:txBody>
      </p:sp>
      <p:sp>
        <p:nvSpPr>
          <p:cNvPr id="4" name="Marcador de fecha 3">
            <a:extLst>
              <a:ext uri="{FF2B5EF4-FFF2-40B4-BE49-F238E27FC236}">
                <a16:creationId xmlns:a16="http://schemas.microsoft.com/office/drawing/2014/main" id="{93CCAD1B-58A3-07AB-FD24-FF95DE891850}"/>
              </a:ext>
            </a:extLst>
          </p:cNvPr>
          <p:cNvSpPr>
            <a:spLocks noGrp="1"/>
          </p:cNvSpPr>
          <p:nvPr>
            <p:ph type="dt" sz="half" idx="10"/>
          </p:nvPr>
        </p:nvSpPr>
        <p:spPr/>
        <p:txBody>
          <a:bodyPr/>
          <a:lstStyle/>
          <a:p>
            <a:fld id="{63D193A1-2DAB-45D5-92F1-EB622BEC63D8}" type="datetimeFigureOut">
              <a:rPr lang="es-AR" smtClean="0"/>
              <a:t>11/2/2026</a:t>
            </a:fld>
            <a:endParaRPr lang="es-AR"/>
          </a:p>
        </p:txBody>
      </p:sp>
      <p:sp>
        <p:nvSpPr>
          <p:cNvPr id="5" name="Marcador de pie de página 4">
            <a:extLst>
              <a:ext uri="{FF2B5EF4-FFF2-40B4-BE49-F238E27FC236}">
                <a16:creationId xmlns:a16="http://schemas.microsoft.com/office/drawing/2014/main" id="{A2360B34-B3FD-47D1-FB59-4B34CD22503C}"/>
              </a:ext>
            </a:extLst>
          </p:cNvPr>
          <p:cNvSpPr>
            <a:spLocks noGrp="1"/>
          </p:cNvSpPr>
          <p:nvPr>
            <p:ph type="ftr" sz="quarter" idx="11"/>
          </p:nvPr>
        </p:nvSpPr>
        <p:spPr/>
        <p:txBody>
          <a:bodyPr/>
          <a:lstStyle/>
          <a:p>
            <a:endParaRPr lang="es-AR"/>
          </a:p>
        </p:txBody>
      </p:sp>
      <p:sp>
        <p:nvSpPr>
          <p:cNvPr id="6" name="Marcador de número de diapositiva 5">
            <a:extLst>
              <a:ext uri="{FF2B5EF4-FFF2-40B4-BE49-F238E27FC236}">
                <a16:creationId xmlns:a16="http://schemas.microsoft.com/office/drawing/2014/main" id="{9278B881-DBE6-C35E-0A34-D8461B0AD4B9}"/>
              </a:ext>
            </a:extLst>
          </p:cNvPr>
          <p:cNvSpPr>
            <a:spLocks noGrp="1"/>
          </p:cNvSpPr>
          <p:nvPr>
            <p:ph type="sldNum" sz="quarter" idx="12"/>
          </p:nvPr>
        </p:nvSpPr>
        <p:spPr/>
        <p:txBody>
          <a:bodyPr/>
          <a:lstStyle/>
          <a:p>
            <a:fld id="{0E09482D-DF10-4C80-BB3E-80A640B00394}" type="slidenum">
              <a:rPr lang="es-AR" smtClean="0"/>
              <a:t>‹Nº›</a:t>
            </a:fld>
            <a:endParaRPr lang="es-AR"/>
          </a:p>
        </p:txBody>
      </p:sp>
    </p:spTree>
    <p:extLst>
      <p:ext uri="{BB962C8B-B14F-4D97-AF65-F5344CB8AC3E}">
        <p14:creationId xmlns:p14="http://schemas.microsoft.com/office/powerpoint/2010/main" val="246952699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Encabezado de sección">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8F687E5-06C3-BD6E-631A-3BBC57C18A6C}"/>
              </a:ext>
            </a:extLst>
          </p:cNvPr>
          <p:cNvSpPr>
            <a:spLocks noGrp="1"/>
          </p:cNvSpPr>
          <p:nvPr>
            <p:ph type="title"/>
          </p:nvPr>
        </p:nvSpPr>
        <p:spPr>
          <a:xfrm>
            <a:off x="831850" y="1709738"/>
            <a:ext cx="10515600" cy="2852737"/>
          </a:xfrm>
        </p:spPr>
        <p:txBody>
          <a:bodyPr anchor="b"/>
          <a:lstStyle>
            <a:lvl1pPr>
              <a:defRPr sz="6000"/>
            </a:lvl1pPr>
          </a:lstStyle>
          <a:p>
            <a:r>
              <a:rPr lang="es-ES"/>
              <a:t>Haga clic para modificar el estilo de título del patrón</a:t>
            </a:r>
            <a:endParaRPr lang="es-AR"/>
          </a:p>
        </p:txBody>
      </p:sp>
      <p:sp>
        <p:nvSpPr>
          <p:cNvPr id="3" name="Marcador de texto 2">
            <a:extLst>
              <a:ext uri="{FF2B5EF4-FFF2-40B4-BE49-F238E27FC236}">
                <a16:creationId xmlns:a16="http://schemas.microsoft.com/office/drawing/2014/main" id="{1491D6B2-0F3C-C1F4-68CF-371A8A80121B}"/>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s-ES"/>
              <a:t>Haga clic para modificar los estilos de texto del patrón</a:t>
            </a:r>
          </a:p>
        </p:txBody>
      </p:sp>
      <p:sp>
        <p:nvSpPr>
          <p:cNvPr id="4" name="Marcador de fecha 3">
            <a:extLst>
              <a:ext uri="{FF2B5EF4-FFF2-40B4-BE49-F238E27FC236}">
                <a16:creationId xmlns:a16="http://schemas.microsoft.com/office/drawing/2014/main" id="{4A6057ED-E780-19A8-324E-5F3BD115C581}"/>
              </a:ext>
            </a:extLst>
          </p:cNvPr>
          <p:cNvSpPr>
            <a:spLocks noGrp="1"/>
          </p:cNvSpPr>
          <p:nvPr>
            <p:ph type="dt" sz="half" idx="10"/>
          </p:nvPr>
        </p:nvSpPr>
        <p:spPr/>
        <p:txBody>
          <a:bodyPr/>
          <a:lstStyle/>
          <a:p>
            <a:fld id="{63D193A1-2DAB-45D5-92F1-EB622BEC63D8}" type="datetimeFigureOut">
              <a:rPr lang="es-AR" smtClean="0"/>
              <a:t>11/2/2026</a:t>
            </a:fld>
            <a:endParaRPr lang="es-AR"/>
          </a:p>
        </p:txBody>
      </p:sp>
      <p:sp>
        <p:nvSpPr>
          <p:cNvPr id="5" name="Marcador de pie de página 4">
            <a:extLst>
              <a:ext uri="{FF2B5EF4-FFF2-40B4-BE49-F238E27FC236}">
                <a16:creationId xmlns:a16="http://schemas.microsoft.com/office/drawing/2014/main" id="{0C819255-3D2B-FB76-D7A5-31ADF5FED0CE}"/>
              </a:ext>
            </a:extLst>
          </p:cNvPr>
          <p:cNvSpPr>
            <a:spLocks noGrp="1"/>
          </p:cNvSpPr>
          <p:nvPr>
            <p:ph type="ftr" sz="quarter" idx="11"/>
          </p:nvPr>
        </p:nvSpPr>
        <p:spPr/>
        <p:txBody>
          <a:bodyPr/>
          <a:lstStyle/>
          <a:p>
            <a:endParaRPr lang="es-AR"/>
          </a:p>
        </p:txBody>
      </p:sp>
      <p:sp>
        <p:nvSpPr>
          <p:cNvPr id="6" name="Marcador de número de diapositiva 5">
            <a:extLst>
              <a:ext uri="{FF2B5EF4-FFF2-40B4-BE49-F238E27FC236}">
                <a16:creationId xmlns:a16="http://schemas.microsoft.com/office/drawing/2014/main" id="{7BBEDEAD-2AA0-92FB-B745-264ECA6614AE}"/>
              </a:ext>
            </a:extLst>
          </p:cNvPr>
          <p:cNvSpPr>
            <a:spLocks noGrp="1"/>
          </p:cNvSpPr>
          <p:nvPr>
            <p:ph type="sldNum" sz="quarter" idx="12"/>
          </p:nvPr>
        </p:nvSpPr>
        <p:spPr/>
        <p:txBody>
          <a:bodyPr/>
          <a:lstStyle/>
          <a:p>
            <a:fld id="{0E09482D-DF10-4C80-BB3E-80A640B00394}" type="slidenum">
              <a:rPr lang="es-AR" smtClean="0"/>
              <a:t>‹Nº›</a:t>
            </a:fld>
            <a:endParaRPr lang="es-AR"/>
          </a:p>
        </p:txBody>
      </p:sp>
    </p:spTree>
    <p:extLst>
      <p:ext uri="{BB962C8B-B14F-4D97-AF65-F5344CB8AC3E}">
        <p14:creationId xmlns:p14="http://schemas.microsoft.com/office/powerpoint/2010/main" val="20957153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os objetos">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36DBE4C9-F9C0-E5A1-50DB-BAD0153676C6}"/>
              </a:ext>
            </a:extLst>
          </p:cNvPr>
          <p:cNvSpPr>
            <a:spLocks noGrp="1"/>
          </p:cNvSpPr>
          <p:nvPr>
            <p:ph type="title"/>
          </p:nvPr>
        </p:nvSpPr>
        <p:spPr/>
        <p:txBody>
          <a:bodyPr/>
          <a:lstStyle/>
          <a:p>
            <a:r>
              <a:rPr lang="es-ES"/>
              <a:t>Haga clic para modificar el estilo de título del patrón</a:t>
            </a:r>
            <a:endParaRPr lang="es-AR"/>
          </a:p>
        </p:txBody>
      </p:sp>
      <p:sp>
        <p:nvSpPr>
          <p:cNvPr id="3" name="Marcador de contenido 2">
            <a:extLst>
              <a:ext uri="{FF2B5EF4-FFF2-40B4-BE49-F238E27FC236}">
                <a16:creationId xmlns:a16="http://schemas.microsoft.com/office/drawing/2014/main" id="{9F151AE2-2815-4E09-430C-ECBD0562CA3A}"/>
              </a:ext>
            </a:extLst>
          </p:cNvPr>
          <p:cNvSpPr>
            <a:spLocks noGrp="1"/>
          </p:cNvSpPr>
          <p:nvPr>
            <p:ph sz="half" idx="1"/>
          </p:nvPr>
        </p:nvSpPr>
        <p:spPr>
          <a:xfrm>
            <a:off x="838200" y="1825625"/>
            <a:ext cx="5181600" cy="4351338"/>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AR"/>
          </a:p>
        </p:txBody>
      </p:sp>
      <p:sp>
        <p:nvSpPr>
          <p:cNvPr id="4" name="Marcador de contenido 3">
            <a:extLst>
              <a:ext uri="{FF2B5EF4-FFF2-40B4-BE49-F238E27FC236}">
                <a16:creationId xmlns:a16="http://schemas.microsoft.com/office/drawing/2014/main" id="{CEEC1895-99D1-A76F-8BBE-47C4CB78316B}"/>
              </a:ext>
            </a:extLst>
          </p:cNvPr>
          <p:cNvSpPr>
            <a:spLocks noGrp="1"/>
          </p:cNvSpPr>
          <p:nvPr>
            <p:ph sz="half" idx="2"/>
          </p:nvPr>
        </p:nvSpPr>
        <p:spPr>
          <a:xfrm>
            <a:off x="6172200" y="1825625"/>
            <a:ext cx="5181600" cy="4351338"/>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AR"/>
          </a:p>
        </p:txBody>
      </p:sp>
      <p:sp>
        <p:nvSpPr>
          <p:cNvPr id="5" name="Marcador de fecha 4">
            <a:extLst>
              <a:ext uri="{FF2B5EF4-FFF2-40B4-BE49-F238E27FC236}">
                <a16:creationId xmlns:a16="http://schemas.microsoft.com/office/drawing/2014/main" id="{29E3452E-2CB4-592E-0744-4CDB07C2948A}"/>
              </a:ext>
            </a:extLst>
          </p:cNvPr>
          <p:cNvSpPr>
            <a:spLocks noGrp="1"/>
          </p:cNvSpPr>
          <p:nvPr>
            <p:ph type="dt" sz="half" idx="10"/>
          </p:nvPr>
        </p:nvSpPr>
        <p:spPr/>
        <p:txBody>
          <a:bodyPr/>
          <a:lstStyle/>
          <a:p>
            <a:fld id="{63D193A1-2DAB-45D5-92F1-EB622BEC63D8}" type="datetimeFigureOut">
              <a:rPr lang="es-AR" smtClean="0"/>
              <a:t>11/2/2026</a:t>
            </a:fld>
            <a:endParaRPr lang="es-AR"/>
          </a:p>
        </p:txBody>
      </p:sp>
      <p:sp>
        <p:nvSpPr>
          <p:cNvPr id="6" name="Marcador de pie de página 5">
            <a:extLst>
              <a:ext uri="{FF2B5EF4-FFF2-40B4-BE49-F238E27FC236}">
                <a16:creationId xmlns:a16="http://schemas.microsoft.com/office/drawing/2014/main" id="{F5215361-241B-66D7-3228-261F80F170AF}"/>
              </a:ext>
            </a:extLst>
          </p:cNvPr>
          <p:cNvSpPr>
            <a:spLocks noGrp="1"/>
          </p:cNvSpPr>
          <p:nvPr>
            <p:ph type="ftr" sz="quarter" idx="11"/>
          </p:nvPr>
        </p:nvSpPr>
        <p:spPr/>
        <p:txBody>
          <a:bodyPr/>
          <a:lstStyle/>
          <a:p>
            <a:endParaRPr lang="es-AR"/>
          </a:p>
        </p:txBody>
      </p:sp>
      <p:sp>
        <p:nvSpPr>
          <p:cNvPr id="7" name="Marcador de número de diapositiva 6">
            <a:extLst>
              <a:ext uri="{FF2B5EF4-FFF2-40B4-BE49-F238E27FC236}">
                <a16:creationId xmlns:a16="http://schemas.microsoft.com/office/drawing/2014/main" id="{721C0257-F93A-CCCC-0CD6-E40CF7CC6ABB}"/>
              </a:ext>
            </a:extLst>
          </p:cNvPr>
          <p:cNvSpPr>
            <a:spLocks noGrp="1"/>
          </p:cNvSpPr>
          <p:nvPr>
            <p:ph type="sldNum" sz="quarter" idx="12"/>
          </p:nvPr>
        </p:nvSpPr>
        <p:spPr/>
        <p:txBody>
          <a:bodyPr/>
          <a:lstStyle/>
          <a:p>
            <a:fld id="{0E09482D-DF10-4C80-BB3E-80A640B00394}" type="slidenum">
              <a:rPr lang="es-AR" smtClean="0"/>
              <a:t>‹Nº›</a:t>
            </a:fld>
            <a:endParaRPr lang="es-AR"/>
          </a:p>
        </p:txBody>
      </p:sp>
    </p:spTree>
    <p:extLst>
      <p:ext uri="{BB962C8B-B14F-4D97-AF65-F5344CB8AC3E}">
        <p14:creationId xmlns:p14="http://schemas.microsoft.com/office/powerpoint/2010/main" val="394976446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ción">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B1CBC95A-9433-3981-B69F-79547655CA72}"/>
              </a:ext>
            </a:extLst>
          </p:cNvPr>
          <p:cNvSpPr>
            <a:spLocks noGrp="1"/>
          </p:cNvSpPr>
          <p:nvPr>
            <p:ph type="title"/>
          </p:nvPr>
        </p:nvSpPr>
        <p:spPr>
          <a:xfrm>
            <a:off x="839788" y="365125"/>
            <a:ext cx="10515600" cy="1325563"/>
          </a:xfrm>
        </p:spPr>
        <p:txBody>
          <a:bodyPr/>
          <a:lstStyle/>
          <a:p>
            <a:r>
              <a:rPr lang="es-ES"/>
              <a:t>Haga clic para modificar el estilo de título del patrón</a:t>
            </a:r>
            <a:endParaRPr lang="es-AR"/>
          </a:p>
        </p:txBody>
      </p:sp>
      <p:sp>
        <p:nvSpPr>
          <p:cNvPr id="3" name="Marcador de texto 2">
            <a:extLst>
              <a:ext uri="{FF2B5EF4-FFF2-40B4-BE49-F238E27FC236}">
                <a16:creationId xmlns:a16="http://schemas.microsoft.com/office/drawing/2014/main" id="{01AEC650-EDE2-8972-05C3-0A46939A0E32}"/>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s-ES"/>
              <a:t>Haga clic para modificar los estilos de texto del patrón</a:t>
            </a:r>
          </a:p>
        </p:txBody>
      </p:sp>
      <p:sp>
        <p:nvSpPr>
          <p:cNvPr id="4" name="Marcador de contenido 3">
            <a:extLst>
              <a:ext uri="{FF2B5EF4-FFF2-40B4-BE49-F238E27FC236}">
                <a16:creationId xmlns:a16="http://schemas.microsoft.com/office/drawing/2014/main" id="{575E8982-E4A7-6F67-4F97-F658549BC387}"/>
              </a:ext>
            </a:extLst>
          </p:cNvPr>
          <p:cNvSpPr>
            <a:spLocks noGrp="1"/>
          </p:cNvSpPr>
          <p:nvPr>
            <p:ph sz="half" idx="2"/>
          </p:nvPr>
        </p:nvSpPr>
        <p:spPr>
          <a:xfrm>
            <a:off x="839788" y="2505075"/>
            <a:ext cx="5157787" cy="3684588"/>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AR"/>
          </a:p>
        </p:txBody>
      </p:sp>
      <p:sp>
        <p:nvSpPr>
          <p:cNvPr id="5" name="Marcador de texto 4">
            <a:extLst>
              <a:ext uri="{FF2B5EF4-FFF2-40B4-BE49-F238E27FC236}">
                <a16:creationId xmlns:a16="http://schemas.microsoft.com/office/drawing/2014/main" id="{CC81A947-FF73-5310-2C6F-6A73EAD891A8}"/>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s-ES"/>
              <a:t>Haga clic para modificar los estilos de texto del patrón</a:t>
            </a:r>
          </a:p>
        </p:txBody>
      </p:sp>
      <p:sp>
        <p:nvSpPr>
          <p:cNvPr id="6" name="Marcador de contenido 5">
            <a:extLst>
              <a:ext uri="{FF2B5EF4-FFF2-40B4-BE49-F238E27FC236}">
                <a16:creationId xmlns:a16="http://schemas.microsoft.com/office/drawing/2014/main" id="{75AC5D0E-40FC-7D2D-E95B-6BCF02DBE00D}"/>
              </a:ext>
            </a:extLst>
          </p:cNvPr>
          <p:cNvSpPr>
            <a:spLocks noGrp="1"/>
          </p:cNvSpPr>
          <p:nvPr>
            <p:ph sz="quarter" idx="4"/>
          </p:nvPr>
        </p:nvSpPr>
        <p:spPr>
          <a:xfrm>
            <a:off x="6172200" y="2505075"/>
            <a:ext cx="5183188" cy="3684588"/>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AR"/>
          </a:p>
        </p:txBody>
      </p:sp>
      <p:sp>
        <p:nvSpPr>
          <p:cNvPr id="7" name="Marcador de fecha 6">
            <a:extLst>
              <a:ext uri="{FF2B5EF4-FFF2-40B4-BE49-F238E27FC236}">
                <a16:creationId xmlns:a16="http://schemas.microsoft.com/office/drawing/2014/main" id="{DFC438E0-9ED4-8652-2477-F8F719B35051}"/>
              </a:ext>
            </a:extLst>
          </p:cNvPr>
          <p:cNvSpPr>
            <a:spLocks noGrp="1"/>
          </p:cNvSpPr>
          <p:nvPr>
            <p:ph type="dt" sz="half" idx="10"/>
          </p:nvPr>
        </p:nvSpPr>
        <p:spPr/>
        <p:txBody>
          <a:bodyPr/>
          <a:lstStyle/>
          <a:p>
            <a:fld id="{63D193A1-2DAB-45D5-92F1-EB622BEC63D8}" type="datetimeFigureOut">
              <a:rPr lang="es-AR" smtClean="0"/>
              <a:t>11/2/2026</a:t>
            </a:fld>
            <a:endParaRPr lang="es-AR"/>
          </a:p>
        </p:txBody>
      </p:sp>
      <p:sp>
        <p:nvSpPr>
          <p:cNvPr id="8" name="Marcador de pie de página 7">
            <a:extLst>
              <a:ext uri="{FF2B5EF4-FFF2-40B4-BE49-F238E27FC236}">
                <a16:creationId xmlns:a16="http://schemas.microsoft.com/office/drawing/2014/main" id="{B35B0B31-E7E8-3075-7C00-BDD4DE30593E}"/>
              </a:ext>
            </a:extLst>
          </p:cNvPr>
          <p:cNvSpPr>
            <a:spLocks noGrp="1"/>
          </p:cNvSpPr>
          <p:nvPr>
            <p:ph type="ftr" sz="quarter" idx="11"/>
          </p:nvPr>
        </p:nvSpPr>
        <p:spPr/>
        <p:txBody>
          <a:bodyPr/>
          <a:lstStyle/>
          <a:p>
            <a:endParaRPr lang="es-AR"/>
          </a:p>
        </p:txBody>
      </p:sp>
      <p:sp>
        <p:nvSpPr>
          <p:cNvPr id="9" name="Marcador de número de diapositiva 8">
            <a:extLst>
              <a:ext uri="{FF2B5EF4-FFF2-40B4-BE49-F238E27FC236}">
                <a16:creationId xmlns:a16="http://schemas.microsoft.com/office/drawing/2014/main" id="{AEA52677-0835-64C6-58BA-BB61D6C94A1D}"/>
              </a:ext>
            </a:extLst>
          </p:cNvPr>
          <p:cNvSpPr>
            <a:spLocks noGrp="1"/>
          </p:cNvSpPr>
          <p:nvPr>
            <p:ph type="sldNum" sz="quarter" idx="12"/>
          </p:nvPr>
        </p:nvSpPr>
        <p:spPr/>
        <p:txBody>
          <a:bodyPr/>
          <a:lstStyle/>
          <a:p>
            <a:fld id="{0E09482D-DF10-4C80-BB3E-80A640B00394}" type="slidenum">
              <a:rPr lang="es-AR" smtClean="0"/>
              <a:t>‹Nº›</a:t>
            </a:fld>
            <a:endParaRPr lang="es-AR"/>
          </a:p>
        </p:txBody>
      </p:sp>
    </p:spTree>
    <p:extLst>
      <p:ext uri="{BB962C8B-B14F-4D97-AF65-F5344CB8AC3E}">
        <p14:creationId xmlns:p14="http://schemas.microsoft.com/office/powerpoint/2010/main" val="280685349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Solo el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C55E3F0-1C54-F246-DB6F-07C9027C5E2F}"/>
              </a:ext>
            </a:extLst>
          </p:cNvPr>
          <p:cNvSpPr>
            <a:spLocks noGrp="1"/>
          </p:cNvSpPr>
          <p:nvPr>
            <p:ph type="title"/>
          </p:nvPr>
        </p:nvSpPr>
        <p:spPr/>
        <p:txBody>
          <a:bodyPr/>
          <a:lstStyle/>
          <a:p>
            <a:r>
              <a:rPr lang="es-ES"/>
              <a:t>Haga clic para modificar el estilo de título del patrón</a:t>
            </a:r>
            <a:endParaRPr lang="es-AR"/>
          </a:p>
        </p:txBody>
      </p:sp>
      <p:sp>
        <p:nvSpPr>
          <p:cNvPr id="3" name="Marcador de fecha 2">
            <a:extLst>
              <a:ext uri="{FF2B5EF4-FFF2-40B4-BE49-F238E27FC236}">
                <a16:creationId xmlns:a16="http://schemas.microsoft.com/office/drawing/2014/main" id="{C5A28F39-7511-9ACB-0EE8-4B8849E3C362}"/>
              </a:ext>
            </a:extLst>
          </p:cNvPr>
          <p:cNvSpPr>
            <a:spLocks noGrp="1"/>
          </p:cNvSpPr>
          <p:nvPr>
            <p:ph type="dt" sz="half" idx="10"/>
          </p:nvPr>
        </p:nvSpPr>
        <p:spPr/>
        <p:txBody>
          <a:bodyPr/>
          <a:lstStyle/>
          <a:p>
            <a:fld id="{63D193A1-2DAB-45D5-92F1-EB622BEC63D8}" type="datetimeFigureOut">
              <a:rPr lang="es-AR" smtClean="0"/>
              <a:t>11/2/2026</a:t>
            </a:fld>
            <a:endParaRPr lang="es-AR"/>
          </a:p>
        </p:txBody>
      </p:sp>
      <p:sp>
        <p:nvSpPr>
          <p:cNvPr id="4" name="Marcador de pie de página 3">
            <a:extLst>
              <a:ext uri="{FF2B5EF4-FFF2-40B4-BE49-F238E27FC236}">
                <a16:creationId xmlns:a16="http://schemas.microsoft.com/office/drawing/2014/main" id="{D105F9BF-5C23-B0A9-ABB6-2A4FB4CF8153}"/>
              </a:ext>
            </a:extLst>
          </p:cNvPr>
          <p:cNvSpPr>
            <a:spLocks noGrp="1"/>
          </p:cNvSpPr>
          <p:nvPr>
            <p:ph type="ftr" sz="quarter" idx="11"/>
          </p:nvPr>
        </p:nvSpPr>
        <p:spPr/>
        <p:txBody>
          <a:bodyPr/>
          <a:lstStyle/>
          <a:p>
            <a:endParaRPr lang="es-AR"/>
          </a:p>
        </p:txBody>
      </p:sp>
      <p:sp>
        <p:nvSpPr>
          <p:cNvPr id="5" name="Marcador de número de diapositiva 4">
            <a:extLst>
              <a:ext uri="{FF2B5EF4-FFF2-40B4-BE49-F238E27FC236}">
                <a16:creationId xmlns:a16="http://schemas.microsoft.com/office/drawing/2014/main" id="{181FF16C-98E0-6F36-2201-275FC1F72D70}"/>
              </a:ext>
            </a:extLst>
          </p:cNvPr>
          <p:cNvSpPr>
            <a:spLocks noGrp="1"/>
          </p:cNvSpPr>
          <p:nvPr>
            <p:ph type="sldNum" sz="quarter" idx="12"/>
          </p:nvPr>
        </p:nvSpPr>
        <p:spPr/>
        <p:txBody>
          <a:bodyPr/>
          <a:lstStyle/>
          <a:p>
            <a:fld id="{0E09482D-DF10-4C80-BB3E-80A640B00394}" type="slidenum">
              <a:rPr lang="es-AR" smtClean="0"/>
              <a:t>‹Nº›</a:t>
            </a:fld>
            <a:endParaRPr lang="es-AR"/>
          </a:p>
        </p:txBody>
      </p:sp>
    </p:spTree>
    <p:extLst>
      <p:ext uri="{BB962C8B-B14F-4D97-AF65-F5344CB8AC3E}">
        <p14:creationId xmlns:p14="http://schemas.microsoft.com/office/powerpoint/2010/main" val="68239866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En blanco">
    <p:spTree>
      <p:nvGrpSpPr>
        <p:cNvPr id="1" name=""/>
        <p:cNvGrpSpPr/>
        <p:nvPr/>
      </p:nvGrpSpPr>
      <p:grpSpPr>
        <a:xfrm>
          <a:off x="0" y="0"/>
          <a:ext cx="0" cy="0"/>
          <a:chOff x="0" y="0"/>
          <a:chExt cx="0" cy="0"/>
        </a:xfrm>
      </p:grpSpPr>
      <p:sp>
        <p:nvSpPr>
          <p:cNvPr id="2" name="Marcador de fecha 1">
            <a:extLst>
              <a:ext uri="{FF2B5EF4-FFF2-40B4-BE49-F238E27FC236}">
                <a16:creationId xmlns:a16="http://schemas.microsoft.com/office/drawing/2014/main" id="{320A0640-F59C-29BC-B63F-6BB2BFF2D880}"/>
              </a:ext>
            </a:extLst>
          </p:cNvPr>
          <p:cNvSpPr>
            <a:spLocks noGrp="1"/>
          </p:cNvSpPr>
          <p:nvPr>
            <p:ph type="dt" sz="half" idx="10"/>
          </p:nvPr>
        </p:nvSpPr>
        <p:spPr/>
        <p:txBody>
          <a:bodyPr/>
          <a:lstStyle/>
          <a:p>
            <a:fld id="{63D193A1-2DAB-45D5-92F1-EB622BEC63D8}" type="datetimeFigureOut">
              <a:rPr lang="es-AR" smtClean="0"/>
              <a:t>11/2/2026</a:t>
            </a:fld>
            <a:endParaRPr lang="es-AR"/>
          </a:p>
        </p:txBody>
      </p:sp>
      <p:sp>
        <p:nvSpPr>
          <p:cNvPr id="3" name="Marcador de pie de página 2">
            <a:extLst>
              <a:ext uri="{FF2B5EF4-FFF2-40B4-BE49-F238E27FC236}">
                <a16:creationId xmlns:a16="http://schemas.microsoft.com/office/drawing/2014/main" id="{C918BECD-D145-5850-ACE3-B8103448CF87}"/>
              </a:ext>
            </a:extLst>
          </p:cNvPr>
          <p:cNvSpPr>
            <a:spLocks noGrp="1"/>
          </p:cNvSpPr>
          <p:nvPr>
            <p:ph type="ftr" sz="quarter" idx="11"/>
          </p:nvPr>
        </p:nvSpPr>
        <p:spPr/>
        <p:txBody>
          <a:bodyPr/>
          <a:lstStyle/>
          <a:p>
            <a:endParaRPr lang="es-AR"/>
          </a:p>
        </p:txBody>
      </p:sp>
      <p:sp>
        <p:nvSpPr>
          <p:cNvPr id="4" name="Marcador de número de diapositiva 3">
            <a:extLst>
              <a:ext uri="{FF2B5EF4-FFF2-40B4-BE49-F238E27FC236}">
                <a16:creationId xmlns:a16="http://schemas.microsoft.com/office/drawing/2014/main" id="{8D26A912-7B88-1E0B-E8A0-2AF5B46E6718}"/>
              </a:ext>
            </a:extLst>
          </p:cNvPr>
          <p:cNvSpPr>
            <a:spLocks noGrp="1"/>
          </p:cNvSpPr>
          <p:nvPr>
            <p:ph type="sldNum" sz="quarter" idx="12"/>
          </p:nvPr>
        </p:nvSpPr>
        <p:spPr/>
        <p:txBody>
          <a:bodyPr/>
          <a:lstStyle/>
          <a:p>
            <a:fld id="{0E09482D-DF10-4C80-BB3E-80A640B00394}" type="slidenum">
              <a:rPr lang="es-AR" smtClean="0"/>
              <a:t>‹Nº›</a:t>
            </a:fld>
            <a:endParaRPr lang="es-AR"/>
          </a:p>
        </p:txBody>
      </p:sp>
    </p:spTree>
    <p:extLst>
      <p:ext uri="{BB962C8B-B14F-4D97-AF65-F5344CB8AC3E}">
        <p14:creationId xmlns:p14="http://schemas.microsoft.com/office/powerpoint/2010/main" val="161864663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ido con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B0B4A485-76C4-C202-27D6-EE144FF9C07B}"/>
              </a:ext>
            </a:extLst>
          </p:cNvPr>
          <p:cNvSpPr>
            <a:spLocks noGrp="1"/>
          </p:cNvSpPr>
          <p:nvPr>
            <p:ph type="title"/>
          </p:nvPr>
        </p:nvSpPr>
        <p:spPr>
          <a:xfrm>
            <a:off x="839788" y="457200"/>
            <a:ext cx="3932237" cy="1600200"/>
          </a:xfrm>
        </p:spPr>
        <p:txBody>
          <a:bodyPr anchor="b"/>
          <a:lstStyle>
            <a:lvl1pPr>
              <a:defRPr sz="3200"/>
            </a:lvl1pPr>
          </a:lstStyle>
          <a:p>
            <a:r>
              <a:rPr lang="es-ES"/>
              <a:t>Haga clic para modificar el estilo de título del patrón</a:t>
            </a:r>
            <a:endParaRPr lang="es-AR"/>
          </a:p>
        </p:txBody>
      </p:sp>
      <p:sp>
        <p:nvSpPr>
          <p:cNvPr id="3" name="Marcador de contenido 2">
            <a:extLst>
              <a:ext uri="{FF2B5EF4-FFF2-40B4-BE49-F238E27FC236}">
                <a16:creationId xmlns:a16="http://schemas.microsoft.com/office/drawing/2014/main" id="{4B2FE9EC-B7C3-1090-9D00-B8D4863F56F7}"/>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AR"/>
          </a:p>
        </p:txBody>
      </p:sp>
      <p:sp>
        <p:nvSpPr>
          <p:cNvPr id="4" name="Marcador de texto 3">
            <a:extLst>
              <a:ext uri="{FF2B5EF4-FFF2-40B4-BE49-F238E27FC236}">
                <a16:creationId xmlns:a16="http://schemas.microsoft.com/office/drawing/2014/main" id="{E72D177A-4ECA-5CAB-7F5A-57B0FDA89567}"/>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s-ES"/>
              <a:t>Haga clic para modificar los estilos de texto del patrón</a:t>
            </a:r>
          </a:p>
        </p:txBody>
      </p:sp>
      <p:sp>
        <p:nvSpPr>
          <p:cNvPr id="5" name="Marcador de fecha 4">
            <a:extLst>
              <a:ext uri="{FF2B5EF4-FFF2-40B4-BE49-F238E27FC236}">
                <a16:creationId xmlns:a16="http://schemas.microsoft.com/office/drawing/2014/main" id="{94DF096D-EE15-5BB1-D17E-8B9D0BE2E673}"/>
              </a:ext>
            </a:extLst>
          </p:cNvPr>
          <p:cNvSpPr>
            <a:spLocks noGrp="1"/>
          </p:cNvSpPr>
          <p:nvPr>
            <p:ph type="dt" sz="half" idx="10"/>
          </p:nvPr>
        </p:nvSpPr>
        <p:spPr/>
        <p:txBody>
          <a:bodyPr/>
          <a:lstStyle/>
          <a:p>
            <a:fld id="{63D193A1-2DAB-45D5-92F1-EB622BEC63D8}" type="datetimeFigureOut">
              <a:rPr lang="es-AR" smtClean="0"/>
              <a:t>11/2/2026</a:t>
            </a:fld>
            <a:endParaRPr lang="es-AR"/>
          </a:p>
        </p:txBody>
      </p:sp>
      <p:sp>
        <p:nvSpPr>
          <p:cNvPr id="6" name="Marcador de pie de página 5">
            <a:extLst>
              <a:ext uri="{FF2B5EF4-FFF2-40B4-BE49-F238E27FC236}">
                <a16:creationId xmlns:a16="http://schemas.microsoft.com/office/drawing/2014/main" id="{FE0C004B-AC11-B1D3-912D-E0D47B89B7D9}"/>
              </a:ext>
            </a:extLst>
          </p:cNvPr>
          <p:cNvSpPr>
            <a:spLocks noGrp="1"/>
          </p:cNvSpPr>
          <p:nvPr>
            <p:ph type="ftr" sz="quarter" idx="11"/>
          </p:nvPr>
        </p:nvSpPr>
        <p:spPr/>
        <p:txBody>
          <a:bodyPr/>
          <a:lstStyle/>
          <a:p>
            <a:endParaRPr lang="es-AR"/>
          </a:p>
        </p:txBody>
      </p:sp>
      <p:sp>
        <p:nvSpPr>
          <p:cNvPr id="7" name="Marcador de número de diapositiva 6">
            <a:extLst>
              <a:ext uri="{FF2B5EF4-FFF2-40B4-BE49-F238E27FC236}">
                <a16:creationId xmlns:a16="http://schemas.microsoft.com/office/drawing/2014/main" id="{5895C9C3-0DC2-B230-2B35-49E39325A60A}"/>
              </a:ext>
            </a:extLst>
          </p:cNvPr>
          <p:cNvSpPr>
            <a:spLocks noGrp="1"/>
          </p:cNvSpPr>
          <p:nvPr>
            <p:ph type="sldNum" sz="quarter" idx="12"/>
          </p:nvPr>
        </p:nvSpPr>
        <p:spPr/>
        <p:txBody>
          <a:bodyPr/>
          <a:lstStyle/>
          <a:p>
            <a:fld id="{0E09482D-DF10-4C80-BB3E-80A640B00394}" type="slidenum">
              <a:rPr lang="es-AR" smtClean="0"/>
              <a:t>‹Nº›</a:t>
            </a:fld>
            <a:endParaRPr lang="es-AR"/>
          </a:p>
        </p:txBody>
      </p:sp>
    </p:spTree>
    <p:extLst>
      <p:ext uri="{BB962C8B-B14F-4D97-AF65-F5344CB8AC3E}">
        <p14:creationId xmlns:p14="http://schemas.microsoft.com/office/powerpoint/2010/main" val="261687036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n con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3DA695AF-F504-460B-4B61-BDFA4BF9F0D8}"/>
              </a:ext>
            </a:extLst>
          </p:cNvPr>
          <p:cNvSpPr>
            <a:spLocks noGrp="1"/>
          </p:cNvSpPr>
          <p:nvPr>
            <p:ph type="title"/>
          </p:nvPr>
        </p:nvSpPr>
        <p:spPr>
          <a:xfrm>
            <a:off x="839788" y="457200"/>
            <a:ext cx="3932237" cy="1600200"/>
          </a:xfrm>
        </p:spPr>
        <p:txBody>
          <a:bodyPr anchor="b"/>
          <a:lstStyle>
            <a:lvl1pPr>
              <a:defRPr sz="3200"/>
            </a:lvl1pPr>
          </a:lstStyle>
          <a:p>
            <a:r>
              <a:rPr lang="es-ES"/>
              <a:t>Haga clic para modificar el estilo de título del patrón</a:t>
            </a:r>
            <a:endParaRPr lang="es-AR"/>
          </a:p>
        </p:txBody>
      </p:sp>
      <p:sp>
        <p:nvSpPr>
          <p:cNvPr id="3" name="Marcador de posición de imagen 2">
            <a:extLst>
              <a:ext uri="{FF2B5EF4-FFF2-40B4-BE49-F238E27FC236}">
                <a16:creationId xmlns:a16="http://schemas.microsoft.com/office/drawing/2014/main" id="{27086E57-C466-B934-6476-7B1FE9D5CBD2}"/>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s-AR"/>
          </a:p>
        </p:txBody>
      </p:sp>
      <p:sp>
        <p:nvSpPr>
          <p:cNvPr id="4" name="Marcador de texto 3">
            <a:extLst>
              <a:ext uri="{FF2B5EF4-FFF2-40B4-BE49-F238E27FC236}">
                <a16:creationId xmlns:a16="http://schemas.microsoft.com/office/drawing/2014/main" id="{1E6C6A2A-387A-87AA-6EFD-B17D040DB92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s-ES"/>
              <a:t>Haga clic para modificar los estilos de texto del patrón</a:t>
            </a:r>
          </a:p>
        </p:txBody>
      </p:sp>
      <p:sp>
        <p:nvSpPr>
          <p:cNvPr id="5" name="Marcador de fecha 4">
            <a:extLst>
              <a:ext uri="{FF2B5EF4-FFF2-40B4-BE49-F238E27FC236}">
                <a16:creationId xmlns:a16="http://schemas.microsoft.com/office/drawing/2014/main" id="{19D776AF-1267-CF99-3783-6675FF1C16A0}"/>
              </a:ext>
            </a:extLst>
          </p:cNvPr>
          <p:cNvSpPr>
            <a:spLocks noGrp="1"/>
          </p:cNvSpPr>
          <p:nvPr>
            <p:ph type="dt" sz="half" idx="10"/>
          </p:nvPr>
        </p:nvSpPr>
        <p:spPr/>
        <p:txBody>
          <a:bodyPr/>
          <a:lstStyle/>
          <a:p>
            <a:fld id="{63D193A1-2DAB-45D5-92F1-EB622BEC63D8}" type="datetimeFigureOut">
              <a:rPr lang="es-AR" smtClean="0"/>
              <a:t>11/2/2026</a:t>
            </a:fld>
            <a:endParaRPr lang="es-AR"/>
          </a:p>
        </p:txBody>
      </p:sp>
      <p:sp>
        <p:nvSpPr>
          <p:cNvPr id="6" name="Marcador de pie de página 5">
            <a:extLst>
              <a:ext uri="{FF2B5EF4-FFF2-40B4-BE49-F238E27FC236}">
                <a16:creationId xmlns:a16="http://schemas.microsoft.com/office/drawing/2014/main" id="{6B1CAD16-FA69-FC4F-E5C2-F76362DB99CA}"/>
              </a:ext>
            </a:extLst>
          </p:cNvPr>
          <p:cNvSpPr>
            <a:spLocks noGrp="1"/>
          </p:cNvSpPr>
          <p:nvPr>
            <p:ph type="ftr" sz="quarter" idx="11"/>
          </p:nvPr>
        </p:nvSpPr>
        <p:spPr/>
        <p:txBody>
          <a:bodyPr/>
          <a:lstStyle/>
          <a:p>
            <a:endParaRPr lang="es-AR"/>
          </a:p>
        </p:txBody>
      </p:sp>
      <p:sp>
        <p:nvSpPr>
          <p:cNvPr id="7" name="Marcador de número de diapositiva 6">
            <a:extLst>
              <a:ext uri="{FF2B5EF4-FFF2-40B4-BE49-F238E27FC236}">
                <a16:creationId xmlns:a16="http://schemas.microsoft.com/office/drawing/2014/main" id="{45C5B05F-3A4B-FA60-9F47-775F9C58447A}"/>
              </a:ext>
            </a:extLst>
          </p:cNvPr>
          <p:cNvSpPr>
            <a:spLocks noGrp="1"/>
          </p:cNvSpPr>
          <p:nvPr>
            <p:ph type="sldNum" sz="quarter" idx="12"/>
          </p:nvPr>
        </p:nvSpPr>
        <p:spPr/>
        <p:txBody>
          <a:bodyPr/>
          <a:lstStyle/>
          <a:p>
            <a:fld id="{0E09482D-DF10-4C80-BB3E-80A640B00394}" type="slidenum">
              <a:rPr lang="es-AR" smtClean="0"/>
              <a:t>‹Nº›</a:t>
            </a:fld>
            <a:endParaRPr lang="es-AR"/>
          </a:p>
        </p:txBody>
      </p:sp>
    </p:spTree>
    <p:extLst>
      <p:ext uri="{BB962C8B-B14F-4D97-AF65-F5344CB8AC3E}">
        <p14:creationId xmlns:p14="http://schemas.microsoft.com/office/powerpoint/2010/main" val="164526622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ítulo y texto vertical">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03697E9C-F87A-6E6A-F846-34373B8FE612}"/>
              </a:ext>
            </a:extLst>
          </p:cNvPr>
          <p:cNvSpPr>
            <a:spLocks noGrp="1"/>
          </p:cNvSpPr>
          <p:nvPr>
            <p:ph type="title"/>
          </p:nvPr>
        </p:nvSpPr>
        <p:spPr/>
        <p:txBody>
          <a:bodyPr/>
          <a:lstStyle/>
          <a:p>
            <a:r>
              <a:rPr lang="es-ES"/>
              <a:t>Haga clic para modificar el estilo de título del patrón</a:t>
            </a:r>
            <a:endParaRPr lang="es-AR"/>
          </a:p>
        </p:txBody>
      </p:sp>
      <p:sp>
        <p:nvSpPr>
          <p:cNvPr id="3" name="Marcador de texto vertical 2">
            <a:extLst>
              <a:ext uri="{FF2B5EF4-FFF2-40B4-BE49-F238E27FC236}">
                <a16:creationId xmlns:a16="http://schemas.microsoft.com/office/drawing/2014/main" id="{886A8BF5-3CC3-3DBB-6226-1BF42E89F855}"/>
              </a:ext>
            </a:extLst>
          </p:cNvPr>
          <p:cNvSpPr>
            <a:spLocks noGrp="1"/>
          </p:cNvSpPr>
          <p:nvPr>
            <p:ph type="body" orient="vert" idx="1"/>
          </p:nvPr>
        </p:nvSpPr>
        <p:spPr/>
        <p:txBody>
          <a:bodyPr vert="eaVert"/>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AR"/>
          </a:p>
        </p:txBody>
      </p:sp>
      <p:sp>
        <p:nvSpPr>
          <p:cNvPr id="4" name="Marcador de fecha 3">
            <a:extLst>
              <a:ext uri="{FF2B5EF4-FFF2-40B4-BE49-F238E27FC236}">
                <a16:creationId xmlns:a16="http://schemas.microsoft.com/office/drawing/2014/main" id="{33F5BDFD-205D-6DB6-140A-308AC3A19F93}"/>
              </a:ext>
            </a:extLst>
          </p:cNvPr>
          <p:cNvSpPr>
            <a:spLocks noGrp="1"/>
          </p:cNvSpPr>
          <p:nvPr>
            <p:ph type="dt" sz="half" idx="10"/>
          </p:nvPr>
        </p:nvSpPr>
        <p:spPr/>
        <p:txBody>
          <a:bodyPr/>
          <a:lstStyle/>
          <a:p>
            <a:fld id="{63D193A1-2DAB-45D5-92F1-EB622BEC63D8}" type="datetimeFigureOut">
              <a:rPr lang="es-AR" smtClean="0"/>
              <a:t>11/2/2026</a:t>
            </a:fld>
            <a:endParaRPr lang="es-AR"/>
          </a:p>
        </p:txBody>
      </p:sp>
      <p:sp>
        <p:nvSpPr>
          <p:cNvPr id="5" name="Marcador de pie de página 4">
            <a:extLst>
              <a:ext uri="{FF2B5EF4-FFF2-40B4-BE49-F238E27FC236}">
                <a16:creationId xmlns:a16="http://schemas.microsoft.com/office/drawing/2014/main" id="{A423969C-A7AA-9F6C-C3B8-02D068C19599}"/>
              </a:ext>
            </a:extLst>
          </p:cNvPr>
          <p:cNvSpPr>
            <a:spLocks noGrp="1"/>
          </p:cNvSpPr>
          <p:nvPr>
            <p:ph type="ftr" sz="quarter" idx="11"/>
          </p:nvPr>
        </p:nvSpPr>
        <p:spPr/>
        <p:txBody>
          <a:bodyPr/>
          <a:lstStyle/>
          <a:p>
            <a:endParaRPr lang="es-AR"/>
          </a:p>
        </p:txBody>
      </p:sp>
      <p:sp>
        <p:nvSpPr>
          <p:cNvPr id="6" name="Marcador de número de diapositiva 5">
            <a:extLst>
              <a:ext uri="{FF2B5EF4-FFF2-40B4-BE49-F238E27FC236}">
                <a16:creationId xmlns:a16="http://schemas.microsoft.com/office/drawing/2014/main" id="{4DEAD8EC-BE6B-51E8-C661-2E0B1EFE7BE5}"/>
              </a:ext>
            </a:extLst>
          </p:cNvPr>
          <p:cNvSpPr>
            <a:spLocks noGrp="1"/>
          </p:cNvSpPr>
          <p:nvPr>
            <p:ph type="sldNum" sz="quarter" idx="12"/>
          </p:nvPr>
        </p:nvSpPr>
        <p:spPr/>
        <p:txBody>
          <a:bodyPr/>
          <a:lstStyle/>
          <a:p>
            <a:fld id="{0E09482D-DF10-4C80-BB3E-80A640B00394}" type="slidenum">
              <a:rPr lang="es-AR" smtClean="0"/>
              <a:t>‹Nº›</a:t>
            </a:fld>
            <a:endParaRPr lang="es-AR"/>
          </a:p>
        </p:txBody>
      </p:sp>
    </p:spTree>
    <p:extLst>
      <p:ext uri="{BB962C8B-B14F-4D97-AF65-F5344CB8AC3E}">
        <p14:creationId xmlns:p14="http://schemas.microsoft.com/office/powerpoint/2010/main" val="269785442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ítulo vertical y texto">
    <p:spTree>
      <p:nvGrpSpPr>
        <p:cNvPr id="1" name=""/>
        <p:cNvGrpSpPr/>
        <p:nvPr/>
      </p:nvGrpSpPr>
      <p:grpSpPr>
        <a:xfrm>
          <a:off x="0" y="0"/>
          <a:ext cx="0" cy="0"/>
          <a:chOff x="0" y="0"/>
          <a:chExt cx="0" cy="0"/>
        </a:xfrm>
      </p:grpSpPr>
      <p:sp>
        <p:nvSpPr>
          <p:cNvPr id="2" name="Título vertical 1">
            <a:extLst>
              <a:ext uri="{FF2B5EF4-FFF2-40B4-BE49-F238E27FC236}">
                <a16:creationId xmlns:a16="http://schemas.microsoft.com/office/drawing/2014/main" id="{5F85937B-5805-5DF1-9EB7-C855FDB12EF6}"/>
              </a:ext>
            </a:extLst>
          </p:cNvPr>
          <p:cNvSpPr>
            <a:spLocks noGrp="1"/>
          </p:cNvSpPr>
          <p:nvPr>
            <p:ph type="title" orient="vert"/>
          </p:nvPr>
        </p:nvSpPr>
        <p:spPr>
          <a:xfrm>
            <a:off x="8724900" y="365125"/>
            <a:ext cx="2628900" cy="5811838"/>
          </a:xfrm>
        </p:spPr>
        <p:txBody>
          <a:bodyPr vert="eaVert"/>
          <a:lstStyle/>
          <a:p>
            <a:r>
              <a:rPr lang="es-ES"/>
              <a:t>Haga clic para modificar el estilo de título del patrón</a:t>
            </a:r>
            <a:endParaRPr lang="es-AR"/>
          </a:p>
        </p:txBody>
      </p:sp>
      <p:sp>
        <p:nvSpPr>
          <p:cNvPr id="3" name="Marcador de texto vertical 2">
            <a:extLst>
              <a:ext uri="{FF2B5EF4-FFF2-40B4-BE49-F238E27FC236}">
                <a16:creationId xmlns:a16="http://schemas.microsoft.com/office/drawing/2014/main" id="{E89B523C-F635-968A-AAF2-70F0163F81A6}"/>
              </a:ext>
            </a:extLst>
          </p:cNvPr>
          <p:cNvSpPr>
            <a:spLocks noGrp="1"/>
          </p:cNvSpPr>
          <p:nvPr>
            <p:ph type="body" orient="vert" idx="1"/>
          </p:nvPr>
        </p:nvSpPr>
        <p:spPr>
          <a:xfrm>
            <a:off x="838200" y="365125"/>
            <a:ext cx="7734300" cy="5811838"/>
          </a:xfrm>
        </p:spPr>
        <p:txBody>
          <a:bodyPr vert="eaVert"/>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AR"/>
          </a:p>
        </p:txBody>
      </p:sp>
      <p:sp>
        <p:nvSpPr>
          <p:cNvPr id="4" name="Marcador de fecha 3">
            <a:extLst>
              <a:ext uri="{FF2B5EF4-FFF2-40B4-BE49-F238E27FC236}">
                <a16:creationId xmlns:a16="http://schemas.microsoft.com/office/drawing/2014/main" id="{E9C530B9-26C6-30F6-6C95-972C31B0C29E}"/>
              </a:ext>
            </a:extLst>
          </p:cNvPr>
          <p:cNvSpPr>
            <a:spLocks noGrp="1"/>
          </p:cNvSpPr>
          <p:nvPr>
            <p:ph type="dt" sz="half" idx="10"/>
          </p:nvPr>
        </p:nvSpPr>
        <p:spPr/>
        <p:txBody>
          <a:bodyPr/>
          <a:lstStyle/>
          <a:p>
            <a:fld id="{63D193A1-2DAB-45D5-92F1-EB622BEC63D8}" type="datetimeFigureOut">
              <a:rPr lang="es-AR" smtClean="0"/>
              <a:t>11/2/2026</a:t>
            </a:fld>
            <a:endParaRPr lang="es-AR"/>
          </a:p>
        </p:txBody>
      </p:sp>
      <p:sp>
        <p:nvSpPr>
          <p:cNvPr id="5" name="Marcador de pie de página 4">
            <a:extLst>
              <a:ext uri="{FF2B5EF4-FFF2-40B4-BE49-F238E27FC236}">
                <a16:creationId xmlns:a16="http://schemas.microsoft.com/office/drawing/2014/main" id="{F0D2EE5B-8D08-FFD5-9A03-765AF2CCD5EB}"/>
              </a:ext>
            </a:extLst>
          </p:cNvPr>
          <p:cNvSpPr>
            <a:spLocks noGrp="1"/>
          </p:cNvSpPr>
          <p:nvPr>
            <p:ph type="ftr" sz="quarter" idx="11"/>
          </p:nvPr>
        </p:nvSpPr>
        <p:spPr/>
        <p:txBody>
          <a:bodyPr/>
          <a:lstStyle/>
          <a:p>
            <a:endParaRPr lang="es-AR"/>
          </a:p>
        </p:txBody>
      </p:sp>
      <p:sp>
        <p:nvSpPr>
          <p:cNvPr id="6" name="Marcador de número de diapositiva 5">
            <a:extLst>
              <a:ext uri="{FF2B5EF4-FFF2-40B4-BE49-F238E27FC236}">
                <a16:creationId xmlns:a16="http://schemas.microsoft.com/office/drawing/2014/main" id="{12A70773-0E2A-2AEE-D4AF-121F266C8145}"/>
              </a:ext>
            </a:extLst>
          </p:cNvPr>
          <p:cNvSpPr>
            <a:spLocks noGrp="1"/>
          </p:cNvSpPr>
          <p:nvPr>
            <p:ph type="sldNum" sz="quarter" idx="12"/>
          </p:nvPr>
        </p:nvSpPr>
        <p:spPr/>
        <p:txBody>
          <a:bodyPr/>
          <a:lstStyle/>
          <a:p>
            <a:fld id="{0E09482D-DF10-4C80-BB3E-80A640B00394}" type="slidenum">
              <a:rPr lang="es-AR" smtClean="0"/>
              <a:t>‹Nº›</a:t>
            </a:fld>
            <a:endParaRPr lang="es-AR"/>
          </a:p>
        </p:txBody>
      </p:sp>
    </p:spTree>
    <p:extLst>
      <p:ext uri="{BB962C8B-B14F-4D97-AF65-F5344CB8AC3E}">
        <p14:creationId xmlns:p14="http://schemas.microsoft.com/office/powerpoint/2010/main" val="355661347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título 1">
            <a:extLst>
              <a:ext uri="{FF2B5EF4-FFF2-40B4-BE49-F238E27FC236}">
                <a16:creationId xmlns:a16="http://schemas.microsoft.com/office/drawing/2014/main" id="{090E40EB-3E1B-C460-ED4D-C698BED216BC}"/>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s-ES"/>
              <a:t>Haga clic para modificar el estilo de título del patrón</a:t>
            </a:r>
            <a:endParaRPr lang="es-AR"/>
          </a:p>
        </p:txBody>
      </p:sp>
      <p:sp>
        <p:nvSpPr>
          <p:cNvPr id="3" name="Marcador de texto 2">
            <a:extLst>
              <a:ext uri="{FF2B5EF4-FFF2-40B4-BE49-F238E27FC236}">
                <a16:creationId xmlns:a16="http://schemas.microsoft.com/office/drawing/2014/main" id="{9F225B6E-FD87-4207-FBA2-831CE2A0A833}"/>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AR"/>
          </a:p>
        </p:txBody>
      </p:sp>
      <p:sp>
        <p:nvSpPr>
          <p:cNvPr id="4" name="Marcador de fecha 3">
            <a:extLst>
              <a:ext uri="{FF2B5EF4-FFF2-40B4-BE49-F238E27FC236}">
                <a16:creationId xmlns:a16="http://schemas.microsoft.com/office/drawing/2014/main" id="{347EC728-2169-938C-FAE1-9D0664829F35}"/>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63D193A1-2DAB-45D5-92F1-EB622BEC63D8}" type="datetimeFigureOut">
              <a:rPr lang="es-AR" smtClean="0"/>
              <a:t>11/2/2026</a:t>
            </a:fld>
            <a:endParaRPr lang="es-AR"/>
          </a:p>
        </p:txBody>
      </p:sp>
      <p:sp>
        <p:nvSpPr>
          <p:cNvPr id="5" name="Marcador de pie de página 4">
            <a:extLst>
              <a:ext uri="{FF2B5EF4-FFF2-40B4-BE49-F238E27FC236}">
                <a16:creationId xmlns:a16="http://schemas.microsoft.com/office/drawing/2014/main" id="{CC8B361D-F260-D504-D8B6-7D2903353A37}"/>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s-AR"/>
          </a:p>
        </p:txBody>
      </p:sp>
      <p:sp>
        <p:nvSpPr>
          <p:cNvPr id="6" name="Marcador de número de diapositiva 5">
            <a:extLst>
              <a:ext uri="{FF2B5EF4-FFF2-40B4-BE49-F238E27FC236}">
                <a16:creationId xmlns:a16="http://schemas.microsoft.com/office/drawing/2014/main" id="{D2CF07FC-1887-8B2D-A4F7-C605600FA3E2}"/>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0E09482D-DF10-4C80-BB3E-80A640B00394}" type="slidenum">
              <a:rPr lang="es-AR" smtClean="0"/>
              <a:t>‹Nº›</a:t>
            </a:fld>
            <a:endParaRPr lang="es-AR"/>
          </a:p>
        </p:txBody>
      </p:sp>
    </p:spTree>
    <p:extLst>
      <p:ext uri="{BB962C8B-B14F-4D97-AF65-F5344CB8AC3E}">
        <p14:creationId xmlns:p14="http://schemas.microsoft.com/office/powerpoint/2010/main" val="333831284"/>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s-A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Imagen 4" descr="Imagen que contiene Interfaz de usuario gráfica&#10;&#10;El contenido generado por IA puede ser incorrecto.">
            <a:extLst>
              <a:ext uri="{FF2B5EF4-FFF2-40B4-BE49-F238E27FC236}">
                <a16:creationId xmlns:a16="http://schemas.microsoft.com/office/drawing/2014/main" id="{ABE2BDF7-1DE0-4F48-E8D4-7F6F0358456D}"/>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9855"/>
            <a:ext cx="12192000" cy="6857143"/>
          </a:xfrm>
          <a:prstGeom prst="rect">
            <a:avLst/>
          </a:prstGeom>
        </p:spPr>
      </p:pic>
      <p:sp>
        <p:nvSpPr>
          <p:cNvPr id="2" name="CuadroTexto 1">
            <a:extLst>
              <a:ext uri="{FF2B5EF4-FFF2-40B4-BE49-F238E27FC236}">
                <a16:creationId xmlns:a16="http://schemas.microsoft.com/office/drawing/2014/main" id="{65666721-813E-350A-4E4C-D6312BE0728D}"/>
              </a:ext>
            </a:extLst>
          </p:cNvPr>
          <p:cNvSpPr txBox="1"/>
          <p:nvPr/>
        </p:nvSpPr>
        <p:spPr>
          <a:xfrm>
            <a:off x="2187019" y="3429000"/>
            <a:ext cx="8446416" cy="1754326"/>
          </a:xfrm>
          <a:prstGeom prst="rect">
            <a:avLst/>
          </a:prstGeom>
          <a:noFill/>
        </p:spPr>
        <p:txBody>
          <a:bodyPr wrap="square" rtlCol="0">
            <a:spAutoFit/>
          </a:bodyPr>
          <a:lstStyle/>
          <a:p>
            <a:pPr algn="ctr"/>
            <a:r>
              <a:rPr lang="es-MX" sz="3600" b="1" dirty="0">
                <a:solidFill>
                  <a:schemeClr val="bg1"/>
                </a:solidFill>
                <a:effectLst>
                  <a:outerShdw blurRad="38100" dist="38100" dir="2700000" algn="tl">
                    <a:srgbClr val="000000">
                      <a:alpha val="43137"/>
                    </a:srgbClr>
                  </a:outerShdw>
                </a:effectLst>
                <a:latin typeface="Lucida Bright" panose="02040602050505020304" pitchFamily="18" charset="0"/>
              </a:rPr>
              <a:t>Un nuevo tipo de cambio real multilateral para la provincia de Santa Fe</a:t>
            </a:r>
            <a:endParaRPr lang="es-AR" sz="3600" b="1" dirty="0">
              <a:solidFill>
                <a:schemeClr val="bg1"/>
              </a:solidFill>
              <a:effectLst>
                <a:outerShdw blurRad="38100" dist="38100" dir="2700000" algn="tl">
                  <a:srgbClr val="000000">
                    <a:alpha val="43137"/>
                  </a:srgbClr>
                </a:outerShdw>
              </a:effectLst>
              <a:latin typeface="Lucida Bright" panose="02040602050505020304" pitchFamily="18" charset="0"/>
            </a:endParaRPr>
          </a:p>
        </p:txBody>
      </p:sp>
    </p:spTree>
    <p:extLst>
      <p:ext uri="{BB962C8B-B14F-4D97-AF65-F5344CB8AC3E}">
        <p14:creationId xmlns:p14="http://schemas.microsoft.com/office/powerpoint/2010/main" val="324665529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97A11CC-1C1A-A205-4C6C-C90B3F542FF0}"/>
            </a:ext>
          </a:extLst>
        </p:cNvPr>
        <p:cNvGrpSpPr/>
        <p:nvPr/>
      </p:nvGrpSpPr>
      <p:grpSpPr>
        <a:xfrm>
          <a:off x="0" y="0"/>
          <a:ext cx="0" cy="0"/>
          <a:chOff x="0" y="0"/>
          <a:chExt cx="0" cy="0"/>
        </a:xfrm>
      </p:grpSpPr>
      <p:pic>
        <p:nvPicPr>
          <p:cNvPr id="4" name="Imagen 3" descr="Imagen que contiene Texto&#10;&#10;El contenido generado por IA puede ser incorrecto.">
            <a:extLst>
              <a:ext uri="{FF2B5EF4-FFF2-40B4-BE49-F238E27FC236}">
                <a16:creationId xmlns:a16="http://schemas.microsoft.com/office/drawing/2014/main" id="{C10CEDF8-C788-72B6-E9E6-EBC4268C7B97}"/>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2000" cy="6857143"/>
          </a:xfrm>
          <a:prstGeom prst="rect">
            <a:avLst/>
          </a:prstGeom>
        </p:spPr>
      </p:pic>
      <p:sp>
        <p:nvSpPr>
          <p:cNvPr id="3" name="CuadroTexto 2">
            <a:extLst>
              <a:ext uri="{FF2B5EF4-FFF2-40B4-BE49-F238E27FC236}">
                <a16:creationId xmlns:a16="http://schemas.microsoft.com/office/drawing/2014/main" id="{681CB091-B273-1C27-A1C4-4328D4ACE89D}"/>
              </a:ext>
            </a:extLst>
          </p:cNvPr>
          <p:cNvSpPr txBox="1"/>
          <p:nvPr/>
        </p:nvSpPr>
        <p:spPr>
          <a:xfrm>
            <a:off x="211341" y="3317818"/>
            <a:ext cx="6543420" cy="1892249"/>
          </a:xfrm>
          <a:prstGeom prst="rect">
            <a:avLst/>
          </a:prstGeom>
          <a:noFill/>
        </p:spPr>
        <p:txBody>
          <a:bodyPr wrap="square" rtlCol="0">
            <a:spAutoFit/>
          </a:bodyPr>
          <a:lstStyle/>
          <a:p>
            <a:pPr>
              <a:lnSpc>
                <a:spcPct val="150000"/>
              </a:lnSpc>
            </a:pPr>
            <a:r>
              <a:rPr lang="es-MX" sz="1600" b="1" dirty="0">
                <a:latin typeface="Lucida Bright" panose="02040602050505020304" pitchFamily="18" charset="0"/>
              </a:rPr>
              <a:t>Antecedentes internacionales:</a:t>
            </a:r>
          </a:p>
          <a:p>
            <a:pPr>
              <a:lnSpc>
                <a:spcPct val="150000"/>
              </a:lnSpc>
            </a:pPr>
            <a:r>
              <a:rPr lang="es-MX" sz="1600" dirty="0">
                <a:latin typeface="Lucida Bright" panose="02040602050505020304" pitchFamily="18" charset="0"/>
              </a:rPr>
              <a:t>Estados Unidos: </a:t>
            </a:r>
            <a:r>
              <a:rPr lang="es-AR" sz="1600" dirty="0">
                <a:latin typeface="Lucida Bright" panose="02040602050505020304" pitchFamily="18" charset="0"/>
              </a:rPr>
              <a:t>Clark </a:t>
            </a:r>
            <a:r>
              <a:rPr lang="es-AR" sz="1600" i="1" dirty="0">
                <a:latin typeface="Lucida Bright" panose="02040602050505020304" pitchFamily="18" charset="0"/>
              </a:rPr>
              <a:t>et al.</a:t>
            </a:r>
            <a:r>
              <a:rPr lang="es-AR" sz="1600" dirty="0">
                <a:latin typeface="Lucida Bright" panose="02040602050505020304" pitchFamily="18" charset="0"/>
              </a:rPr>
              <a:t> (1999); Harvey y Strauss, (1996); Goldberg, (2003).</a:t>
            </a:r>
          </a:p>
          <a:p>
            <a:pPr>
              <a:lnSpc>
                <a:spcPct val="150000"/>
              </a:lnSpc>
            </a:pPr>
            <a:r>
              <a:rPr lang="es-MX" sz="1600" dirty="0">
                <a:latin typeface="Lucida Bright" panose="02040602050505020304" pitchFamily="18" charset="0"/>
              </a:rPr>
              <a:t>China: </a:t>
            </a:r>
            <a:r>
              <a:rPr lang="es-AR" sz="1600" dirty="0">
                <a:latin typeface="Lucida Bright" panose="02040602050505020304" pitchFamily="18" charset="0"/>
              </a:rPr>
              <a:t>Yan </a:t>
            </a:r>
            <a:r>
              <a:rPr lang="es-AR" sz="1600" i="1" dirty="0">
                <a:latin typeface="Lucida Bright" panose="02040602050505020304" pitchFamily="18" charset="0"/>
              </a:rPr>
              <a:t>et al. </a:t>
            </a:r>
            <a:r>
              <a:rPr lang="es-AR" sz="1600" dirty="0">
                <a:latin typeface="Lucida Bright" panose="02040602050505020304" pitchFamily="18" charset="0"/>
              </a:rPr>
              <a:t>2016  </a:t>
            </a:r>
          </a:p>
          <a:p>
            <a:pPr>
              <a:lnSpc>
                <a:spcPct val="150000"/>
              </a:lnSpc>
            </a:pPr>
            <a:r>
              <a:rPr lang="es-AR" sz="1600" dirty="0">
                <a:latin typeface="Lucida Bright" panose="02040602050505020304" pitchFamily="18" charset="0"/>
              </a:rPr>
              <a:t>Rusia: </a:t>
            </a:r>
            <a:r>
              <a:rPr lang="es-AR" sz="1600" dirty="0" err="1">
                <a:latin typeface="Lucida Bright" panose="02040602050505020304" pitchFamily="18" charset="0"/>
              </a:rPr>
              <a:t>Tochkov</a:t>
            </a:r>
            <a:r>
              <a:rPr lang="es-AR" sz="1600" dirty="0">
                <a:latin typeface="Lucida Bright" panose="02040602050505020304" pitchFamily="18" charset="0"/>
              </a:rPr>
              <a:t> , 2021</a:t>
            </a:r>
          </a:p>
        </p:txBody>
      </p:sp>
      <p:sp>
        <p:nvSpPr>
          <p:cNvPr id="5" name="CuadroTexto 4">
            <a:extLst>
              <a:ext uri="{FF2B5EF4-FFF2-40B4-BE49-F238E27FC236}">
                <a16:creationId xmlns:a16="http://schemas.microsoft.com/office/drawing/2014/main" id="{09EC4BFC-A99F-7BB4-E7B0-AAFDF7E08402}"/>
              </a:ext>
            </a:extLst>
          </p:cNvPr>
          <p:cNvSpPr txBox="1"/>
          <p:nvPr/>
        </p:nvSpPr>
        <p:spPr>
          <a:xfrm>
            <a:off x="383357" y="871895"/>
            <a:ext cx="9935850" cy="2157898"/>
          </a:xfrm>
          <a:prstGeom prst="rect">
            <a:avLst/>
          </a:prstGeom>
          <a:noFill/>
        </p:spPr>
        <p:txBody>
          <a:bodyPr wrap="square" rtlCol="0">
            <a:spAutoFit/>
          </a:bodyPr>
          <a:lstStyle/>
          <a:p>
            <a:r>
              <a:rPr lang="es-MX" sz="2800" b="1" dirty="0">
                <a:latin typeface="Lucida Bright" panose="02040602050505020304" pitchFamily="18" charset="0"/>
              </a:rPr>
              <a:t>Limitaciones de un único REER nacional</a:t>
            </a:r>
          </a:p>
          <a:p>
            <a:endParaRPr lang="es-MX" sz="2800" b="1" dirty="0">
              <a:latin typeface="Lucida Bright" panose="02040602050505020304" pitchFamily="18" charset="0"/>
            </a:endParaRPr>
          </a:p>
          <a:p>
            <a:pPr>
              <a:lnSpc>
                <a:spcPct val="150000"/>
              </a:lnSpc>
            </a:pPr>
            <a:r>
              <a:rPr lang="es-MX" dirty="0">
                <a:latin typeface="Lucida Bright" panose="02040602050505020304" pitchFamily="18" charset="0"/>
              </a:rPr>
              <a:t>En economías extensas y heterogéneas, la estructura productiva varía entre regiones y los socios comerciales difieren a nivel subnacional. De modo que un único índice nacional puede ocultar dinámicas regionales relevantes</a:t>
            </a:r>
            <a:endParaRPr lang="es-AR" dirty="0"/>
          </a:p>
        </p:txBody>
      </p:sp>
      <p:sp>
        <p:nvSpPr>
          <p:cNvPr id="6" name="CuadroTexto 5">
            <a:extLst>
              <a:ext uri="{FF2B5EF4-FFF2-40B4-BE49-F238E27FC236}">
                <a16:creationId xmlns:a16="http://schemas.microsoft.com/office/drawing/2014/main" id="{9DF798A2-F070-42AA-14C3-DB8CDAE839AD}"/>
              </a:ext>
            </a:extLst>
          </p:cNvPr>
          <p:cNvSpPr txBox="1"/>
          <p:nvPr/>
        </p:nvSpPr>
        <p:spPr>
          <a:xfrm>
            <a:off x="6966102" y="3305528"/>
            <a:ext cx="5225898" cy="3096617"/>
          </a:xfrm>
          <a:prstGeom prst="rect">
            <a:avLst/>
          </a:prstGeom>
          <a:noFill/>
        </p:spPr>
        <p:txBody>
          <a:bodyPr wrap="square" rtlCol="0">
            <a:spAutoFit/>
          </a:bodyPr>
          <a:lstStyle/>
          <a:p>
            <a:pPr algn="ctr">
              <a:lnSpc>
                <a:spcPct val="150000"/>
              </a:lnSpc>
            </a:pPr>
            <a:r>
              <a:rPr lang="es-AR" sz="1600" b="1" dirty="0">
                <a:latin typeface="Lucida Bright" panose="02040602050505020304" pitchFamily="18" charset="0"/>
              </a:rPr>
              <a:t>Resultados</a:t>
            </a:r>
            <a:r>
              <a:rPr lang="es-AR" sz="1600" dirty="0">
                <a:latin typeface="Lucida Bright" panose="02040602050505020304" pitchFamily="18" charset="0"/>
              </a:rPr>
              <a:t>: </a:t>
            </a:r>
          </a:p>
          <a:p>
            <a:pPr marL="285750" indent="-285750">
              <a:lnSpc>
                <a:spcPct val="150000"/>
              </a:lnSpc>
              <a:buFont typeface="Arial" panose="020B0604020202020204" pitchFamily="34" charset="0"/>
              <a:buChar char="•"/>
            </a:pPr>
            <a:r>
              <a:rPr lang="es-MX" sz="1600" dirty="0">
                <a:latin typeface="Lucida Bright" panose="02040602050505020304" pitchFamily="18" charset="0"/>
              </a:rPr>
              <a:t>Discrepancias no triviales entre índices regionales y nacional.</a:t>
            </a:r>
          </a:p>
          <a:p>
            <a:pPr marL="285750" indent="-285750">
              <a:lnSpc>
                <a:spcPct val="150000"/>
              </a:lnSpc>
              <a:buFont typeface="Arial" panose="020B0604020202020204" pitchFamily="34" charset="0"/>
              <a:buChar char="•"/>
            </a:pPr>
            <a:r>
              <a:rPr lang="es-AR" sz="1600" dirty="0">
                <a:latin typeface="Lucida Bright" panose="02040602050505020304" pitchFamily="18" charset="0"/>
              </a:rPr>
              <a:t>Efectos compensados</a:t>
            </a:r>
          </a:p>
          <a:p>
            <a:pPr marL="285750" indent="-285750">
              <a:lnSpc>
                <a:spcPct val="150000"/>
              </a:lnSpc>
              <a:buFont typeface="Arial" panose="020B0604020202020204" pitchFamily="34" charset="0"/>
              <a:buChar char="•"/>
            </a:pPr>
            <a:r>
              <a:rPr lang="es-MX" sz="1600" dirty="0">
                <a:latin typeface="Lucida Bright" panose="02040602050505020304" pitchFamily="18" charset="0"/>
              </a:rPr>
              <a:t>REER regionales que no comparten tendencia de largo plazo con el nacional</a:t>
            </a:r>
          </a:p>
          <a:p>
            <a:pPr marL="285750" indent="-285750">
              <a:lnSpc>
                <a:spcPct val="150000"/>
              </a:lnSpc>
              <a:buFont typeface="Arial" panose="020B0604020202020204" pitchFamily="34" charset="0"/>
              <a:buChar char="•"/>
            </a:pPr>
            <a:r>
              <a:rPr lang="es-MX" sz="1600" dirty="0">
                <a:latin typeface="Lucida Bright" panose="02040602050505020304" pitchFamily="18" charset="0"/>
              </a:rPr>
              <a:t>REER nacional tiende a </a:t>
            </a:r>
            <a:r>
              <a:rPr lang="es-AR" sz="1600" dirty="0">
                <a:latin typeface="Lucida Bright" panose="02040602050505020304" pitchFamily="18" charset="0"/>
              </a:rPr>
              <a:t>subestimar o sobrestimar la competitividad regional</a:t>
            </a:r>
          </a:p>
        </p:txBody>
      </p:sp>
      <p:cxnSp>
        <p:nvCxnSpPr>
          <p:cNvPr id="8" name="Conector recto de flecha 7">
            <a:extLst>
              <a:ext uri="{FF2B5EF4-FFF2-40B4-BE49-F238E27FC236}">
                <a16:creationId xmlns:a16="http://schemas.microsoft.com/office/drawing/2014/main" id="{BA2909B8-D04A-7547-7E6D-2A18BB0B5DFE}"/>
              </a:ext>
            </a:extLst>
          </p:cNvPr>
          <p:cNvCxnSpPr/>
          <p:nvPr/>
        </p:nvCxnSpPr>
        <p:spPr>
          <a:xfrm>
            <a:off x="6169795" y="3571079"/>
            <a:ext cx="870102" cy="0"/>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spTree>
    <p:extLst>
      <p:ext uri="{BB962C8B-B14F-4D97-AF65-F5344CB8AC3E}">
        <p14:creationId xmlns:p14="http://schemas.microsoft.com/office/powerpoint/2010/main" val="152865184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9B3CF4-9D4E-1F9A-846B-B7566B6AE8F6}"/>
            </a:ext>
          </a:extLst>
        </p:cNvPr>
        <p:cNvGrpSpPr/>
        <p:nvPr/>
      </p:nvGrpSpPr>
      <p:grpSpPr>
        <a:xfrm>
          <a:off x="0" y="0"/>
          <a:ext cx="0" cy="0"/>
          <a:chOff x="0" y="0"/>
          <a:chExt cx="0" cy="0"/>
        </a:xfrm>
      </p:grpSpPr>
      <p:pic>
        <p:nvPicPr>
          <p:cNvPr id="4" name="Imagen 3" descr="Imagen que contiene Texto&#10;&#10;El contenido generado por IA puede ser incorrecto.">
            <a:extLst>
              <a:ext uri="{FF2B5EF4-FFF2-40B4-BE49-F238E27FC236}">
                <a16:creationId xmlns:a16="http://schemas.microsoft.com/office/drawing/2014/main" id="{DAEF3063-D496-6507-31B4-43B255B02B40}"/>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377" y="18854"/>
            <a:ext cx="12192000" cy="6857143"/>
          </a:xfrm>
          <a:prstGeom prst="rect">
            <a:avLst/>
          </a:prstGeom>
        </p:spPr>
      </p:pic>
      <p:sp>
        <p:nvSpPr>
          <p:cNvPr id="3" name="CuadroTexto 2">
            <a:extLst>
              <a:ext uri="{FF2B5EF4-FFF2-40B4-BE49-F238E27FC236}">
                <a16:creationId xmlns:a16="http://schemas.microsoft.com/office/drawing/2014/main" id="{BCC49EA3-F184-1E2F-DBF2-5686A9F344F4}"/>
              </a:ext>
            </a:extLst>
          </p:cNvPr>
          <p:cNvSpPr txBox="1"/>
          <p:nvPr/>
        </p:nvSpPr>
        <p:spPr>
          <a:xfrm>
            <a:off x="433633" y="1004653"/>
            <a:ext cx="11491274" cy="5441233"/>
          </a:xfrm>
          <a:prstGeom prst="rect">
            <a:avLst/>
          </a:prstGeom>
          <a:noFill/>
        </p:spPr>
        <p:txBody>
          <a:bodyPr wrap="square" rtlCol="0">
            <a:spAutoFit/>
          </a:bodyPr>
          <a:lstStyle/>
          <a:p>
            <a:pPr fontAlgn="base">
              <a:lnSpc>
                <a:spcPct val="150000"/>
              </a:lnSpc>
            </a:pPr>
            <a:r>
              <a:rPr lang="es-MX" b="1" dirty="0">
                <a:latin typeface="Lucida Bright" panose="02040602050505020304" pitchFamily="18" charset="0"/>
              </a:rPr>
              <a:t>Decisiones macro</a:t>
            </a:r>
          </a:p>
          <a:p>
            <a:pPr marL="742950" lvl="1" indent="-285750" fontAlgn="base">
              <a:lnSpc>
                <a:spcPct val="150000"/>
              </a:lnSpc>
              <a:buFont typeface="Arial" panose="020B0604020202020204" pitchFamily="34" charset="0"/>
              <a:buChar char="•"/>
            </a:pPr>
            <a:r>
              <a:rPr lang="es-MX" dirty="0">
                <a:latin typeface="Lucida Bright" panose="02040602050505020304" pitchFamily="18" charset="0"/>
              </a:rPr>
              <a:t>Tipo de índice: nominal o real.</a:t>
            </a:r>
          </a:p>
          <a:p>
            <a:pPr marL="742950" lvl="1" indent="-285750" fontAlgn="base">
              <a:lnSpc>
                <a:spcPct val="150000"/>
              </a:lnSpc>
              <a:buFont typeface="Arial" panose="020B0604020202020204" pitchFamily="34" charset="0"/>
              <a:buChar char="•"/>
            </a:pPr>
            <a:r>
              <a:rPr lang="es-MX" dirty="0">
                <a:latin typeface="Lucida Bright" panose="02040602050505020304" pitchFamily="18" charset="0"/>
              </a:rPr>
              <a:t>Elección del deflactor de precios externos (PPI, IPC u otras alternativas).</a:t>
            </a:r>
          </a:p>
          <a:p>
            <a:pPr lvl="1" fontAlgn="base">
              <a:lnSpc>
                <a:spcPct val="150000"/>
              </a:lnSpc>
            </a:pPr>
            <a:endParaRPr lang="es-MX" b="1" dirty="0">
              <a:latin typeface="Lucida Bright" panose="02040602050505020304" pitchFamily="18" charset="0"/>
            </a:endParaRPr>
          </a:p>
          <a:p>
            <a:pPr fontAlgn="base">
              <a:lnSpc>
                <a:spcPct val="150000"/>
              </a:lnSpc>
            </a:pPr>
            <a:r>
              <a:rPr lang="es-MX" b="1" dirty="0">
                <a:latin typeface="Lucida Bright" panose="02040602050505020304" pitchFamily="18" charset="0"/>
              </a:rPr>
              <a:t>Decisiones sobre la canasta de socios comerciales</a:t>
            </a:r>
          </a:p>
          <a:p>
            <a:pPr marL="742950" lvl="1" indent="-285750" fontAlgn="base">
              <a:lnSpc>
                <a:spcPct val="150000"/>
              </a:lnSpc>
              <a:buFont typeface="Arial" panose="020B0604020202020204" pitchFamily="34" charset="0"/>
              <a:buChar char="•"/>
            </a:pPr>
            <a:r>
              <a:rPr lang="es-MX" dirty="0">
                <a:latin typeface="Lucida Bright" panose="02040602050505020304" pitchFamily="18" charset="0"/>
              </a:rPr>
              <a:t>Esquema de ponderación: bilateral versus multilateral.</a:t>
            </a:r>
          </a:p>
          <a:p>
            <a:pPr marL="742950" lvl="1" indent="-285750" fontAlgn="base">
              <a:lnSpc>
                <a:spcPct val="150000"/>
              </a:lnSpc>
              <a:buFont typeface="Arial" panose="020B0604020202020204" pitchFamily="34" charset="0"/>
              <a:buChar char="•"/>
            </a:pPr>
            <a:r>
              <a:rPr lang="es-MX" dirty="0">
                <a:latin typeface="Lucida Bright" panose="02040602050505020304" pitchFamily="18" charset="0"/>
              </a:rPr>
              <a:t>Selección de ponderaciones comerciales: exportaciones, importaciones o comercio total.</a:t>
            </a:r>
          </a:p>
          <a:p>
            <a:pPr marL="742950" lvl="1" indent="-285750" fontAlgn="base">
              <a:lnSpc>
                <a:spcPct val="150000"/>
              </a:lnSpc>
              <a:buFont typeface="Arial" panose="020B0604020202020204" pitchFamily="34" charset="0"/>
              <a:buChar char="•"/>
            </a:pPr>
            <a:r>
              <a:rPr lang="es-MX" dirty="0">
                <a:latin typeface="Lucida Bright" panose="02040602050505020304" pitchFamily="18" charset="0"/>
              </a:rPr>
              <a:t>Nivel de agregación del comercio considerado: bienes o bienes y servicios.</a:t>
            </a:r>
          </a:p>
          <a:p>
            <a:pPr lvl="1" fontAlgn="base">
              <a:lnSpc>
                <a:spcPct val="150000"/>
              </a:lnSpc>
            </a:pPr>
            <a:endParaRPr lang="es-MX" b="1" dirty="0">
              <a:latin typeface="Lucida Bright" panose="02040602050505020304" pitchFamily="18" charset="0"/>
            </a:endParaRPr>
          </a:p>
          <a:p>
            <a:pPr fontAlgn="base">
              <a:lnSpc>
                <a:spcPct val="150000"/>
              </a:lnSpc>
            </a:pPr>
            <a:r>
              <a:rPr lang="es-MX" b="1" dirty="0">
                <a:latin typeface="Lucida Bright" panose="02040602050505020304" pitchFamily="18" charset="0"/>
              </a:rPr>
              <a:t>Decisiones de agregación y dinámica del índice</a:t>
            </a:r>
          </a:p>
          <a:p>
            <a:pPr marL="742950" lvl="1" indent="-285750" fontAlgn="base">
              <a:lnSpc>
                <a:spcPct val="150000"/>
              </a:lnSpc>
              <a:buFont typeface="Arial" panose="020B0604020202020204" pitchFamily="34" charset="0"/>
              <a:buChar char="•"/>
            </a:pPr>
            <a:r>
              <a:rPr lang="es-MX" dirty="0">
                <a:latin typeface="Lucida Bright" panose="02040602050505020304" pitchFamily="18" charset="0"/>
              </a:rPr>
              <a:t>Tipo de promedio utilizado para la agregación: aritmético o geométrico.</a:t>
            </a:r>
          </a:p>
          <a:p>
            <a:pPr marL="742950" lvl="1" indent="-285750" fontAlgn="base">
              <a:lnSpc>
                <a:spcPct val="150000"/>
              </a:lnSpc>
              <a:buFont typeface="Arial" panose="020B0604020202020204" pitchFamily="34" charset="0"/>
              <a:buChar char="•"/>
            </a:pPr>
            <a:r>
              <a:rPr lang="es-MX" dirty="0">
                <a:latin typeface="Lucida Bright" panose="02040602050505020304" pitchFamily="18" charset="0"/>
              </a:rPr>
              <a:t>Actualización temporal de las ponderaciones: pesos fijos o pesos móviles.</a:t>
            </a:r>
          </a:p>
          <a:p>
            <a:pPr marL="742950" lvl="1" indent="-285750" fontAlgn="base">
              <a:lnSpc>
                <a:spcPct val="150000"/>
              </a:lnSpc>
              <a:buFont typeface="Arial" panose="020B0604020202020204" pitchFamily="34" charset="0"/>
              <a:buChar char="•"/>
            </a:pPr>
            <a:r>
              <a:rPr lang="es-MX" dirty="0">
                <a:latin typeface="Lucida Bright" panose="02040602050505020304" pitchFamily="18" charset="0"/>
              </a:rPr>
              <a:t>Frecuencia temporal del índice.</a:t>
            </a:r>
            <a:endParaRPr lang="es-AR" dirty="0">
              <a:latin typeface="Lucida Bright" panose="02040602050505020304" pitchFamily="18" charset="0"/>
            </a:endParaRPr>
          </a:p>
        </p:txBody>
      </p:sp>
      <p:sp>
        <p:nvSpPr>
          <p:cNvPr id="2" name="CuadroTexto 1">
            <a:extLst>
              <a:ext uri="{FF2B5EF4-FFF2-40B4-BE49-F238E27FC236}">
                <a16:creationId xmlns:a16="http://schemas.microsoft.com/office/drawing/2014/main" id="{3CED2F11-3FAC-A8A2-D2C5-2320A976C00F}"/>
              </a:ext>
            </a:extLst>
          </p:cNvPr>
          <p:cNvSpPr txBox="1"/>
          <p:nvPr/>
        </p:nvSpPr>
        <p:spPr>
          <a:xfrm>
            <a:off x="985362" y="342157"/>
            <a:ext cx="7536338" cy="523220"/>
          </a:xfrm>
          <a:prstGeom prst="rect">
            <a:avLst/>
          </a:prstGeom>
          <a:noFill/>
        </p:spPr>
        <p:txBody>
          <a:bodyPr wrap="square" rtlCol="0">
            <a:spAutoFit/>
          </a:bodyPr>
          <a:lstStyle/>
          <a:p>
            <a:r>
              <a:rPr lang="es-MX" sz="2800" b="1" dirty="0">
                <a:latin typeface="Lucida Bright" panose="02040602050505020304" pitchFamily="18" charset="0"/>
              </a:rPr>
              <a:t>Metodología de construcción de ITCRM </a:t>
            </a:r>
            <a:endParaRPr lang="es-AR" sz="2800" b="1" dirty="0">
              <a:latin typeface="Lucida Bright" panose="02040602050505020304" pitchFamily="18" charset="0"/>
            </a:endParaRPr>
          </a:p>
        </p:txBody>
      </p:sp>
    </p:spTree>
    <p:extLst>
      <p:ext uri="{BB962C8B-B14F-4D97-AF65-F5344CB8AC3E}">
        <p14:creationId xmlns:p14="http://schemas.microsoft.com/office/powerpoint/2010/main" val="110192077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Imagen 4" descr="Imagen que contiene Texto">
            <a:extLst>
              <a:ext uri="{FF2B5EF4-FFF2-40B4-BE49-F238E27FC236}">
                <a16:creationId xmlns:a16="http://schemas.microsoft.com/office/drawing/2014/main" id="{DCA0CB9D-3D5F-33EE-C504-7D5FD83647D2}"/>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1"/>
            <a:ext cx="12192000" cy="6857143"/>
          </a:xfrm>
          <a:prstGeom prst="rect">
            <a:avLst/>
          </a:prstGeom>
        </p:spPr>
      </p:pic>
      <p:sp>
        <p:nvSpPr>
          <p:cNvPr id="2" name="Título 1">
            <a:extLst>
              <a:ext uri="{FF2B5EF4-FFF2-40B4-BE49-F238E27FC236}">
                <a16:creationId xmlns:a16="http://schemas.microsoft.com/office/drawing/2014/main" id="{0BC0A99B-AB43-6DA3-43B7-173FBB0BCB80}"/>
              </a:ext>
            </a:extLst>
          </p:cNvPr>
          <p:cNvSpPr>
            <a:spLocks noGrp="1"/>
          </p:cNvSpPr>
          <p:nvPr>
            <p:ph type="title"/>
          </p:nvPr>
        </p:nvSpPr>
        <p:spPr>
          <a:xfrm>
            <a:off x="838200" y="482664"/>
            <a:ext cx="10515600" cy="1325563"/>
          </a:xfrm>
        </p:spPr>
        <p:txBody>
          <a:bodyPr>
            <a:normAutofit/>
          </a:bodyPr>
          <a:lstStyle/>
          <a:p>
            <a:r>
              <a:rPr lang="es-MX" sz="2800" b="1" dirty="0">
                <a:latin typeface="Lucida Bright" panose="02040602050505020304" pitchFamily="18" charset="0"/>
              </a:rPr>
              <a:t>Evidencia empírica para Argentina</a:t>
            </a:r>
            <a:br>
              <a:rPr lang="es-MX" sz="2800" b="1" dirty="0">
                <a:latin typeface="Lucida Bright" panose="02040602050505020304" pitchFamily="18" charset="0"/>
              </a:rPr>
            </a:br>
            <a:endParaRPr lang="es-AR" sz="2800" dirty="0">
              <a:latin typeface="Lucida Bright" panose="02040602050505020304" pitchFamily="18" charset="0"/>
            </a:endParaRPr>
          </a:p>
        </p:txBody>
      </p:sp>
      <p:sp>
        <p:nvSpPr>
          <p:cNvPr id="3" name="Marcador de contenido 2">
            <a:extLst>
              <a:ext uri="{FF2B5EF4-FFF2-40B4-BE49-F238E27FC236}">
                <a16:creationId xmlns:a16="http://schemas.microsoft.com/office/drawing/2014/main" id="{8499D088-F31D-9A18-D1BD-6FD0681D6492}"/>
              </a:ext>
            </a:extLst>
          </p:cNvPr>
          <p:cNvSpPr>
            <a:spLocks noGrp="1"/>
          </p:cNvSpPr>
          <p:nvPr>
            <p:ph idx="1"/>
          </p:nvPr>
        </p:nvSpPr>
        <p:spPr/>
        <p:txBody>
          <a:bodyPr>
            <a:normAutofit/>
          </a:bodyPr>
          <a:lstStyle/>
          <a:p>
            <a:pPr marL="0" indent="0">
              <a:lnSpc>
                <a:spcPct val="150000"/>
              </a:lnSpc>
              <a:buNone/>
            </a:pPr>
            <a:r>
              <a:rPr lang="es-MX" sz="1800" dirty="0">
                <a:latin typeface="Lucida Bright" panose="02040602050505020304" pitchFamily="18" charset="0"/>
              </a:rPr>
              <a:t>Estudios muestran efectos regionales diferenciados del tipo de cambio:</a:t>
            </a:r>
          </a:p>
          <a:p>
            <a:pPr lvl="1">
              <a:lnSpc>
                <a:spcPct val="150000"/>
              </a:lnSpc>
            </a:pPr>
            <a:r>
              <a:rPr lang="es-MX" sz="1800" dirty="0">
                <a:latin typeface="Lucida Bright" panose="02040602050505020304" pitchFamily="18" charset="0"/>
              </a:rPr>
              <a:t>Impactos heterogéneos sobre el empleo</a:t>
            </a:r>
          </a:p>
          <a:p>
            <a:pPr lvl="1">
              <a:lnSpc>
                <a:spcPct val="150000"/>
              </a:lnSpc>
            </a:pPr>
            <a:r>
              <a:rPr lang="es-MX" sz="1800" dirty="0">
                <a:latin typeface="Lucida Bright" panose="02040602050505020304" pitchFamily="18" charset="0"/>
              </a:rPr>
              <a:t>Diferencias regionales en el </a:t>
            </a:r>
            <a:r>
              <a:rPr lang="es-MX" sz="1800" dirty="0" err="1">
                <a:latin typeface="Lucida Bright" panose="02040602050505020304" pitchFamily="18" charset="0"/>
              </a:rPr>
              <a:t>pass-through</a:t>
            </a:r>
            <a:r>
              <a:rPr lang="es-MX" sz="1800" dirty="0">
                <a:latin typeface="Lucida Bright" panose="02040602050505020304" pitchFamily="18" charset="0"/>
              </a:rPr>
              <a:t> a precios </a:t>
            </a:r>
          </a:p>
          <a:p>
            <a:pPr lvl="1">
              <a:lnSpc>
                <a:spcPct val="150000"/>
              </a:lnSpc>
            </a:pPr>
            <a:endParaRPr lang="es-MX" sz="1800" dirty="0">
              <a:latin typeface="Lucida Bright" panose="02040602050505020304" pitchFamily="18" charset="0"/>
            </a:endParaRPr>
          </a:p>
          <a:p>
            <a:pPr marL="0" indent="0">
              <a:lnSpc>
                <a:spcPct val="150000"/>
              </a:lnSpc>
              <a:buNone/>
            </a:pPr>
            <a:r>
              <a:rPr lang="es-MX" sz="1800" dirty="0">
                <a:latin typeface="Lucida Bright" panose="02040602050505020304" pitchFamily="18" charset="0"/>
              </a:rPr>
              <a:t>La literatura argentina reconoce las limitaciones del ITCRM nacional, mas no desarrolla índices provinciales alternativos (si hay casos de </a:t>
            </a:r>
            <a:r>
              <a:rPr lang="es-MX" sz="1800" dirty="0" err="1">
                <a:latin typeface="Lucida Bright" panose="02040602050505020304" pitchFamily="18" charset="0"/>
              </a:rPr>
              <a:t>ITCRMs</a:t>
            </a:r>
            <a:r>
              <a:rPr lang="es-MX" sz="1800" dirty="0">
                <a:latin typeface="Lucida Bright" panose="02040602050505020304" pitchFamily="18" charset="0"/>
              </a:rPr>
              <a:t> sectoriales)</a:t>
            </a:r>
          </a:p>
          <a:p>
            <a:pPr>
              <a:lnSpc>
                <a:spcPct val="150000"/>
              </a:lnSpc>
            </a:pPr>
            <a:endParaRPr lang="es-AR" sz="1800" dirty="0">
              <a:latin typeface="Lucida Bright" panose="02040602050505020304" pitchFamily="18" charset="0"/>
            </a:endParaRPr>
          </a:p>
        </p:txBody>
      </p:sp>
      <p:sp>
        <p:nvSpPr>
          <p:cNvPr id="6" name="CuadroTexto 5">
            <a:extLst>
              <a:ext uri="{FF2B5EF4-FFF2-40B4-BE49-F238E27FC236}">
                <a16:creationId xmlns:a16="http://schemas.microsoft.com/office/drawing/2014/main" id="{8EC9A27D-DB34-E166-7114-275FC33A6DA5}"/>
              </a:ext>
            </a:extLst>
          </p:cNvPr>
          <p:cNvSpPr txBox="1"/>
          <p:nvPr/>
        </p:nvSpPr>
        <p:spPr>
          <a:xfrm>
            <a:off x="838200" y="5114739"/>
            <a:ext cx="5712643" cy="646331"/>
          </a:xfrm>
          <a:prstGeom prst="rect">
            <a:avLst/>
          </a:prstGeom>
          <a:noFill/>
        </p:spPr>
        <p:txBody>
          <a:bodyPr wrap="square" rtlCol="0">
            <a:spAutoFit/>
          </a:bodyPr>
          <a:lstStyle/>
          <a:p>
            <a:r>
              <a:rPr lang="es-AR" dirty="0">
                <a:latin typeface="Lucida Bright" panose="02040602050505020304" pitchFamily="18" charset="0"/>
              </a:rPr>
              <a:t>(Noguera y </a:t>
            </a:r>
            <a:r>
              <a:rPr lang="es-AR" dirty="0" err="1">
                <a:latin typeface="Lucida Bright" panose="02040602050505020304" pitchFamily="18" charset="0"/>
              </a:rPr>
              <a:t>Pedrazzi</a:t>
            </a:r>
            <a:r>
              <a:rPr lang="es-AR" dirty="0">
                <a:latin typeface="Lucida Bright" panose="02040602050505020304" pitchFamily="18" charset="0"/>
              </a:rPr>
              <a:t>, 2020)</a:t>
            </a:r>
            <a:endParaRPr lang="es-MX" dirty="0">
              <a:latin typeface="Lucida Bright" panose="02040602050505020304" pitchFamily="18" charset="0"/>
            </a:endParaRPr>
          </a:p>
          <a:p>
            <a:endParaRPr lang="es-AR" dirty="0">
              <a:latin typeface="Lucida Bright" panose="02040602050505020304" pitchFamily="18" charset="0"/>
            </a:endParaRPr>
          </a:p>
        </p:txBody>
      </p:sp>
    </p:spTree>
    <p:extLst>
      <p:ext uri="{BB962C8B-B14F-4D97-AF65-F5344CB8AC3E}">
        <p14:creationId xmlns:p14="http://schemas.microsoft.com/office/powerpoint/2010/main" val="83949207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9B0882E-AA8A-0ED5-5DA3-5ABCE9786EDD}"/>
            </a:ext>
          </a:extLst>
        </p:cNvPr>
        <p:cNvGrpSpPr/>
        <p:nvPr/>
      </p:nvGrpSpPr>
      <p:grpSpPr>
        <a:xfrm>
          <a:off x="0" y="0"/>
          <a:ext cx="0" cy="0"/>
          <a:chOff x="0" y="0"/>
          <a:chExt cx="0" cy="0"/>
        </a:xfrm>
      </p:grpSpPr>
      <p:pic>
        <p:nvPicPr>
          <p:cNvPr id="4" name="Imagen 3" descr="Imagen que contiene Texto&#10;&#10;El contenido generado por IA puede ser incorrecto.">
            <a:extLst>
              <a:ext uri="{FF2B5EF4-FFF2-40B4-BE49-F238E27FC236}">
                <a16:creationId xmlns:a16="http://schemas.microsoft.com/office/drawing/2014/main" id="{40FDB3CB-7FF1-4705-787B-8F7AC43C87E6}"/>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371" y="857"/>
            <a:ext cx="12192000" cy="6857143"/>
          </a:xfrm>
          <a:prstGeom prst="rect">
            <a:avLst/>
          </a:prstGeom>
        </p:spPr>
      </p:pic>
      <p:pic>
        <p:nvPicPr>
          <p:cNvPr id="1028" name="Picture 4">
            <a:extLst>
              <a:ext uri="{FF2B5EF4-FFF2-40B4-BE49-F238E27FC236}">
                <a16:creationId xmlns:a16="http://schemas.microsoft.com/office/drawing/2014/main" id="{0A50C981-7984-2E7C-C8ED-170A3BEF124D}"/>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189423" y="1451751"/>
            <a:ext cx="7031994" cy="5011172"/>
          </a:xfrm>
          <a:prstGeom prst="rect">
            <a:avLst/>
          </a:prstGeom>
          <a:noFill/>
          <a:extLst>
            <a:ext uri="{909E8E84-426E-40DD-AFC4-6F175D3DCCD1}">
              <a14:hiddenFill xmlns:a14="http://schemas.microsoft.com/office/drawing/2010/main">
                <a:solidFill>
                  <a:srgbClr val="FFFFFF"/>
                </a:solidFill>
              </a14:hiddenFill>
            </a:ext>
          </a:extLst>
        </p:spPr>
      </p:pic>
      <p:sp>
        <p:nvSpPr>
          <p:cNvPr id="2" name="AutoShape 2">
            <a:extLst>
              <a:ext uri="{FF2B5EF4-FFF2-40B4-BE49-F238E27FC236}">
                <a16:creationId xmlns:a16="http://schemas.microsoft.com/office/drawing/2014/main" id="{E4569323-311A-D914-02E9-4DFDE625DE09}"/>
              </a:ext>
            </a:extLst>
          </p:cNvPr>
          <p:cNvSpPr>
            <a:spLocks noChangeAspect="1" noChangeArrowheads="1"/>
          </p:cNvSpPr>
          <p:nvPr/>
        </p:nvSpPr>
        <p:spPr bwMode="auto">
          <a:xfrm>
            <a:off x="5943600" y="32766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s-AR"/>
          </a:p>
        </p:txBody>
      </p:sp>
      <p:sp>
        <p:nvSpPr>
          <p:cNvPr id="6" name="CuadroTexto 5">
            <a:extLst>
              <a:ext uri="{FF2B5EF4-FFF2-40B4-BE49-F238E27FC236}">
                <a16:creationId xmlns:a16="http://schemas.microsoft.com/office/drawing/2014/main" id="{23AA9947-F040-432B-8F54-232A41397273}"/>
              </a:ext>
            </a:extLst>
          </p:cNvPr>
          <p:cNvSpPr txBox="1"/>
          <p:nvPr/>
        </p:nvSpPr>
        <p:spPr>
          <a:xfrm>
            <a:off x="499621" y="367645"/>
            <a:ext cx="4694548" cy="523220"/>
          </a:xfrm>
          <a:prstGeom prst="rect">
            <a:avLst/>
          </a:prstGeom>
          <a:noFill/>
        </p:spPr>
        <p:txBody>
          <a:bodyPr wrap="square" rtlCol="0">
            <a:spAutoFit/>
          </a:bodyPr>
          <a:lstStyle/>
          <a:p>
            <a:r>
              <a:rPr lang="es-AR" sz="2800" b="1" dirty="0">
                <a:latin typeface="Lucida Bright" panose="02040602050505020304" pitchFamily="18" charset="0"/>
              </a:rPr>
              <a:t>Análisis descriptivo</a:t>
            </a:r>
          </a:p>
        </p:txBody>
      </p:sp>
      <p:sp>
        <p:nvSpPr>
          <p:cNvPr id="3" name="CuadroTexto 2">
            <a:extLst>
              <a:ext uri="{FF2B5EF4-FFF2-40B4-BE49-F238E27FC236}">
                <a16:creationId xmlns:a16="http://schemas.microsoft.com/office/drawing/2014/main" id="{1E089B57-1C70-AAFE-9518-730F10B3D651}"/>
              </a:ext>
            </a:extLst>
          </p:cNvPr>
          <p:cNvSpPr txBox="1"/>
          <p:nvPr/>
        </p:nvSpPr>
        <p:spPr>
          <a:xfrm>
            <a:off x="3440982" y="1056674"/>
            <a:ext cx="4528876" cy="253916"/>
          </a:xfrm>
          <a:prstGeom prst="rect">
            <a:avLst/>
          </a:prstGeom>
          <a:noFill/>
        </p:spPr>
        <p:txBody>
          <a:bodyPr wrap="square" rtlCol="0">
            <a:spAutoFit/>
          </a:bodyPr>
          <a:lstStyle/>
          <a:p>
            <a:r>
              <a:rPr lang="es-MX" sz="1050" b="1" dirty="0">
                <a:latin typeface="Lucida Bright" panose="02040602050505020304" pitchFamily="18" charset="0"/>
              </a:rPr>
              <a:t>Figura 1</a:t>
            </a:r>
            <a:r>
              <a:rPr lang="es-MX" sz="1050" dirty="0">
                <a:latin typeface="Lucida Bright" panose="02040602050505020304" pitchFamily="18" charset="0"/>
              </a:rPr>
              <a:t> | Exportaciones provinciales según rubro. 2002 a 2025</a:t>
            </a:r>
            <a:endParaRPr lang="es-AR" sz="1050" dirty="0">
              <a:latin typeface="Lucida Bright" panose="02040602050505020304" pitchFamily="18" charset="0"/>
            </a:endParaRPr>
          </a:p>
        </p:txBody>
      </p:sp>
    </p:spTree>
    <p:extLst>
      <p:ext uri="{BB962C8B-B14F-4D97-AF65-F5344CB8AC3E}">
        <p14:creationId xmlns:p14="http://schemas.microsoft.com/office/powerpoint/2010/main" val="193304465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38E6C1-390C-E477-92FB-77F66280541E}"/>
            </a:ext>
          </a:extLst>
        </p:cNvPr>
        <p:cNvGrpSpPr/>
        <p:nvPr/>
      </p:nvGrpSpPr>
      <p:grpSpPr>
        <a:xfrm>
          <a:off x="0" y="0"/>
          <a:ext cx="0" cy="0"/>
          <a:chOff x="0" y="0"/>
          <a:chExt cx="0" cy="0"/>
        </a:xfrm>
      </p:grpSpPr>
      <p:pic>
        <p:nvPicPr>
          <p:cNvPr id="4" name="Imagen 3" descr="Imagen que contiene Texto&#10;&#10;El contenido generado por IA puede ser incorrecto.">
            <a:extLst>
              <a:ext uri="{FF2B5EF4-FFF2-40B4-BE49-F238E27FC236}">
                <a16:creationId xmlns:a16="http://schemas.microsoft.com/office/drawing/2014/main" id="{5BE6E915-C0FC-7F06-2A6D-9BBA1444BB39}"/>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372" y="857"/>
            <a:ext cx="12192000" cy="6857143"/>
          </a:xfrm>
          <a:prstGeom prst="rect">
            <a:avLst/>
          </a:prstGeom>
        </p:spPr>
      </p:pic>
      <p:graphicFrame>
        <p:nvGraphicFramePr>
          <p:cNvPr id="2" name="Tabla 1">
            <a:extLst>
              <a:ext uri="{FF2B5EF4-FFF2-40B4-BE49-F238E27FC236}">
                <a16:creationId xmlns:a16="http://schemas.microsoft.com/office/drawing/2014/main" id="{D8FE13B4-55BC-BE68-1F9F-6C3843F421E8}"/>
              </a:ext>
            </a:extLst>
          </p:cNvPr>
          <p:cNvGraphicFramePr>
            <a:graphicFrameLocks noGrp="1"/>
          </p:cNvGraphicFramePr>
          <p:nvPr>
            <p:extLst>
              <p:ext uri="{D42A27DB-BD31-4B8C-83A1-F6EECF244321}">
                <p14:modId xmlns:p14="http://schemas.microsoft.com/office/powerpoint/2010/main" val="2141062128"/>
              </p:ext>
            </p:extLst>
          </p:nvPr>
        </p:nvGraphicFramePr>
        <p:xfrm>
          <a:off x="6839712" y="1414681"/>
          <a:ext cx="5036938" cy="4727121"/>
        </p:xfrm>
        <a:graphic>
          <a:graphicData uri="http://schemas.openxmlformats.org/drawingml/2006/table">
            <a:tbl>
              <a:tblPr/>
              <a:tblGrid>
                <a:gridCol w="760611">
                  <a:extLst>
                    <a:ext uri="{9D8B030D-6E8A-4147-A177-3AD203B41FA5}">
                      <a16:colId xmlns:a16="http://schemas.microsoft.com/office/drawing/2014/main" val="35125180"/>
                    </a:ext>
                  </a:extLst>
                </a:gridCol>
                <a:gridCol w="760611">
                  <a:extLst>
                    <a:ext uri="{9D8B030D-6E8A-4147-A177-3AD203B41FA5}">
                      <a16:colId xmlns:a16="http://schemas.microsoft.com/office/drawing/2014/main" val="2131069981"/>
                    </a:ext>
                  </a:extLst>
                </a:gridCol>
                <a:gridCol w="878929">
                  <a:extLst>
                    <a:ext uri="{9D8B030D-6E8A-4147-A177-3AD203B41FA5}">
                      <a16:colId xmlns:a16="http://schemas.microsoft.com/office/drawing/2014/main" val="973783829"/>
                    </a:ext>
                  </a:extLst>
                </a:gridCol>
                <a:gridCol w="878929">
                  <a:extLst>
                    <a:ext uri="{9D8B030D-6E8A-4147-A177-3AD203B41FA5}">
                      <a16:colId xmlns:a16="http://schemas.microsoft.com/office/drawing/2014/main" val="4259639212"/>
                    </a:ext>
                  </a:extLst>
                </a:gridCol>
                <a:gridCol w="878929">
                  <a:extLst>
                    <a:ext uri="{9D8B030D-6E8A-4147-A177-3AD203B41FA5}">
                      <a16:colId xmlns:a16="http://schemas.microsoft.com/office/drawing/2014/main" val="512893843"/>
                    </a:ext>
                  </a:extLst>
                </a:gridCol>
                <a:gridCol w="878929">
                  <a:extLst>
                    <a:ext uri="{9D8B030D-6E8A-4147-A177-3AD203B41FA5}">
                      <a16:colId xmlns:a16="http://schemas.microsoft.com/office/drawing/2014/main" val="3280077628"/>
                    </a:ext>
                  </a:extLst>
                </a:gridCol>
              </a:tblGrid>
              <a:tr h="233327">
                <a:tc>
                  <a:txBody>
                    <a:bodyPr/>
                    <a:lstStyle/>
                    <a:p>
                      <a:pPr algn="just" rtl="0" fontAlgn="b">
                        <a:spcBef>
                          <a:spcPts val="1200"/>
                        </a:spcBef>
                        <a:buNone/>
                      </a:pPr>
                      <a:r>
                        <a:rPr lang="es-AR" sz="1050" b="0" i="0" u="none" strike="noStrike">
                          <a:solidFill>
                            <a:srgbClr val="000000"/>
                          </a:solidFill>
                          <a:effectLst/>
                          <a:latin typeface="Arial" panose="020B0604020202020204" pitchFamily="34" charset="0"/>
                        </a:rPr>
                        <a:t> </a:t>
                      </a:r>
                      <a:endParaRPr lang="es-AR" sz="2400">
                        <a:effectLst/>
                      </a:endParaRPr>
                    </a:p>
                  </a:txBody>
                  <a:tcPr marL="50800" marR="50800" anchor="b">
                    <a:lnL w="8649" cap="flat" cmpd="sng" algn="ctr">
                      <a:solidFill>
                        <a:srgbClr val="000000"/>
                      </a:solidFill>
                      <a:prstDash val="solid"/>
                      <a:round/>
                      <a:headEnd type="none" w="med" len="med"/>
                      <a:tailEnd type="none" w="med" len="med"/>
                    </a:lnL>
                    <a:lnR w="8649" cap="flat" cmpd="sng" algn="ctr">
                      <a:solidFill>
                        <a:srgbClr val="000000"/>
                      </a:solidFill>
                      <a:prstDash val="solid"/>
                      <a:round/>
                      <a:headEnd type="none" w="med" len="med"/>
                      <a:tailEnd type="none" w="med" len="med"/>
                    </a:lnR>
                    <a:lnT w="8649"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rtl="0" fontAlgn="ctr">
                        <a:spcBef>
                          <a:spcPts val="1200"/>
                        </a:spcBef>
                        <a:buNone/>
                      </a:pPr>
                      <a:r>
                        <a:rPr lang="es-AR" sz="1050" b="0" i="0" u="none" strike="noStrike">
                          <a:solidFill>
                            <a:srgbClr val="000000"/>
                          </a:solidFill>
                          <a:effectLst/>
                          <a:latin typeface="Arial" panose="020B0604020202020204" pitchFamily="34" charset="0"/>
                        </a:rPr>
                        <a:t> </a:t>
                      </a:r>
                      <a:endParaRPr lang="es-AR" sz="2400">
                        <a:effectLst/>
                      </a:endParaRPr>
                    </a:p>
                  </a:txBody>
                  <a:tcPr marL="50800" marR="50800" anchor="ctr">
                    <a:lnL w="8649" cap="flat" cmpd="sng" algn="ctr">
                      <a:solidFill>
                        <a:srgbClr val="000000"/>
                      </a:solidFill>
                      <a:prstDash val="solid"/>
                      <a:round/>
                      <a:headEnd type="none" w="med" len="med"/>
                      <a:tailEnd type="none" w="med" len="med"/>
                    </a:lnL>
                    <a:lnR w="8649" cap="flat" cmpd="sng" algn="ctr">
                      <a:solidFill>
                        <a:srgbClr val="000000"/>
                      </a:solidFill>
                      <a:prstDash val="solid"/>
                      <a:round/>
                      <a:headEnd type="none" w="med" len="med"/>
                      <a:tailEnd type="none" w="med" len="med"/>
                    </a:lnR>
                    <a:lnT w="8649" cap="flat" cmpd="sng" algn="ctr">
                      <a:solidFill>
                        <a:srgbClr val="000000"/>
                      </a:solidFill>
                      <a:prstDash val="solid"/>
                      <a:round/>
                      <a:headEnd type="none" w="med" len="med"/>
                      <a:tailEnd type="none" w="med" len="med"/>
                    </a:lnT>
                    <a:lnB w="8649" cap="flat" cmpd="sng" algn="ctr">
                      <a:solidFill>
                        <a:srgbClr val="000000"/>
                      </a:solidFill>
                      <a:prstDash val="solid"/>
                      <a:round/>
                      <a:headEnd type="none" w="med" len="med"/>
                      <a:tailEnd type="none" w="med" len="med"/>
                    </a:lnB>
                    <a:noFill/>
                  </a:tcPr>
                </a:tc>
                <a:tc gridSpan="2">
                  <a:txBody>
                    <a:bodyPr/>
                    <a:lstStyle/>
                    <a:p>
                      <a:pPr algn="ctr" rtl="0" fontAlgn="ctr">
                        <a:spcBef>
                          <a:spcPts val="1200"/>
                        </a:spcBef>
                        <a:buNone/>
                      </a:pPr>
                      <a:r>
                        <a:rPr lang="es-AR" sz="1050" b="0" i="0" u="none" strike="noStrike">
                          <a:solidFill>
                            <a:srgbClr val="000000"/>
                          </a:solidFill>
                          <a:effectLst/>
                          <a:latin typeface="Arial" panose="020B0604020202020204" pitchFamily="34" charset="0"/>
                        </a:rPr>
                        <a:t>Santa Fe</a:t>
                      </a:r>
                      <a:endParaRPr lang="es-AR" sz="2400">
                        <a:effectLst/>
                      </a:endParaRPr>
                    </a:p>
                  </a:txBody>
                  <a:tcPr marL="50800" marR="50800" anchor="ctr">
                    <a:lnL w="8649" cap="flat" cmpd="sng" algn="ctr">
                      <a:solidFill>
                        <a:srgbClr val="000000"/>
                      </a:solidFill>
                      <a:prstDash val="solid"/>
                      <a:round/>
                      <a:headEnd type="none" w="med" len="med"/>
                      <a:tailEnd type="none" w="med" len="med"/>
                    </a:lnL>
                    <a:lnR w="8649" cap="flat" cmpd="sng" algn="ctr">
                      <a:solidFill>
                        <a:srgbClr val="000000"/>
                      </a:solidFill>
                      <a:prstDash val="solid"/>
                      <a:round/>
                      <a:headEnd type="none" w="med" len="med"/>
                      <a:tailEnd type="none" w="med" len="med"/>
                    </a:lnR>
                    <a:lnT w="8649" cap="flat" cmpd="sng" algn="ctr">
                      <a:solidFill>
                        <a:srgbClr val="000000"/>
                      </a:solidFill>
                      <a:prstDash val="solid"/>
                      <a:round/>
                      <a:headEnd type="none" w="med" len="med"/>
                      <a:tailEnd type="none" w="med" len="med"/>
                    </a:lnT>
                    <a:lnB w="8649" cap="flat" cmpd="sng" algn="ctr">
                      <a:solidFill>
                        <a:srgbClr val="000000"/>
                      </a:solidFill>
                      <a:prstDash val="solid"/>
                      <a:round/>
                      <a:headEnd type="none" w="med" len="med"/>
                      <a:tailEnd type="none" w="med" len="med"/>
                    </a:lnB>
                    <a:noFill/>
                  </a:tcPr>
                </a:tc>
                <a:tc hMerge="1">
                  <a:txBody>
                    <a:bodyPr/>
                    <a:lstStyle/>
                    <a:p>
                      <a:endParaRPr lang="es-AR"/>
                    </a:p>
                  </a:txBody>
                  <a:tcPr/>
                </a:tc>
                <a:tc gridSpan="2">
                  <a:txBody>
                    <a:bodyPr/>
                    <a:lstStyle/>
                    <a:p>
                      <a:pPr algn="ctr" rtl="0" fontAlgn="ctr">
                        <a:spcBef>
                          <a:spcPts val="1200"/>
                        </a:spcBef>
                        <a:buNone/>
                      </a:pPr>
                      <a:r>
                        <a:rPr lang="es-AR" sz="1050" b="0" i="0" u="none" strike="noStrike">
                          <a:solidFill>
                            <a:srgbClr val="000000"/>
                          </a:solidFill>
                          <a:effectLst/>
                          <a:latin typeface="Arial" panose="020B0604020202020204" pitchFamily="34" charset="0"/>
                        </a:rPr>
                        <a:t>Argentina</a:t>
                      </a:r>
                      <a:endParaRPr lang="es-AR" sz="2400">
                        <a:effectLst/>
                      </a:endParaRPr>
                    </a:p>
                  </a:txBody>
                  <a:tcPr marL="50800" marR="50800" anchor="ctr">
                    <a:lnL w="8649" cap="flat" cmpd="sng" algn="ctr">
                      <a:solidFill>
                        <a:srgbClr val="000000"/>
                      </a:solidFill>
                      <a:prstDash val="solid"/>
                      <a:round/>
                      <a:headEnd type="none" w="med" len="med"/>
                      <a:tailEnd type="none" w="med" len="med"/>
                    </a:lnL>
                    <a:lnR w="8649" cap="flat" cmpd="sng" algn="ctr">
                      <a:solidFill>
                        <a:srgbClr val="000000"/>
                      </a:solidFill>
                      <a:prstDash val="solid"/>
                      <a:round/>
                      <a:headEnd type="none" w="med" len="med"/>
                      <a:tailEnd type="none" w="med" len="med"/>
                    </a:lnR>
                    <a:lnT w="8649" cap="flat" cmpd="sng" algn="ctr">
                      <a:solidFill>
                        <a:srgbClr val="000000"/>
                      </a:solidFill>
                      <a:prstDash val="solid"/>
                      <a:round/>
                      <a:headEnd type="none" w="med" len="med"/>
                      <a:tailEnd type="none" w="med" len="med"/>
                    </a:lnT>
                    <a:lnB w="8649" cap="flat" cmpd="sng" algn="ctr">
                      <a:solidFill>
                        <a:srgbClr val="000000"/>
                      </a:solidFill>
                      <a:prstDash val="solid"/>
                      <a:round/>
                      <a:headEnd type="none" w="med" len="med"/>
                      <a:tailEnd type="none" w="med" len="med"/>
                    </a:lnB>
                    <a:noFill/>
                  </a:tcPr>
                </a:tc>
                <a:tc hMerge="1">
                  <a:txBody>
                    <a:bodyPr/>
                    <a:lstStyle/>
                    <a:p>
                      <a:endParaRPr lang="es-AR"/>
                    </a:p>
                  </a:txBody>
                  <a:tcPr/>
                </a:tc>
                <a:extLst>
                  <a:ext uri="{0D108BD9-81ED-4DB2-BD59-A6C34878D82A}">
                    <a16:rowId xmlns:a16="http://schemas.microsoft.com/office/drawing/2014/main" val="925613948"/>
                  </a:ext>
                </a:extLst>
              </a:tr>
              <a:tr h="233327">
                <a:tc>
                  <a:txBody>
                    <a:bodyPr/>
                    <a:lstStyle/>
                    <a:p>
                      <a:pPr algn="ctr" rtl="0" fontAlgn="b">
                        <a:spcBef>
                          <a:spcPts val="1200"/>
                        </a:spcBef>
                        <a:buNone/>
                      </a:pPr>
                      <a:r>
                        <a:rPr lang="es-AR" sz="1050" b="0" i="0" u="none" strike="noStrike">
                          <a:solidFill>
                            <a:srgbClr val="000000"/>
                          </a:solidFill>
                          <a:effectLst/>
                          <a:latin typeface="Arial" panose="020B0604020202020204" pitchFamily="34" charset="0"/>
                        </a:rPr>
                        <a:t>Año</a:t>
                      </a:r>
                      <a:endParaRPr lang="es-AR" sz="2400">
                        <a:effectLst/>
                      </a:endParaRPr>
                    </a:p>
                  </a:txBody>
                  <a:tcPr marL="50800" marR="50800" anchor="b">
                    <a:lnL w="8649" cap="flat" cmpd="sng" algn="ctr">
                      <a:solidFill>
                        <a:srgbClr val="000000"/>
                      </a:solidFill>
                      <a:prstDash val="solid"/>
                      <a:round/>
                      <a:headEnd type="none" w="med" len="med"/>
                      <a:tailEnd type="none" w="med" len="med"/>
                    </a:lnL>
                    <a:lnR w="8649"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8649" cap="flat" cmpd="sng" algn="ctr">
                      <a:solidFill>
                        <a:srgbClr val="000000"/>
                      </a:solidFill>
                      <a:prstDash val="solid"/>
                      <a:round/>
                      <a:headEnd type="none" w="med" len="med"/>
                      <a:tailEnd type="none" w="med" len="med"/>
                    </a:lnB>
                    <a:noFill/>
                  </a:tcPr>
                </a:tc>
                <a:tc>
                  <a:txBody>
                    <a:bodyPr/>
                    <a:lstStyle/>
                    <a:p>
                      <a:pPr algn="ctr" rtl="0" fontAlgn="ctr">
                        <a:spcBef>
                          <a:spcPts val="1200"/>
                        </a:spcBef>
                        <a:buNone/>
                      </a:pPr>
                      <a:r>
                        <a:rPr lang="es-AR" sz="1050" b="0" i="0" u="none" strike="noStrike">
                          <a:solidFill>
                            <a:srgbClr val="000000"/>
                          </a:solidFill>
                          <a:effectLst/>
                          <a:latin typeface="Arial" panose="020B0604020202020204" pitchFamily="34" charset="0"/>
                        </a:rPr>
                        <a:t>Ranking</a:t>
                      </a:r>
                      <a:endParaRPr lang="es-AR" sz="2400">
                        <a:effectLst/>
                      </a:endParaRPr>
                    </a:p>
                  </a:txBody>
                  <a:tcPr marL="50800" marR="50800" anchor="ctr">
                    <a:lnL w="8649" cap="flat" cmpd="sng" algn="ctr">
                      <a:solidFill>
                        <a:srgbClr val="000000"/>
                      </a:solidFill>
                      <a:prstDash val="solid"/>
                      <a:round/>
                      <a:headEnd type="none" w="med" len="med"/>
                      <a:tailEnd type="none" w="med" len="med"/>
                    </a:lnL>
                    <a:lnR w="8649" cap="flat" cmpd="sng" algn="ctr">
                      <a:solidFill>
                        <a:srgbClr val="000000"/>
                      </a:solidFill>
                      <a:prstDash val="solid"/>
                      <a:round/>
                      <a:headEnd type="none" w="med" len="med"/>
                      <a:tailEnd type="none" w="med" len="med"/>
                    </a:lnR>
                    <a:lnT w="8649" cap="flat" cmpd="sng" algn="ctr">
                      <a:solidFill>
                        <a:srgbClr val="000000"/>
                      </a:solidFill>
                      <a:prstDash val="solid"/>
                      <a:round/>
                      <a:headEnd type="none" w="med" len="med"/>
                      <a:tailEnd type="none" w="med" len="med"/>
                    </a:lnT>
                    <a:lnB w="8649" cap="flat" cmpd="sng" algn="ctr">
                      <a:solidFill>
                        <a:srgbClr val="000000"/>
                      </a:solidFill>
                      <a:prstDash val="solid"/>
                      <a:round/>
                      <a:headEnd type="none" w="med" len="med"/>
                      <a:tailEnd type="none" w="med" len="med"/>
                    </a:lnB>
                    <a:noFill/>
                  </a:tcPr>
                </a:tc>
                <a:tc>
                  <a:txBody>
                    <a:bodyPr/>
                    <a:lstStyle/>
                    <a:p>
                      <a:pPr algn="ctr" rtl="0" fontAlgn="ctr">
                        <a:spcBef>
                          <a:spcPts val="1200"/>
                        </a:spcBef>
                        <a:buNone/>
                      </a:pPr>
                      <a:r>
                        <a:rPr lang="es-AR" sz="1050" b="0" i="0" u="none" strike="noStrike">
                          <a:solidFill>
                            <a:srgbClr val="000000"/>
                          </a:solidFill>
                          <a:effectLst/>
                          <a:latin typeface="Arial" panose="020B0604020202020204" pitchFamily="34" charset="0"/>
                        </a:rPr>
                        <a:t>País</a:t>
                      </a:r>
                      <a:endParaRPr lang="es-AR" sz="2400">
                        <a:effectLst/>
                      </a:endParaRPr>
                    </a:p>
                  </a:txBody>
                  <a:tcPr marL="50800" marR="50800" anchor="ctr">
                    <a:lnL w="8649" cap="flat" cmpd="sng" algn="ctr">
                      <a:solidFill>
                        <a:srgbClr val="000000"/>
                      </a:solidFill>
                      <a:prstDash val="solid"/>
                      <a:round/>
                      <a:headEnd type="none" w="med" len="med"/>
                      <a:tailEnd type="none" w="med" len="med"/>
                    </a:lnL>
                    <a:lnR w="8649" cap="flat" cmpd="sng" algn="ctr">
                      <a:solidFill>
                        <a:srgbClr val="000000"/>
                      </a:solidFill>
                      <a:prstDash val="dash"/>
                      <a:round/>
                      <a:headEnd type="none" w="med" len="med"/>
                      <a:tailEnd type="none" w="med" len="med"/>
                    </a:lnR>
                    <a:lnT w="8649" cap="flat" cmpd="sng" algn="ctr">
                      <a:solidFill>
                        <a:srgbClr val="000000"/>
                      </a:solidFill>
                      <a:prstDash val="solid"/>
                      <a:round/>
                      <a:headEnd type="none" w="med" len="med"/>
                      <a:tailEnd type="none" w="med" len="med"/>
                    </a:lnT>
                    <a:lnB w="8649" cap="flat" cmpd="sng" algn="ctr">
                      <a:solidFill>
                        <a:srgbClr val="000000"/>
                      </a:solidFill>
                      <a:prstDash val="solid"/>
                      <a:round/>
                      <a:headEnd type="none" w="med" len="med"/>
                      <a:tailEnd type="none" w="med" len="med"/>
                    </a:lnB>
                    <a:noFill/>
                  </a:tcPr>
                </a:tc>
                <a:tc>
                  <a:txBody>
                    <a:bodyPr/>
                    <a:lstStyle/>
                    <a:p>
                      <a:pPr algn="ctr" rtl="0" fontAlgn="ctr">
                        <a:spcBef>
                          <a:spcPts val="1200"/>
                        </a:spcBef>
                        <a:buNone/>
                      </a:pPr>
                      <a:r>
                        <a:rPr lang="es-AR" sz="1050" b="0" i="0" u="none" strike="noStrike">
                          <a:solidFill>
                            <a:srgbClr val="000000"/>
                          </a:solidFill>
                          <a:effectLst/>
                          <a:latin typeface="Arial" panose="020B0604020202020204" pitchFamily="34" charset="0"/>
                        </a:rPr>
                        <a:t>Porcentaje</a:t>
                      </a:r>
                      <a:endParaRPr lang="es-AR" sz="2400">
                        <a:effectLst/>
                      </a:endParaRPr>
                    </a:p>
                  </a:txBody>
                  <a:tcPr marL="50800" marR="50800" anchor="ctr">
                    <a:lnL w="8649" cap="flat" cmpd="sng" algn="ctr">
                      <a:solidFill>
                        <a:srgbClr val="000000"/>
                      </a:solidFill>
                      <a:prstDash val="dash"/>
                      <a:round/>
                      <a:headEnd type="none" w="med" len="med"/>
                      <a:tailEnd type="none" w="med" len="med"/>
                    </a:lnL>
                    <a:lnR w="8649" cap="flat" cmpd="sng" algn="ctr">
                      <a:solidFill>
                        <a:srgbClr val="000000"/>
                      </a:solidFill>
                      <a:prstDash val="solid"/>
                      <a:round/>
                      <a:headEnd type="none" w="med" len="med"/>
                      <a:tailEnd type="none" w="med" len="med"/>
                    </a:lnR>
                    <a:lnT w="8649" cap="flat" cmpd="sng" algn="ctr">
                      <a:solidFill>
                        <a:srgbClr val="000000"/>
                      </a:solidFill>
                      <a:prstDash val="solid"/>
                      <a:round/>
                      <a:headEnd type="none" w="med" len="med"/>
                      <a:tailEnd type="none" w="med" len="med"/>
                    </a:lnT>
                    <a:lnB w="8649" cap="flat" cmpd="sng" algn="ctr">
                      <a:solidFill>
                        <a:srgbClr val="000000"/>
                      </a:solidFill>
                      <a:prstDash val="solid"/>
                      <a:round/>
                      <a:headEnd type="none" w="med" len="med"/>
                      <a:tailEnd type="none" w="med" len="med"/>
                    </a:lnB>
                    <a:noFill/>
                  </a:tcPr>
                </a:tc>
                <a:tc>
                  <a:txBody>
                    <a:bodyPr/>
                    <a:lstStyle/>
                    <a:p>
                      <a:pPr algn="ctr" rtl="0" fontAlgn="ctr">
                        <a:spcBef>
                          <a:spcPts val="1200"/>
                        </a:spcBef>
                        <a:buNone/>
                      </a:pPr>
                      <a:r>
                        <a:rPr lang="es-AR" sz="1050" b="0" i="0" u="none" strike="noStrike">
                          <a:solidFill>
                            <a:srgbClr val="000000"/>
                          </a:solidFill>
                          <a:effectLst/>
                          <a:latin typeface="Arial" panose="020B0604020202020204" pitchFamily="34" charset="0"/>
                        </a:rPr>
                        <a:t>País</a:t>
                      </a:r>
                      <a:endParaRPr lang="es-AR" sz="2400">
                        <a:effectLst/>
                      </a:endParaRPr>
                    </a:p>
                  </a:txBody>
                  <a:tcPr marL="50800" marR="50800" anchor="ctr">
                    <a:lnL w="8649" cap="flat" cmpd="sng" algn="ctr">
                      <a:solidFill>
                        <a:srgbClr val="000000"/>
                      </a:solidFill>
                      <a:prstDash val="solid"/>
                      <a:round/>
                      <a:headEnd type="none" w="med" len="med"/>
                      <a:tailEnd type="none" w="med" len="med"/>
                    </a:lnL>
                    <a:lnR w="8649" cap="flat" cmpd="sng" algn="ctr">
                      <a:solidFill>
                        <a:srgbClr val="000000"/>
                      </a:solidFill>
                      <a:prstDash val="dash"/>
                      <a:round/>
                      <a:headEnd type="none" w="med" len="med"/>
                      <a:tailEnd type="none" w="med" len="med"/>
                    </a:lnR>
                    <a:lnT w="8649" cap="flat" cmpd="sng" algn="ctr">
                      <a:solidFill>
                        <a:srgbClr val="000000"/>
                      </a:solidFill>
                      <a:prstDash val="solid"/>
                      <a:round/>
                      <a:headEnd type="none" w="med" len="med"/>
                      <a:tailEnd type="none" w="med" len="med"/>
                    </a:lnT>
                    <a:lnB w="8649" cap="flat" cmpd="sng" algn="ctr">
                      <a:solidFill>
                        <a:srgbClr val="000000"/>
                      </a:solidFill>
                      <a:prstDash val="solid"/>
                      <a:round/>
                      <a:headEnd type="none" w="med" len="med"/>
                      <a:tailEnd type="none" w="med" len="med"/>
                    </a:lnB>
                    <a:noFill/>
                  </a:tcPr>
                </a:tc>
                <a:tc>
                  <a:txBody>
                    <a:bodyPr/>
                    <a:lstStyle/>
                    <a:p>
                      <a:pPr algn="ctr" rtl="0" fontAlgn="ctr">
                        <a:spcBef>
                          <a:spcPts val="1200"/>
                        </a:spcBef>
                        <a:buNone/>
                      </a:pPr>
                      <a:r>
                        <a:rPr lang="es-AR" sz="1050" b="0" i="0" u="none" strike="noStrike">
                          <a:solidFill>
                            <a:srgbClr val="000000"/>
                          </a:solidFill>
                          <a:effectLst/>
                          <a:latin typeface="Arial" panose="020B0604020202020204" pitchFamily="34" charset="0"/>
                        </a:rPr>
                        <a:t>Porcentaje</a:t>
                      </a:r>
                      <a:endParaRPr lang="es-AR" sz="2400">
                        <a:effectLst/>
                      </a:endParaRPr>
                    </a:p>
                  </a:txBody>
                  <a:tcPr marL="50800" marR="50800" anchor="ctr">
                    <a:lnL w="8649" cap="flat" cmpd="sng" algn="ctr">
                      <a:solidFill>
                        <a:srgbClr val="000000"/>
                      </a:solidFill>
                      <a:prstDash val="dash"/>
                      <a:round/>
                      <a:headEnd type="none" w="med" len="med"/>
                      <a:tailEnd type="none" w="med" len="med"/>
                    </a:lnL>
                    <a:lnR w="8649" cap="flat" cmpd="sng" algn="ctr">
                      <a:solidFill>
                        <a:srgbClr val="000000"/>
                      </a:solidFill>
                      <a:prstDash val="solid"/>
                      <a:round/>
                      <a:headEnd type="none" w="med" len="med"/>
                      <a:tailEnd type="none" w="med" len="med"/>
                    </a:lnR>
                    <a:lnT w="8649" cap="flat" cmpd="sng" algn="ctr">
                      <a:solidFill>
                        <a:srgbClr val="000000"/>
                      </a:solidFill>
                      <a:prstDash val="solid"/>
                      <a:round/>
                      <a:headEnd type="none" w="med" len="med"/>
                      <a:tailEnd type="none" w="med" len="med"/>
                    </a:lnT>
                    <a:lnB w="8649"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1695361866"/>
                  </a:ext>
                </a:extLst>
              </a:tr>
              <a:tr h="233327">
                <a:tc rowSpan="5">
                  <a:txBody>
                    <a:bodyPr/>
                    <a:lstStyle/>
                    <a:p>
                      <a:pPr fontAlgn="t">
                        <a:buNone/>
                      </a:pPr>
                      <a:endParaRPr lang="es-AR" sz="2400" dirty="0">
                        <a:effectLst/>
                      </a:endParaRPr>
                    </a:p>
                    <a:p>
                      <a:pPr algn="ctr" rtl="0" fontAlgn="t">
                        <a:spcBef>
                          <a:spcPts val="1200"/>
                        </a:spcBef>
                        <a:buNone/>
                      </a:pPr>
                      <a:r>
                        <a:rPr lang="es-AR" sz="1050" b="0" i="0" u="none" strike="noStrike" dirty="0">
                          <a:solidFill>
                            <a:srgbClr val="000000"/>
                          </a:solidFill>
                          <a:effectLst/>
                          <a:latin typeface="Arial" panose="020B0604020202020204" pitchFamily="34" charset="0"/>
                        </a:rPr>
                        <a:t>2002</a:t>
                      </a:r>
                      <a:endParaRPr lang="es-AR" sz="2400" dirty="0">
                        <a:effectLst/>
                      </a:endParaRPr>
                    </a:p>
                  </a:txBody>
                  <a:tcPr marL="50800" marR="50800">
                    <a:lnL w="8649" cap="flat" cmpd="sng" algn="ctr">
                      <a:solidFill>
                        <a:srgbClr val="000000"/>
                      </a:solidFill>
                      <a:prstDash val="solid"/>
                      <a:round/>
                      <a:headEnd type="none" w="med" len="med"/>
                      <a:tailEnd type="none" w="med" len="med"/>
                    </a:lnL>
                    <a:lnR w="8649" cap="flat" cmpd="sng" algn="ctr">
                      <a:solidFill>
                        <a:srgbClr val="000000"/>
                      </a:solidFill>
                      <a:prstDash val="solid"/>
                      <a:round/>
                      <a:headEnd type="none" w="med" len="med"/>
                      <a:tailEnd type="none" w="med" len="med"/>
                    </a:lnR>
                    <a:lnT w="8649" cap="flat" cmpd="sng" algn="ctr">
                      <a:solidFill>
                        <a:srgbClr val="000000"/>
                      </a:solidFill>
                      <a:prstDash val="solid"/>
                      <a:round/>
                      <a:headEnd type="none" w="med" len="med"/>
                      <a:tailEnd type="none" w="med" len="med"/>
                    </a:lnT>
                    <a:lnB w="8649" cap="flat" cmpd="sng" algn="ctr">
                      <a:solidFill>
                        <a:srgbClr val="000000"/>
                      </a:solidFill>
                      <a:prstDash val="solid"/>
                      <a:round/>
                      <a:headEnd type="none" w="med" len="med"/>
                      <a:tailEnd type="none" w="med" len="med"/>
                    </a:lnB>
                    <a:noFill/>
                  </a:tcPr>
                </a:tc>
                <a:tc>
                  <a:txBody>
                    <a:bodyPr/>
                    <a:lstStyle/>
                    <a:p>
                      <a:pPr algn="ctr" rtl="0" fontAlgn="ctr">
                        <a:spcBef>
                          <a:spcPts val="1200"/>
                        </a:spcBef>
                        <a:buNone/>
                      </a:pPr>
                      <a:r>
                        <a:rPr lang="es-AR" sz="1050" b="0" i="0" u="none" strike="noStrike">
                          <a:solidFill>
                            <a:srgbClr val="000000"/>
                          </a:solidFill>
                          <a:effectLst/>
                          <a:latin typeface="Arial" panose="020B0604020202020204" pitchFamily="34" charset="0"/>
                        </a:rPr>
                        <a:t>1</a:t>
                      </a:r>
                      <a:endParaRPr lang="es-AR" sz="2400">
                        <a:effectLst/>
                      </a:endParaRPr>
                    </a:p>
                  </a:txBody>
                  <a:tcPr marL="50800" marR="50800" anchor="ctr">
                    <a:lnL w="8649" cap="flat" cmpd="sng" algn="ctr">
                      <a:solidFill>
                        <a:srgbClr val="000000"/>
                      </a:solidFill>
                      <a:prstDash val="solid"/>
                      <a:round/>
                      <a:headEnd type="none" w="med" len="med"/>
                      <a:tailEnd type="none" w="med" len="med"/>
                    </a:lnL>
                    <a:lnR w="8649" cap="flat" cmpd="sng" algn="ctr">
                      <a:solidFill>
                        <a:srgbClr val="000000"/>
                      </a:solidFill>
                      <a:prstDash val="solid"/>
                      <a:round/>
                      <a:headEnd type="none" w="med" len="med"/>
                      <a:tailEnd type="none" w="med" len="med"/>
                    </a:lnR>
                    <a:lnT w="8649" cap="flat" cmpd="sng" algn="ctr">
                      <a:solidFill>
                        <a:srgbClr val="000000"/>
                      </a:solidFill>
                      <a:prstDash val="solid"/>
                      <a:round/>
                      <a:headEnd type="none" w="med" len="med"/>
                      <a:tailEnd type="none" w="med" len="med"/>
                    </a:lnT>
                    <a:lnB w="8649" cap="flat" cmpd="sng" algn="ctr">
                      <a:solidFill>
                        <a:srgbClr val="000000"/>
                      </a:solidFill>
                      <a:prstDash val="dash"/>
                      <a:round/>
                      <a:headEnd type="none" w="med" len="med"/>
                      <a:tailEnd type="none" w="med" len="med"/>
                    </a:lnB>
                    <a:noFill/>
                  </a:tcPr>
                </a:tc>
                <a:tc>
                  <a:txBody>
                    <a:bodyPr/>
                    <a:lstStyle/>
                    <a:p>
                      <a:pPr algn="just" rtl="0" fontAlgn="ctr">
                        <a:spcBef>
                          <a:spcPts val="1200"/>
                        </a:spcBef>
                        <a:buNone/>
                      </a:pPr>
                      <a:r>
                        <a:rPr lang="es-AR" sz="1050" b="0" i="0" u="none" strike="noStrike" dirty="0">
                          <a:solidFill>
                            <a:srgbClr val="000000"/>
                          </a:solidFill>
                          <a:effectLst/>
                          <a:latin typeface="Arial" panose="020B0604020202020204" pitchFamily="34" charset="0"/>
                        </a:rPr>
                        <a:t>Brasil</a:t>
                      </a:r>
                      <a:endParaRPr lang="es-AR" sz="2400" dirty="0">
                        <a:effectLst/>
                      </a:endParaRPr>
                    </a:p>
                  </a:txBody>
                  <a:tcPr marL="50800" marR="50800" anchor="ctr">
                    <a:lnL w="8649" cap="flat" cmpd="sng" algn="ctr">
                      <a:solidFill>
                        <a:srgbClr val="000000"/>
                      </a:solidFill>
                      <a:prstDash val="solid"/>
                      <a:round/>
                      <a:headEnd type="none" w="med" len="med"/>
                      <a:tailEnd type="none" w="med" len="med"/>
                    </a:lnL>
                    <a:lnR w="8649" cap="flat" cmpd="sng" algn="ctr">
                      <a:solidFill>
                        <a:srgbClr val="000000"/>
                      </a:solidFill>
                      <a:prstDash val="dash"/>
                      <a:round/>
                      <a:headEnd type="none" w="med" len="med"/>
                      <a:tailEnd type="none" w="med" len="med"/>
                    </a:lnR>
                    <a:lnT w="8649" cap="flat" cmpd="sng" algn="ctr">
                      <a:solidFill>
                        <a:srgbClr val="000000"/>
                      </a:solidFill>
                      <a:prstDash val="solid"/>
                      <a:round/>
                      <a:headEnd type="none" w="med" len="med"/>
                      <a:tailEnd type="none" w="med" len="med"/>
                    </a:lnT>
                    <a:lnB w="8649" cap="flat" cmpd="sng" algn="ctr">
                      <a:solidFill>
                        <a:srgbClr val="000000"/>
                      </a:solidFill>
                      <a:prstDash val="dash"/>
                      <a:round/>
                      <a:headEnd type="none" w="med" len="med"/>
                      <a:tailEnd type="none" w="med" len="med"/>
                    </a:lnB>
                    <a:noFill/>
                  </a:tcPr>
                </a:tc>
                <a:tc>
                  <a:txBody>
                    <a:bodyPr/>
                    <a:lstStyle/>
                    <a:p>
                      <a:pPr algn="r" rtl="0" fontAlgn="ctr">
                        <a:spcBef>
                          <a:spcPts val="1200"/>
                        </a:spcBef>
                        <a:buNone/>
                      </a:pPr>
                      <a:r>
                        <a:rPr lang="es-AR" sz="1050" b="0" i="0" u="none" strike="noStrike">
                          <a:solidFill>
                            <a:srgbClr val="000000"/>
                          </a:solidFill>
                          <a:effectLst/>
                          <a:latin typeface="Arial" panose="020B0604020202020204" pitchFamily="34" charset="0"/>
                        </a:rPr>
                        <a:t>8,4</a:t>
                      </a:r>
                      <a:endParaRPr lang="es-AR" sz="2400">
                        <a:effectLst/>
                      </a:endParaRPr>
                    </a:p>
                  </a:txBody>
                  <a:tcPr marL="50800" marR="50800" anchor="ctr">
                    <a:lnL w="8649" cap="flat" cmpd="sng" algn="ctr">
                      <a:solidFill>
                        <a:srgbClr val="000000"/>
                      </a:solidFill>
                      <a:prstDash val="dash"/>
                      <a:round/>
                      <a:headEnd type="none" w="med" len="med"/>
                      <a:tailEnd type="none" w="med" len="med"/>
                    </a:lnL>
                    <a:lnR w="8649" cap="flat" cmpd="sng" algn="ctr">
                      <a:solidFill>
                        <a:srgbClr val="000000"/>
                      </a:solidFill>
                      <a:prstDash val="solid"/>
                      <a:round/>
                      <a:headEnd type="none" w="med" len="med"/>
                      <a:tailEnd type="none" w="med" len="med"/>
                    </a:lnR>
                    <a:lnT w="8649" cap="flat" cmpd="sng" algn="ctr">
                      <a:solidFill>
                        <a:srgbClr val="000000"/>
                      </a:solidFill>
                      <a:prstDash val="solid"/>
                      <a:round/>
                      <a:headEnd type="none" w="med" len="med"/>
                      <a:tailEnd type="none" w="med" len="med"/>
                    </a:lnT>
                    <a:lnB w="8649" cap="flat" cmpd="sng" algn="ctr">
                      <a:solidFill>
                        <a:srgbClr val="000000"/>
                      </a:solidFill>
                      <a:prstDash val="dash"/>
                      <a:round/>
                      <a:headEnd type="none" w="med" len="med"/>
                      <a:tailEnd type="none" w="med" len="med"/>
                    </a:lnB>
                    <a:noFill/>
                  </a:tcPr>
                </a:tc>
                <a:tc>
                  <a:txBody>
                    <a:bodyPr/>
                    <a:lstStyle/>
                    <a:p>
                      <a:pPr rtl="0" fontAlgn="ctr">
                        <a:spcBef>
                          <a:spcPts val="1200"/>
                        </a:spcBef>
                        <a:buNone/>
                      </a:pPr>
                      <a:r>
                        <a:rPr lang="es-AR" sz="1050" b="0" i="0" u="none" strike="noStrike">
                          <a:solidFill>
                            <a:srgbClr val="000000"/>
                          </a:solidFill>
                          <a:effectLst/>
                          <a:latin typeface="Arial" panose="020B0604020202020204" pitchFamily="34" charset="0"/>
                        </a:rPr>
                        <a:t>Brasil</a:t>
                      </a:r>
                      <a:endParaRPr lang="es-AR" sz="2400">
                        <a:effectLst/>
                      </a:endParaRPr>
                    </a:p>
                  </a:txBody>
                  <a:tcPr marL="50800" marR="50800" anchor="ctr">
                    <a:lnL w="8649" cap="flat" cmpd="sng" algn="ctr">
                      <a:solidFill>
                        <a:srgbClr val="000000"/>
                      </a:solidFill>
                      <a:prstDash val="solid"/>
                      <a:round/>
                      <a:headEnd type="none" w="med" len="med"/>
                      <a:tailEnd type="none" w="med" len="med"/>
                    </a:lnL>
                    <a:lnR w="8649" cap="flat" cmpd="sng" algn="ctr">
                      <a:solidFill>
                        <a:srgbClr val="000000"/>
                      </a:solidFill>
                      <a:prstDash val="dash"/>
                      <a:round/>
                      <a:headEnd type="none" w="med" len="med"/>
                      <a:tailEnd type="none" w="med" len="med"/>
                    </a:lnR>
                    <a:lnT w="8649" cap="flat" cmpd="sng" algn="ctr">
                      <a:solidFill>
                        <a:srgbClr val="000000"/>
                      </a:solidFill>
                      <a:prstDash val="solid"/>
                      <a:round/>
                      <a:headEnd type="none" w="med" len="med"/>
                      <a:tailEnd type="none" w="med" len="med"/>
                    </a:lnT>
                    <a:lnB w="8649" cap="flat" cmpd="sng" algn="ctr">
                      <a:solidFill>
                        <a:srgbClr val="000000"/>
                      </a:solidFill>
                      <a:prstDash val="dash"/>
                      <a:round/>
                      <a:headEnd type="none" w="med" len="med"/>
                      <a:tailEnd type="none" w="med" len="med"/>
                    </a:lnB>
                    <a:noFill/>
                  </a:tcPr>
                </a:tc>
                <a:tc>
                  <a:txBody>
                    <a:bodyPr/>
                    <a:lstStyle/>
                    <a:p>
                      <a:pPr algn="r" rtl="0" fontAlgn="ctr">
                        <a:spcBef>
                          <a:spcPts val="1200"/>
                        </a:spcBef>
                        <a:buNone/>
                      </a:pPr>
                      <a:r>
                        <a:rPr lang="es-AR" sz="1050" b="0" i="0" u="none" strike="noStrike">
                          <a:solidFill>
                            <a:srgbClr val="000000"/>
                          </a:solidFill>
                          <a:effectLst/>
                          <a:latin typeface="Arial" panose="020B0604020202020204" pitchFamily="34" charset="0"/>
                        </a:rPr>
                        <a:t>18,9</a:t>
                      </a:r>
                      <a:endParaRPr lang="es-AR" sz="2400">
                        <a:effectLst/>
                      </a:endParaRPr>
                    </a:p>
                  </a:txBody>
                  <a:tcPr marL="50800" marR="50800" anchor="ctr">
                    <a:lnL w="8649" cap="flat" cmpd="sng" algn="ctr">
                      <a:solidFill>
                        <a:srgbClr val="000000"/>
                      </a:solidFill>
                      <a:prstDash val="dash"/>
                      <a:round/>
                      <a:headEnd type="none" w="med" len="med"/>
                      <a:tailEnd type="none" w="med" len="med"/>
                    </a:lnL>
                    <a:lnR w="8649" cap="flat" cmpd="sng" algn="ctr">
                      <a:solidFill>
                        <a:srgbClr val="000000"/>
                      </a:solidFill>
                      <a:prstDash val="solid"/>
                      <a:round/>
                      <a:headEnd type="none" w="med" len="med"/>
                      <a:tailEnd type="none" w="med" len="med"/>
                    </a:lnR>
                    <a:lnT w="8649" cap="flat" cmpd="sng" algn="ctr">
                      <a:solidFill>
                        <a:srgbClr val="000000"/>
                      </a:solidFill>
                      <a:prstDash val="solid"/>
                      <a:round/>
                      <a:headEnd type="none" w="med" len="med"/>
                      <a:tailEnd type="none" w="med" len="med"/>
                    </a:lnT>
                    <a:lnB w="8649" cap="flat" cmpd="sng" algn="ctr">
                      <a:solidFill>
                        <a:srgbClr val="000000"/>
                      </a:solidFill>
                      <a:prstDash val="dash"/>
                      <a:round/>
                      <a:headEnd type="none" w="med" len="med"/>
                      <a:tailEnd type="none" w="med" len="med"/>
                    </a:lnB>
                    <a:noFill/>
                  </a:tcPr>
                </a:tc>
                <a:extLst>
                  <a:ext uri="{0D108BD9-81ED-4DB2-BD59-A6C34878D82A}">
                    <a16:rowId xmlns:a16="http://schemas.microsoft.com/office/drawing/2014/main" val="243998500"/>
                  </a:ext>
                </a:extLst>
              </a:tr>
              <a:tr h="233327">
                <a:tc vMerge="1">
                  <a:txBody>
                    <a:bodyPr/>
                    <a:lstStyle/>
                    <a:p>
                      <a:endParaRPr lang="es-AR"/>
                    </a:p>
                  </a:txBody>
                  <a:tcPr/>
                </a:tc>
                <a:tc>
                  <a:txBody>
                    <a:bodyPr/>
                    <a:lstStyle/>
                    <a:p>
                      <a:pPr algn="ctr" rtl="0" fontAlgn="ctr">
                        <a:spcBef>
                          <a:spcPts val="1200"/>
                        </a:spcBef>
                        <a:buNone/>
                      </a:pPr>
                      <a:r>
                        <a:rPr lang="es-AR" sz="1050" b="0" i="0" u="none" strike="noStrike">
                          <a:solidFill>
                            <a:srgbClr val="000000"/>
                          </a:solidFill>
                          <a:effectLst/>
                          <a:latin typeface="Arial" panose="020B0604020202020204" pitchFamily="34" charset="0"/>
                        </a:rPr>
                        <a:t>2</a:t>
                      </a:r>
                      <a:endParaRPr lang="es-AR" sz="2400">
                        <a:effectLst/>
                      </a:endParaRPr>
                    </a:p>
                  </a:txBody>
                  <a:tcPr marL="50800" marR="50800" anchor="ctr">
                    <a:lnL w="8649" cap="flat" cmpd="sng" algn="ctr">
                      <a:solidFill>
                        <a:srgbClr val="000000"/>
                      </a:solidFill>
                      <a:prstDash val="solid"/>
                      <a:round/>
                      <a:headEnd type="none" w="med" len="med"/>
                      <a:tailEnd type="none" w="med" len="med"/>
                    </a:lnL>
                    <a:lnR w="8649" cap="flat" cmpd="sng" algn="ctr">
                      <a:solidFill>
                        <a:srgbClr val="000000"/>
                      </a:solidFill>
                      <a:prstDash val="solid"/>
                      <a:round/>
                      <a:headEnd type="none" w="med" len="med"/>
                      <a:tailEnd type="none" w="med" len="med"/>
                    </a:lnR>
                    <a:lnT w="8649" cap="flat" cmpd="sng" algn="ctr">
                      <a:solidFill>
                        <a:srgbClr val="000000"/>
                      </a:solidFill>
                      <a:prstDash val="dash"/>
                      <a:round/>
                      <a:headEnd type="none" w="med" len="med"/>
                      <a:tailEnd type="none" w="med" len="med"/>
                    </a:lnT>
                    <a:lnB w="8649" cap="flat" cmpd="sng" algn="ctr">
                      <a:solidFill>
                        <a:srgbClr val="000000"/>
                      </a:solidFill>
                      <a:prstDash val="dash"/>
                      <a:round/>
                      <a:headEnd type="none" w="med" len="med"/>
                      <a:tailEnd type="none" w="med" len="med"/>
                    </a:lnB>
                    <a:noFill/>
                  </a:tcPr>
                </a:tc>
                <a:tc>
                  <a:txBody>
                    <a:bodyPr/>
                    <a:lstStyle/>
                    <a:p>
                      <a:pPr algn="just" rtl="0" fontAlgn="ctr">
                        <a:spcBef>
                          <a:spcPts val="1200"/>
                        </a:spcBef>
                        <a:buNone/>
                      </a:pPr>
                      <a:r>
                        <a:rPr lang="es-AR" sz="1050" b="0" i="0" u="none" strike="noStrike">
                          <a:solidFill>
                            <a:srgbClr val="000000"/>
                          </a:solidFill>
                          <a:effectLst/>
                          <a:latin typeface="Arial" panose="020B0604020202020204" pitchFamily="34" charset="0"/>
                        </a:rPr>
                        <a:t>China</a:t>
                      </a:r>
                      <a:endParaRPr lang="es-AR" sz="2400">
                        <a:effectLst/>
                      </a:endParaRPr>
                    </a:p>
                  </a:txBody>
                  <a:tcPr marL="50800" marR="50800" anchor="ctr">
                    <a:lnL w="8649" cap="flat" cmpd="sng" algn="ctr">
                      <a:solidFill>
                        <a:srgbClr val="000000"/>
                      </a:solidFill>
                      <a:prstDash val="solid"/>
                      <a:round/>
                      <a:headEnd type="none" w="med" len="med"/>
                      <a:tailEnd type="none" w="med" len="med"/>
                    </a:lnL>
                    <a:lnR w="8649" cap="flat" cmpd="sng" algn="ctr">
                      <a:solidFill>
                        <a:srgbClr val="000000"/>
                      </a:solidFill>
                      <a:prstDash val="dash"/>
                      <a:round/>
                      <a:headEnd type="none" w="med" len="med"/>
                      <a:tailEnd type="none" w="med" len="med"/>
                    </a:lnR>
                    <a:lnT w="8649" cap="flat" cmpd="sng" algn="ctr">
                      <a:solidFill>
                        <a:srgbClr val="000000"/>
                      </a:solidFill>
                      <a:prstDash val="dash"/>
                      <a:round/>
                      <a:headEnd type="none" w="med" len="med"/>
                      <a:tailEnd type="none" w="med" len="med"/>
                    </a:lnT>
                    <a:lnB w="8649" cap="flat" cmpd="sng" algn="ctr">
                      <a:solidFill>
                        <a:srgbClr val="000000"/>
                      </a:solidFill>
                      <a:prstDash val="dash"/>
                      <a:round/>
                      <a:headEnd type="none" w="med" len="med"/>
                      <a:tailEnd type="none" w="med" len="med"/>
                    </a:lnB>
                    <a:noFill/>
                  </a:tcPr>
                </a:tc>
                <a:tc>
                  <a:txBody>
                    <a:bodyPr/>
                    <a:lstStyle/>
                    <a:p>
                      <a:pPr algn="r" rtl="0" fontAlgn="ctr">
                        <a:spcBef>
                          <a:spcPts val="1200"/>
                        </a:spcBef>
                        <a:buNone/>
                      </a:pPr>
                      <a:r>
                        <a:rPr lang="es-AR" sz="1050" b="0" i="0" u="none" strike="noStrike">
                          <a:solidFill>
                            <a:srgbClr val="000000"/>
                          </a:solidFill>
                          <a:effectLst/>
                          <a:latin typeface="Arial" panose="020B0604020202020204" pitchFamily="34" charset="0"/>
                        </a:rPr>
                        <a:t>8,1</a:t>
                      </a:r>
                      <a:endParaRPr lang="es-AR" sz="2400">
                        <a:effectLst/>
                      </a:endParaRPr>
                    </a:p>
                  </a:txBody>
                  <a:tcPr marL="50800" marR="50800" anchor="ctr">
                    <a:lnL w="8649" cap="flat" cmpd="sng" algn="ctr">
                      <a:solidFill>
                        <a:srgbClr val="000000"/>
                      </a:solidFill>
                      <a:prstDash val="dash"/>
                      <a:round/>
                      <a:headEnd type="none" w="med" len="med"/>
                      <a:tailEnd type="none" w="med" len="med"/>
                    </a:lnL>
                    <a:lnR w="8649" cap="flat" cmpd="sng" algn="ctr">
                      <a:solidFill>
                        <a:srgbClr val="000000"/>
                      </a:solidFill>
                      <a:prstDash val="solid"/>
                      <a:round/>
                      <a:headEnd type="none" w="med" len="med"/>
                      <a:tailEnd type="none" w="med" len="med"/>
                    </a:lnR>
                    <a:lnT w="8649" cap="flat" cmpd="sng" algn="ctr">
                      <a:solidFill>
                        <a:srgbClr val="000000"/>
                      </a:solidFill>
                      <a:prstDash val="dash"/>
                      <a:round/>
                      <a:headEnd type="none" w="med" len="med"/>
                      <a:tailEnd type="none" w="med" len="med"/>
                    </a:lnT>
                    <a:lnB w="8649" cap="flat" cmpd="sng" algn="ctr">
                      <a:solidFill>
                        <a:srgbClr val="000000"/>
                      </a:solidFill>
                      <a:prstDash val="dash"/>
                      <a:round/>
                      <a:headEnd type="none" w="med" len="med"/>
                      <a:tailEnd type="none" w="med" len="med"/>
                    </a:lnB>
                    <a:noFill/>
                  </a:tcPr>
                </a:tc>
                <a:tc>
                  <a:txBody>
                    <a:bodyPr/>
                    <a:lstStyle/>
                    <a:p>
                      <a:pPr rtl="0" fontAlgn="ctr">
                        <a:spcBef>
                          <a:spcPts val="1200"/>
                        </a:spcBef>
                        <a:buNone/>
                      </a:pPr>
                      <a:r>
                        <a:rPr lang="es-AR" sz="1050" b="0" i="0" u="none" strike="noStrike">
                          <a:solidFill>
                            <a:srgbClr val="000000"/>
                          </a:solidFill>
                          <a:effectLst/>
                          <a:latin typeface="Arial" panose="020B0604020202020204" pitchFamily="34" charset="0"/>
                        </a:rPr>
                        <a:t>Chile</a:t>
                      </a:r>
                      <a:endParaRPr lang="es-AR" sz="2400">
                        <a:effectLst/>
                      </a:endParaRPr>
                    </a:p>
                  </a:txBody>
                  <a:tcPr marL="50800" marR="50800" anchor="ctr">
                    <a:lnL w="8649" cap="flat" cmpd="sng" algn="ctr">
                      <a:solidFill>
                        <a:srgbClr val="000000"/>
                      </a:solidFill>
                      <a:prstDash val="solid"/>
                      <a:round/>
                      <a:headEnd type="none" w="med" len="med"/>
                      <a:tailEnd type="none" w="med" len="med"/>
                    </a:lnL>
                    <a:lnR w="8649" cap="flat" cmpd="sng" algn="ctr">
                      <a:solidFill>
                        <a:srgbClr val="000000"/>
                      </a:solidFill>
                      <a:prstDash val="dash"/>
                      <a:round/>
                      <a:headEnd type="none" w="med" len="med"/>
                      <a:tailEnd type="none" w="med" len="med"/>
                    </a:lnR>
                    <a:lnT w="8649" cap="flat" cmpd="sng" algn="ctr">
                      <a:solidFill>
                        <a:srgbClr val="000000"/>
                      </a:solidFill>
                      <a:prstDash val="dash"/>
                      <a:round/>
                      <a:headEnd type="none" w="med" len="med"/>
                      <a:tailEnd type="none" w="med" len="med"/>
                    </a:lnT>
                    <a:lnB w="8649" cap="flat" cmpd="sng" algn="ctr">
                      <a:solidFill>
                        <a:srgbClr val="000000"/>
                      </a:solidFill>
                      <a:prstDash val="dash"/>
                      <a:round/>
                      <a:headEnd type="none" w="med" len="med"/>
                      <a:tailEnd type="none" w="med" len="med"/>
                    </a:lnB>
                    <a:noFill/>
                  </a:tcPr>
                </a:tc>
                <a:tc>
                  <a:txBody>
                    <a:bodyPr/>
                    <a:lstStyle/>
                    <a:p>
                      <a:pPr algn="r" rtl="0" fontAlgn="ctr">
                        <a:spcBef>
                          <a:spcPts val="1200"/>
                        </a:spcBef>
                        <a:buNone/>
                      </a:pPr>
                      <a:r>
                        <a:rPr lang="es-AR" sz="1050" b="0" i="0" u="none" strike="noStrike">
                          <a:solidFill>
                            <a:srgbClr val="000000"/>
                          </a:solidFill>
                          <a:effectLst/>
                          <a:latin typeface="Arial" panose="020B0604020202020204" pitchFamily="34" charset="0"/>
                        </a:rPr>
                        <a:t>11,5</a:t>
                      </a:r>
                      <a:endParaRPr lang="es-AR" sz="2400">
                        <a:effectLst/>
                      </a:endParaRPr>
                    </a:p>
                  </a:txBody>
                  <a:tcPr marL="50800" marR="50800" anchor="ctr">
                    <a:lnL w="8649" cap="flat" cmpd="sng" algn="ctr">
                      <a:solidFill>
                        <a:srgbClr val="000000"/>
                      </a:solidFill>
                      <a:prstDash val="dash"/>
                      <a:round/>
                      <a:headEnd type="none" w="med" len="med"/>
                      <a:tailEnd type="none" w="med" len="med"/>
                    </a:lnL>
                    <a:lnR w="8649" cap="flat" cmpd="sng" algn="ctr">
                      <a:solidFill>
                        <a:srgbClr val="000000"/>
                      </a:solidFill>
                      <a:prstDash val="solid"/>
                      <a:round/>
                      <a:headEnd type="none" w="med" len="med"/>
                      <a:tailEnd type="none" w="med" len="med"/>
                    </a:lnR>
                    <a:lnT w="8649" cap="flat" cmpd="sng" algn="ctr">
                      <a:solidFill>
                        <a:srgbClr val="000000"/>
                      </a:solidFill>
                      <a:prstDash val="dash"/>
                      <a:round/>
                      <a:headEnd type="none" w="med" len="med"/>
                      <a:tailEnd type="none" w="med" len="med"/>
                    </a:lnT>
                    <a:lnB w="8649" cap="flat" cmpd="sng" algn="ctr">
                      <a:solidFill>
                        <a:srgbClr val="000000"/>
                      </a:solidFill>
                      <a:prstDash val="dash"/>
                      <a:round/>
                      <a:headEnd type="none" w="med" len="med"/>
                      <a:tailEnd type="none" w="med" len="med"/>
                    </a:lnB>
                    <a:noFill/>
                  </a:tcPr>
                </a:tc>
                <a:extLst>
                  <a:ext uri="{0D108BD9-81ED-4DB2-BD59-A6C34878D82A}">
                    <a16:rowId xmlns:a16="http://schemas.microsoft.com/office/drawing/2014/main" val="3574585685"/>
                  </a:ext>
                </a:extLst>
              </a:tr>
              <a:tr h="233327">
                <a:tc vMerge="1">
                  <a:txBody>
                    <a:bodyPr/>
                    <a:lstStyle/>
                    <a:p>
                      <a:endParaRPr lang="es-AR"/>
                    </a:p>
                  </a:txBody>
                  <a:tcPr/>
                </a:tc>
                <a:tc>
                  <a:txBody>
                    <a:bodyPr/>
                    <a:lstStyle/>
                    <a:p>
                      <a:pPr algn="ctr" rtl="0" fontAlgn="ctr">
                        <a:spcBef>
                          <a:spcPts val="1200"/>
                        </a:spcBef>
                        <a:buNone/>
                      </a:pPr>
                      <a:r>
                        <a:rPr lang="es-AR" sz="1050" b="0" i="0" u="none" strike="noStrike">
                          <a:solidFill>
                            <a:srgbClr val="000000"/>
                          </a:solidFill>
                          <a:effectLst/>
                          <a:latin typeface="Arial" panose="020B0604020202020204" pitchFamily="34" charset="0"/>
                        </a:rPr>
                        <a:t>3</a:t>
                      </a:r>
                      <a:endParaRPr lang="es-AR" sz="2400">
                        <a:effectLst/>
                      </a:endParaRPr>
                    </a:p>
                  </a:txBody>
                  <a:tcPr marL="50800" marR="50800" anchor="ctr">
                    <a:lnL w="8649" cap="flat" cmpd="sng" algn="ctr">
                      <a:solidFill>
                        <a:srgbClr val="000000"/>
                      </a:solidFill>
                      <a:prstDash val="solid"/>
                      <a:round/>
                      <a:headEnd type="none" w="med" len="med"/>
                      <a:tailEnd type="none" w="med" len="med"/>
                    </a:lnL>
                    <a:lnR w="8649" cap="flat" cmpd="sng" algn="ctr">
                      <a:solidFill>
                        <a:srgbClr val="000000"/>
                      </a:solidFill>
                      <a:prstDash val="solid"/>
                      <a:round/>
                      <a:headEnd type="none" w="med" len="med"/>
                      <a:tailEnd type="none" w="med" len="med"/>
                    </a:lnR>
                    <a:lnT w="8649" cap="flat" cmpd="sng" algn="ctr">
                      <a:solidFill>
                        <a:srgbClr val="000000"/>
                      </a:solidFill>
                      <a:prstDash val="dash"/>
                      <a:round/>
                      <a:headEnd type="none" w="med" len="med"/>
                      <a:tailEnd type="none" w="med" len="med"/>
                    </a:lnT>
                    <a:lnB w="8649" cap="flat" cmpd="sng" algn="ctr">
                      <a:solidFill>
                        <a:srgbClr val="000000"/>
                      </a:solidFill>
                      <a:prstDash val="dash"/>
                      <a:round/>
                      <a:headEnd type="none" w="med" len="med"/>
                      <a:tailEnd type="none" w="med" len="med"/>
                    </a:lnB>
                    <a:noFill/>
                  </a:tcPr>
                </a:tc>
                <a:tc>
                  <a:txBody>
                    <a:bodyPr/>
                    <a:lstStyle/>
                    <a:p>
                      <a:pPr algn="just" rtl="0" fontAlgn="ctr">
                        <a:spcBef>
                          <a:spcPts val="1200"/>
                        </a:spcBef>
                        <a:buNone/>
                      </a:pPr>
                      <a:r>
                        <a:rPr lang="es-AR" sz="1050" b="0" i="0" u="none" strike="noStrike">
                          <a:solidFill>
                            <a:srgbClr val="000000"/>
                          </a:solidFill>
                          <a:effectLst/>
                          <a:latin typeface="Arial" panose="020B0604020202020204" pitchFamily="34" charset="0"/>
                        </a:rPr>
                        <a:t>Italia</a:t>
                      </a:r>
                      <a:endParaRPr lang="es-AR" sz="2400">
                        <a:effectLst/>
                      </a:endParaRPr>
                    </a:p>
                  </a:txBody>
                  <a:tcPr marL="50800" marR="50800" anchor="ctr">
                    <a:lnL w="8649" cap="flat" cmpd="sng" algn="ctr">
                      <a:solidFill>
                        <a:srgbClr val="000000"/>
                      </a:solidFill>
                      <a:prstDash val="solid"/>
                      <a:round/>
                      <a:headEnd type="none" w="med" len="med"/>
                      <a:tailEnd type="none" w="med" len="med"/>
                    </a:lnL>
                    <a:lnR w="8649" cap="flat" cmpd="sng" algn="ctr">
                      <a:solidFill>
                        <a:srgbClr val="000000"/>
                      </a:solidFill>
                      <a:prstDash val="dash"/>
                      <a:round/>
                      <a:headEnd type="none" w="med" len="med"/>
                      <a:tailEnd type="none" w="med" len="med"/>
                    </a:lnR>
                    <a:lnT w="8649" cap="flat" cmpd="sng" algn="ctr">
                      <a:solidFill>
                        <a:srgbClr val="000000"/>
                      </a:solidFill>
                      <a:prstDash val="dash"/>
                      <a:round/>
                      <a:headEnd type="none" w="med" len="med"/>
                      <a:tailEnd type="none" w="med" len="med"/>
                    </a:lnT>
                    <a:lnB w="8649" cap="flat" cmpd="sng" algn="ctr">
                      <a:solidFill>
                        <a:srgbClr val="000000"/>
                      </a:solidFill>
                      <a:prstDash val="dash"/>
                      <a:round/>
                      <a:headEnd type="none" w="med" len="med"/>
                      <a:tailEnd type="none" w="med" len="med"/>
                    </a:lnB>
                    <a:noFill/>
                  </a:tcPr>
                </a:tc>
                <a:tc>
                  <a:txBody>
                    <a:bodyPr/>
                    <a:lstStyle/>
                    <a:p>
                      <a:pPr algn="r" rtl="0" fontAlgn="ctr">
                        <a:spcBef>
                          <a:spcPts val="1200"/>
                        </a:spcBef>
                        <a:buNone/>
                      </a:pPr>
                      <a:r>
                        <a:rPr lang="es-AR" sz="1050" b="0" i="0" u="none" strike="noStrike">
                          <a:solidFill>
                            <a:srgbClr val="000000"/>
                          </a:solidFill>
                          <a:effectLst/>
                          <a:latin typeface="Arial" panose="020B0604020202020204" pitchFamily="34" charset="0"/>
                        </a:rPr>
                        <a:t>6,6</a:t>
                      </a:r>
                      <a:endParaRPr lang="es-AR" sz="2400">
                        <a:effectLst/>
                      </a:endParaRPr>
                    </a:p>
                  </a:txBody>
                  <a:tcPr marL="50800" marR="50800" anchor="ctr">
                    <a:lnL w="8649" cap="flat" cmpd="sng" algn="ctr">
                      <a:solidFill>
                        <a:srgbClr val="000000"/>
                      </a:solidFill>
                      <a:prstDash val="dash"/>
                      <a:round/>
                      <a:headEnd type="none" w="med" len="med"/>
                      <a:tailEnd type="none" w="med" len="med"/>
                    </a:lnL>
                    <a:lnR w="8649" cap="flat" cmpd="sng" algn="ctr">
                      <a:solidFill>
                        <a:srgbClr val="000000"/>
                      </a:solidFill>
                      <a:prstDash val="solid"/>
                      <a:round/>
                      <a:headEnd type="none" w="med" len="med"/>
                      <a:tailEnd type="none" w="med" len="med"/>
                    </a:lnR>
                    <a:lnT w="8649" cap="flat" cmpd="sng" algn="ctr">
                      <a:solidFill>
                        <a:srgbClr val="000000"/>
                      </a:solidFill>
                      <a:prstDash val="dash"/>
                      <a:round/>
                      <a:headEnd type="none" w="med" len="med"/>
                      <a:tailEnd type="none" w="med" len="med"/>
                    </a:lnT>
                    <a:lnB w="8649" cap="flat" cmpd="sng" algn="ctr">
                      <a:solidFill>
                        <a:srgbClr val="000000"/>
                      </a:solidFill>
                      <a:prstDash val="dash"/>
                      <a:round/>
                      <a:headEnd type="none" w="med" len="med"/>
                      <a:tailEnd type="none" w="med" len="med"/>
                    </a:lnB>
                    <a:noFill/>
                  </a:tcPr>
                </a:tc>
                <a:tc>
                  <a:txBody>
                    <a:bodyPr/>
                    <a:lstStyle/>
                    <a:p>
                      <a:pPr rtl="0" fontAlgn="ctr">
                        <a:spcBef>
                          <a:spcPts val="1200"/>
                        </a:spcBef>
                        <a:buNone/>
                      </a:pPr>
                      <a:r>
                        <a:rPr lang="es-AR" sz="1050" b="0" i="0" u="none" strike="noStrike">
                          <a:solidFill>
                            <a:srgbClr val="000000"/>
                          </a:solidFill>
                          <a:effectLst/>
                          <a:latin typeface="Arial" panose="020B0604020202020204" pitchFamily="34" charset="0"/>
                        </a:rPr>
                        <a:t>USA</a:t>
                      </a:r>
                      <a:endParaRPr lang="es-AR" sz="2400">
                        <a:effectLst/>
                      </a:endParaRPr>
                    </a:p>
                  </a:txBody>
                  <a:tcPr marL="50800" marR="50800" anchor="ctr">
                    <a:lnL w="8649" cap="flat" cmpd="sng" algn="ctr">
                      <a:solidFill>
                        <a:srgbClr val="000000"/>
                      </a:solidFill>
                      <a:prstDash val="solid"/>
                      <a:round/>
                      <a:headEnd type="none" w="med" len="med"/>
                      <a:tailEnd type="none" w="med" len="med"/>
                    </a:lnL>
                    <a:lnR w="8649" cap="flat" cmpd="sng" algn="ctr">
                      <a:solidFill>
                        <a:srgbClr val="000000"/>
                      </a:solidFill>
                      <a:prstDash val="dash"/>
                      <a:round/>
                      <a:headEnd type="none" w="med" len="med"/>
                      <a:tailEnd type="none" w="med" len="med"/>
                    </a:lnR>
                    <a:lnT w="8649" cap="flat" cmpd="sng" algn="ctr">
                      <a:solidFill>
                        <a:srgbClr val="000000"/>
                      </a:solidFill>
                      <a:prstDash val="dash"/>
                      <a:round/>
                      <a:headEnd type="none" w="med" len="med"/>
                      <a:tailEnd type="none" w="med" len="med"/>
                    </a:lnT>
                    <a:lnB w="8649" cap="flat" cmpd="sng" algn="ctr">
                      <a:solidFill>
                        <a:srgbClr val="000000"/>
                      </a:solidFill>
                      <a:prstDash val="dash"/>
                      <a:round/>
                      <a:headEnd type="none" w="med" len="med"/>
                      <a:tailEnd type="none" w="med" len="med"/>
                    </a:lnB>
                    <a:noFill/>
                  </a:tcPr>
                </a:tc>
                <a:tc>
                  <a:txBody>
                    <a:bodyPr/>
                    <a:lstStyle/>
                    <a:p>
                      <a:pPr algn="r" rtl="0" fontAlgn="ctr">
                        <a:spcBef>
                          <a:spcPts val="1200"/>
                        </a:spcBef>
                        <a:buNone/>
                      </a:pPr>
                      <a:r>
                        <a:rPr lang="es-AR" sz="1050" b="0" i="0" u="none" strike="noStrike">
                          <a:solidFill>
                            <a:srgbClr val="000000"/>
                          </a:solidFill>
                          <a:effectLst/>
                          <a:latin typeface="Arial" panose="020B0604020202020204" pitchFamily="34" charset="0"/>
                        </a:rPr>
                        <a:t>11,3</a:t>
                      </a:r>
                      <a:endParaRPr lang="es-AR" sz="2400">
                        <a:effectLst/>
                      </a:endParaRPr>
                    </a:p>
                  </a:txBody>
                  <a:tcPr marL="50800" marR="50800" anchor="ctr">
                    <a:lnL w="8649" cap="flat" cmpd="sng" algn="ctr">
                      <a:solidFill>
                        <a:srgbClr val="000000"/>
                      </a:solidFill>
                      <a:prstDash val="dash"/>
                      <a:round/>
                      <a:headEnd type="none" w="med" len="med"/>
                      <a:tailEnd type="none" w="med" len="med"/>
                    </a:lnL>
                    <a:lnR w="8649" cap="flat" cmpd="sng" algn="ctr">
                      <a:solidFill>
                        <a:srgbClr val="000000"/>
                      </a:solidFill>
                      <a:prstDash val="solid"/>
                      <a:round/>
                      <a:headEnd type="none" w="med" len="med"/>
                      <a:tailEnd type="none" w="med" len="med"/>
                    </a:lnR>
                    <a:lnT w="8649" cap="flat" cmpd="sng" algn="ctr">
                      <a:solidFill>
                        <a:srgbClr val="000000"/>
                      </a:solidFill>
                      <a:prstDash val="dash"/>
                      <a:round/>
                      <a:headEnd type="none" w="med" len="med"/>
                      <a:tailEnd type="none" w="med" len="med"/>
                    </a:lnT>
                    <a:lnB w="8649" cap="flat" cmpd="sng" algn="ctr">
                      <a:solidFill>
                        <a:srgbClr val="000000"/>
                      </a:solidFill>
                      <a:prstDash val="dash"/>
                      <a:round/>
                      <a:headEnd type="none" w="med" len="med"/>
                      <a:tailEnd type="none" w="med" len="med"/>
                    </a:lnB>
                    <a:noFill/>
                  </a:tcPr>
                </a:tc>
                <a:extLst>
                  <a:ext uri="{0D108BD9-81ED-4DB2-BD59-A6C34878D82A}">
                    <a16:rowId xmlns:a16="http://schemas.microsoft.com/office/drawing/2014/main" val="1449833694"/>
                  </a:ext>
                </a:extLst>
              </a:tr>
              <a:tr h="233327">
                <a:tc vMerge="1">
                  <a:txBody>
                    <a:bodyPr/>
                    <a:lstStyle/>
                    <a:p>
                      <a:endParaRPr lang="es-AR"/>
                    </a:p>
                  </a:txBody>
                  <a:tcPr/>
                </a:tc>
                <a:tc>
                  <a:txBody>
                    <a:bodyPr/>
                    <a:lstStyle/>
                    <a:p>
                      <a:pPr algn="ctr" rtl="0" fontAlgn="ctr">
                        <a:spcBef>
                          <a:spcPts val="1200"/>
                        </a:spcBef>
                        <a:buNone/>
                      </a:pPr>
                      <a:r>
                        <a:rPr lang="es-AR" sz="1050" b="0" i="0" u="none" strike="noStrike">
                          <a:solidFill>
                            <a:srgbClr val="000000"/>
                          </a:solidFill>
                          <a:effectLst/>
                          <a:latin typeface="Arial" panose="020B0604020202020204" pitchFamily="34" charset="0"/>
                        </a:rPr>
                        <a:t>4</a:t>
                      </a:r>
                      <a:endParaRPr lang="es-AR" sz="2400">
                        <a:effectLst/>
                      </a:endParaRPr>
                    </a:p>
                  </a:txBody>
                  <a:tcPr marL="50800" marR="50800" anchor="ctr">
                    <a:lnL w="8649" cap="flat" cmpd="sng" algn="ctr">
                      <a:solidFill>
                        <a:srgbClr val="000000"/>
                      </a:solidFill>
                      <a:prstDash val="solid"/>
                      <a:round/>
                      <a:headEnd type="none" w="med" len="med"/>
                      <a:tailEnd type="none" w="med" len="med"/>
                    </a:lnL>
                    <a:lnR w="8649" cap="flat" cmpd="sng" algn="ctr">
                      <a:solidFill>
                        <a:srgbClr val="000000"/>
                      </a:solidFill>
                      <a:prstDash val="solid"/>
                      <a:round/>
                      <a:headEnd type="none" w="med" len="med"/>
                      <a:tailEnd type="none" w="med" len="med"/>
                    </a:lnR>
                    <a:lnT w="8649" cap="flat" cmpd="sng" algn="ctr">
                      <a:solidFill>
                        <a:srgbClr val="000000"/>
                      </a:solidFill>
                      <a:prstDash val="dash"/>
                      <a:round/>
                      <a:headEnd type="none" w="med" len="med"/>
                      <a:tailEnd type="none" w="med" len="med"/>
                    </a:lnT>
                    <a:lnB w="8649" cap="flat" cmpd="sng" algn="ctr">
                      <a:solidFill>
                        <a:srgbClr val="000000"/>
                      </a:solidFill>
                      <a:prstDash val="dash"/>
                      <a:round/>
                      <a:headEnd type="none" w="med" len="med"/>
                      <a:tailEnd type="none" w="med" len="med"/>
                    </a:lnB>
                    <a:noFill/>
                  </a:tcPr>
                </a:tc>
                <a:tc>
                  <a:txBody>
                    <a:bodyPr/>
                    <a:lstStyle/>
                    <a:p>
                      <a:pPr algn="just" rtl="0" fontAlgn="ctr">
                        <a:spcBef>
                          <a:spcPts val="1200"/>
                        </a:spcBef>
                        <a:buNone/>
                      </a:pPr>
                      <a:r>
                        <a:rPr lang="es-AR" sz="1050" b="0" i="0" u="none" strike="noStrike">
                          <a:solidFill>
                            <a:srgbClr val="000000"/>
                          </a:solidFill>
                          <a:effectLst/>
                          <a:latin typeface="Arial" panose="020B0604020202020204" pitchFamily="34" charset="0"/>
                        </a:rPr>
                        <a:t>Países Bajos</a:t>
                      </a:r>
                      <a:endParaRPr lang="es-AR" sz="2400">
                        <a:effectLst/>
                      </a:endParaRPr>
                    </a:p>
                  </a:txBody>
                  <a:tcPr marL="50800" marR="50800" anchor="ctr">
                    <a:lnL w="8649" cap="flat" cmpd="sng" algn="ctr">
                      <a:solidFill>
                        <a:srgbClr val="000000"/>
                      </a:solidFill>
                      <a:prstDash val="solid"/>
                      <a:round/>
                      <a:headEnd type="none" w="med" len="med"/>
                      <a:tailEnd type="none" w="med" len="med"/>
                    </a:lnL>
                    <a:lnR w="8649" cap="flat" cmpd="sng" algn="ctr">
                      <a:solidFill>
                        <a:srgbClr val="000000"/>
                      </a:solidFill>
                      <a:prstDash val="dash"/>
                      <a:round/>
                      <a:headEnd type="none" w="med" len="med"/>
                      <a:tailEnd type="none" w="med" len="med"/>
                    </a:lnR>
                    <a:lnT w="8649" cap="flat" cmpd="sng" algn="ctr">
                      <a:solidFill>
                        <a:srgbClr val="000000"/>
                      </a:solidFill>
                      <a:prstDash val="dash"/>
                      <a:round/>
                      <a:headEnd type="none" w="med" len="med"/>
                      <a:tailEnd type="none" w="med" len="med"/>
                    </a:lnT>
                    <a:lnB w="8649" cap="flat" cmpd="sng" algn="ctr">
                      <a:solidFill>
                        <a:srgbClr val="000000"/>
                      </a:solidFill>
                      <a:prstDash val="dash"/>
                      <a:round/>
                      <a:headEnd type="none" w="med" len="med"/>
                      <a:tailEnd type="none" w="med" len="med"/>
                    </a:lnB>
                    <a:noFill/>
                  </a:tcPr>
                </a:tc>
                <a:tc>
                  <a:txBody>
                    <a:bodyPr/>
                    <a:lstStyle/>
                    <a:p>
                      <a:pPr algn="r" rtl="0" fontAlgn="ctr">
                        <a:spcBef>
                          <a:spcPts val="1200"/>
                        </a:spcBef>
                        <a:buNone/>
                      </a:pPr>
                      <a:r>
                        <a:rPr lang="es-AR" sz="1050" b="0" i="0" u="none" strike="noStrike">
                          <a:solidFill>
                            <a:srgbClr val="000000"/>
                          </a:solidFill>
                          <a:effectLst/>
                          <a:latin typeface="Arial" panose="020B0604020202020204" pitchFamily="34" charset="0"/>
                        </a:rPr>
                        <a:t>6,4</a:t>
                      </a:r>
                      <a:endParaRPr lang="es-AR" sz="2400">
                        <a:effectLst/>
                      </a:endParaRPr>
                    </a:p>
                  </a:txBody>
                  <a:tcPr marL="50800" marR="50800" anchor="ctr">
                    <a:lnL w="8649" cap="flat" cmpd="sng" algn="ctr">
                      <a:solidFill>
                        <a:srgbClr val="000000"/>
                      </a:solidFill>
                      <a:prstDash val="dash"/>
                      <a:round/>
                      <a:headEnd type="none" w="med" len="med"/>
                      <a:tailEnd type="none" w="med" len="med"/>
                    </a:lnL>
                    <a:lnR w="8649" cap="flat" cmpd="sng" algn="ctr">
                      <a:solidFill>
                        <a:srgbClr val="000000"/>
                      </a:solidFill>
                      <a:prstDash val="solid"/>
                      <a:round/>
                      <a:headEnd type="none" w="med" len="med"/>
                      <a:tailEnd type="none" w="med" len="med"/>
                    </a:lnR>
                    <a:lnT w="8649" cap="flat" cmpd="sng" algn="ctr">
                      <a:solidFill>
                        <a:srgbClr val="000000"/>
                      </a:solidFill>
                      <a:prstDash val="dash"/>
                      <a:round/>
                      <a:headEnd type="none" w="med" len="med"/>
                      <a:tailEnd type="none" w="med" len="med"/>
                    </a:lnT>
                    <a:lnB w="8649" cap="flat" cmpd="sng" algn="ctr">
                      <a:solidFill>
                        <a:srgbClr val="000000"/>
                      </a:solidFill>
                      <a:prstDash val="dash"/>
                      <a:round/>
                      <a:headEnd type="none" w="med" len="med"/>
                      <a:tailEnd type="none" w="med" len="med"/>
                    </a:lnB>
                    <a:noFill/>
                  </a:tcPr>
                </a:tc>
                <a:tc>
                  <a:txBody>
                    <a:bodyPr/>
                    <a:lstStyle/>
                    <a:p>
                      <a:pPr rtl="0" fontAlgn="ctr">
                        <a:spcBef>
                          <a:spcPts val="1200"/>
                        </a:spcBef>
                        <a:buNone/>
                      </a:pPr>
                      <a:r>
                        <a:rPr lang="es-AR" sz="1050" b="0" i="0" u="none" strike="noStrike">
                          <a:solidFill>
                            <a:srgbClr val="000000"/>
                          </a:solidFill>
                          <a:effectLst/>
                          <a:latin typeface="Arial" panose="020B0604020202020204" pitchFamily="34" charset="0"/>
                        </a:rPr>
                        <a:t>España</a:t>
                      </a:r>
                      <a:endParaRPr lang="es-AR" sz="2400">
                        <a:effectLst/>
                      </a:endParaRPr>
                    </a:p>
                  </a:txBody>
                  <a:tcPr marL="50800" marR="50800" anchor="ctr">
                    <a:lnL w="8649" cap="flat" cmpd="sng" algn="ctr">
                      <a:solidFill>
                        <a:srgbClr val="000000"/>
                      </a:solidFill>
                      <a:prstDash val="solid"/>
                      <a:round/>
                      <a:headEnd type="none" w="med" len="med"/>
                      <a:tailEnd type="none" w="med" len="med"/>
                    </a:lnL>
                    <a:lnR w="8649" cap="flat" cmpd="sng" algn="ctr">
                      <a:solidFill>
                        <a:srgbClr val="000000"/>
                      </a:solidFill>
                      <a:prstDash val="dash"/>
                      <a:round/>
                      <a:headEnd type="none" w="med" len="med"/>
                      <a:tailEnd type="none" w="med" len="med"/>
                    </a:lnR>
                    <a:lnT w="8649" cap="flat" cmpd="sng" algn="ctr">
                      <a:solidFill>
                        <a:srgbClr val="000000"/>
                      </a:solidFill>
                      <a:prstDash val="dash"/>
                      <a:round/>
                      <a:headEnd type="none" w="med" len="med"/>
                      <a:tailEnd type="none" w="med" len="med"/>
                    </a:lnT>
                    <a:lnB w="8649" cap="flat" cmpd="sng" algn="ctr">
                      <a:solidFill>
                        <a:srgbClr val="000000"/>
                      </a:solidFill>
                      <a:prstDash val="dash"/>
                      <a:round/>
                      <a:headEnd type="none" w="med" len="med"/>
                      <a:tailEnd type="none" w="med" len="med"/>
                    </a:lnB>
                    <a:noFill/>
                  </a:tcPr>
                </a:tc>
                <a:tc>
                  <a:txBody>
                    <a:bodyPr/>
                    <a:lstStyle/>
                    <a:p>
                      <a:pPr algn="r" rtl="0" fontAlgn="ctr">
                        <a:spcBef>
                          <a:spcPts val="1200"/>
                        </a:spcBef>
                        <a:buNone/>
                      </a:pPr>
                      <a:r>
                        <a:rPr lang="es-AR" sz="1050" b="0" i="0" u="none" strike="noStrike">
                          <a:solidFill>
                            <a:srgbClr val="000000"/>
                          </a:solidFill>
                          <a:effectLst/>
                          <a:latin typeface="Arial" panose="020B0604020202020204" pitchFamily="34" charset="0"/>
                        </a:rPr>
                        <a:t>4,4</a:t>
                      </a:r>
                      <a:endParaRPr lang="es-AR" sz="2400">
                        <a:effectLst/>
                      </a:endParaRPr>
                    </a:p>
                  </a:txBody>
                  <a:tcPr marL="50800" marR="50800" anchor="ctr">
                    <a:lnL w="8649" cap="flat" cmpd="sng" algn="ctr">
                      <a:solidFill>
                        <a:srgbClr val="000000"/>
                      </a:solidFill>
                      <a:prstDash val="dash"/>
                      <a:round/>
                      <a:headEnd type="none" w="med" len="med"/>
                      <a:tailEnd type="none" w="med" len="med"/>
                    </a:lnL>
                    <a:lnR w="8649" cap="flat" cmpd="sng" algn="ctr">
                      <a:solidFill>
                        <a:srgbClr val="000000"/>
                      </a:solidFill>
                      <a:prstDash val="solid"/>
                      <a:round/>
                      <a:headEnd type="none" w="med" len="med"/>
                      <a:tailEnd type="none" w="med" len="med"/>
                    </a:lnR>
                    <a:lnT w="8649" cap="flat" cmpd="sng" algn="ctr">
                      <a:solidFill>
                        <a:srgbClr val="000000"/>
                      </a:solidFill>
                      <a:prstDash val="dash"/>
                      <a:round/>
                      <a:headEnd type="none" w="med" len="med"/>
                      <a:tailEnd type="none" w="med" len="med"/>
                    </a:lnT>
                    <a:lnB w="8649" cap="flat" cmpd="sng" algn="ctr">
                      <a:solidFill>
                        <a:srgbClr val="000000"/>
                      </a:solidFill>
                      <a:prstDash val="dash"/>
                      <a:round/>
                      <a:headEnd type="none" w="med" len="med"/>
                      <a:tailEnd type="none" w="med" len="med"/>
                    </a:lnB>
                    <a:noFill/>
                  </a:tcPr>
                </a:tc>
                <a:extLst>
                  <a:ext uri="{0D108BD9-81ED-4DB2-BD59-A6C34878D82A}">
                    <a16:rowId xmlns:a16="http://schemas.microsoft.com/office/drawing/2014/main" val="2589608562"/>
                  </a:ext>
                </a:extLst>
              </a:tr>
              <a:tr h="295547">
                <a:tc vMerge="1">
                  <a:txBody>
                    <a:bodyPr/>
                    <a:lstStyle/>
                    <a:p>
                      <a:endParaRPr lang="es-AR"/>
                    </a:p>
                  </a:txBody>
                  <a:tcPr/>
                </a:tc>
                <a:tc>
                  <a:txBody>
                    <a:bodyPr/>
                    <a:lstStyle/>
                    <a:p>
                      <a:pPr algn="ctr" rtl="0" fontAlgn="ctr">
                        <a:spcBef>
                          <a:spcPts val="1200"/>
                        </a:spcBef>
                        <a:buNone/>
                      </a:pPr>
                      <a:r>
                        <a:rPr lang="es-AR" sz="1050" b="0" i="0" u="none" strike="noStrike">
                          <a:solidFill>
                            <a:srgbClr val="000000"/>
                          </a:solidFill>
                          <a:effectLst/>
                          <a:latin typeface="Arial" panose="020B0604020202020204" pitchFamily="34" charset="0"/>
                        </a:rPr>
                        <a:t>5</a:t>
                      </a:r>
                      <a:endParaRPr lang="es-AR" sz="2400">
                        <a:effectLst/>
                      </a:endParaRPr>
                    </a:p>
                  </a:txBody>
                  <a:tcPr marL="50800" marR="50800" anchor="ctr">
                    <a:lnL w="8649" cap="flat" cmpd="sng" algn="ctr">
                      <a:solidFill>
                        <a:srgbClr val="000000"/>
                      </a:solidFill>
                      <a:prstDash val="solid"/>
                      <a:round/>
                      <a:headEnd type="none" w="med" len="med"/>
                      <a:tailEnd type="none" w="med" len="med"/>
                    </a:lnL>
                    <a:lnR w="8649" cap="flat" cmpd="sng" algn="ctr">
                      <a:solidFill>
                        <a:srgbClr val="000000"/>
                      </a:solidFill>
                      <a:prstDash val="solid"/>
                      <a:round/>
                      <a:headEnd type="none" w="med" len="med"/>
                      <a:tailEnd type="none" w="med" len="med"/>
                    </a:lnR>
                    <a:lnT w="8649" cap="flat" cmpd="sng" algn="ctr">
                      <a:solidFill>
                        <a:srgbClr val="000000"/>
                      </a:solidFill>
                      <a:prstDash val="dash"/>
                      <a:round/>
                      <a:headEnd type="none" w="med" len="med"/>
                      <a:tailEnd type="none" w="med" len="med"/>
                    </a:lnT>
                    <a:lnB w="8649" cap="flat" cmpd="sng" algn="ctr">
                      <a:solidFill>
                        <a:srgbClr val="000000"/>
                      </a:solidFill>
                      <a:prstDash val="solid"/>
                      <a:round/>
                      <a:headEnd type="none" w="med" len="med"/>
                      <a:tailEnd type="none" w="med" len="med"/>
                    </a:lnB>
                    <a:noFill/>
                  </a:tcPr>
                </a:tc>
                <a:tc>
                  <a:txBody>
                    <a:bodyPr/>
                    <a:lstStyle/>
                    <a:p>
                      <a:pPr algn="just" rtl="0" fontAlgn="ctr">
                        <a:spcBef>
                          <a:spcPts val="1200"/>
                        </a:spcBef>
                        <a:buNone/>
                      </a:pPr>
                      <a:r>
                        <a:rPr lang="es-AR" sz="1050" b="0" i="0" u="none" strike="noStrike">
                          <a:solidFill>
                            <a:srgbClr val="000000"/>
                          </a:solidFill>
                          <a:effectLst/>
                          <a:latin typeface="Arial" panose="020B0604020202020204" pitchFamily="34" charset="0"/>
                        </a:rPr>
                        <a:t>España</a:t>
                      </a:r>
                      <a:endParaRPr lang="es-AR" sz="2400">
                        <a:effectLst/>
                      </a:endParaRPr>
                    </a:p>
                  </a:txBody>
                  <a:tcPr marL="50800" marR="50800" anchor="ctr">
                    <a:lnL w="8649" cap="flat" cmpd="sng" algn="ctr">
                      <a:solidFill>
                        <a:srgbClr val="000000"/>
                      </a:solidFill>
                      <a:prstDash val="solid"/>
                      <a:round/>
                      <a:headEnd type="none" w="med" len="med"/>
                      <a:tailEnd type="none" w="med" len="med"/>
                    </a:lnL>
                    <a:lnR w="8649" cap="flat" cmpd="sng" algn="ctr">
                      <a:solidFill>
                        <a:srgbClr val="000000"/>
                      </a:solidFill>
                      <a:prstDash val="dash"/>
                      <a:round/>
                      <a:headEnd type="none" w="med" len="med"/>
                      <a:tailEnd type="none" w="med" len="med"/>
                    </a:lnR>
                    <a:lnT w="8649" cap="flat" cmpd="sng" algn="ctr">
                      <a:solidFill>
                        <a:srgbClr val="000000"/>
                      </a:solidFill>
                      <a:prstDash val="dash"/>
                      <a:round/>
                      <a:headEnd type="none" w="med" len="med"/>
                      <a:tailEnd type="none" w="med" len="med"/>
                    </a:lnT>
                    <a:lnB w="8649" cap="flat" cmpd="sng" algn="ctr">
                      <a:solidFill>
                        <a:srgbClr val="000000"/>
                      </a:solidFill>
                      <a:prstDash val="solid"/>
                      <a:round/>
                      <a:headEnd type="none" w="med" len="med"/>
                      <a:tailEnd type="none" w="med" len="med"/>
                    </a:lnB>
                    <a:noFill/>
                  </a:tcPr>
                </a:tc>
                <a:tc>
                  <a:txBody>
                    <a:bodyPr/>
                    <a:lstStyle/>
                    <a:p>
                      <a:pPr algn="r" rtl="0" fontAlgn="ctr">
                        <a:spcBef>
                          <a:spcPts val="1200"/>
                        </a:spcBef>
                        <a:buNone/>
                      </a:pPr>
                      <a:r>
                        <a:rPr lang="es-AR" sz="1050" b="0" i="0" u="none" strike="noStrike">
                          <a:solidFill>
                            <a:srgbClr val="000000"/>
                          </a:solidFill>
                          <a:effectLst/>
                          <a:latin typeface="Arial" panose="020B0604020202020204" pitchFamily="34" charset="0"/>
                        </a:rPr>
                        <a:t>6,3</a:t>
                      </a:r>
                      <a:endParaRPr lang="es-AR" sz="2400">
                        <a:effectLst/>
                      </a:endParaRPr>
                    </a:p>
                  </a:txBody>
                  <a:tcPr marL="50800" marR="50800" anchor="ctr">
                    <a:lnL w="8649" cap="flat" cmpd="sng" algn="ctr">
                      <a:solidFill>
                        <a:srgbClr val="000000"/>
                      </a:solidFill>
                      <a:prstDash val="dash"/>
                      <a:round/>
                      <a:headEnd type="none" w="med" len="med"/>
                      <a:tailEnd type="none" w="med" len="med"/>
                    </a:lnL>
                    <a:lnR w="8649" cap="flat" cmpd="sng" algn="ctr">
                      <a:solidFill>
                        <a:srgbClr val="000000"/>
                      </a:solidFill>
                      <a:prstDash val="solid"/>
                      <a:round/>
                      <a:headEnd type="none" w="med" len="med"/>
                      <a:tailEnd type="none" w="med" len="med"/>
                    </a:lnR>
                    <a:lnT w="8649" cap="flat" cmpd="sng" algn="ctr">
                      <a:solidFill>
                        <a:srgbClr val="000000"/>
                      </a:solidFill>
                      <a:prstDash val="dash"/>
                      <a:round/>
                      <a:headEnd type="none" w="med" len="med"/>
                      <a:tailEnd type="none" w="med" len="med"/>
                    </a:lnT>
                    <a:lnB w="8649" cap="flat" cmpd="sng" algn="ctr">
                      <a:solidFill>
                        <a:srgbClr val="000000"/>
                      </a:solidFill>
                      <a:prstDash val="solid"/>
                      <a:round/>
                      <a:headEnd type="none" w="med" len="med"/>
                      <a:tailEnd type="none" w="med" len="med"/>
                    </a:lnB>
                    <a:noFill/>
                  </a:tcPr>
                </a:tc>
                <a:tc>
                  <a:txBody>
                    <a:bodyPr/>
                    <a:lstStyle/>
                    <a:p>
                      <a:pPr rtl="0" fontAlgn="ctr">
                        <a:spcBef>
                          <a:spcPts val="1200"/>
                        </a:spcBef>
                        <a:buNone/>
                      </a:pPr>
                      <a:r>
                        <a:rPr lang="es-AR" sz="1050" b="0" i="0" u="none" strike="noStrike">
                          <a:solidFill>
                            <a:srgbClr val="000000"/>
                          </a:solidFill>
                          <a:effectLst/>
                          <a:latin typeface="Arial" panose="020B0604020202020204" pitchFamily="34" charset="0"/>
                        </a:rPr>
                        <a:t>China</a:t>
                      </a:r>
                      <a:endParaRPr lang="es-AR" sz="2400">
                        <a:effectLst/>
                      </a:endParaRPr>
                    </a:p>
                  </a:txBody>
                  <a:tcPr marL="50800" marR="50800" anchor="ctr">
                    <a:lnL w="8649" cap="flat" cmpd="sng" algn="ctr">
                      <a:solidFill>
                        <a:srgbClr val="000000"/>
                      </a:solidFill>
                      <a:prstDash val="solid"/>
                      <a:round/>
                      <a:headEnd type="none" w="med" len="med"/>
                      <a:tailEnd type="none" w="med" len="med"/>
                    </a:lnL>
                    <a:lnR w="8649" cap="flat" cmpd="sng" algn="ctr">
                      <a:solidFill>
                        <a:srgbClr val="000000"/>
                      </a:solidFill>
                      <a:prstDash val="dash"/>
                      <a:round/>
                      <a:headEnd type="none" w="med" len="med"/>
                      <a:tailEnd type="none" w="med" len="med"/>
                    </a:lnR>
                    <a:lnT w="8649" cap="flat" cmpd="sng" algn="ctr">
                      <a:solidFill>
                        <a:srgbClr val="000000"/>
                      </a:solidFill>
                      <a:prstDash val="dash"/>
                      <a:round/>
                      <a:headEnd type="none" w="med" len="med"/>
                      <a:tailEnd type="none" w="med" len="med"/>
                    </a:lnT>
                    <a:lnB w="8649" cap="flat" cmpd="sng" algn="ctr">
                      <a:solidFill>
                        <a:srgbClr val="000000"/>
                      </a:solidFill>
                      <a:prstDash val="solid"/>
                      <a:round/>
                      <a:headEnd type="none" w="med" len="med"/>
                      <a:tailEnd type="none" w="med" len="med"/>
                    </a:lnB>
                    <a:noFill/>
                  </a:tcPr>
                </a:tc>
                <a:tc>
                  <a:txBody>
                    <a:bodyPr/>
                    <a:lstStyle/>
                    <a:p>
                      <a:pPr algn="r" rtl="0" fontAlgn="ctr">
                        <a:spcBef>
                          <a:spcPts val="1200"/>
                        </a:spcBef>
                        <a:buNone/>
                      </a:pPr>
                      <a:r>
                        <a:rPr lang="es-AR" sz="1050" b="0" i="0" u="none" strike="noStrike">
                          <a:solidFill>
                            <a:srgbClr val="000000"/>
                          </a:solidFill>
                          <a:effectLst/>
                          <a:latin typeface="Arial" panose="020B0604020202020204" pitchFamily="34" charset="0"/>
                        </a:rPr>
                        <a:t>4,3</a:t>
                      </a:r>
                      <a:endParaRPr lang="es-AR" sz="2400">
                        <a:effectLst/>
                      </a:endParaRPr>
                    </a:p>
                  </a:txBody>
                  <a:tcPr marL="50800" marR="50800" anchor="ctr">
                    <a:lnL w="8649" cap="flat" cmpd="sng" algn="ctr">
                      <a:solidFill>
                        <a:srgbClr val="000000"/>
                      </a:solidFill>
                      <a:prstDash val="dash"/>
                      <a:round/>
                      <a:headEnd type="none" w="med" len="med"/>
                      <a:tailEnd type="none" w="med" len="med"/>
                    </a:lnL>
                    <a:lnR w="8649" cap="flat" cmpd="sng" algn="ctr">
                      <a:solidFill>
                        <a:srgbClr val="000000"/>
                      </a:solidFill>
                      <a:prstDash val="solid"/>
                      <a:round/>
                      <a:headEnd type="none" w="med" len="med"/>
                      <a:tailEnd type="none" w="med" len="med"/>
                    </a:lnR>
                    <a:lnT w="8649" cap="flat" cmpd="sng" algn="ctr">
                      <a:solidFill>
                        <a:srgbClr val="000000"/>
                      </a:solidFill>
                      <a:prstDash val="dash"/>
                      <a:round/>
                      <a:headEnd type="none" w="med" len="med"/>
                      <a:tailEnd type="none" w="med" len="med"/>
                    </a:lnT>
                    <a:lnB w="8649"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1043425397"/>
                  </a:ext>
                </a:extLst>
              </a:tr>
              <a:tr h="233327">
                <a:tc rowSpan="5">
                  <a:txBody>
                    <a:bodyPr/>
                    <a:lstStyle/>
                    <a:p>
                      <a:pPr algn="ctr" fontAlgn="t">
                        <a:buNone/>
                      </a:pPr>
                      <a:br>
                        <a:rPr lang="es-AR" sz="2400" dirty="0">
                          <a:effectLst/>
                        </a:rPr>
                      </a:br>
                      <a:endParaRPr lang="es-AR" sz="2400" dirty="0">
                        <a:effectLst/>
                      </a:endParaRPr>
                    </a:p>
                    <a:p>
                      <a:pPr algn="ctr" fontAlgn="t">
                        <a:buNone/>
                      </a:pPr>
                      <a:r>
                        <a:rPr lang="es-AR" sz="1050" b="0" i="0" u="none" strike="noStrike" dirty="0">
                          <a:solidFill>
                            <a:srgbClr val="000000"/>
                          </a:solidFill>
                          <a:effectLst/>
                          <a:latin typeface="Arial" panose="020B0604020202020204" pitchFamily="34" charset="0"/>
                        </a:rPr>
                        <a:t>2012</a:t>
                      </a:r>
                      <a:endParaRPr lang="es-AR" sz="2400" dirty="0">
                        <a:effectLst/>
                      </a:endParaRPr>
                    </a:p>
                  </a:txBody>
                  <a:tcPr marL="50800" marR="50800">
                    <a:lnL w="8649" cap="flat" cmpd="sng" algn="ctr">
                      <a:solidFill>
                        <a:srgbClr val="000000"/>
                      </a:solidFill>
                      <a:prstDash val="solid"/>
                      <a:round/>
                      <a:headEnd type="none" w="med" len="med"/>
                      <a:tailEnd type="none" w="med" len="med"/>
                    </a:lnL>
                    <a:lnR w="8649" cap="flat" cmpd="sng" algn="ctr">
                      <a:solidFill>
                        <a:srgbClr val="000000"/>
                      </a:solidFill>
                      <a:prstDash val="solid"/>
                      <a:round/>
                      <a:headEnd type="none" w="med" len="med"/>
                      <a:tailEnd type="none" w="med" len="med"/>
                    </a:lnR>
                    <a:lnT w="8649" cap="flat" cmpd="sng" algn="ctr">
                      <a:solidFill>
                        <a:srgbClr val="000000"/>
                      </a:solidFill>
                      <a:prstDash val="solid"/>
                      <a:round/>
                      <a:headEnd type="none" w="med" len="med"/>
                      <a:tailEnd type="none" w="med" len="med"/>
                    </a:lnT>
                    <a:lnB w="8649" cap="flat" cmpd="sng" algn="ctr">
                      <a:solidFill>
                        <a:srgbClr val="000000"/>
                      </a:solidFill>
                      <a:prstDash val="solid"/>
                      <a:round/>
                      <a:headEnd type="none" w="med" len="med"/>
                      <a:tailEnd type="none" w="med" len="med"/>
                    </a:lnB>
                    <a:noFill/>
                  </a:tcPr>
                </a:tc>
                <a:tc>
                  <a:txBody>
                    <a:bodyPr/>
                    <a:lstStyle/>
                    <a:p>
                      <a:pPr algn="ctr" rtl="0" fontAlgn="ctr">
                        <a:spcBef>
                          <a:spcPts val="1200"/>
                        </a:spcBef>
                        <a:buNone/>
                      </a:pPr>
                      <a:r>
                        <a:rPr lang="es-AR" sz="1050" b="0" i="0" u="none" strike="noStrike">
                          <a:solidFill>
                            <a:srgbClr val="000000"/>
                          </a:solidFill>
                          <a:effectLst/>
                          <a:latin typeface="Arial" panose="020B0604020202020204" pitchFamily="34" charset="0"/>
                        </a:rPr>
                        <a:t>1</a:t>
                      </a:r>
                      <a:endParaRPr lang="es-AR" sz="2400">
                        <a:effectLst/>
                      </a:endParaRPr>
                    </a:p>
                  </a:txBody>
                  <a:tcPr marL="50800" marR="50800" anchor="ctr">
                    <a:lnL w="8649" cap="flat" cmpd="sng" algn="ctr">
                      <a:solidFill>
                        <a:srgbClr val="000000"/>
                      </a:solidFill>
                      <a:prstDash val="solid"/>
                      <a:round/>
                      <a:headEnd type="none" w="med" len="med"/>
                      <a:tailEnd type="none" w="med" len="med"/>
                    </a:lnL>
                    <a:lnR w="8649" cap="flat" cmpd="sng" algn="ctr">
                      <a:solidFill>
                        <a:srgbClr val="000000"/>
                      </a:solidFill>
                      <a:prstDash val="solid"/>
                      <a:round/>
                      <a:headEnd type="none" w="med" len="med"/>
                      <a:tailEnd type="none" w="med" len="med"/>
                    </a:lnR>
                    <a:lnT w="8649" cap="flat" cmpd="sng" algn="ctr">
                      <a:solidFill>
                        <a:srgbClr val="000000"/>
                      </a:solidFill>
                      <a:prstDash val="solid"/>
                      <a:round/>
                      <a:headEnd type="none" w="med" len="med"/>
                      <a:tailEnd type="none" w="med" len="med"/>
                    </a:lnT>
                    <a:lnB w="8649" cap="flat" cmpd="sng" algn="ctr">
                      <a:solidFill>
                        <a:srgbClr val="000000"/>
                      </a:solidFill>
                      <a:prstDash val="dash"/>
                      <a:round/>
                      <a:headEnd type="none" w="med" len="med"/>
                      <a:tailEnd type="none" w="med" len="med"/>
                    </a:lnB>
                    <a:noFill/>
                  </a:tcPr>
                </a:tc>
                <a:tc>
                  <a:txBody>
                    <a:bodyPr/>
                    <a:lstStyle/>
                    <a:p>
                      <a:pPr algn="just" rtl="0" fontAlgn="ctr">
                        <a:spcBef>
                          <a:spcPts val="1200"/>
                        </a:spcBef>
                        <a:buNone/>
                      </a:pPr>
                      <a:r>
                        <a:rPr lang="es-AR" sz="1050" b="0" i="0" u="none" strike="noStrike">
                          <a:solidFill>
                            <a:srgbClr val="000000"/>
                          </a:solidFill>
                          <a:effectLst/>
                          <a:latin typeface="Arial" panose="020B0604020202020204" pitchFamily="34" charset="0"/>
                        </a:rPr>
                        <a:t>Brasil</a:t>
                      </a:r>
                      <a:endParaRPr lang="es-AR" sz="2400">
                        <a:effectLst/>
                      </a:endParaRPr>
                    </a:p>
                  </a:txBody>
                  <a:tcPr marL="50800" marR="50800" anchor="ctr">
                    <a:lnL w="8649" cap="flat" cmpd="sng" algn="ctr">
                      <a:solidFill>
                        <a:srgbClr val="000000"/>
                      </a:solidFill>
                      <a:prstDash val="solid"/>
                      <a:round/>
                      <a:headEnd type="none" w="med" len="med"/>
                      <a:tailEnd type="none" w="med" len="med"/>
                    </a:lnL>
                    <a:lnR w="8649" cap="flat" cmpd="sng" algn="ctr">
                      <a:solidFill>
                        <a:srgbClr val="000000"/>
                      </a:solidFill>
                      <a:prstDash val="dash"/>
                      <a:round/>
                      <a:headEnd type="none" w="med" len="med"/>
                      <a:tailEnd type="none" w="med" len="med"/>
                    </a:lnR>
                    <a:lnT w="8649" cap="flat" cmpd="sng" algn="ctr">
                      <a:solidFill>
                        <a:srgbClr val="000000"/>
                      </a:solidFill>
                      <a:prstDash val="solid"/>
                      <a:round/>
                      <a:headEnd type="none" w="med" len="med"/>
                      <a:tailEnd type="none" w="med" len="med"/>
                    </a:lnT>
                    <a:lnB w="8649" cap="flat" cmpd="sng" algn="ctr">
                      <a:solidFill>
                        <a:srgbClr val="000000"/>
                      </a:solidFill>
                      <a:prstDash val="dash"/>
                      <a:round/>
                      <a:headEnd type="none" w="med" len="med"/>
                      <a:tailEnd type="none" w="med" len="med"/>
                    </a:lnB>
                    <a:noFill/>
                  </a:tcPr>
                </a:tc>
                <a:tc>
                  <a:txBody>
                    <a:bodyPr/>
                    <a:lstStyle/>
                    <a:p>
                      <a:pPr algn="r" rtl="0" fontAlgn="ctr">
                        <a:spcBef>
                          <a:spcPts val="1200"/>
                        </a:spcBef>
                        <a:buNone/>
                      </a:pPr>
                      <a:r>
                        <a:rPr lang="es-AR" sz="1050" b="0" i="0" u="none" strike="noStrike">
                          <a:solidFill>
                            <a:srgbClr val="000000"/>
                          </a:solidFill>
                          <a:effectLst/>
                          <a:latin typeface="Arial" panose="020B0604020202020204" pitchFamily="34" charset="0"/>
                        </a:rPr>
                        <a:t>10,4</a:t>
                      </a:r>
                      <a:endParaRPr lang="es-AR" sz="2400">
                        <a:effectLst/>
                      </a:endParaRPr>
                    </a:p>
                  </a:txBody>
                  <a:tcPr marL="50800" marR="50800" anchor="ctr">
                    <a:lnL w="8649" cap="flat" cmpd="sng" algn="ctr">
                      <a:solidFill>
                        <a:srgbClr val="000000"/>
                      </a:solidFill>
                      <a:prstDash val="dash"/>
                      <a:round/>
                      <a:headEnd type="none" w="med" len="med"/>
                      <a:tailEnd type="none" w="med" len="med"/>
                    </a:lnL>
                    <a:lnR w="8649" cap="flat" cmpd="sng" algn="ctr">
                      <a:solidFill>
                        <a:srgbClr val="000000"/>
                      </a:solidFill>
                      <a:prstDash val="solid"/>
                      <a:round/>
                      <a:headEnd type="none" w="med" len="med"/>
                      <a:tailEnd type="none" w="med" len="med"/>
                    </a:lnR>
                    <a:lnT w="8649" cap="flat" cmpd="sng" algn="ctr">
                      <a:solidFill>
                        <a:srgbClr val="000000"/>
                      </a:solidFill>
                      <a:prstDash val="solid"/>
                      <a:round/>
                      <a:headEnd type="none" w="med" len="med"/>
                      <a:tailEnd type="none" w="med" len="med"/>
                    </a:lnT>
                    <a:lnB w="8649" cap="flat" cmpd="sng" algn="ctr">
                      <a:solidFill>
                        <a:srgbClr val="000000"/>
                      </a:solidFill>
                      <a:prstDash val="dash"/>
                      <a:round/>
                      <a:headEnd type="none" w="med" len="med"/>
                      <a:tailEnd type="none" w="med" len="med"/>
                    </a:lnB>
                    <a:noFill/>
                  </a:tcPr>
                </a:tc>
                <a:tc>
                  <a:txBody>
                    <a:bodyPr/>
                    <a:lstStyle/>
                    <a:p>
                      <a:pPr rtl="0" fontAlgn="ctr">
                        <a:spcBef>
                          <a:spcPts val="1200"/>
                        </a:spcBef>
                        <a:buNone/>
                      </a:pPr>
                      <a:r>
                        <a:rPr lang="es-AR" sz="1050" b="0" i="0" u="none" strike="noStrike">
                          <a:solidFill>
                            <a:srgbClr val="000000"/>
                          </a:solidFill>
                          <a:effectLst/>
                          <a:latin typeface="Arial" panose="020B0604020202020204" pitchFamily="34" charset="0"/>
                        </a:rPr>
                        <a:t>Brasil</a:t>
                      </a:r>
                      <a:endParaRPr lang="es-AR" sz="2400">
                        <a:effectLst/>
                      </a:endParaRPr>
                    </a:p>
                  </a:txBody>
                  <a:tcPr marL="50800" marR="50800" anchor="ctr">
                    <a:lnL w="8649" cap="flat" cmpd="sng" algn="ctr">
                      <a:solidFill>
                        <a:srgbClr val="000000"/>
                      </a:solidFill>
                      <a:prstDash val="solid"/>
                      <a:round/>
                      <a:headEnd type="none" w="med" len="med"/>
                      <a:tailEnd type="none" w="med" len="med"/>
                    </a:lnL>
                    <a:lnR w="8649" cap="flat" cmpd="sng" algn="ctr">
                      <a:solidFill>
                        <a:srgbClr val="000000"/>
                      </a:solidFill>
                      <a:prstDash val="dash"/>
                      <a:round/>
                      <a:headEnd type="none" w="med" len="med"/>
                      <a:tailEnd type="none" w="med" len="med"/>
                    </a:lnR>
                    <a:lnT w="8649" cap="flat" cmpd="sng" algn="ctr">
                      <a:solidFill>
                        <a:srgbClr val="000000"/>
                      </a:solidFill>
                      <a:prstDash val="solid"/>
                      <a:round/>
                      <a:headEnd type="none" w="med" len="med"/>
                      <a:tailEnd type="none" w="med" len="med"/>
                    </a:lnT>
                    <a:lnB w="8649" cap="flat" cmpd="sng" algn="ctr">
                      <a:solidFill>
                        <a:srgbClr val="000000"/>
                      </a:solidFill>
                      <a:prstDash val="dash"/>
                      <a:round/>
                      <a:headEnd type="none" w="med" len="med"/>
                      <a:tailEnd type="none" w="med" len="med"/>
                    </a:lnB>
                    <a:noFill/>
                  </a:tcPr>
                </a:tc>
                <a:tc>
                  <a:txBody>
                    <a:bodyPr/>
                    <a:lstStyle/>
                    <a:p>
                      <a:pPr algn="r" rtl="0" fontAlgn="ctr">
                        <a:spcBef>
                          <a:spcPts val="1200"/>
                        </a:spcBef>
                        <a:buNone/>
                      </a:pPr>
                      <a:r>
                        <a:rPr lang="es-AR" sz="1050" b="0" i="0" u="none" strike="noStrike">
                          <a:solidFill>
                            <a:srgbClr val="000000"/>
                          </a:solidFill>
                          <a:effectLst/>
                          <a:latin typeface="Arial" panose="020B0604020202020204" pitchFamily="34" charset="0"/>
                        </a:rPr>
                        <a:t>20,6</a:t>
                      </a:r>
                      <a:endParaRPr lang="es-AR" sz="2400">
                        <a:effectLst/>
                      </a:endParaRPr>
                    </a:p>
                  </a:txBody>
                  <a:tcPr marL="50800" marR="50800" anchor="ctr">
                    <a:lnL w="8649" cap="flat" cmpd="sng" algn="ctr">
                      <a:solidFill>
                        <a:srgbClr val="000000"/>
                      </a:solidFill>
                      <a:prstDash val="dash"/>
                      <a:round/>
                      <a:headEnd type="none" w="med" len="med"/>
                      <a:tailEnd type="none" w="med" len="med"/>
                    </a:lnL>
                    <a:lnR w="8649" cap="flat" cmpd="sng" algn="ctr">
                      <a:solidFill>
                        <a:srgbClr val="000000"/>
                      </a:solidFill>
                      <a:prstDash val="solid"/>
                      <a:round/>
                      <a:headEnd type="none" w="med" len="med"/>
                      <a:tailEnd type="none" w="med" len="med"/>
                    </a:lnR>
                    <a:lnT w="8649" cap="flat" cmpd="sng" algn="ctr">
                      <a:solidFill>
                        <a:srgbClr val="000000"/>
                      </a:solidFill>
                      <a:prstDash val="solid"/>
                      <a:round/>
                      <a:headEnd type="none" w="med" len="med"/>
                      <a:tailEnd type="none" w="med" len="med"/>
                    </a:lnT>
                    <a:lnB w="8649" cap="flat" cmpd="sng" algn="ctr">
                      <a:solidFill>
                        <a:srgbClr val="000000"/>
                      </a:solidFill>
                      <a:prstDash val="dash"/>
                      <a:round/>
                      <a:headEnd type="none" w="med" len="med"/>
                      <a:tailEnd type="none" w="med" len="med"/>
                    </a:lnB>
                    <a:noFill/>
                  </a:tcPr>
                </a:tc>
                <a:extLst>
                  <a:ext uri="{0D108BD9-81ED-4DB2-BD59-A6C34878D82A}">
                    <a16:rowId xmlns:a16="http://schemas.microsoft.com/office/drawing/2014/main" val="2947145059"/>
                  </a:ext>
                </a:extLst>
              </a:tr>
              <a:tr h="233327">
                <a:tc vMerge="1">
                  <a:txBody>
                    <a:bodyPr/>
                    <a:lstStyle/>
                    <a:p>
                      <a:endParaRPr lang="es-AR"/>
                    </a:p>
                  </a:txBody>
                  <a:tcPr/>
                </a:tc>
                <a:tc>
                  <a:txBody>
                    <a:bodyPr/>
                    <a:lstStyle/>
                    <a:p>
                      <a:pPr algn="ctr" rtl="0" fontAlgn="ctr">
                        <a:spcBef>
                          <a:spcPts val="1200"/>
                        </a:spcBef>
                        <a:buNone/>
                      </a:pPr>
                      <a:r>
                        <a:rPr lang="es-AR" sz="1050" b="0" i="0" u="none" strike="noStrike">
                          <a:solidFill>
                            <a:srgbClr val="000000"/>
                          </a:solidFill>
                          <a:effectLst/>
                          <a:latin typeface="Arial" panose="020B0604020202020204" pitchFamily="34" charset="0"/>
                        </a:rPr>
                        <a:t>2</a:t>
                      </a:r>
                      <a:endParaRPr lang="es-AR" sz="2400">
                        <a:effectLst/>
                      </a:endParaRPr>
                    </a:p>
                  </a:txBody>
                  <a:tcPr marL="50800" marR="50800" anchor="ctr">
                    <a:lnL w="8649" cap="flat" cmpd="sng" algn="ctr">
                      <a:solidFill>
                        <a:srgbClr val="000000"/>
                      </a:solidFill>
                      <a:prstDash val="solid"/>
                      <a:round/>
                      <a:headEnd type="none" w="med" len="med"/>
                      <a:tailEnd type="none" w="med" len="med"/>
                    </a:lnL>
                    <a:lnR w="8649" cap="flat" cmpd="sng" algn="ctr">
                      <a:solidFill>
                        <a:srgbClr val="000000"/>
                      </a:solidFill>
                      <a:prstDash val="solid"/>
                      <a:round/>
                      <a:headEnd type="none" w="med" len="med"/>
                      <a:tailEnd type="none" w="med" len="med"/>
                    </a:lnR>
                    <a:lnT w="8649" cap="flat" cmpd="sng" algn="ctr">
                      <a:solidFill>
                        <a:srgbClr val="000000"/>
                      </a:solidFill>
                      <a:prstDash val="dash"/>
                      <a:round/>
                      <a:headEnd type="none" w="med" len="med"/>
                      <a:tailEnd type="none" w="med" len="med"/>
                    </a:lnT>
                    <a:lnB w="8649" cap="flat" cmpd="sng" algn="ctr">
                      <a:solidFill>
                        <a:srgbClr val="000000"/>
                      </a:solidFill>
                      <a:prstDash val="dash"/>
                      <a:round/>
                      <a:headEnd type="none" w="med" len="med"/>
                      <a:tailEnd type="none" w="med" len="med"/>
                    </a:lnB>
                    <a:noFill/>
                  </a:tcPr>
                </a:tc>
                <a:tc>
                  <a:txBody>
                    <a:bodyPr/>
                    <a:lstStyle/>
                    <a:p>
                      <a:pPr algn="just" rtl="0" fontAlgn="ctr">
                        <a:spcBef>
                          <a:spcPts val="1200"/>
                        </a:spcBef>
                        <a:buNone/>
                      </a:pPr>
                      <a:r>
                        <a:rPr lang="es-AR" sz="1050" b="0" i="0" u="none" strike="noStrike">
                          <a:solidFill>
                            <a:srgbClr val="000000"/>
                          </a:solidFill>
                          <a:effectLst/>
                          <a:latin typeface="Arial" panose="020B0604020202020204" pitchFamily="34" charset="0"/>
                        </a:rPr>
                        <a:t>España</a:t>
                      </a:r>
                      <a:endParaRPr lang="es-AR" sz="2400">
                        <a:effectLst/>
                      </a:endParaRPr>
                    </a:p>
                  </a:txBody>
                  <a:tcPr marL="50800" marR="50800" anchor="ctr">
                    <a:lnL w="8649" cap="flat" cmpd="sng" algn="ctr">
                      <a:solidFill>
                        <a:srgbClr val="000000"/>
                      </a:solidFill>
                      <a:prstDash val="solid"/>
                      <a:round/>
                      <a:headEnd type="none" w="med" len="med"/>
                      <a:tailEnd type="none" w="med" len="med"/>
                    </a:lnL>
                    <a:lnR w="8649" cap="flat" cmpd="sng" algn="ctr">
                      <a:solidFill>
                        <a:srgbClr val="000000"/>
                      </a:solidFill>
                      <a:prstDash val="dash"/>
                      <a:round/>
                      <a:headEnd type="none" w="med" len="med"/>
                      <a:tailEnd type="none" w="med" len="med"/>
                    </a:lnR>
                    <a:lnT w="8649" cap="flat" cmpd="sng" algn="ctr">
                      <a:solidFill>
                        <a:srgbClr val="000000"/>
                      </a:solidFill>
                      <a:prstDash val="dash"/>
                      <a:round/>
                      <a:headEnd type="none" w="med" len="med"/>
                      <a:tailEnd type="none" w="med" len="med"/>
                    </a:lnT>
                    <a:lnB w="8649" cap="flat" cmpd="sng" algn="ctr">
                      <a:solidFill>
                        <a:srgbClr val="000000"/>
                      </a:solidFill>
                      <a:prstDash val="dash"/>
                      <a:round/>
                      <a:headEnd type="none" w="med" len="med"/>
                      <a:tailEnd type="none" w="med" len="med"/>
                    </a:lnB>
                    <a:noFill/>
                  </a:tcPr>
                </a:tc>
                <a:tc>
                  <a:txBody>
                    <a:bodyPr/>
                    <a:lstStyle/>
                    <a:p>
                      <a:pPr algn="r" rtl="0" fontAlgn="ctr">
                        <a:spcBef>
                          <a:spcPts val="1200"/>
                        </a:spcBef>
                        <a:buNone/>
                      </a:pPr>
                      <a:r>
                        <a:rPr lang="es-AR" sz="1050" b="0" i="0" u="none" strike="noStrike">
                          <a:solidFill>
                            <a:srgbClr val="000000"/>
                          </a:solidFill>
                          <a:effectLst/>
                          <a:latin typeface="Arial" panose="020B0604020202020204" pitchFamily="34" charset="0"/>
                        </a:rPr>
                        <a:t>7,1</a:t>
                      </a:r>
                      <a:endParaRPr lang="es-AR" sz="2400">
                        <a:effectLst/>
                      </a:endParaRPr>
                    </a:p>
                  </a:txBody>
                  <a:tcPr marL="50800" marR="50800" anchor="ctr">
                    <a:lnL w="8649" cap="flat" cmpd="sng" algn="ctr">
                      <a:solidFill>
                        <a:srgbClr val="000000"/>
                      </a:solidFill>
                      <a:prstDash val="dash"/>
                      <a:round/>
                      <a:headEnd type="none" w="med" len="med"/>
                      <a:tailEnd type="none" w="med" len="med"/>
                    </a:lnL>
                    <a:lnR w="8649" cap="flat" cmpd="sng" algn="ctr">
                      <a:solidFill>
                        <a:srgbClr val="000000"/>
                      </a:solidFill>
                      <a:prstDash val="solid"/>
                      <a:round/>
                      <a:headEnd type="none" w="med" len="med"/>
                      <a:tailEnd type="none" w="med" len="med"/>
                    </a:lnR>
                    <a:lnT w="8649" cap="flat" cmpd="sng" algn="ctr">
                      <a:solidFill>
                        <a:srgbClr val="000000"/>
                      </a:solidFill>
                      <a:prstDash val="dash"/>
                      <a:round/>
                      <a:headEnd type="none" w="med" len="med"/>
                      <a:tailEnd type="none" w="med" len="med"/>
                    </a:lnT>
                    <a:lnB w="8649" cap="flat" cmpd="sng" algn="ctr">
                      <a:solidFill>
                        <a:srgbClr val="000000"/>
                      </a:solidFill>
                      <a:prstDash val="dash"/>
                      <a:round/>
                      <a:headEnd type="none" w="med" len="med"/>
                      <a:tailEnd type="none" w="med" len="med"/>
                    </a:lnB>
                    <a:noFill/>
                  </a:tcPr>
                </a:tc>
                <a:tc>
                  <a:txBody>
                    <a:bodyPr/>
                    <a:lstStyle/>
                    <a:p>
                      <a:pPr rtl="0" fontAlgn="ctr">
                        <a:spcBef>
                          <a:spcPts val="1200"/>
                        </a:spcBef>
                        <a:buNone/>
                      </a:pPr>
                      <a:r>
                        <a:rPr lang="es-AR" sz="1050" b="0" i="0" u="none" strike="noStrike">
                          <a:solidFill>
                            <a:srgbClr val="000000"/>
                          </a:solidFill>
                          <a:effectLst/>
                          <a:latin typeface="Arial" panose="020B0604020202020204" pitchFamily="34" charset="0"/>
                        </a:rPr>
                        <a:t>China</a:t>
                      </a:r>
                      <a:endParaRPr lang="es-AR" sz="2400">
                        <a:effectLst/>
                      </a:endParaRPr>
                    </a:p>
                  </a:txBody>
                  <a:tcPr marL="50800" marR="50800" anchor="ctr">
                    <a:lnL w="8649" cap="flat" cmpd="sng" algn="ctr">
                      <a:solidFill>
                        <a:srgbClr val="000000"/>
                      </a:solidFill>
                      <a:prstDash val="solid"/>
                      <a:round/>
                      <a:headEnd type="none" w="med" len="med"/>
                      <a:tailEnd type="none" w="med" len="med"/>
                    </a:lnL>
                    <a:lnR w="8649" cap="flat" cmpd="sng" algn="ctr">
                      <a:solidFill>
                        <a:srgbClr val="000000"/>
                      </a:solidFill>
                      <a:prstDash val="dash"/>
                      <a:round/>
                      <a:headEnd type="none" w="med" len="med"/>
                      <a:tailEnd type="none" w="med" len="med"/>
                    </a:lnR>
                    <a:lnT w="8649" cap="flat" cmpd="sng" algn="ctr">
                      <a:solidFill>
                        <a:srgbClr val="000000"/>
                      </a:solidFill>
                      <a:prstDash val="dash"/>
                      <a:round/>
                      <a:headEnd type="none" w="med" len="med"/>
                      <a:tailEnd type="none" w="med" len="med"/>
                    </a:lnT>
                    <a:lnB w="8649" cap="flat" cmpd="sng" algn="ctr">
                      <a:solidFill>
                        <a:srgbClr val="000000"/>
                      </a:solidFill>
                      <a:prstDash val="dash"/>
                      <a:round/>
                      <a:headEnd type="none" w="med" len="med"/>
                      <a:tailEnd type="none" w="med" len="med"/>
                    </a:lnB>
                    <a:noFill/>
                  </a:tcPr>
                </a:tc>
                <a:tc>
                  <a:txBody>
                    <a:bodyPr/>
                    <a:lstStyle/>
                    <a:p>
                      <a:pPr algn="r" rtl="0" fontAlgn="ctr">
                        <a:spcBef>
                          <a:spcPts val="1200"/>
                        </a:spcBef>
                        <a:buNone/>
                      </a:pPr>
                      <a:r>
                        <a:rPr lang="es-AR" sz="1050" b="0" i="0" u="none" strike="noStrike">
                          <a:solidFill>
                            <a:srgbClr val="000000"/>
                          </a:solidFill>
                          <a:effectLst/>
                          <a:latin typeface="Arial" panose="020B0604020202020204" pitchFamily="34" charset="0"/>
                        </a:rPr>
                        <a:t>6,3</a:t>
                      </a:r>
                      <a:endParaRPr lang="es-AR" sz="2400">
                        <a:effectLst/>
                      </a:endParaRPr>
                    </a:p>
                  </a:txBody>
                  <a:tcPr marL="50800" marR="50800" anchor="ctr">
                    <a:lnL w="8649" cap="flat" cmpd="sng" algn="ctr">
                      <a:solidFill>
                        <a:srgbClr val="000000"/>
                      </a:solidFill>
                      <a:prstDash val="dash"/>
                      <a:round/>
                      <a:headEnd type="none" w="med" len="med"/>
                      <a:tailEnd type="none" w="med" len="med"/>
                    </a:lnL>
                    <a:lnR w="8649" cap="flat" cmpd="sng" algn="ctr">
                      <a:solidFill>
                        <a:srgbClr val="000000"/>
                      </a:solidFill>
                      <a:prstDash val="solid"/>
                      <a:round/>
                      <a:headEnd type="none" w="med" len="med"/>
                      <a:tailEnd type="none" w="med" len="med"/>
                    </a:lnR>
                    <a:lnT w="8649" cap="flat" cmpd="sng" algn="ctr">
                      <a:solidFill>
                        <a:srgbClr val="000000"/>
                      </a:solidFill>
                      <a:prstDash val="dash"/>
                      <a:round/>
                      <a:headEnd type="none" w="med" len="med"/>
                      <a:tailEnd type="none" w="med" len="med"/>
                    </a:lnT>
                    <a:lnB w="8649" cap="flat" cmpd="sng" algn="ctr">
                      <a:solidFill>
                        <a:srgbClr val="000000"/>
                      </a:solidFill>
                      <a:prstDash val="dash"/>
                      <a:round/>
                      <a:headEnd type="none" w="med" len="med"/>
                      <a:tailEnd type="none" w="med" len="med"/>
                    </a:lnB>
                    <a:noFill/>
                  </a:tcPr>
                </a:tc>
                <a:extLst>
                  <a:ext uri="{0D108BD9-81ED-4DB2-BD59-A6C34878D82A}">
                    <a16:rowId xmlns:a16="http://schemas.microsoft.com/office/drawing/2014/main" val="1898591380"/>
                  </a:ext>
                </a:extLst>
              </a:tr>
              <a:tr h="233327">
                <a:tc vMerge="1">
                  <a:txBody>
                    <a:bodyPr/>
                    <a:lstStyle/>
                    <a:p>
                      <a:endParaRPr lang="es-AR"/>
                    </a:p>
                  </a:txBody>
                  <a:tcPr/>
                </a:tc>
                <a:tc>
                  <a:txBody>
                    <a:bodyPr/>
                    <a:lstStyle/>
                    <a:p>
                      <a:pPr algn="ctr" rtl="0" fontAlgn="ctr">
                        <a:spcBef>
                          <a:spcPts val="1200"/>
                        </a:spcBef>
                        <a:buNone/>
                      </a:pPr>
                      <a:r>
                        <a:rPr lang="es-AR" sz="1050" b="0" i="0" u="none" strike="noStrike">
                          <a:solidFill>
                            <a:srgbClr val="000000"/>
                          </a:solidFill>
                          <a:effectLst/>
                          <a:latin typeface="Arial" panose="020B0604020202020204" pitchFamily="34" charset="0"/>
                        </a:rPr>
                        <a:t>3</a:t>
                      </a:r>
                      <a:endParaRPr lang="es-AR" sz="2400">
                        <a:effectLst/>
                      </a:endParaRPr>
                    </a:p>
                  </a:txBody>
                  <a:tcPr marL="50800" marR="50800" anchor="ctr">
                    <a:lnL w="8649" cap="flat" cmpd="sng" algn="ctr">
                      <a:solidFill>
                        <a:srgbClr val="000000"/>
                      </a:solidFill>
                      <a:prstDash val="solid"/>
                      <a:round/>
                      <a:headEnd type="none" w="med" len="med"/>
                      <a:tailEnd type="none" w="med" len="med"/>
                    </a:lnL>
                    <a:lnR w="8649" cap="flat" cmpd="sng" algn="ctr">
                      <a:solidFill>
                        <a:srgbClr val="000000"/>
                      </a:solidFill>
                      <a:prstDash val="solid"/>
                      <a:round/>
                      <a:headEnd type="none" w="med" len="med"/>
                      <a:tailEnd type="none" w="med" len="med"/>
                    </a:lnR>
                    <a:lnT w="8649" cap="flat" cmpd="sng" algn="ctr">
                      <a:solidFill>
                        <a:srgbClr val="000000"/>
                      </a:solidFill>
                      <a:prstDash val="dash"/>
                      <a:round/>
                      <a:headEnd type="none" w="med" len="med"/>
                      <a:tailEnd type="none" w="med" len="med"/>
                    </a:lnT>
                    <a:lnB w="8649" cap="flat" cmpd="sng" algn="ctr">
                      <a:solidFill>
                        <a:srgbClr val="000000"/>
                      </a:solidFill>
                      <a:prstDash val="dash"/>
                      <a:round/>
                      <a:headEnd type="none" w="med" len="med"/>
                      <a:tailEnd type="none" w="med" len="med"/>
                    </a:lnB>
                    <a:noFill/>
                  </a:tcPr>
                </a:tc>
                <a:tc>
                  <a:txBody>
                    <a:bodyPr/>
                    <a:lstStyle/>
                    <a:p>
                      <a:pPr algn="just" rtl="0" fontAlgn="ctr">
                        <a:spcBef>
                          <a:spcPts val="1200"/>
                        </a:spcBef>
                        <a:buNone/>
                      </a:pPr>
                      <a:r>
                        <a:rPr lang="es-AR" sz="1050" b="0" i="0" u="none" strike="noStrike" dirty="0">
                          <a:solidFill>
                            <a:srgbClr val="000000"/>
                          </a:solidFill>
                          <a:effectLst/>
                          <a:latin typeface="Arial" panose="020B0604020202020204" pitchFamily="34" charset="0"/>
                        </a:rPr>
                        <a:t>China</a:t>
                      </a:r>
                      <a:endParaRPr lang="es-AR" sz="2400" dirty="0">
                        <a:effectLst/>
                      </a:endParaRPr>
                    </a:p>
                  </a:txBody>
                  <a:tcPr marL="50800" marR="50800" anchor="ctr">
                    <a:lnL w="8649" cap="flat" cmpd="sng" algn="ctr">
                      <a:solidFill>
                        <a:srgbClr val="000000"/>
                      </a:solidFill>
                      <a:prstDash val="solid"/>
                      <a:round/>
                      <a:headEnd type="none" w="med" len="med"/>
                      <a:tailEnd type="none" w="med" len="med"/>
                    </a:lnL>
                    <a:lnR w="8649" cap="flat" cmpd="sng" algn="ctr">
                      <a:solidFill>
                        <a:srgbClr val="000000"/>
                      </a:solidFill>
                      <a:prstDash val="dash"/>
                      <a:round/>
                      <a:headEnd type="none" w="med" len="med"/>
                      <a:tailEnd type="none" w="med" len="med"/>
                    </a:lnR>
                    <a:lnT w="8649" cap="flat" cmpd="sng" algn="ctr">
                      <a:solidFill>
                        <a:srgbClr val="000000"/>
                      </a:solidFill>
                      <a:prstDash val="dash"/>
                      <a:round/>
                      <a:headEnd type="none" w="med" len="med"/>
                      <a:tailEnd type="none" w="med" len="med"/>
                    </a:lnT>
                    <a:lnB w="8649" cap="flat" cmpd="sng" algn="ctr">
                      <a:solidFill>
                        <a:srgbClr val="000000"/>
                      </a:solidFill>
                      <a:prstDash val="dash"/>
                      <a:round/>
                      <a:headEnd type="none" w="med" len="med"/>
                      <a:tailEnd type="none" w="med" len="med"/>
                    </a:lnB>
                    <a:noFill/>
                  </a:tcPr>
                </a:tc>
                <a:tc>
                  <a:txBody>
                    <a:bodyPr/>
                    <a:lstStyle/>
                    <a:p>
                      <a:pPr algn="r" rtl="0" fontAlgn="ctr">
                        <a:spcBef>
                          <a:spcPts val="1200"/>
                        </a:spcBef>
                        <a:buNone/>
                      </a:pPr>
                      <a:r>
                        <a:rPr lang="es-AR" sz="1050" b="0" i="0" u="none" strike="noStrike">
                          <a:solidFill>
                            <a:srgbClr val="000000"/>
                          </a:solidFill>
                          <a:effectLst/>
                          <a:latin typeface="Arial" panose="020B0604020202020204" pitchFamily="34" charset="0"/>
                        </a:rPr>
                        <a:t>6,6</a:t>
                      </a:r>
                      <a:endParaRPr lang="es-AR" sz="2400">
                        <a:effectLst/>
                      </a:endParaRPr>
                    </a:p>
                  </a:txBody>
                  <a:tcPr marL="50800" marR="50800" anchor="ctr">
                    <a:lnL w="8649" cap="flat" cmpd="sng" algn="ctr">
                      <a:solidFill>
                        <a:srgbClr val="000000"/>
                      </a:solidFill>
                      <a:prstDash val="dash"/>
                      <a:round/>
                      <a:headEnd type="none" w="med" len="med"/>
                      <a:tailEnd type="none" w="med" len="med"/>
                    </a:lnL>
                    <a:lnR w="8649" cap="flat" cmpd="sng" algn="ctr">
                      <a:solidFill>
                        <a:srgbClr val="000000"/>
                      </a:solidFill>
                      <a:prstDash val="solid"/>
                      <a:round/>
                      <a:headEnd type="none" w="med" len="med"/>
                      <a:tailEnd type="none" w="med" len="med"/>
                    </a:lnR>
                    <a:lnT w="8649" cap="flat" cmpd="sng" algn="ctr">
                      <a:solidFill>
                        <a:srgbClr val="000000"/>
                      </a:solidFill>
                      <a:prstDash val="dash"/>
                      <a:round/>
                      <a:headEnd type="none" w="med" len="med"/>
                      <a:tailEnd type="none" w="med" len="med"/>
                    </a:lnT>
                    <a:lnB w="8649" cap="flat" cmpd="sng" algn="ctr">
                      <a:solidFill>
                        <a:srgbClr val="000000"/>
                      </a:solidFill>
                      <a:prstDash val="dash"/>
                      <a:round/>
                      <a:headEnd type="none" w="med" len="med"/>
                      <a:tailEnd type="none" w="med" len="med"/>
                    </a:lnB>
                    <a:noFill/>
                  </a:tcPr>
                </a:tc>
                <a:tc>
                  <a:txBody>
                    <a:bodyPr/>
                    <a:lstStyle/>
                    <a:p>
                      <a:pPr rtl="0" fontAlgn="ctr">
                        <a:spcBef>
                          <a:spcPts val="1200"/>
                        </a:spcBef>
                        <a:buNone/>
                      </a:pPr>
                      <a:r>
                        <a:rPr lang="es-AR" sz="1050" b="0" i="0" u="none" strike="noStrike">
                          <a:solidFill>
                            <a:srgbClr val="000000"/>
                          </a:solidFill>
                          <a:effectLst/>
                          <a:latin typeface="Arial" panose="020B0604020202020204" pitchFamily="34" charset="0"/>
                        </a:rPr>
                        <a:t>Chile</a:t>
                      </a:r>
                      <a:endParaRPr lang="es-AR" sz="2400">
                        <a:effectLst/>
                      </a:endParaRPr>
                    </a:p>
                  </a:txBody>
                  <a:tcPr marL="50800" marR="50800" anchor="ctr">
                    <a:lnL w="8649" cap="flat" cmpd="sng" algn="ctr">
                      <a:solidFill>
                        <a:srgbClr val="000000"/>
                      </a:solidFill>
                      <a:prstDash val="solid"/>
                      <a:round/>
                      <a:headEnd type="none" w="med" len="med"/>
                      <a:tailEnd type="none" w="med" len="med"/>
                    </a:lnL>
                    <a:lnR w="8649" cap="flat" cmpd="sng" algn="ctr">
                      <a:solidFill>
                        <a:srgbClr val="000000"/>
                      </a:solidFill>
                      <a:prstDash val="dash"/>
                      <a:round/>
                      <a:headEnd type="none" w="med" len="med"/>
                      <a:tailEnd type="none" w="med" len="med"/>
                    </a:lnR>
                    <a:lnT w="8649" cap="flat" cmpd="sng" algn="ctr">
                      <a:solidFill>
                        <a:srgbClr val="000000"/>
                      </a:solidFill>
                      <a:prstDash val="dash"/>
                      <a:round/>
                      <a:headEnd type="none" w="med" len="med"/>
                      <a:tailEnd type="none" w="med" len="med"/>
                    </a:lnT>
                    <a:lnB w="8649" cap="flat" cmpd="sng" algn="ctr">
                      <a:solidFill>
                        <a:srgbClr val="000000"/>
                      </a:solidFill>
                      <a:prstDash val="dash"/>
                      <a:round/>
                      <a:headEnd type="none" w="med" len="med"/>
                      <a:tailEnd type="none" w="med" len="med"/>
                    </a:lnB>
                    <a:noFill/>
                  </a:tcPr>
                </a:tc>
                <a:tc>
                  <a:txBody>
                    <a:bodyPr/>
                    <a:lstStyle/>
                    <a:p>
                      <a:pPr algn="r" rtl="0" fontAlgn="ctr">
                        <a:spcBef>
                          <a:spcPts val="1200"/>
                        </a:spcBef>
                        <a:buNone/>
                      </a:pPr>
                      <a:r>
                        <a:rPr lang="es-AR" sz="1050" b="0" i="0" u="none" strike="noStrike">
                          <a:solidFill>
                            <a:srgbClr val="000000"/>
                          </a:solidFill>
                          <a:effectLst/>
                          <a:latin typeface="Arial" panose="020B0604020202020204" pitchFamily="34" charset="0"/>
                        </a:rPr>
                        <a:t>6,3</a:t>
                      </a:r>
                      <a:endParaRPr lang="es-AR" sz="2400">
                        <a:effectLst/>
                      </a:endParaRPr>
                    </a:p>
                  </a:txBody>
                  <a:tcPr marL="50800" marR="50800" anchor="ctr">
                    <a:lnL w="8649" cap="flat" cmpd="sng" algn="ctr">
                      <a:solidFill>
                        <a:srgbClr val="000000"/>
                      </a:solidFill>
                      <a:prstDash val="dash"/>
                      <a:round/>
                      <a:headEnd type="none" w="med" len="med"/>
                      <a:tailEnd type="none" w="med" len="med"/>
                    </a:lnL>
                    <a:lnR w="8649" cap="flat" cmpd="sng" algn="ctr">
                      <a:solidFill>
                        <a:srgbClr val="000000"/>
                      </a:solidFill>
                      <a:prstDash val="solid"/>
                      <a:round/>
                      <a:headEnd type="none" w="med" len="med"/>
                      <a:tailEnd type="none" w="med" len="med"/>
                    </a:lnR>
                    <a:lnT w="8649" cap="flat" cmpd="sng" algn="ctr">
                      <a:solidFill>
                        <a:srgbClr val="000000"/>
                      </a:solidFill>
                      <a:prstDash val="dash"/>
                      <a:round/>
                      <a:headEnd type="none" w="med" len="med"/>
                      <a:tailEnd type="none" w="med" len="med"/>
                    </a:lnT>
                    <a:lnB w="8649" cap="flat" cmpd="sng" algn="ctr">
                      <a:solidFill>
                        <a:srgbClr val="000000"/>
                      </a:solidFill>
                      <a:prstDash val="dash"/>
                      <a:round/>
                      <a:headEnd type="none" w="med" len="med"/>
                      <a:tailEnd type="none" w="med" len="med"/>
                    </a:lnB>
                    <a:noFill/>
                  </a:tcPr>
                </a:tc>
                <a:extLst>
                  <a:ext uri="{0D108BD9-81ED-4DB2-BD59-A6C34878D82A}">
                    <a16:rowId xmlns:a16="http://schemas.microsoft.com/office/drawing/2014/main" val="2850404591"/>
                  </a:ext>
                </a:extLst>
              </a:tr>
              <a:tr h="233327">
                <a:tc vMerge="1">
                  <a:txBody>
                    <a:bodyPr/>
                    <a:lstStyle/>
                    <a:p>
                      <a:endParaRPr lang="es-AR"/>
                    </a:p>
                  </a:txBody>
                  <a:tcPr/>
                </a:tc>
                <a:tc>
                  <a:txBody>
                    <a:bodyPr/>
                    <a:lstStyle/>
                    <a:p>
                      <a:pPr algn="ctr" rtl="0" fontAlgn="ctr">
                        <a:spcBef>
                          <a:spcPts val="1200"/>
                        </a:spcBef>
                        <a:buNone/>
                      </a:pPr>
                      <a:r>
                        <a:rPr lang="es-AR" sz="1050" b="0" i="0" u="none" strike="noStrike">
                          <a:solidFill>
                            <a:srgbClr val="000000"/>
                          </a:solidFill>
                          <a:effectLst/>
                          <a:latin typeface="Arial" panose="020B0604020202020204" pitchFamily="34" charset="0"/>
                        </a:rPr>
                        <a:t>4</a:t>
                      </a:r>
                      <a:endParaRPr lang="es-AR" sz="2400">
                        <a:effectLst/>
                      </a:endParaRPr>
                    </a:p>
                  </a:txBody>
                  <a:tcPr marL="50800" marR="50800" anchor="ctr">
                    <a:lnL w="8649" cap="flat" cmpd="sng" algn="ctr">
                      <a:solidFill>
                        <a:srgbClr val="000000"/>
                      </a:solidFill>
                      <a:prstDash val="solid"/>
                      <a:round/>
                      <a:headEnd type="none" w="med" len="med"/>
                      <a:tailEnd type="none" w="med" len="med"/>
                    </a:lnL>
                    <a:lnR w="8649" cap="flat" cmpd="sng" algn="ctr">
                      <a:solidFill>
                        <a:srgbClr val="000000"/>
                      </a:solidFill>
                      <a:prstDash val="solid"/>
                      <a:round/>
                      <a:headEnd type="none" w="med" len="med"/>
                      <a:tailEnd type="none" w="med" len="med"/>
                    </a:lnR>
                    <a:lnT w="8649" cap="flat" cmpd="sng" algn="ctr">
                      <a:solidFill>
                        <a:srgbClr val="000000"/>
                      </a:solidFill>
                      <a:prstDash val="dash"/>
                      <a:round/>
                      <a:headEnd type="none" w="med" len="med"/>
                      <a:tailEnd type="none" w="med" len="med"/>
                    </a:lnT>
                    <a:lnB w="8649" cap="flat" cmpd="sng" algn="ctr">
                      <a:solidFill>
                        <a:srgbClr val="000000"/>
                      </a:solidFill>
                      <a:prstDash val="dash"/>
                      <a:round/>
                      <a:headEnd type="none" w="med" len="med"/>
                      <a:tailEnd type="none" w="med" len="med"/>
                    </a:lnB>
                    <a:noFill/>
                  </a:tcPr>
                </a:tc>
                <a:tc>
                  <a:txBody>
                    <a:bodyPr/>
                    <a:lstStyle/>
                    <a:p>
                      <a:pPr algn="just" rtl="0" fontAlgn="ctr">
                        <a:spcBef>
                          <a:spcPts val="1200"/>
                        </a:spcBef>
                        <a:buNone/>
                      </a:pPr>
                      <a:r>
                        <a:rPr lang="es-AR" sz="1050" b="0" i="0" u="none" strike="noStrike">
                          <a:solidFill>
                            <a:srgbClr val="000000"/>
                          </a:solidFill>
                          <a:effectLst/>
                          <a:latin typeface="Arial" panose="020B0604020202020204" pitchFamily="34" charset="0"/>
                        </a:rPr>
                        <a:t>Países Bajos</a:t>
                      </a:r>
                      <a:endParaRPr lang="es-AR" sz="2400">
                        <a:effectLst/>
                      </a:endParaRPr>
                    </a:p>
                  </a:txBody>
                  <a:tcPr marL="50800" marR="50800" anchor="ctr">
                    <a:lnL w="8649" cap="flat" cmpd="sng" algn="ctr">
                      <a:solidFill>
                        <a:srgbClr val="000000"/>
                      </a:solidFill>
                      <a:prstDash val="solid"/>
                      <a:round/>
                      <a:headEnd type="none" w="med" len="med"/>
                      <a:tailEnd type="none" w="med" len="med"/>
                    </a:lnL>
                    <a:lnR w="8649" cap="flat" cmpd="sng" algn="ctr">
                      <a:solidFill>
                        <a:srgbClr val="000000"/>
                      </a:solidFill>
                      <a:prstDash val="dash"/>
                      <a:round/>
                      <a:headEnd type="none" w="med" len="med"/>
                      <a:tailEnd type="none" w="med" len="med"/>
                    </a:lnR>
                    <a:lnT w="8649" cap="flat" cmpd="sng" algn="ctr">
                      <a:solidFill>
                        <a:srgbClr val="000000"/>
                      </a:solidFill>
                      <a:prstDash val="dash"/>
                      <a:round/>
                      <a:headEnd type="none" w="med" len="med"/>
                      <a:tailEnd type="none" w="med" len="med"/>
                    </a:lnT>
                    <a:lnB w="8649" cap="flat" cmpd="sng" algn="ctr">
                      <a:solidFill>
                        <a:srgbClr val="000000"/>
                      </a:solidFill>
                      <a:prstDash val="dash"/>
                      <a:round/>
                      <a:headEnd type="none" w="med" len="med"/>
                      <a:tailEnd type="none" w="med" len="med"/>
                    </a:lnB>
                    <a:noFill/>
                  </a:tcPr>
                </a:tc>
                <a:tc>
                  <a:txBody>
                    <a:bodyPr/>
                    <a:lstStyle/>
                    <a:p>
                      <a:pPr algn="r" rtl="0" fontAlgn="ctr">
                        <a:spcBef>
                          <a:spcPts val="1200"/>
                        </a:spcBef>
                        <a:buNone/>
                      </a:pPr>
                      <a:r>
                        <a:rPr lang="es-AR" sz="1050" b="0" i="0" u="none" strike="noStrike" dirty="0">
                          <a:solidFill>
                            <a:srgbClr val="000000"/>
                          </a:solidFill>
                          <a:effectLst/>
                          <a:latin typeface="Arial" panose="020B0604020202020204" pitchFamily="34" charset="0"/>
                        </a:rPr>
                        <a:t>4,8</a:t>
                      </a:r>
                      <a:endParaRPr lang="es-AR" sz="2400" dirty="0">
                        <a:effectLst/>
                      </a:endParaRPr>
                    </a:p>
                  </a:txBody>
                  <a:tcPr marL="50800" marR="50800" anchor="ctr">
                    <a:lnL w="8649" cap="flat" cmpd="sng" algn="ctr">
                      <a:solidFill>
                        <a:srgbClr val="000000"/>
                      </a:solidFill>
                      <a:prstDash val="dash"/>
                      <a:round/>
                      <a:headEnd type="none" w="med" len="med"/>
                      <a:tailEnd type="none" w="med" len="med"/>
                    </a:lnL>
                    <a:lnR w="8649" cap="flat" cmpd="sng" algn="ctr">
                      <a:solidFill>
                        <a:srgbClr val="000000"/>
                      </a:solidFill>
                      <a:prstDash val="solid"/>
                      <a:round/>
                      <a:headEnd type="none" w="med" len="med"/>
                      <a:tailEnd type="none" w="med" len="med"/>
                    </a:lnR>
                    <a:lnT w="8649" cap="flat" cmpd="sng" algn="ctr">
                      <a:solidFill>
                        <a:srgbClr val="000000"/>
                      </a:solidFill>
                      <a:prstDash val="dash"/>
                      <a:round/>
                      <a:headEnd type="none" w="med" len="med"/>
                      <a:tailEnd type="none" w="med" len="med"/>
                    </a:lnT>
                    <a:lnB w="8649" cap="flat" cmpd="sng" algn="ctr">
                      <a:solidFill>
                        <a:srgbClr val="000000"/>
                      </a:solidFill>
                      <a:prstDash val="dash"/>
                      <a:round/>
                      <a:headEnd type="none" w="med" len="med"/>
                      <a:tailEnd type="none" w="med" len="med"/>
                    </a:lnB>
                    <a:noFill/>
                  </a:tcPr>
                </a:tc>
                <a:tc>
                  <a:txBody>
                    <a:bodyPr/>
                    <a:lstStyle/>
                    <a:p>
                      <a:pPr rtl="0" fontAlgn="ctr">
                        <a:spcBef>
                          <a:spcPts val="1200"/>
                        </a:spcBef>
                        <a:buNone/>
                      </a:pPr>
                      <a:r>
                        <a:rPr lang="es-AR" sz="1050" b="0" i="0" u="none" strike="noStrike">
                          <a:solidFill>
                            <a:srgbClr val="000000"/>
                          </a:solidFill>
                          <a:effectLst/>
                          <a:latin typeface="Arial" panose="020B0604020202020204" pitchFamily="34" charset="0"/>
                        </a:rPr>
                        <a:t>USA</a:t>
                      </a:r>
                      <a:endParaRPr lang="es-AR" sz="2400">
                        <a:effectLst/>
                      </a:endParaRPr>
                    </a:p>
                  </a:txBody>
                  <a:tcPr marL="50800" marR="50800" anchor="ctr">
                    <a:lnL w="8649" cap="flat" cmpd="sng" algn="ctr">
                      <a:solidFill>
                        <a:srgbClr val="000000"/>
                      </a:solidFill>
                      <a:prstDash val="solid"/>
                      <a:round/>
                      <a:headEnd type="none" w="med" len="med"/>
                      <a:tailEnd type="none" w="med" len="med"/>
                    </a:lnL>
                    <a:lnR w="8649" cap="flat" cmpd="sng" algn="ctr">
                      <a:solidFill>
                        <a:srgbClr val="000000"/>
                      </a:solidFill>
                      <a:prstDash val="dash"/>
                      <a:round/>
                      <a:headEnd type="none" w="med" len="med"/>
                      <a:tailEnd type="none" w="med" len="med"/>
                    </a:lnR>
                    <a:lnT w="8649" cap="flat" cmpd="sng" algn="ctr">
                      <a:solidFill>
                        <a:srgbClr val="000000"/>
                      </a:solidFill>
                      <a:prstDash val="dash"/>
                      <a:round/>
                      <a:headEnd type="none" w="med" len="med"/>
                      <a:tailEnd type="none" w="med" len="med"/>
                    </a:lnT>
                    <a:lnB w="8649" cap="flat" cmpd="sng" algn="ctr">
                      <a:solidFill>
                        <a:srgbClr val="000000"/>
                      </a:solidFill>
                      <a:prstDash val="dash"/>
                      <a:round/>
                      <a:headEnd type="none" w="med" len="med"/>
                      <a:tailEnd type="none" w="med" len="med"/>
                    </a:lnB>
                    <a:noFill/>
                  </a:tcPr>
                </a:tc>
                <a:tc>
                  <a:txBody>
                    <a:bodyPr/>
                    <a:lstStyle/>
                    <a:p>
                      <a:pPr algn="r" rtl="0" fontAlgn="ctr">
                        <a:spcBef>
                          <a:spcPts val="1200"/>
                        </a:spcBef>
                        <a:buNone/>
                      </a:pPr>
                      <a:r>
                        <a:rPr lang="es-AR" sz="1050" b="0" i="0" u="none" strike="noStrike">
                          <a:solidFill>
                            <a:srgbClr val="000000"/>
                          </a:solidFill>
                          <a:effectLst/>
                          <a:latin typeface="Arial" panose="020B0604020202020204" pitchFamily="34" charset="0"/>
                        </a:rPr>
                        <a:t>5,0</a:t>
                      </a:r>
                      <a:endParaRPr lang="es-AR" sz="2400">
                        <a:effectLst/>
                      </a:endParaRPr>
                    </a:p>
                  </a:txBody>
                  <a:tcPr marL="50800" marR="50800" anchor="ctr">
                    <a:lnL w="8649" cap="flat" cmpd="sng" algn="ctr">
                      <a:solidFill>
                        <a:srgbClr val="000000"/>
                      </a:solidFill>
                      <a:prstDash val="dash"/>
                      <a:round/>
                      <a:headEnd type="none" w="med" len="med"/>
                      <a:tailEnd type="none" w="med" len="med"/>
                    </a:lnL>
                    <a:lnR w="8649" cap="flat" cmpd="sng" algn="ctr">
                      <a:solidFill>
                        <a:srgbClr val="000000"/>
                      </a:solidFill>
                      <a:prstDash val="solid"/>
                      <a:round/>
                      <a:headEnd type="none" w="med" len="med"/>
                      <a:tailEnd type="none" w="med" len="med"/>
                    </a:lnR>
                    <a:lnT w="8649" cap="flat" cmpd="sng" algn="ctr">
                      <a:solidFill>
                        <a:srgbClr val="000000"/>
                      </a:solidFill>
                      <a:prstDash val="dash"/>
                      <a:round/>
                      <a:headEnd type="none" w="med" len="med"/>
                      <a:tailEnd type="none" w="med" len="med"/>
                    </a:lnT>
                    <a:lnB w="8649" cap="flat" cmpd="sng" algn="ctr">
                      <a:solidFill>
                        <a:srgbClr val="000000"/>
                      </a:solidFill>
                      <a:prstDash val="dash"/>
                      <a:round/>
                      <a:headEnd type="none" w="med" len="med"/>
                      <a:tailEnd type="none" w="med" len="med"/>
                    </a:lnB>
                    <a:noFill/>
                  </a:tcPr>
                </a:tc>
                <a:extLst>
                  <a:ext uri="{0D108BD9-81ED-4DB2-BD59-A6C34878D82A}">
                    <a16:rowId xmlns:a16="http://schemas.microsoft.com/office/drawing/2014/main" val="1923321279"/>
                  </a:ext>
                </a:extLst>
              </a:tr>
              <a:tr h="295547">
                <a:tc vMerge="1">
                  <a:txBody>
                    <a:bodyPr/>
                    <a:lstStyle/>
                    <a:p>
                      <a:endParaRPr lang="es-AR"/>
                    </a:p>
                  </a:txBody>
                  <a:tcPr/>
                </a:tc>
                <a:tc>
                  <a:txBody>
                    <a:bodyPr/>
                    <a:lstStyle/>
                    <a:p>
                      <a:pPr algn="ctr" rtl="0" fontAlgn="ctr">
                        <a:spcBef>
                          <a:spcPts val="1200"/>
                        </a:spcBef>
                        <a:buNone/>
                      </a:pPr>
                      <a:r>
                        <a:rPr lang="es-AR" sz="1050" b="0" i="0" u="none" strike="noStrike">
                          <a:solidFill>
                            <a:srgbClr val="000000"/>
                          </a:solidFill>
                          <a:effectLst/>
                          <a:latin typeface="Arial" panose="020B0604020202020204" pitchFamily="34" charset="0"/>
                        </a:rPr>
                        <a:t>5</a:t>
                      </a:r>
                      <a:endParaRPr lang="es-AR" sz="2400">
                        <a:effectLst/>
                      </a:endParaRPr>
                    </a:p>
                  </a:txBody>
                  <a:tcPr marL="50800" marR="50800" anchor="ctr">
                    <a:lnL w="8649" cap="flat" cmpd="sng" algn="ctr">
                      <a:solidFill>
                        <a:srgbClr val="000000"/>
                      </a:solidFill>
                      <a:prstDash val="solid"/>
                      <a:round/>
                      <a:headEnd type="none" w="med" len="med"/>
                      <a:tailEnd type="none" w="med" len="med"/>
                    </a:lnL>
                    <a:lnR w="8649" cap="flat" cmpd="sng" algn="ctr">
                      <a:solidFill>
                        <a:srgbClr val="000000"/>
                      </a:solidFill>
                      <a:prstDash val="solid"/>
                      <a:round/>
                      <a:headEnd type="none" w="med" len="med"/>
                      <a:tailEnd type="none" w="med" len="med"/>
                    </a:lnR>
                    <a:lnT w="8649" cap="flat" cmpd="sng" algn="ctr">
                      <a:solidFill>
                        <a:srgbClr val="000000"/>
                      </a:solidFill>
                      <a:prstDash val="dash"/>
                      <a:round/>
                      <a:headEnd type="none" w="med" len="med"/>
                      <a:tailEnd type="none" w="med" len="med"/>
                    </a:lnT>
                    <a:lnB w="8649" cap="flat" cmpd="sng" algn="ctr">
                      <a:solidFill>
                        <a:srgbClr val="000000"/>
                      </a:solidFill>
                      <a:prstDash val="solid"/>
                      <a:round/>
                      <a:headEnd type="none" w="med" len="med"/>
                      <a:tailEnd type="none" w="med" len="med"/>
                    </a:lnB>
                    <a:noFill/>
                  </a:tcPr>
                </a:tc>
                <a:tc>
                  <a:txBody>
                    <a:bodyPr/>
                    <a:lstStyle/>
                    <a:p>
                      <a:pPr algn="just" rtl="0" fontAlgn="ctr">
                        <a:spcBef>
                          <a:spcPts val="1200"/>
                        </a:spcBef>
                        <a:buNone/>
                      </a:pPr>
                      <a:r>
                        <a:rPr lang="es-AR" sz="1050" b="0" i="0" u="none" strike="noStrike">
                          <a:solidFill>
                            <a:srgbClr val="000000"/>
                          </a:solidFill>
                          <a:effectLst/>
                          <a:latin typeface="Arial" panose="020B0604020202020204" pitchFamily="34" charset="0"/>
                        </a:rPr>
                        <a:t>India</a:t>
                      </a:r>
                      <a:endParaRPr lang="es-AR" sz="2400">
                        <a:effectLst/>
                      </a:endParaRPr>
                    </a:p>
                  </a:txBody>
                  <a:tcPr marL="50800" marR="50800" anchor="ctr">
                    <a:lnL w="8649" cap="flat" cmpd="sng" algn="ctr">
                      <a:solidFill>
                        <a:srgbClr val="000000"/>
                      </a:solidFill>
                      <a:prstDash val="solid"/>
                      <a:round/>
                      <a:headEnd type="none" w="med" len="med"/>
                      <a:tailEnd type="none" w="med" len="med"/>
                    </a:lnL>
                    <a:lnR w="8649" cap="flat" cmpd="sng" algn="ctr">
                      <a:solidFill>
                        <a:srgbClr val="000000"/>
                      </a:solidFill>
                      <a:prstDash val="dash"/>
                      <a:round/>
                      <a:headEnd type="none" w="med" len="med"/>
                      <a:tailEnd type="none" w="med" len="med"/>
                    </a:lnR>
                    <a:lnT w="8649" cap="flat" cmpd="sng" algn="ctr">
                      <a:solidFill>
                        <a:srgbClr val="000000"/>
                      </a:solidFill>
                      <a:prstDash val="dash"/>
                      <a:round/>
                      <a:headEnd type="none" w="med" len="med"/>
                      <a:tailEnd type="none" w="med" len="med"/>
                    </a:lnT>
                    <a:lnB w="8649" cap="flat" cmpd="sng" algn="ctr">
                      <a:solidFill>
                        <a:srgbClr val="000000"/>
                      </a:solidFill>
                      <a:prstDash val="solid"/>
                      <a:round/>
                      <a:headEnd type="none" w="med" len="med"/>
                      <a:tailEnd type="none" w="med" len="med"/>
                    </a:lnB>
                    <a:noFill/>
                  </a:tcPr>
                </a:tc>
                <a:tc>
                  <a:txBody>
                    <a:bodyPr/>
                    <a:lstStyle/>
                    <a:p>
                      <a:pPr algn="r" rtl="0" fontAlgn="ctr">
                        <a:spcBef>
                          <a:spcPts val="1200"/>
                        </a:spcBef>
                        <a:buNone/>
                      </a:pPr>
                      <a:r>
                        <a:rPr lang="es-AR" sz="1050" b="0" i="0" u="none" strike="noStrike" dirty="0">
                          <a:solidFill>
                            <a:srgbClr val="000000"/>
                          </a:solidFill>
                          <a:effectLst/>
                          <a:latin typeface="Arial" panose="020B0604020202020204" pitchFamily="34" charset="0"/>
                        </a:rPr>
                        <a:t>4,6</a:t>
                      </a:r>
                      <a:endParaRPr lang="es-AR" sz="2400" dirty="0">
                        <a:effectLst/>
                      </a:endParaRPr>
                    </a:p>
                  </a:txBody>
                  <a:tcPr marL="50800" marR="50800" anchor="ctr">
                    <a:lnL w="8649" cap="flat" cmpd="sng" algn="ctr">
                      <a:solidFill>
                        <a:srgbClr val="000000"/>
                      </a:solidFill>
                      <a:prstDash val="dash"/>
                      <a:round/>
                      <a:headEnd type="none" w="med" len="med"/>
                      <a:tailEnd type="none" w="med" len="med"/>
                    </a:lnL>
                    <a:lnR w="8649" cap="flat" cmpd="sng" algn="ctr">
                      <a:solidFill>
                        <a:srgbClr val="000000"/>
                      </a:solidFill>
                      <a:prstDash val="solid"/>
                      <a:round/>
                      <a:headEnd type="none" w="med" len="med"/>
                      <a:tailEnd type="none" w="med" len="med"/>
                    </a:lnR>
                    <a:lnT w="8649" cap="flat" cmpd="sng" algn="ctr">
                      <a:solidFill>
                        <a:srgbClr val="000000"/>
                      </a:solidFill>
                      <a:prstDash val="dash"/>
                      <a:round/>
                      <a:headEnd type="none" w="med" len="med"/>
                      <a:tailEnd type="none" w="med" len="med"/>
                    </a:lnT>
                    <a:lnB w="8649" cap="flat" cmpd="sng" algn="ctr">
                      <a:solidFill>
                        <a:srgbClr val="000000"/>
                      </a:solidFill>
                      <a:prstDash val="solid"/>
                      <a:round/>
                      <a:headEnd type="none" w="med" len="med"/>
                      <a:tailEnd type="none" w="med" len="med"/>
                    </a:lnB>
                    <a:noFill/>
                  </a:tcPr>
                </a:tc>
                <a:tc>
                  <a:txBody>
                    <a:bodyPr/>
                    <a:lstStyle/>
                    <a:p>
                      <a:pPr rtl="0" fontAlgn="ctr">
                        <a:spcBef>
                          <a:spcPts val="1200"/>
                        </a:spcBef>
                        <a:buNone/>
                      </a:pPr>
                      <a:r>
                        <a:rPr lang="es-AR" sz="1050" b="0" i="0" u="none" strike="noStrike">
                          <a:solidFill>
                            <a:srgbClr val="000000"/>
                          </a:solidFill>
                          <a:effectLst/>
                          <a:latin typeface="Arial" panose="020B0604020202020204" pitchFamily="34" charset="0"/>
                        </a:rPr>
                        <a:t>España</a:t>
                      </a:r>
                      <a:endParaRPr lang="es-AR" sz="2400">
                        <a:effectLst/>
                      </a:endParaRPr>
                    </a:p>
                  </a:txBody>
                  <a:tcPr marL="50800" marR="50800" anchor="ctr">
                    <a:lnL w="8649" cap="flat" cmpd="sng" algn="ctr">
                      <a:solidFill>
                        <a:srgbClr val="000000"/>
                      </a:solidFill>
                      <a:prstDash val="solid"/>
                      <a:round/>
                      <a:headEnd type="none" w="med" len="med"/>
                      <a:tailEnd type="none" w="med" len="med"/>
                    </a:lnL>
                    <a:lnR w="8649" cap="flat" cmpd="sng" algn="ctr">
                      <a:solidFill>
                        <a:srgbClr val="000000"/>
                      </a:solidFill>
                      <a:prstDash val="dash"/>
                      <a:round/>
                      <a:headEnd type="none" w="med" len="med"/>
                      <a:tailEnd type="none" w="med" len="med"/>
                    </a:lnR>
                    <a:lnT w="8649" cap="flat" cmpd="sng" algn="ctr">
                      <a:solidFill>
                        <a:srgbClr val="000000"/>
                      </a:solidFill>
                      <a:prstDash val="dash"/>
                      <a:round/>
                      <a:headEnd type="none" w="med" len="med"/>
                      <a:tailEnd type="none" w="med" len="med"/>
                    </a:lnT>
                    <a:lnB w="8649" cap="flat" cmpd="sng" algn="ctr">
                      <a:solidFill>
                        <a:srgbClr val="000000"/>
                      </a:solidFill>
                      <a:prstDash val="solid"/>
                      <a:round/>
                      <a:headEnd type="none" w="med" len="med"/>
                      <a:tailEnd type="none" w="med" len="med"/>
                    </a:lnB>
                    <a:noFill/>
                  </a:tcPr>
                </a:tc>
                <a:tc>
                  <a:txBody>
                    <a:bodyPr/>
                    <a:lstStyle/>
                    <a:p>
                      <a:pPr algn="r" rtl="0" fontAlgn="ctr">
                        <a:spcBef>
                          <a:spcPts val="1200"/>
                        </a:spcBef>
                        <a:buNone/>
                      </a:pPr>
                      <a:r>
                        <a:rPr lang="es-AR" sz="1050" b="0" i="0" u="none" strike="noStrike">
                          <a:solidFill>
                            <a:srgbClr val="000000"/>
                          </a:solidFill>
                          <a:effectLst/>
                          <a:latin typeface="Arial" panose="020B0604020202020204" pitchFamily="34" charset="0"/>
                        </a:rPr>
                        <a:t>3,1</a:t>
                      </a:r>
                      <a:endParaRPr lang="es-AR" sz="2400">
                        <a:effectLst/>
                      </a:endParaRPr>
                    </a:p>
                  </a:txBody>
                  <a:tcPr marL="50800" marR="50800" anchor="ctr">
                    <a:lnL w="8649" cap="flat" cmpd="sng" algn="ctr">
                      <a:solidFill>
                        <a:srgbClr val="000000"/>
                      </a:solidFill>
                      <a:prstDash val="dash"/>
                      <a:round/>
                      <a:headEnd type="none" w="med" len="med"/>
                      <a:tailEnd type="none" w="med" len="med"/>
                    </a:lnL>
                    <a:lnR w="8649" cap="flat" cmpd="sng" algn="ctr">
                      <a:solidFill>
                        <a:srgbClr val="000000"/>
                      </a:solidFill>
                      <a:prstDash val="solid"/>
                      <a:round/>
                      <a:headEnd type="none" w="med" len="med"/>
                      <a:tailEnd type="none" w="med" len="med"/>
                    </a:lnR>
                    <a:lnT w="8649" cap="flat" cmpd="sng" algn="ctr">
                      <a:solidFill>
                        <a:srgbClr val="000000"/>
                      </a:solidFill>
                      <a:prstDash val="dash"/>
                      <a:round/>
                      <a:headEnd type="none" w="med" len="med"/>
                      <a:tailEnd type="none" w="med" len="med"/>
                    </a:lnT>
                    <a:lnB w="8649"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2682384038"/>
                  </a:ext>
                </a:extLst>
              </a:tr>
              <a:tr h="233327">
                <a:tc rowSpan="5">
                  <a:txBody>
                    <a:bodyPr/>
                    <a:lstStyle/>
                    <a:p>
                      <a:pPr algn="ctr" fontAlgn="t">
                        <a:buNone/>
                      </a:pPr>
                      <a:endParaRPr lang="es-AR" sz="2400" dirty="0">
                        <a:effectLst/>
                      </a:endParaRPr>
                    </a:p>
                    <a:p>
                      <a:pPr algn="ctr" fontAlgn="t">
                        <a:buNone/>
                      </a:pPr>
                      <a:endParaRPr lang="es-AR" sz="1400" b="0" i="0" u="none" strike="noStrike" dirty="0">
                        <a:solidFill>
                          <a:srgbClr val="000000"/>
                        </a:solidFill>
                        <a:effectLst/>
                        <a:latin typeface="Arial" panose="020B0604020202020204" pitchFamily="34" charset="0"/>
                      </a:endParaRPr>
                    </a:p>
                    <a:p>
                      <a:pPr algn="ctr" fontAlgn="t">
                        <a:buNone/>
                      </a:pPr>
                      <a:r>
                        <a:rPr lang="es-AR" sz="1050" b="0" i="0" u="none" strike="noStrike" dirty="0">
                          <a:solidFill>
                            <a:srgbClr val="000000"/>
                          </a:solidFill>
                          <a:effectLst/>
                          <a:latin typeface="Arial" panose="020B0604020202020204" pitchFamily="34" charset="0"/>
                        </a:rPr>
                        <a:t>2024</a:t>
                      </a:r>
                      <a:endParaRPr lang="es-AR" sz="2400" dirty="0">
                        <a:effectLst/>
                      </a:endParaRPr>
                    </a:p>
                  </a:txBody>
                  <a:tcPr marL="50800" marR="50800">
                    <a:lnL w="8649" cap="flat" cmpd="sng" algn="ctr">
                      <a:solidFill>
                        <a:srgbClr val="000000"/>
                      </a:solidFill>
                      <a:prstDash val="solid"/>
                      <a:round/>
                      <a:headEnd type="none" w="med" len="med"/>
                      <a:tailEnd type="none" w="med" len="med"/>
                    </a:lnL>
                    <a:lnR w="8649" cap="flat" cmpd="sng" algn="ctr">
                      <a:solidFill>
                        <a:srgbClr val="000000"/>
                      </a:solidFill>
                      <a:prstDash val="solid"/>
                      <a:round/>
                      <a:headEnd type="none" w="med" len="med"/>
                      <a:tailEnd type="none" w="med" len="med"/>
                    </a:lnR>
                    <a:lnT w="8649" cap="flat" cmpd="sng" algn="ctr">
                      <a:solidFill>
                        <a:srgbClr val="000000"/>
                      </a:solidFill>
                      <a:prstDash val="solid"/>
                      <a:round/>
                      <a:headEnd type="none" w="med" len="med"/>
                      <a:tailEnd type="none" w="med" len="med"/>
                    </a:lnT>
                    <a:lnB w="8649" cap="flat" cmpd="sng" algn="ctr">
                      <a:solidFill>
                        <a:srgbClr val="000000"/>
                      </a:solidFill>
                      <a:prstDash val="solid"/>
                      <a:round/>
                      <a:headEnd type="none" w="med" len="med"/>
                      <a:tailEnd type="none" w="med" len="med"/>
                    </a:lnB>
                    <a:noFill/>
                  </a:tcPr>
                </a:tc>
                <a:tc>
                  <a:txBody>
                    <a:bodyPr/>
                    <a:lstStyle/>
                    <a:p>
                      <a:pPr algn="ctr" rtl="0" fontAlgn="ctr">
                        <a:spcBef>
                          <a:spcPts val="1200"/>
                        </a:spcBef>
                        <a:buNone/>
                      </a:pPr>
                      <a:r>
                        <a:rPr lang="es-AR" sz="1050" b="0" i="0" u="none" strike="noStrike">
                          <a:solidFill>
                            <a:srgbClr val="000000"/>
                          </a:solidFill>
                          <a:effectLst/>
                          <a:latin typeface="Arial" panose="020B0604020202020204" pitchFamily="34" charset="0"/>
                        </a:rPr>
                        <a:t>1</a:t>
                      </a:r>
                      <a:endParaRPr lang="es-AR" sz="2400">
                        <a:effectLst/>
                      </a:endParaRPr>
                    </a:p>
                  </a:txBody>
                  <a:tcPr marL="50800" marR="50800" anchor="ctr">
                    <a:lnL w="8649" cap="flat" cmpd="sng" algn="ctr">
                      <a:solidFill>
                        <a:srgbClr val="000000"/>
                      </a:solidFill>
                      <a:prstDash val="solid"/>
                      <a:round/>
                      <a:headEnd type="none" w="med" len="med"/>
                      <a:tailEnd type="none" w="med" len="med"/>
                    </a:lnL>
                    <a:lnR w="8649" cap="flat" cmpd="sng" algn="ctr">
                      <a:solidFill>
                        <a:srgbClr val="000000"/>
                      </a:solidFill>
                      <a:prstDash val="solid"/>
                      <a:round/>
                      <a:headEnd type="none" w="med" len="med"/>
                      <a:tailEnd type="none" w="med" len="med"/>
                    </a:lnR>
                    <a:lnT w="8649" cap="flat" cmpd="sng" algn="ctr">
                      <a:solidFill>
                        <a:srgbClr val="000000"/>
                      </a:solidFill>
                      <a:prstDash val="solid"/>
                      <a:round/>
                      <a:headEnd type="none" w="med" len="med"/>
                      <a:tailEnd type="none" w="med" len="med"/>
                    </a:lnT>
                    <a:lnB w="8649" cap="flat" cmpd="sng" algn="ctr">
                      <a:solidFill>
                        <a:srgbClr val="000000"/>
                      </a:solidFill>
                      <a:prstDash val="dash"/>
                      <a:round/>
                      <a:headEnd type="none" w="med" len="med"/>
                      <a:tailEnd type="none" w="med" len="med"/>
                    </a:lnB>
                    <a:noFill/>
                  </a:tcPr>
                </a:tc>
                <a:tc>
                  <a:txBody>
                    <a:bodyPr/>
                    <a:lstStyle/>
                    <a:p>
                      <a:pPr algn="just" rtl="0" fontAlgn="ctr">
                        <a:spcBef>
                          <a:spcPts val="1200"/>
                        </a:spcBef>
                        <a:buNone/>
                      </a:pPr>
                      <a:r>
                        <a:rPr lang="es-AR" sz="1050" b="0" i="0" u="none" strike="noStrike">
                          <a:solidFill>
                            <a:srgbClr val="000000"/>
                          </a:solidFill>
                          <a:effectLst/>
                          <a:latin typeface="Arial" panose="020B0604020202020204" pitchFamily="34" charset="0"/>
                        </a:rPr>
                        <a:t>India</a:t>
                      </a:r>
                      <a:endParaRPr lang="es-AR" sz="2400">
                        <a:effectLst/>
                      </a:endParaRPr>
                    </a:p>
                  </a:txBody>
                  <a:tcPr marL="50800" marR="50800" anchor="ctr">
                    <a:lnL w="8649" cap="flat" cmpd="sng" algn="ctr">
                      <a:solidFill>
                        <a:srgbClr val="000000"/>
                      </a:solidFill>
                      <a:prstDash val="solid"/>
                      <a:round/>
                      <a:headEnd type="none" w="med" len="med"/>
                      <a:tailEnd type="none" w="med" len="med"/>
                    </a:lnL>
                    <a:lnR w="8649" cap="flat" cmpd="sng" algn="ctr">
                      <a:solidFill>
                        <a:srgbClr val="000000"/>
                      </a:solidFill>
                      <a:prstDash val="dash"/>
                      <a:round/>
                      <a:headEnd type="none" w="med" len="med"/>
                      <a:tailEnd type="none" w="med" len="med"/>
                    </a:lnR>
                    <a:lnT w="8649" cap="flat" cmpd="sng" algn="ctr">
                      <a:solidFill>
                        <a:srgbClr val="000000"/>
                      </a:solidFill>
                      <a:prstDash val="solid"/>
                      <a:round/>
                      <a:headEnd type="none" w="med" len="med"/>
                      <a:tailEnd type="none" w="med" len="med"/>
                    </a:lnT>
                    <a:lnB w="8649" cap="flat" cmpd="sng" algn="ctr">
                      <a:solidFill>
                        <a:srgbClr val="000000"/>
                      </a:solidFill>
                      <a:prstDash val="dash"/>
                      <a:round/>
                      <a:headEnd type="none" w="med" len="med"/>
                      <a:tailEnd type="none" w="med" len="med"/>
                    </a:lnB>
                    <a:noFill/>
                  </a:tcPr>
                </a:tc>
                <a:tc>
                  <a:txBody>
                    <a:bodyPr/>
                    <a:lstStyle/>
                    <a:p>
                      <a:pPr algn="r" rtl="0" fontAlgn="ctr">
                        <a:spcBef>
                          <a:spcPts val="1200"/>
                        </a:spcBef>
                        <a:buNone/>
                      </a:pPr>
                      <a:r>
                        <a:rPr lang="es-AR" sz="1050" b="0" i="0" u="none" strike="noStrike" dirty="0">
                          <a:solidFill>
                            <a:srgbClr val="000000"/>
                          </a:solidFill>
                          <a:effectLst/>
                          <a:latin typeface="Arial" panose="020B0604020202020204" pitchFamily="34" charset="0"/>
                        </a:rPr>
                        <a:t>11,7</a:t>
                      </a:r>
                      <a:endParaRPr lang="es-AR" sz="2400" dirty="0">
                        <a:effectLst/>
                      </a:endParaRPr>
                    </a:p>
                  </a:txBody>
                  <a:tcPr marL="50800" marR="50800" anchor="ctr">
                    <a:lnL w="8649" cap="flat" cmpd="sng" algn="ctr">
                      <a:solidFill>
                        <a:srgbClr val="000000"/>
                      </a:solidFill>
                      <a:prstDash val="dash"/>
                      <a:round/>
                      <a:headEnd type="none" w="med" len="med"/>
                      <a:tailEnd type="none" w="med" len="med"/>
                    </a:lnL>
                    <a:lnR w="8649" cap="flat" cmpd="sng" algn="ctr">
                      <a:solidFill>
                        <a:srgbClr val="000000"/>
                      </a:solidFill>
                      <a:prstDash val="solid"/>
                      <a:round/>
                      <a:headEnd type="none" w="med" len="med"/>
                      <a:tailEnd type="none" w="med" len="med"/>
                    </a:lnR>
                    <a:lnT w="8649" cap="flat" cmpd="sng" algn="ctr">
                      <a:solidFill>
                        <a:srgbClr val="000000"/>
                      </a:solidFill>
                      <a:prstDash val="solid"/>
                      <a:round/>
                      <a:headEnd type="none" w="med" len="med"/>
                      <a:tailEnd type="none" w="med" len="med"/>
                    </a:lnT>
                    <a:lnB w="8649" cap="flat" cmpd="sng" algn="ctr">
                      <a:solidFill>
                        <a:srgbClr val="000000"/>
                      </a:solidFill>
                      <a:prstDash val="dash"/>
                      <a:round/>
                      <a:headEnd type="none" w="med" len="med"/>
                      <a:tailEnd type="none" w="med" len="med"/>
                    </a:lnB>
                    <a:noFill/>
                  </a:tcPr>
                </a:tc>
                <a:tc>
                  <a:txBody>
                    <a:bodyPr/>
                    <a:lstStyle/>
                    <a:p>
                      <a:pPr rtl="0" fontAlgn="ctr">
                        <a:spcBef>
                          <a:spcPts val="1200"/>
                        </a:spcBef>
                        <a:buNone/>
                      </a:pPr>
                      <a:r>
                        <a:rPr lang="es-AR" sz="1050" b="0" i="0" u="none" strike="noStrike">
                          <a:solidFill>
                            <a:srgbClr val="000000"/>
                          </a:solidFill>
                          <a:effectLst/>
                          <a:latin typeface="Arial" panose="020B0604020202020204" pitchFamily="34" charset="0"/>
                        </a:rPr>
                        <a:t>Brasil</a:t>
                      </a:r>
                      <a:endParaRPr lang="es-AR" sz="2400">
                        <a:effectLst/>
                      </a:endParaRPr>
                    </a:p>
                  </a:txBody>
                  <a:tcPr marL="50800" marR="50800" anchor="ctr">
                    <a:lnL w="8649" cap="flat" cmpd="sng" algn="ctr">
                      <a:solidFill>
                        <a:srgbClr val="000000"/>
                      </a:solidFill>
                      <a:prstDash val="solid"/>
                      <a:round/>
                      <a:headEnd type="none" w="med" len="med"/>
                      <a:tailEnd type="none" w="med" len="med"/>
                    </a:lnL>
                    <a:lnR w="8649" cap="flat" cmpd="sng" algn="ctr">
                      <a:solidFill>
                        <a:srgbClr val="000000"/>
                      </a:solidFill>
                      <a:prstDash val="dash"/>
                      <a:round/>
                      <a:headEnd type="none" w="med" len="med"/>
                      <a:tailEnd type="none" w="med" len="med"/>
                    </a:lnR>
                    <a:lnT w="8649" cap="flat" cmpd="sng" algn="ctr">
                      <a:solidFill>
                        <a:srgbClr val="000000"/>
                      </a:solidFill>
                      <a:prstDash val="solid"/>
                      <a:round/>
                      <a:headEnd type="none" w="med" len="med"/>
                      <a:tailEnd type="none" w="med" len="med"/>
                    </a:lnT>
                    <a:lnB w="8649" cap="flat" cmpd="sng" algn="ctr">
                      <a:solidFill>
                        <a:srgbClr val="000000"/>
                      </a:solidFill>
                      <a:prstDash val="dash"/>
                      <a:round/>
                      <a:headEnd type="none" w="med" len="med"/>
                      <a:tailEnd type="none" w="med" len="med"/>
                    </a:lnB>
                    <a:noFill/>
                  </a:tcPr>
                </a:tc>
                <a:tc>
                  <a:txBody>
                    <a:bodyPr/>
                    <a:lstStyle/>
                    <a:p>
                      <a:pPr algn="r" rtl="0" fontAlgn="ctr">
                        <a:spcBef>
                          <a:spcPts val="1200"/>
                        </a:spcBef>
                        <a:buNone/>
                      </a:pPr>
                      <a:r>
                        <a:rPr lang="es-AR" sz="1050" b="0" i="0" u="none" strike="noStrike">
                          <a:solidFill>
                            <a:srgbClr val="000000"/>
                          </a:solidFill>
                          <a:effectLst/>
                          <a:latin typeface="Arial" panose="020B0604020202020204" pitchFamily="34" charset="0"/>
                        </a:rPr>
                        <a:t>17,0</a:t>
                      </a:r>
                      <a:endParaRPr lang="es-AR" sz="2400">
                        <a:effectLst/>
                      </a:endParaRPr>
                    </a:p>
                  </a:txBody>
                  <a:tcPr marL="50800" marR="50800" anchor="ctr">
                    <a:lnL w="8649" cap="flat" cmpd="sng" algn="ctr">
                      <a:solidFill>
                        <a:srgbClr val="000000"/>
                      </a:solidFill>
                      <a:prstDash val="dash"/>
                      <a:round/>
                      <a:headEnd type="none" w="med" len="med"/>
                      <a:tailEnd type="none" w="med" len="med"/>
                    </a:lnL>
                    <a:lnR w="8649" cap="flat" cmpd="sng" algn="ctr">
                      <a:solidFill>
                        <a:srgbClr val="000000"/>
                      </a:solidFill>
                      <a:prstDash val="solid"/>
                      <a:round/>
                      <a:headEnd type="none" w="med" len="med"/>
                      <a:tailEnd type="none" w="med" len="med"/>
                    </a:lnR>
                    <a:lnT w="8649" cap="flat" cmpd="sng" algn="ctr">
                      <a:solidFill>
                        <a:srgbClr val="000000"/>
                      </a:solidFill>
                      <a:prstDash val="solid"/>
                      <a:round/>
                      <a:headEnd type="none" w="med" len="med"/>
                      <a:tailEnd type="none" w="med" len="med"/>
                    </a:lnT>
                    <a:lnB w="8649" cap="flat" cmpd="sng" algn="ctr">
                      <a:solidFill>
                        <a:srgbClr val="000000"/>
                      </a:solidFill>
                      <a:prstDash val="dash"/>
                      <a:round/>
                      <a:headEnd type="none" w="med" len="med"/>
                      <a:tailEnd type="none" w="med" len="med"/>
                    </a:lnB>
                    <a:noFill/>
                  </a:tcPr>
                </a:tc>
                <a:extLst>
                  <a:ext uri="{0D108BD9-81ED-4DB2-BD59-A6C34878D82A}">
                    <a16:rowId xmlns:a16="http://schemas.microsoft.com/office/drawing/2014/main" val="1397037611"/>
                  </a:ext>
                </a:extLst>
              </a:tr>
              <a:tr h="233327">
                <a:tc vMerge="1">
                  <a:txBody>
                    <a:bodyPr/>
                    <a:lstStyle/>
                    <a:p>
                      <a:endParaRPr lang="es-AR"/>
                    </a:p>
                  </a:txBody>
                  <a:tcPr/>
                </a:tc>
                <a:tc>
                  <a:txBody>
                    <a:bodyPr/>
                    <a:lstStyle/>
                    <a:p>
                      <a:pPr algn="ctr" rtl="0" fontAlgn="ctr">
                        <a:spcBef>
                          <a:spcPts val="1200"/>
                        </a:spcBef>
                        <a:buNone/>
                      </a:pPr>
                      <a:r>
                        <a:rPr lang="es-AR" sz="1050" b="0" i="0" u="none" strike="noStrike">
                          <a:solidFill>
                            <a:srgbClr val="000000"/>
                          </a:solidFill>
                          <a:effectLst/>
                          <a:latin typeface="Arial" panose="020B0604020202020204" pitchFamily="34" charset="0"/>
                        </a:rPr>
                        <a:t>2</a:t>
                      </a:r>
                      <a:endParaRPr lang="es-AR" sz="2400">
                        <a:effectLst/>
                      </a:endParaRPr>
                    </a:p>
                  </a:txBody>
                  <a:tcPr marL="50800" marR="50800" anchor="ctr">
                    <a:lnL w="8649" cap="flat" cmpd="sng" algn="ctr">
                      <a:solidFill>
                        <a:srgbClr val="000000"/>
                      </a:solidFill>
                      <a:prstDash val="solid"/>
                      <a:round/>
                      <a:headEnd type="none" w="med" len="med"/>
                      <a:tailEnd type="none" w="med" len="med"/>
                    </a:lnL>
                    <a:lnR w="8649" cap="flat" cmpd="sng" algn="ctr">
                      <a:solidFill>
                        <a:srgbClr val="000000"/>
                      </a:solidFill>
                      <a:prstDash val="solid"/>
                      <a:round/>
                      <a:headEnd type="none" w="med" len="med"/>
                      <a:tailEnd type="none" w="med" len="med"/>
                    </a:lnR>
                    <a:lnT w="8649" cap="flat" cmpd="sng" algn="ctr">
                      <a:solidFill>
                        <a:srgbClr val="000000"/>
                      </a:solidFill>
                      <a:prstDash val="dash"/>
                      <a:round/>
                      <a:headEnd type="none" w="med" len="med"/>
                      <a:tailEnd type="none" w="med" len="med"/>
                    </a:lnT>
                    <a:lnB w="8649" cap="flat" cmpd="sng" algn="ctr">
                      <a:solidFill>
                        <a:srgbClr val="000000"/>
                      </a:solidFill>
                      <a:prstDash val="dash"/>
                      <a:round/>
                      <a:headEnd type="none" w="med" len="med"/>
                      <a:tailEnd type="none" w="med" len="med"/>
                    </a:lnB>
                    <a:noFill/>
                  </a:tcPr>
                </a:tc>
                <a:tc>
                  <a:txBody>
                    <a:bodyPr/>
                    <a:lstStyle/>
                    <a:p>
                      <a:pPr algn="just" rtl="0" fontAlgn="ctr">
                        <a:spcBef>
                          <a:spcPts val="1200"/>
                        </a:spcBef>
                        <a:buNone/>
                      </a:pPr>
                      <a:r>
                        <a:rPr lang="es-AR" sz="1050" b="0" i="0" u="none" strike="noStrike">
                          <a:solidFill>
                            <a:srgbClr val="000000"/>
                          </a:solidFill>
                          <a:effectLst/>
                          <a:latin typeface="Arial" panose="020B0604020202020204" pitchFamily="34" charset="0"/>
                        </a:rPr>
                        <a:t>Brasil</a:t>
                      </a:r>
                      <a:endParaRPr lang="es-AR" sz="2400">
                        <a:effectLst/>
                      </a:endParaRPr>
                    </a:p>
                  </a:txBody>
                  <a:tcPr marL="50800" marR="50800" anchor="ctr">
                    <a:lnL w="8649" cap="flat" cmpd="sng" algn="ctr">
                      <a:solidFill>
                        <a:srgbClr val="000000"/>
                      </a:solidFill>
                      <a:prstDash val="solid"/>
                      <a:round/>
                      <a:headEnd type="none" w="med" len="med"/>
                      <a:tailEnd type="none" w="med" len="med"/>
                    </a:lnL>
                    <a:lnR w="8649" cap="flat" cmpd="sng" algn="ctr">
                      <a:solidFill>
                        <a:srgbClr val="000000"/>
                      </a:solidFill>
                      <a:prstDash val="dash"/>
                      <a:round/>
                      <a:headEnd type="none" w="med" len="med"/>
                      <a:tailEnd type="none" w="med" len="med"/>
                    </a:lnR>
                    <a:lnT w="8649" cap="flat" cmpd="sng" algn="ctr">
                      <a:solidFill>
                        <a:srgbClr val="000000"/>
                      </a:solidFill>
                      <a:prstDash val="dash"/>
                      <a:round/>
                      <a:headEnd type="none" w="med" len="med"/>
                      <a:tailEnd type="none" w="med" len="med"/>
                    </a:lnT>
                    <a:lnB w="8649" cap="flat" cmpd="sng" algn="ctr">
                      <a:solidFill>
                        <a:srgbClr val="000000"/>
                      </a:solidFill>
                      <a:prstDash val="dash"/>
                      <a:round/>
                      <a:headEnd type="none" w="med" len="med"/>
                      <a:tailEnd type="none" w="med" len="med"/>
                    </a:lnB>
                    <a:noFill/>
                  </a:tcPr>
                </a:tc>
                <a:tc>
                  <a:txBody>
                    <a:bodyPr/>
                    <a:lstStyle/>
                    <a:p>
                      <a:pPr algn="r" rtl="0" fontAlgn="ctr">
                        <a:spcBef>
                          <a:spcPts val="1200"/>
                        </a:spcBef>
                        <a:buNone/>
                      </a:pPr>
                      <a:r>
                        <a:rPr lang="es-AR" sz="1050" b="0" i="0" u="none" strike="noStrike" dirty="0">
                          <a:solidFill>
                            <a:srgbClr val="000000"/>
                          </a:solidFill>
                          <a:effectLst/>
                          <a:latin typeface="Arial" panose="020B0604020202020204" pitchFamily="34" charset="0"/>
                        </a:rPr>
                        <a:t>9,4</a:t>
                      </a:r>
                      <a:endParaRPr lang="es-AR" sz="2400" dirty="0">
                        <a:effectLst/>
                      </a:endParaRPr>
                    </a:p>
                  </a:txBody>
                  <a:tcPr marL="50800" marR="50800" anchor="ctr">
                    <a:lnL w="8649" cap="flat" cmpd="sng" algn="ctr">
                      <a:solidFill>
                        <a:srgbClr val="000000"/>
                      </a:solidFill>
                      <a:prstDash val="dash"/>
                      <a:round/>
                      <a:headEnd type="none" w="med" len="med"/>
                      <a:tailEnd type="none" w="med" len="med"/>
                    </a:lnL>
                    <a:lnR w="8649" cap="flat" cmpd="sng" algn="ctr">
                      <a:solidFill>
                        <a:srgbClr val="000000"/>
                      </a:solidFill>
                      <a:prstDash val="solid"/>
                      <a:round/>
                      <a:headEnd type="none" w="med" len="med"/>
                      <a:tailEnd type="none" w="med" len="med"/>
                    </a:lnR>
                    <a:lnT w="8649" cap="flat" cmpd="sng" algn="ctr">
                      <a:solidFill>
                        <a:srgbClr val="000000"/>
                      </a:solidFill>
                      <a:prstDash val="dash"/>
                      <a:round/>
                      <a:headEnd type="none" w="med" len="med"/>
                      <a:tailEnd type="none" w="med" len="med"/>
                    </a:lnT>
                    <a:lnB w="8649" cap="flat" cmpd="sng" algn="ctr">
                      <a:solidFill>
                        <a:srgbClr val="000000"/>
                      </a:solidFill>
                      <a:prstDash val="dash"/>
                      <a:round/>
                      <a:headEnd type="none" w="med" len="med"/>
                      <a:tailEnd type="none" w="med" len="med"/>
                    </a:lnB>
                    <a:noFill/>
                  </a:tcPr>
                </a:tc>
                <a:tc>
                  <a:txBody>
                    <a:bodyPr/>
                    <a:lstStyle/>
                    <a:p>
                      <a:pPr rtl="0" fontAlgn="ctr">
                        <a:spcBef>
                          <a:spcPts val="1200"/>
                        </a:spcBef>
                        <a:buNone/>
                      </a:pPr>
                      <a:r>
                        <a:rPr lang="es-AR" sz="1050" b="0" i="0" u="none" strike="noStrike">
                          <a:solidFill>
                            <a:srgbClr val="000000"/>
                          </a:solidFill>
                          <a:effectLst/>
                          <a:latin typeface="Arial" panose="020B0604020202020204" pitchFamily="34" charset="0"/>
                        </a:rPr>
                        <a:t>Chile</a:t>
                      </a:r>
                      <a:endParaRPr lang="es-AR" sz="2400">
                        <a:effectLst/>
                      </a:endParaRPr>
                    </a:p>
                  </a:txBody>
                  <a:tcPr marL="50800" marR="50800" anchor="ctr">
                    <a:lnL w="8649" cap="flat" cmpd="sng" algn="ctr">
                      <a:solidFill>
                        <a:srgbClr val="000000"/>
                      </a:solidFill>
                      <a:prstDash val="solid"/>
                      <a:round/>
                      <a:headEnd type="none" w="med" len="med"/>
                      <a:tailEnd type="none" w="med" len="med"/>
                    </a:lnL>
                    <a:lnR w="8649" cap="flat" cmpd="sng" algn="ctr">
                      <a:solidFill>
                        <a:srgbClr val="000000"/>
                      </a:solidFill>
                      <a:prstDash val="dash"/>
                      <a:round/>
                      <a:headEnd type="none" w="med" len="med"/>
                      <a:tailEnd type="none" w="med" len="med"/>
                    </a:lnR>
                    <a:lnT w="8649" cap="flat" cmpd="sng" algn="ctr">
                      <a:solidFill>
                        <a:srgbClr val="000000"/>
                      </a:solidFill>
                      <a:prstDash val="dash"/>
                      <a:round/>
                      <a:headEnd type="none" w="med" len="med"/>
                      <a:tailEnd type="none" w="med" len="med"/>
                    </a:lnT>
                    <a:lnB w="8649" cap="flat" cmpd="sng" algn="ctr">
                      <a:solidFill>
                        <a:srgbClr val="000000"/>
                      </a:solidFill>
                      <a:prstDash val="dash"/>
                      <a:round/>
                      <a:headEnd type="none" w="med" len="med"/>
                      <a:tailEnd type="none" w="med" len="med"/>
                    </a:lnB>
                    <a:noFill/>
                  </a:tcPr>
                </a:tc>
                <a:tc>
                  <a:txBody>
                    <a:bodyPr/>
                    <a:lstStyle/>
                    <a:p>
                      <a:pPr algn="r" rtl="0" fontAlgn="ctr">
                        <a:spcBef>
                          <a:spcPts val="1200"/>
                        </a:spcBef>
                        <a:buNone/>
                      </a:pPr>
                      <a:r>
                        <a:rPr lang="es-AR" sz="1050" b="0" i="0" u="none" strike="noStrike">
                          <a:solidFill>
                            <a:srgbClr val="000000"/>
                          </a:solidFill>
                          <a:effectLst/>
                          <a:latin typeface="Arial" panose="020B0604020202020204" pitchFamily="34" charset="0"/>
                        </a:rPr>
                        <a:t>7,8</a:t>
                      </a:r>
                      <a:endParaRPr lang="es-AR" sz="2400">
                        <a:effectLst/>
                      </a:endParaRPr>
                    </a:p>
                  </a:txBody>
                  <a:tcPr marL="50800" marR="50800" anchor="ctr">
                    <a:lnL w="8649" cap="flat" cmpd="sng" algn="ctr">
                      <a:solidFill>
                        <a:srgbClr val="000000"/>
                      </a:solidFill>
                      <a:prstDash val="dash"/>
                      <a:round/>
                      <a:headEnd type="none" w="med" len="med"/>
                      <a:tailEnd type="none" w="med" len="med"/>
                    </a:lnL>
                    <a:lnR w="8649" cap="flat" cmpd="sng" algn="ctr">
                      <a:solidFill>
                        <a:srgbClr val="000000"/>
                      </a:solidFill>
                      <a:prstDash val="solid"/>
                      <a:round/>
                      <a:headEnd type="none" w="med" len="med"/>
                      <a:tailEnd type="none" w="med" len="med"/>
                    </a:lnR>
                    <a:lnT w="8649" cap="flat" cmpd="sng" algn="ctr">
                      <a:solidFill>
                        <a:srgbClr val="000000"/>
                      </a:solidFill>
                      <a:prstDash val="dash"/>
                      <a:round/>
                      <a:headEnd type="none" w="med" len="med"/>
                      <a:tailEnd type="none" w="med" len="med"/>
                    </a:lnT>
                    <a:lnB w="8649" cap="flat" cmpd="sng" algn="ctr">
                      <a:solidFill>
                        <a:srgbClr val="000000"/>
                      </a:solidFill>
                      <a:prstDash val="dash"/>
                      <a:round/>
                      <a:headEnd type="none" w="med" len="med"/>
                      <a:tailEnd type="none" w="med" len="med"/>
                    </a:lnB>
                    <a:noFill/>
                  </a:tcPr>
                </a:tc>
                <a:extLst>
                  <a:ext uri="{0D108BD9-81ED-4DB2-BD59-A6C34878D82A}">
                    <a16:rowId xmlns:a16="http://schemas.microsoft.com/office/drawing/2014/main" val="3812916169"/>
                  </a:ext>
                </a:extLst>
              </a:tr>
              <a:tr h="233327">
                <a:tc vMerge="1">
                  <a:txBody>
                    <a:bodyPr/>
                    <a:lstStyle/>
                    <a:p>
                      <a:endParaRPr lang="es-AR"/>
                    </a:p>
                  </a:txBody>
                  <a:tcPr/>
                </a:tc>
                <a:tc>
                  <a:txBody>
                    <a:bodyPr/>
                    <a:lstStyle/>
                    <a:p>
                      <a:pPr algn="ctr" rtl="0" fontAlgn="ctr">
                        <a:spcBef>
                          <a:spcPts val="1200"/>
                        </a:spcBef>
                        <a:buNone/>
                      </a:pPr>
                      <a:r>
                        <a:rPr lang="es-AR" sz="1050" b="0" i="0" u="none" strike="noStrike">
                          <a:solidFill>
                            <a:srgbClr val="000000"/>
                          </a:solidFill>
                          <a:effectLst/>
                          <a:latin typeface="Arial" panose="020B0604020202020204" pitchFamily="34" charset="0"/>
                        </a:rPr>
                        <a:t>3</a:t>
                      </a:r>
                      <a:endParaRPr lang="es-AR" sz="2400">
                        <a:effectLst/>
                      </a:endParaRPr>
                    </a:p>
                  </a:txBody>
                  <a:tcPr marL="50800" marR="50800" anchor="ctr">
                    <a:lnL w="8649" cap="flat" cmpd="sng" algn="ctr">
                      <a:solidFill>
                        <a:srgbClr val="000000"/>
                      </a:solidFill>
                      <a:prstDash val="solid"/>
                      <a:round/>
                      <a:headEnd type="none" w="med" len="med"/>
                      <a:tailEnd type="none" w="med" len="med"/>
                    </a:lnL>
                    <a:lnR w="8649" cap="flat" cmpd="sng" algn="ctr">
                      <a:solidFill>
                        <a:srgbClr val="000000"/>
                      </a:solidFill>
                      <a:prstDash val="solid"/>
                      <a:round/>
                      <a:headEnd type="none" w="med" len="med"/>
                      <a:tailEnd type="none" w="med" len="med"/>
                    </a:lnR>
                    <a:lnT w="8649" cap="flat" cmpd="sng" algn="ctr">
                      <a:solidFill>
                        <a:srgbClr val="000000"/>
                      </a:solidFill>
                      <a:prstDash val="dash"/>
                      <a:round/>
                      <a:headEnd type="none" w="med" len="med"/>
                      <a:tailEnd type="none" w="med" len="med"/>
                    </a:lnT>
                    <a:lnB w="8649" cap="flat" cmpd="sng" algn="ctr">
                      <a:solidFill>
                        <a:srgbClr val="000000"/>
                      </a:solidFill>
                      <a:prstDash val="dash"/>
                      <a:round/>
                      <a:headEnd type="none" w="med" len="med"/>
                      <a:tailEnd type="none" w="med" len="med"/>
                    </a:lnB>
                    <a:noFill/>
                  </a:tcPr>
                </a:tc>
                <a:tc>
                  <a:txBody>
                    <a:bodyPr/>
                    <a:lstStyle/>
                    <a:p>
                      <a:pPr algn="just" rtl="0" fontAlgn="ctr">
                        <a:spcBef>
                          <a:spcPts val="1200"/>
                        </a:spcBef>
                        <a:buNone/>
                      </a:pPr>
                      <a:r>
                        <a:rPr lang="es-AR" sz="1050" b="0" i="0" u="none" strike="noStrike">
                          <a:solidFill>
                            <a:srgbClr val="000000"/>
                          </a:solidFill>
                          <a:effectLst/>
                          <a:latin typeface="Arial" panose="020B0604020202020204" pitchFamily="34" charset="0"/>
                        </a:rPr>
                        <a:t>Vietnam</a:t>
                      </a:r>
                      <a:endParaRPr lang="es-AR" sz="2400">
                        <a:effectLst/>
                      </a:endParaRPr>
                    </a:p>
                  </a:txBody>
                  <a:tcPr marL="50800" marR="50800" anchor="ctr">
                    <a:lnL w="8649" cap="flat" cmpd="sng" algn="ctr">
                      <a:solidFill>
                        <a:srgbClr val="000000"/>
                      </a:solidFill>
                      <a:prstDash val="solid"/>
                      <a:round/>
                      <a:headEnd type="none" w="med" len="med"/>
                      <a:tailEnd type="none" w="med" len="med"/>
                    </a:lnL>
                    <a:lnR w="8649" cap="flat" cmpd="sng" algn="ctr">
                      <a:solidFill>
                        <a:srgbClr val="000000"/>
                      </a:solidFill>
                      <a:prstDash val="dash"/>
                      <a:round/>
                      <a:headEnd type="none" w="med" len="med"/>
                      <a:tailEnd type="none" w="med" len="med"/>
                    </a:lnR>
                    <a:lnT w="8649" cap="flat" cmpd="sng" algn="ctr">
                      <a:solidFill>
                        <a:srgbClr val="000000"/>
                      </a:solidFill>
                      <a:prstDash val="dash"/>
                      <a:round/>
                      <a:headEnd type="none" w="med" len="med"/>
                      <a:tailEnd type="none" w="med" len="med"/>
                    </a:lnT>
                    <a:lnB w="8649" cap="flat" cmpd="sng" algn="ctr">
                      <a:solidFill>
                        <a:srgbClr val="000000"/>
                      </a:solidFill>
                      <a:prstDash val="dash"/>
                      <a:round/>
                      <a:headEnd type="none" w="med" len="med"/>
                      <a:tailEnd type="none" w="med" len="med"/>
                    </a:lnB>
                    <a:noFill/>
                  </a:tcPr>
                </a:tc>
                <a:tc>
                  <a:txBody>
                    <a:bodyPr/>
                    <a:lstStyle/>
                    <a:p>
                      <a:pPr algn="r" rtl="0" fontAlgn="ctr">
                        <a:spcBef>
                          <a:spcPts val="1200"/>
                        </a:spcBef>
                        <a:buNone/>
                      </a:pPr>
                      <a:r>
                        <a:rPr lang="es-AR" sz="1050" b="0" i="0" u="none" strike="noStrike">
                          <a:solidFill>
                            <a:srgbClr val="000000"/>
                          </a:solidFill>
                          <a:effectLst/>
                          <a:latin typeface="Arial" panose="020B0604020202020204" pitchFamily="34" charset="0"/>
                        </a:rPr>
                        <a:t>8,0</a:t>
                      </a:r>
                      <a:endParaRPr lang="es-AR" sz="2400">
                        <a:effectLst/>
                      </a:endParaRPr>
                    </a:p>
                  </a:txBody>
                  <a:tcPr marL="50800" marR="50800" anchor="ctr">
                    <a:lnL w="8649" cap="flat" cmpd="sng" algn="ctr">
                      <a:solidFill>
                        <a:srgbClr val="000000"/>
                      </a:solidFill>
                      <a:prstDash val="dash"/>
                      <a:round/>
                      <a:headEnd type="none" w="med" len="med"/>
                      <a:tailEnd type="none" w="med" len="med"/>
                    </a:lnL>
                    <a:lnR w="8649" cap="flat" cmpd="sng" algn="ctr">
                      <a:solidFill>
                        <a:srgbClr val="000000"/>
                      </a:solidFill>
                      <a:prstDash val="solid"/>
                      <a:round/>
                      <a:headEnd type="none" w="med" len="med"/>
                      <a:tailEnd type="none" w="med" len="med"/>
                    </a:lnR>
                    <a:lnT w="8649" cap="flat" cmpd="sng" algn="ctr">
                      <a:solidFill>
                        <a:srgbClr val="000000"/>
                      </a:solidFill>
                      <a:prstDash val="dash"/>
                      <a:round/>
                      <a:headEnd type="none" w="med" len="med"/>
                      <a:tailEnd type="none" w="med" len="med"/>
                    </a:lnT>
                    <a:lnB w="8649" cap="flat" cmpd="sng" algn="ctr">
                      <a:solidFill>
                        <a:srgbClr val="000000"/>
                      </a:solidFill>
                      <a:prstDash val="dash"/>
                      <a:round/>
                      <a:headEnd type="none" w="med" len="med"/>
                      <a:tailEnd type="none" w="med" len="med"/>
                    </a:lnB>
                    <a:noFill/>
                  </a:tcPr>
                </a:tc>
                <a:tc>
                  <a:txBody>
                    <a:bodyPr/>
                    <a:lstStyle/>
                    <a:p>
                      <a:pPr rtl="0" fontAlgn="ctr">
                        <a:spcBef>
                          <a:spcPts val="1200"/>
                        </a:spcBef>
                        <a:buNone/>
                      </a:pPr>
                      <a:r>
                        <a:rPr lang="es-AR" sz="1050" b="0" i="0" u="none" strike="noStrike">
                          <a:solidFill>
                            <a:srgbClr val="000000"/>
                          </a:solidFill>
                          <a:effectLst/>
                          <a:latin typeface="Arial" panose="020B0604020202020204" pitchFamily="34" charset="0"/>
                        </a:rPr>
                        <a:t>USA</a:t>
                      </a:r>
                      <a:endParaRPr lang="es-AR" sz="2400">
                        <a:effectLst/>
                      </a:endParaRPr>
                    </a:p>
                  </a:txBody>
                  <a:tcPr marL="50800" marR="50800" anchor="ctr">
                    <a:lnL w="8649" cap="flat" cmpd="sng" algn="ctr">
                      <a:solidFill>
                        <a:srgbClr val="000000"/>
                      </a:solidFill>
                      <a:prstDash val="solid"/>
                      <a:round/>
                      <a:headEnd type="none" w="med" len="med"/>
                      <a:tailEnd type="none" w="med" len="med"/>
                    </a:lnL>
                    <a:lnR w="8649" cap="flat" cmpd="sng" algn="ctr">
                      <a:solidFill>
                        <a:srgbClr val="000000"/>
                      </a:solidFill>
                      <a:prstDash val="dash"/>
                      <a:round/>
                      <a:headEnd type="none" w="med" len="med"/>
                      <a:tailEnd type="none" w="med" len="med"/>
                    </a:lnR>
                    <a:lnT w="8649" cap="flat" cmpd="sng" algn="ctr">
                      <a:solidFill>
                        <a:srgbClr val="000000"/>
                      </a:solidFill>
                      <a:prstDash val="dash"/>
                      <a:round/>
                      <a:headEnd type="none" w="med" len="med"/>
                      <a:tailEnd type="none" w="med" len="med"/>
                    </a:lnT>
                    <a:lnB w="8649" cap="flat" cmpd="sng" algn="ctr">
                      <a:solidFill>
                        <a:srgbClr val="000000"/>
                      </a:solidFill>
                      <a:prstDash val="dash"/>
                      <a:round/>
                      <a:headEnd type="none" w="med" len="med"/>
                      <a:tailEnd type="none" w="med" len="med"/>
                    </a:lnB>
                    <a:noFill/>
                  </a:tcPr>
                </a:tc>
                <a:tc>
                  <a:txBody>
                    <a:bodyPr/>
                    <a:lstStyle/>
                    <a:p>
                      <a:pPr algn="r" rtl="0" fontAlgn="ctr">
                        <a:spcBef>
                          <a:spcPts val="1200"/>
                        </a:spcBef>
                        <a:buNone/>
                      </a:pPr>
                      <a:r>
                        <a:rPr lang="es-AR" sz="1050" b="0" i="0" u="none" strike="noStrike">
                          <a:solidFill>
                            <a:srgbClr val="000000"/>
                          </a:solidFill>
                          <a:effectLst/>
                          <a:latin typeface="Arial" panose="020B0604020202020204" pitchFamily="34" charset="0"/>
                        </a:rPr>
                        <a:t>7,2</a:t>
                      </a:r>
                      <a:endParaRPr lang="es-AR" sz="2400">
                        <a:effectLst/>
                      </a:endParaRPr>
                    </a:p>
                  </a:txBody>
                  <a:tcPr marL="50800" marR="50800" anchor="ctr">
                    <a:lnL w="8649" cap="flat" cmpd="sng" algn="ctr">
                      <a:solidFill>
                        <a:srgbClr val="000000"/>
                      </a:solidFill>
                      <a:prstDash val="dash"/>
                      <a:round/>
                      <a:headEnd type="none" w="med" len="med"/>
                      <a:tailEnd type="none" w="med" len="med"/>
                    </a:lnL>
                    <a:lnR w="8649" cap="flat" cmpd="sng" algn="ctr">
                      <a:solidFill>
                        <a:srgbClr val="000000"/>
                      </a:solidFill>
                      <a:prstDash val="solid"/>
                      <a:round/>
                      <a:headEnd type="none" w="med" len="med"/>
                      <a:tailEnd type="none" w="med" len="med"/>
                    </a:lnR>
                    <a:lnT w="8649" cap="flat" cmpd="sng" algn="ctr">
                      <a:solidFill>
                        <a:srgbClr val="000000"/>
                      </a:solidFill>
                      <a:prstDash val="dash"/>
                      <a:round/>
                      <a:headEnd type="none" w="med" len="med"/>
                      <a:tailEnd type="none" w="med" len="med"/>
                    </a:lnT>
                    <a:lnB w="8649" cap="flat" cmpd="sng" algn="ctr">
                      <a:solidFill>
                        <a:srgbClr val="000000"/>
                      </a:solidFill>
                      <a:prstDash val="dash"/>
                      <a:round/>
                      <a:headEnd type="none" w="med" len="med"/>
                      <a:tailEnd type="none" w="med" len="med"/>
                    </a:lnB>
                    <a:noFill/>
                  </a:tcPr>
                </a:tc>
                <a:extLst>
                  <a:ext uri="{0D108BD9-81ED-4DB2-BD59-A6C34878D82A}">
                    <a16:rowId xmlns:a16="http://schemas.microsoft.com/office/drawing/2014/main" val="148494300"/>
                  </a:ext>
                </a:extLst>
              </a:tr>
              <a:tr h="233327">
                <a:tc vMerge="1">
                  <a:txBody>
                    <a:bodyPr/>
                    <a:lstStyle/>
                    <a:p>
                      <a:endParaRPr lang="es-AR"/>
                    </a:p>
                  </a:txBody>
                  <a:tcPr/>
                </a:tc>
                <a:tc>
                  <a:txBody>
                    <a:bodyPr/>
                    <a:lstStyle/>
                    <a:p>
                      <a:pPr algn="ctr" rtl="0" fontAlgn="ctr">
                        <a:spcBef>
                          <a:spcPts val="1200"/>
                        </a:spcBef>
                        <a:buNone/>
                      </a:pPr>
                      <a:r>
                        <a:rPr lang="es-AR" sz="1050" b="0" i="0" u="none" strike="noStrike">
                          <a:solidFill>
                            <a:srgbClr val="000000"/>
                          </a:solidFill>
                          <a:effectLst/>
                          <a:latin typeface="Arial" panose="020B0604020202020204" pitchFamily="34" charset="0"/>
                        </a:rPr>
                        <a:t>4</a:t>
                      </a:r>
                      <a:endParaRPr lang="es-AR" sz="2400">
                        <a:effectLst/>
                      </a:endParaRPr>
                    </a:p>
                  </a:txBody>
                  <a:tcPr marL="50800" marR="50800" anchor="ctr">
                    <a:lnL w="8649" cap="flat" cmpd="sng" algn="ctr">
                      <a:solidFill>
                        <a:srgbClr val="000000"/>
                      </a:solidFill>
                      <a:prstDash val="solid"/>
                      <a:round/>
                      <a:headEnd type="none" w="med" len="med"/>
                      <a:tailEnd type="none" w="med" len="med"/>
                    </a:lnL>
                    <a:lnR w="8649" cap="flat" cmpd="sng" algn="ctr">
                      <a:solidFill>
                        <a:srgbClr val="000000"/>
                      </a:solidFill>
                      <a:prstDash val="solid"/>
                      <a:round/>
                      <a:headEnd type="none" w="med" len="med"/>
                      <a:tailEnd type="none" w="med" len="med"/>
                    </a:lnR>
                    <a:lnT w="8649" cap="flat" cmpd="sng" algn="ctr">
                      <a:solidFill>
                        <a:srgbClr val="000000"/>
                      </a:solidFill>
                      <a:prstDash val="dash"/>
                      <a:round/>
                      <a:headEnd type="none" w="med" len="med"/>
                      <a:tailEnd type="none" w="med" len="med"/>
                    </a:lnT>
                    <a:lnB w="8649" cap="flat" cmpd="sng" algn="ctr">
                      <a:solidFill>
                        <a:srgbClr val="000000"/>
                      </a:solidFill>
                      <a:prstDash val="dash"/>
                      <a:round/>
                      <a:headEnd type="none" w="med" len="med"/>
                      <a:tailEnd type="none" w="med" len="med"/>
                    </a:lnB>
                    <a:noFill/>
                  </a:tcPr>
                </a:tc>
                <a:tc>
                  <a:txBody>
                    <a:bodyPr/>
                    <a:lstStyle/>
                    <a:p>
                      <a:pPr algn="just" rtl="0" fontAlgn="ctr">
                        <a:spcBef>
                          <a:spcPts val="1200"/>
                        </a:spcBef>
                        <a:buNone/>
                      </a:pPr>
                      <a:r>
                        <a:rPr lang="es-AR" sz="1050" b="0" i="0" u="none" strike="noStrike">
                          <a:solidFill>
                            <a:srgbClr val="000000"/>
                          </a:solidFill>
                          <a:effectLst/>
                          <a:latin typeface="Arial" panose="020B0604020202020204" pitchFamily="34" charset="0"/>
                        </a:rPr>
                        <a:t>China</a:t>
                      </a:r>
                      <a:endParaRPr lang="es-AR" sz="2400">
                        <a:effectLst/>
                      </a:endParaRPr>
                    </a:p>
                  </a:txBody>
                  <a:tcPr marL="50800" marR="50800" anchor="ctr">
                    <a:lnL w="8649" cap="flat" cmpd="sng" algn="ctr">
                      <a:solidFill>
                        <a:srgbClr val="000000"/>
                      </a:solidFill>
                      <a:prstDash val="solid"/>
                      <a:round/>
                      <a:headEnd type="none" w="med" len="med"/>
                      <a:tailEnd type="none" w="med" len="med"/>
                    </a:lnL>
                    <a:lnR w="8649" cap="flat" cmpd="sng" algn="ctr">
                      <a:solidFill>
                        <a:srgbClr val="000000"/>
                      </a:solidFill>
                      <a:prstDash val="dash"/>
                      <a:round/>
                      <a:headEnd type="none" w="med" len="med"/>
                      <a:tailEnd type="none" w="med" len="med"/>
                    </a:lnR>
                    <a:lnT w="8649" cap="flat" cmpd="sng" algn="ctr">
                      <a:solidFill>
                        <a:srgbClr val="000000"/>
                      </a:solidFill>
                      <a:prstDash val="dash"/>
                      <a:round/>
                      <a:headEnd type="none" w="med" len="med"/>
                      <a:tailEnd type="none" w="med" len="med"/>
                    </a:lnT>
                    <a:lnB w="8649" cap="flat" cmpd="sng" algn="ctr">
                      <a:solidFill>
                        <a:srgbClr val="000000"/>
                      </a:solidFill>
                      <a:prstDash val="dash"/>
                      <a:round/>
                      <a:headEnd type="none" w="med" len="med"/>
                      <a:tailEnd type="none" w="med" len="med"/>
                    </a:lnB>
                    <a:noFill/>
                  </a:tcPr>
                </a:tc>
                <a:tc>
                  <a:txBody>
                    <a:bodyPr/>
                    <a:lstStyle/>
                    <a:p>
                      <a:pPr algn="r" rtl="0" fontAlgn="ctr">
                        <a:spcBef>
                          <a:spcPts val="1200"/>
                        </a:spcBef>
                        <a:buNone/>
                      </a:pPr>
                      <a:r>
                        <a:rPr lang="es-AR" sz="1050" b="0" i="0" u="none" strike="noStrike">
                          <a:solidFill>
                            <a:srgbClr val="000000"/>
                          </a:solidFill>
                          <a:effectLst/>
                          <a:latin typeface="Arial" panose="020B0604020202020204" pitchFamily="34" charset="0"/>
                        </a:rPr>
                        <a:t>7,4</a:t>
                      </a:r>
                      <a:endParaRPr lang="es-AR" sz="2400">
                        <a:effectLst/>
                      </a:endParaRPr>
                    </a:p>
                  </a:txBody>
                  <a:tcPr marL="50800" marR="50800" anchor="ctr">
                    <a:lnL w="8649" cap="flat" cmpd="sng" algn="ctr">
                      <a:solidFill>
                        <a:srgbClr val="000000"/>
                      </a:solidFill>
                      <a:prstDash val="dash"/>
                      <a:round/>
                      <a:headEnd type="none" w="med" len="med"/>
                      <a:tailEnd type="none" w="med" len="med"/>
                    </a:lnL>
                    <a:lnR w="8649" cap="flat" cmpd="sng" algn="ctr">
                      <a:solidFill>
                        <a:srgbClr val="000000"/>
                      </a:solidFill>
                      <a:prstDash val="solid"/>
                      <a:round/>
                      <a:headEnd type="none" w="med" len="med"/>
                      <a:tailEnd type="none" w="med" len="med"/>
                    </a:lnR>
                    <a:lnT w="8649" cap="flat" cmpd="sng" algn="ctr">
                      <a:solidFill>
                        <a:srgbClr val="000000"/>
                      </a:solidFill>
                      <a:prstDash val="dash"/>
                      <a:round/>
                      <a:headEnd type="none" w="med" len="med"/>
                      <a:tailEnd type="none" w="med" len="med"/>
                    </a:lnT>
                    <a:lnB w="8649" cap="flat" cmpd="sng" algn="ctr">
                      <a:solidFill>
                        <a:srgbClr val="000000"/>
                      </a:solidFill>
                      <a:prstDash val="dash"/>
                      <a:round/>
                      <a:headEnd type="none" w="med" len="med"/>
                      <a:tailEnd type="none" w="med" len="med"/>
                    </a:lnB>
                    <a:noFill/>
                  </a:tcPr>
                </a:tc>
                <a:tc>
                  <a:txBody>
                    <a:bodyPr/>
                    <a:lstStyle/>
                    <a:p>
                      <a:pPr rtl="0" fontAlgn="ctr">
                        <a:spcBef>
                          <a:spcPts val="1200"/>
                        </a:spcBef>
                        <a:buNone/>
                      </a:pPr>
                      <a:r>
                        <a:rPr lang="es-AR" sz="1050" b="0" i="0" u="none" strike="noStrike">
                          <a:solidFill>
                            <a:srgbClr val="000000"/>
                          </a:solidFill>
                          <a:effectLst/>
                          <a:latin typeface="Arial" panose="020B0604020202020204" pitchFamily="34" charset="0"/>
                        </a:rPr>
                        <a:t>China</a:t>
                      </a:r>
                      <a:endParaRPr lang="es-AR" sz="2400">
                        <a:effectLst/>
                      </a:endParaRPr>
                    </a:p>
                  </a:txBody>
                  <a:tcPr marL="50800" marR="50800" anchor="ctr">
                    <a:lnL w="8649" cap="flat" cmpd="sng" algn="ctr">
                      <a:solidFill>
                        <a:srgbClr val="000000"/>
                      </a:solidFill>
                      <a:prstDash val="solid"/>
                      <a:round/>
                      <a:headEnd type="none" w="med" len="med"/>
                      <a:tailEnd type="none" w="med" len="med"/>
                    </a:lnL>
                    <a:lnR w="8649" cap="flat" cmpd="sng" algn="ctr">
                      <a:solidFill>
                        <a:srgbClr val="000000"/>
                      </a:solidFill>
                      <a:prstDash val="dash"/>
                      <a:round/>
                      <a:headEnd type="none" w="med" len="med"/>
                      <a:tailEnd type="none" w="med" len="med"/>
                    </a:lnR>
                    <a:lnT w="8649" cap="flat" cmpd="sng" algn="ctr">
                      <a:solidFill>
                        <a:srgbClr val="000000"/>
                      </a:solidFill>
                      <a:prstDash val="dash"/>
                      <a:round/>
                      <a:headEnd type="none" w="med" len="med"/>
                      <a:tailEnd type="none" w="med" len="med"/>
                    </a:lnT>
                    <a:lnB w="8649" cap="flat" cmpd="sng" algn="ctr">
                      <a:solidFill>
                        <a:srgbClr val="000000"/>
                      </a:solidFill>
                      <a:prstDash val="dash"/>
                      <a:round/>
                      <a:headEnd type="none" w="med" len="med"/>
                      <a:tailEnd type="none" w="med" len="med"/>
                    </a:lnB>
                    <a:noFill/>
                  </a:tcPr>
                </a:tc>
                <a:tc>
                  <a:txBody>
                    <a:bodyPr/>
                    <a:lstStyle/>
                    <a:p>
                      <a:pPr algn="r" rtl="0" fontAlgn="ctr">
                        <a:spcBef>
                          <a:spcPts val="1200"/>
                        </a:spcBef>
                        <a:buNone/>
                      </a:pPr>
                      <a:r>
                        <a:rPr lang="es-AR" sz="1050" b="0" i="0" u="none" strike="noStrike">
                          <a:solidFill>
                            <a:srgbClr val="000000"/>
                          </a:solidFill>
                          <a:effectLst/>
                          <a:latin typeface="Arial" panose="020B0604020202020204" pitchFamily="34" charset="0"/>
                        </a:rPr>
                        <a:t>6,7</a:t>
                      </a:r>
                      <a:endParaRPr lang="es-AR" sz="2400">
                        <a:effectLst/>
                      </a:endParaRPr>
                    </a:p>
                  </a:txBody>
                  <a:tcPr marL="50800" marR="50800" anchor="ctr">
                    <a:lnL w="8649" cap="flat" cmpd="sng" algn="ctr">
                      <a:solidFill>
                        <a:srgbClr val="000000"/>
                      </a:solidFill>
                      <a:prstDash val="dash"/>
                      <a:round/>
                      <a:headEnd type="none" w="med" len="med"/>
                      <a:tailEnd type="none" w="med" len="med"/>
                    </a:lnL>
                    <a:lnR w="8649" cap="flat" cmpd="sng" algn="ctr">
                      <a:solidFill>
                        <a:srgbClr val="000000"/>
                      </a:solidFill>
                      <a:prstDash val="solid"/>
                      <a:round/>
                      <a:headEnd type="none" w="med" len="med"/>
                      <a:tailEnd type="none" w="med" len="med"/>
                    </a:lnR>
                    <a:lnT w="8649" cap="flat" cmpd="sng" algn="ctr">
                      <a:solidFill>
                        <a:srgbClr val="000000"/>
                      </a:solidFill>
                      <a:prstDash val="dash"/>
                      <a:round/>
                      <a:headEnd type="none" w="med" len="med"/>
                      <a:tailEnd type="none" w="med" len="med"/>
                    </a:lnT>
                    <a:lnB w="8649" cap="flat" cmpd="sng" algn="ctr">
                      <a:solidFill>
                        <a:srgbClr val="000000"/>
                      </a:solidFill>
                      <a:prstDash val="dash"/>
                      <a:round/>
                      <a:headEnd type="none" w="med" len="med"/>
                      <a:tailEnd type="none" w="med" len="med"/>
                    </a:lnB>
                    <a:noFill/>
                  </a:tcPr>
                </a:tc>
                <a:extLst>
                  <a:ext uri="{0D108BD9-81ED-4DB2-BD59-A6C34878D82A}">
                    <a16:rowId xmlns:a16="http://schemas.microsoft.com/office/drawing/2014/main" val="91543924"/>
                  </a:ext>
                </a:extLst>
              </a:tr>
              <a:tr h="295547">
                <a:tc vMerge="1">
                  <a:txBody>
                    <a:bodyPr/>
                    <a:lstStyle/>
                    <a:p>
                      <a:endParaRPr lang="es-AR"/>
                    </a:p>
                  </a:txBody>
                  <a:tcPr/>
                </a:tc>
                <a:tc>
                  <a:txBody>
                    <a:bodyPr/>
                    <a:lstStyle/>
                    <a:p>
                      <a:pPr algn="ctr" rtl="0" fontAlgn="ctr">
                        <a:spcBef>
                          <a:spcPts val="1200"/>
                        </a:spcBef>
                        <a:buNone/>
                      </a:pPr>
                      <a:r>
                        <a:rPr lang="es-AR" sz="1050" b="0" i="0" u="none" strike="noStrike">
                          <a:solidFill>
                            <a:srgbClr val="000000"/>
                          </a:solidFill>
                          <a:effectLst/>
                          <a:latin typeface="Arial" panose="020B0604020202020204" pitchFamily="34" charset="0"/>
                        </a:rPr>
                        <a:t>5</a:t>
                      </a:r>
                      <a:endParaRPr lang="es-AR" sz="2400">
                        <a:effectLst/>
                      </a:endParaRPr>
                    </a:p>
                  </a:txBody>
                  <a:tcPr marL="50800" marR="50800" anchor="ctr">
                    <a:lnL w="8649" cap="flat" cmpd="sng" algn="ctr">
                      <a:solidFill>
                        <a:srgbClr val="000000"/>
                      </a:solidFill>
                      <a:prstDash val="solid"/>
                      <a:round/>
                      <a:headEnd type="none" w="med" len="med"/>
                      <a:tailEnd type="none" w="med" len="med"/>
                    </a:lnL>
                    <a:lnR w="8649" cap="flat" cmpd="sng" algn="ctr">
                      <a:solidFill>
                        <a:srgbClr val="000000"/>
                      </a:solidFill>
                      <a:prstDash val="solid"/>
                      <a:round/>
                      <a:headEnd type="none" w="med" len="med"/>
                      <a:tailEnd type="none" w="med" len="med"/>
                    </a:lnR>
                    <a:lnT w="8649" cap="flat" cmpd="sng" algn="ctr">
                      <a:solidFill>
                        <a:srgbClr val="000000"/>
                      </a:solidFill>
                      <a:prstDash val="dash"/>
                      <a:round/>
                      <a:headEnd type="none" w="med" len="med"/>
                      <a:tailEnd type="none" w="med" len="med"/>
                    </a:lnT>
                    <a:lnB w="8649" cap="flat" cmpd="sng" algn="ctr">
                      <a:solidFill>
                        <a:srgbClr val="000000"/>
                      </a:solidFill>
                      <a:prstDash val="solid"/>
                      <a:round/>
                      <a:headEnd type="none" w="med" len="med"/>
                      <a:tailEnd type="none" w="med" len="med"/>
                    </a:lnB>
                    <a:noFill/>
                  </a:tcPr>
                </a:tc>
                <a:tc>
                  <a:txBody>
                    <a:bodyPr/>
                    <a:lstStyle/>
                    <a:p>
                      <a:pPr algn="just" rtl="0" fontAlgn="ctr">
                        <a:spcBef>
                          <a:spcPts val="1200"/>
                        </a:spcBef>
                        <a:buNone/>
                      </a:pPr>
                      <a:r>
                        <a:rPr lang="es-AR" sz="1050" b="0" i="0" u="none" strike="noStrike" dirty="0">
                          <a:solidFill>
                            <a:srgbClr val="000000"/>
                          </a:solidFill>
                          <a:effectLst/>
                          <a:latin typeface="Arial" panose="020B0604020202020204" pitchFamily="34" charset="0"/>
                        </a:rPr>
                        <a:t>Chile</a:t>
                      </a:r>
                      <a:endParaRPr lang="es-AR" sz="2400" dirty="0">
                        <a:effectLst/>
                      </a:endParaRPr>
                    </a:p>
                  </a:txBody>
                  <a:tcPr marL="50800" marR="50800" anchor="ctr">
                    <a:lnL w="8649" cap="flat" cmpd="sng" algn="ctr">
                      <a:solidFill>
                        <a:srgbClr val="000000"/>
                      </a:solidFill>
                      <a:prstDash val="solid"/>
                      <a:round/>
                      <a:headEnd type="none" w="med" len="med"/>
                      <a:tailEnd type="none" w="med" len="med"/>
                    </a:lnL>
                    <a:lnR w="8649" cap="flat" cmpd="sng" algn="ctr">
                      <a:solidFill>
                        <a:srgbClr val="000000"/>
                      </a:solidFill>
                      <a:prstDash val="dash"/>
                      <a:round/>
                      <a:headEnd type="none" w="med" len="med"/>
                      <a:tailEnd type="none" w="med" len="med"/>
                    </a:lnR>
                    <a:lnT w="8649" cap="flat" cmpd="sng" algn="ctr">
                      <a:solidFill>
                        <a:srgbClr val="000000"/>
                      </a:solidFill>
                      <a:prstDash val="dash"/>
                      <a:round/>
                      <a:headEnd type="none" w="med" len="med"/>
                      <a:tailEnd type="none" w="med" len="med"/>
                    </a:lnT>
                    <a:lnB w="8649" cap="flat" cmpd="sng" algn="ctr">
                      <a:solidFill>
                        <a:srgbClr val="000000"/>
                      </a:solidFill>
                      <a:prstDash val="solid"/>
                      <a:round/>
                      <a:headEnd type="none" w="med" len="med"/>
                      <a:tailEnd type="none" w="med" len="med"/>
                    </a:lnB>
                    <a:noFill/>
                  </a:tcPr>
                </a:tc>
                <a:tc>
                  <a:txBody>
                    <a:bodyPr/>
                    <a:lstStyle/>
                    <a:p>
                      <a:pPr algn="r" rtl="0" fontAlgn="ctr">
                        <a:spcBef>
                          <a:spcPts val="1200"/>
                        </a:spcBef>
                        <a:buNone/>
                      </a:pPr>
                      <a:r>
                        <a:rPr lang="es-AR" sz="1050" b="0" i="0" u="none" strike="noStrike" dirty="0">
                          <a:solidFill>
                            <a:srgbClr val="000000"/>
                          </a:solidFill>
                          <a:effectLst/>
                          <a:latin typeface="Arial" panose="020B0604020202020204" pitchFamily="34" charset="0"/>
                        </a:rPr>
                        <a:t>4,3</a:t>
                      </a:r>
                      <a:endParaRPr lang="es-AR" sz="2400" dirty="0">
                        <a:effectLst/>
                      </a:endParaRPr>
                    </a:p>
                  </a:txBody>
                  <a:tcPr marL="50800" marR="50800" anchor="ctr">
                    <a:lnL w="8649" cap="flat" cmpd="sng" algn="ctr">
                      <a:solidFill>
                        <a:srgbClr val="000000"/>
                      </a:solidFill>
                      <a:prstDash val="dash"/>
                      <a:round/>
                      <a:headEnd type="none" w="med" len="med"/>
                      <a:tailEnd type="none" w="med" len="med"/>
                    </a:lnL>
                    <a:lnR w="8649" cap="flat" cmpd="sng" algn="ctr">
                      <a:solidFill>
                        <a:srgbClr val="000000"/>
                      </a:solidFill>
                      <a:prstDash val="solid"/>
                      <a:round/>
                      <a:headEnd type="none" w="med" len="med"/>
                      <a:tailEnd type="none" w="med" len="med"/>
                    </a:lnR>
                    <a:lnT w="8649" cap="flat" cmpd="sng" algn="ctr">
                      <a:solidFill>
                        <a:srgbClr val="000000"/>
                      </a:solidFill>
                      <a:prstDash val="dash"/>
                      <a:round/>
                      <a:headEnd type="none" w="med" len="med"/>
                      <a:tailEnd type="none" w="med" len="med"/>
                    </a:lnT>
                    <a:lnB w="8649" cap="flat" cmpd="sng" algn="ctr">
                      <a:solidFill>
                        <a:srgbClr val="000000"/>
                      </a:solidFill>
                      <a:prstDash val="solid"/>
                      <a:round/>
                      <a:headEnd type="none" w="med" len="med"/>
                      <a:tailEnd type="none" w="med" len="med"/>
                    </a:lnB>
                    <a:noFill/>
                  </a:tcPr>
                </a:tc>
                <a:tc>
                  <a:txBody>
                    <a:bodyPr/>
                    <a:lstStyle/>
                    <a:p>
                      <a:pPr rtl="0" fontAlgn="ctr">
                        <a:spcBef>
                          <a:spcPts val="1200"/>
                        </a:spcBef>
                        <a:buNone/>
                      </a:pPr>
                      <a:r>
                        <a:rPr lang="es-AR" sz="1050" b="0" i="0" u="none" strike="noStrike">
                          <a:solidFill>
                            <a:srgbClr val="000000"/>
                          </a:solidFill>
                          <a:effectLst/>
                          <a:latin typeface="Arial" panose="020B0604020202020204" pitchFamily="34" charset="0"/>
                        </a:rPr>
                        <a:t>India</a:t>
                      </a:r>
                      <a:endParaRPr lang="es-AR" sz="2400">
                        <a:effectLst/>
                      </a:endParaRPr>
                    </a:p>
                  </a:txBody>
                  <a:tcPr marL="50800" marR="50800" anchor="ctr">
                    <a:lnL w="8649" cap="flat" cmpd="sng" algn="ctr">
                      <a:solidFill>
                        <a:srgbClr val="000000"/>
                      </a:solidFill>
                      <a:prstDash val="solid"/>
                      <a:round/>
                      <a:headEnd type="none" w="med" len="med"/>
                      <a:tailEnd type="none" w="med" len="med"/>
                    </a:lnL>
                    <a:lnR w="8649" cap="flat" cmpd="sng" algn="ctr">
                      <a:solidFill>
                        <a:srgbClr val="000000"/>
                      </a:solidFill>
                      <a:prstDash val="dash"/>
                      <a:round/>
                      <a:headEnd type="none" w="med" len="med"/>
                      <a:tailEnd type="none" w="med" len="med"/>
                    </a:lnR>
                    <a:lnT w="8649" cap="flat" cmpd="sng" algn="ctr">
                      <a:solidFill>
                        <a:srgbClr val="000000"/>
                      </a:solidFill>
                      <a:prstDash val="dash"/>
                      <a:round/>
                      <a:headEnd type="none" w="med" len="med"/>
                      <a:tailEnd type="none" w="med" len="med"/>
                    </a:lnT>
                    <a:lnB w="8649" cap="flat" cmpd="sng" algn="ctr">
                      <a:solidFill>
                        <a:srgbClr val="000000"/>
                      </a:solidFill>
                      <a:prstDash val="solid"/>
                      <a:round/>
                      <a:headEnd type="none" w="med" len="med"/>
                      <a:tailEnd type="none" w="med" len="med"/>
                    </a:lnB>
                    <a:noFill/>
                  </a:tcPr>
                </a:tc>
                <a:tc>
                  <a:txBody>
                    <a:bodyPr/>
                    <a:lstStyle/>
                    <a:p>
                      <a:pPr algn="r" rtl="0" fontAlgn="ctr">
                        <a:spcBef>
                          <a:spcPts val="1200"/>
                        </a:spcBef>
                        <a:buNone/>
                      </a:pPr>
                      <a:r>
                        <a:rPr lang="es-AR" sz="1050" b="0" i="0" u="none" strike="noStrike" dirty="0">
                          <a:solidFill>
                            <a:srgbClr val="000000"/>
                          </a:solidFill>
                          <a:effectLst/>
                          <a:latin typeface="Arial" panose="020B0604020202020204" pitchFamily="34" charset="0"/>
                        </a:rPr>
                        <a:t>4,3</a:t>
                      </a:r>
                      <a:endParaRPr lang="es-AR" sz="2400" dirty="0">
                        <a:effectLst/>
                      </a:endParaRPr>
                    </a:p>
                  </a:txBody>
                  <a:tcPr marL="50800" marR="50800" anchor="ctr">
                    <a:lnL w="8649" cap="flat" cmpd="sng" algn="ctr">
                      <a:solidFill>
                        <a:srgbClr val="000000"/>
                      </a:solidFill>
                      <a:prstDash val="dash"/>
                      <a:round/>
                      <a:headEnd type="none" w="med" len="med"/>
                      <a:tailEnd type="none" w="med" len="med"/>
                    </a:lnL>
                    <a:lnR w="8649" cap="flat" cmpd="sng" algn="ctr">
                      <a:solidFill>
                        <a:srgbClr val="000000"/>
                      </a:solidFill>
                      <a:prstDash val="solid"/>
                      <a:round/>
                      <a:headEnd type="none" w="med" len="med"/>
                      <a:tailEnd type="none" w="med" len="med"/>
                    </a:lnR>
                    <a:lnT w="8649" cap="flat" cmpd="sng" algn="ctr">
                      <a:solidFill>
                        <a:srgbClr val="000000"/>
                      </a:solidFill>
                      <a:prstDash val="dash"/>
                      <a:round/>
                      <a:headEnd type="none" w="med" len="med"/>
                      <a:tailEnd type="none" w="med" len="med"/>
                    </a:lnT>
                    <a:lnB w="8649"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4012995159"/>
                  </a:ext>
                </a:extLst>
              </a:tr>
            </a:tbl>
          </a:graphicData>
        </a:graphic>
      </p:graphicFrame>
      <p:sp>
        <p:nvSpPr>
          <p:cNvPr id="3" name="CuadroTexto 2">
            <a:extLst>
              <a:ext uri="{FF2B5EF4-FFF2-40B4-BE49-F238E27FC236}">
                <a16:creationId xmlns:a16="http://schemas.microsoft.com/office/drawing/2014/main" id="{BA3D035A-23F7-3C21-AF4E-B1FD17E4F12F}"/>
              </a:ext>
            </a:extLst>
          </p:cNvPr>
          <p:cNvSpPr txBox="1"/>
          <p:nvPr/>
        </p:nvSpPr>
        <p:spPr>
          <a:xfrm>
            <a:off x="763571" y="433633"/>
            <a:ext cx="5458119" cy="523220"/>
          </a:xfrm>
          <a:prstGeom prst="rect">
            <a:avLst/>
          </a:prstGeom>
          <a:noFill/>
        </p:spPr>
        <p:txBody>
          <a:bodyPr wrap="square" rtlCol="0">
            <a:spAutoFit/>
          </a:bodyPr>
          <a:lstStyle/>
          <a:p>
            <a:r>
              <a:rPr lang="es-AR" sz="2800" b="1" dirty="0">
                <a:latin typeface="Lucida Bright" panose="02040602050505020304" pitchFamily="18" charset="0"/>
              </a:rPr>
              <a:t>Santa Fe vs. Argentina</a:t>
            </a:r>
          </a:p>
        </p:txBody>
      </p:sp>
      <p:pic>
        <p:nvPicPr>
          <p:cNvPr id="6" name="Picture 2">
            <a:extLst>
              <a:ext uri="{FF2B5EF4-FFF2-40B4-BE49-F238E27FC236}">
                <a16:creationId xmlns:a16="http://schemas.microsoft.com/office/drawing/2014/main" id="{DFDAD657-093C-782E-D654-9E0B42DBCE20}"/>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69800" y="1785555"/>
            <a:ext cx="6501484" cy="2956128"/>
          </a:xfrm>
          <a:prstGeom prst="rect">
            <a:avLst/>
          </a:prstGeom>
          <a:noFill/>
          <a:extLst>
            <a:ext uri="{909E8E84-426E-40DD-AFC4-6F175D3DCCD1}">
              <a14:hiddenFill xmlns:a14="http://schemas.microsoft.com/office/drawing/2010/main">
                <a:solidFill>
                  <a:srgbClr val="FFFFFF"/>
                </a:solidFill>
              </a14:hiddenFill>
            </a:ext>
          </a:extLst>
        </p:spPr>
      </p:pic>
      <p:sp>
        <p:nvSpPr>
          <p:cNvPr id="5" name="CuadroTexto 4">
            <a:extLst>
              <a:ext uri="{FF2B5EF4-FFF2-40B4-BE49-F238E27FC236}">
                <a16:creationId xmlns:a16="http://schemas.microsoft.com/office/drawing/2014/main" id="{E3CB1F21-D27E-B492-E87E-7A33CC0D58AC}"/>
              </a:ext>
            </a:extLst>
          </p:cNvPr>
          <p:cNvSpPr txBox="1"/>
          <p:nvPr/>
        </p:nvSpPr>
        <p:spPr>
          <a:xfrm>
            <a:off x="987552" y="1531639"/>
            <a:ext cx="5205490" cy="253916"/>
          </a:xfrm>
          <a:prstGeom prst="rect">
            <a:avLst/>
          </a:prstGeom>
          <a:noFill/>
        </p:spPr>
        <p:txBody>
          <a:bodyPr wrap="square" rtlCol="0">
            <a:spAutoFit/>
          </a:bodyPr>
          <a:lstStyle/>
          <a:p>
            <a:r>
              <a:rPr lang="es-MX" sz="1050" b="1" dirty="0">
                <a:latin typeface="Lucida Bright" panose="02040602050505020304" pitchFamily="18" charset="0"/>
              </a:rPr>
              <a:t>Figura 2</a:t>
            </a:r>
            <a:r>
              <a:rPr lang="es-MX" sz="1050" dirty="0">
                <a:latin typeface="Lucida Bright" panose="02040602050505020304" pitchFamily="18" charset="0"/>
              </a:rPr>
              <a:t> | Exportaciones de Argentina y Santa Fe según rubro. 2002 a 2024</a:t>
            </a:r>
            <a:endParaRPr lang="es-AR" sz="1050" dirty="0">
              <a:latin typeface="Lucida Bright" panose="02040602050505020304" pitchFamily="18" charset="0"/>
            </a:endParaRPr>
          </a:p>
        </p:txBody>
      </p:sp>
      <p:sp>
        <p:nvSpPr>
          <p:cNvPr id="7" name="CuadroTexto 6">
            <a:extLst>
              <a:ext uri="{FF2B5EF4-FFF2-40B4-BE49-F238E27FC236}">
                <a16:creationId xmlns:a16="http://schemas.microsoft.com/office/drawing/2014/main" id="{1C9BBC50-D52A-B5AF-68DC-F63C736EB8E3}"/>
              </a:ext>
            </a:extLst>
          </p:cNvPr>
          <p:cNvSpPr txBox="1"/>
          <p:nvPr/>
        </p:nvSpPr>
        <p:spPr>
          <a:xfrm>
            <a:off x="6839712" y="1016527"/>
            <a:ext cx="5036938" cy="415498"/>
          </a:xfrm>
          <a:prstGeom prst="rect">
            <a:avLst/>
          </a:prstGeom>
          <a:noFill/>
        </p:spPr>
        <p:txBody>
          <a:bodyPr wrap="square" rtlCol="0">
            <a:spAutoFit/>
          </a:bodyPr>
          <a:lstStyle/>
          <a:p>
            <a:r>
              <a:rPr lang="es-MX" sz="1050" b="1" dirty="0">
                <a:latin typeface="Lucida Bright" panose="02040602050505020304" pitchFamily="18" charset="0"/>
              </a:rPr>
              <a:t>Cuadro 1</a:t>
            </a:r>
            <a:r>
              <a:rPr lang="es-MX" sz="1050" dirty="0">
                <a:latin typeface="Lucida Bright" panose="02040602050505020304" pitchFamily="18" charset="0"/>
              </a:rPr>
              <a:t> | Participación de los países en el total exportado de Santa Fe y Argentina Años objetivos</a:t>
            </a:r>
            <a:endParaRPr lang="es-AR" sz="1050" dirty="0">
              <a:latin typeface="Lucida Bright" panose="02040602050505020304" pitchFamily="18" charset="0"/>
            </a:endParaRPr>
          </a:p>
        </p:txBody>
      </p:sp>
    </p:spTree>
    <p:extLst>
      <p:ext uri="{BB962C8B-B14F-4D97-AF65-F5344CB8AC3E}">
        <p14:creationId xmlns:p14="http://schemas.microsoft.com/office/powerpoint/2010/main" val="309779998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BE7B57-146E-772F-8D64-D0F2AFEA18D9}"/>
            </a:ext>
          </a:extLst>
        </p:cNvPr>
        <p:cNvGrpSpPr/>
        <p:nvPr/>
      </p:nvGrpSpPr>
      <p:grpSpPr>
        <a:xfrm>
          <a:off x="0" y="0"/>
          <a:ext cx="0" cy="0"/>
          <a:chOff x="0" y="0"/>
          <a:chExt cx="0" cy="0"/>
        </a:xfrm>
      </p:grpSpPr>
      <p:pic>
        <p:nvPicPr>
          <p:cNvPr id="4" name="Imagen 3" descr="Imagen que contiene Texto&#10;&#10;El contenido generado por IA puede ser incorrecto.">
            <a:extLst>
              <a:ext uri="{FF2B5EF4-FFF2-40B4-BE49-F238E27FC236}">
                <a16:creationId xmlns:a16="http://schemas.microsoft.com/office/drawing/2014/main" id="{4D175B7E-45C2-8209-34DF-BD50BD625979}"/>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2000" cy="6857143"/>
          </a:xfrm>
          <a:prstGeom prst="rect">
            <a:avLst/>
          </a:prstGeom>
        </p:spPr>
      </p:pic>
      <p:sp>
        <p:nvSpPr>
          <p:cNvPr id="2" name="CuadroTexto 1">
            <a:extLst>
              <a:ext uri="{FF2B5EF4-FFF2-40B4-BE49-F238E27FC236}">
                <a16:creationId xmlns:a16="http://schemas.microsoft.com/office/drawing/2014/main" id="{CEDD22DF-45C2-D41B-3D58-F722D3E30436}"/>
              </a:ext>
            </a:extLst>
          </p:cNvPr>
          <p:cNvSpPr txBox="1"/>
          <p:nvPr/>
        </p:nvSpPr>
        <p:spPr>
          <a:xfrm>
            <a:off x="433633" y="822918"/>
            <a:ext cx="6966408" cy="954107"/>
          </a:xfrm>
          <a:prstGeom prst="rect">
            <a:avLst/>
          </a:prstGeom>
          <a:noFill/>
        </p:spPr>
        <p:txBody>
          <a:bodyPr wrap="square" rtlCol="0">
            <a:spAutoFit/>
          </a:bodyPr>
          <a:lstStyle/>
          <a:p>
            <a:r>
              <a:rPr lang="es-MX" sz="2800" b="1" dirty="0">
                <a:latin typeface="Lucida Bright" panose="02040602050505020304" pitchFamily="18" charset="0"/>
              </a:rPr>
              <a:t>ITCRM Argentina: metodología</a:t>
            </a:r>
            <a:r>
              <a:rPr lang="es-AR" sz="2800" b="1" dirty="0">
                <a:latin typeface="Lucida Bright" panose="02040602050505020304" pitchFamily="18" charset="0"/>
              </a:rPr>
              <a:t> BCRA</a:t>
            </a:r>
          </a:p>
          <a:p>
            <a:endParaRPr lang="es-AR" sz="2800" b="1" dirty="0">
              <a:latin typeface="Lucida Bright" panose="02040602050505020304" pitchFamily="18" charset="0"/>
            </a:endParaRPr>
          </a:p>
        </p:txBody>
      </p:sp>
      <p:pic>
        <p:nvPicPr>
          <p:cNvPr id="6" name="Imagen 5" descr="Logotipo&#10;&#10;El contenido generado por IA puede ser incorrecto.">
            <a:extLst>
              <a:ext uri="{FF2B5EF4-FFF2-40B4-BE49-F238E27FC236}">
                <a16:creationId xmlns:a16="http://schemas.microsoft.com/office/drawing/2014/main" id="{14842196-80B1-0425-0C7C-0575630C6EA0}"/>
              </a:ext>
            </a:extLst>
          </p:cNvPr>
          <p:cNvPicPr>
            <a:picLocks noChangeAspect="1"/>
          </p:cNvPicPr>
          <p:nvPr/>
        </p:nvPicPr>
        <p:blipFill>
          <a:blip r:embed="rId3"/>
          <a:stretch>
            <a:fillRect/>
          </a:stretch>
        </p:blipFill>
        <p:spPr>
          <a:xfrm>
            <a:off x="4524153" y="1837837"/>
            <a:ext cx="3143689" cy="762106"/>
          </a:xfrm>
          <a:prstGeom prst="rect">
            <a:avLst/>
          </a:prstGeom>
        </p:spPr>
      </p:pic>
      <p:sp>
        <p:nvSpPr>
          <p:cNvPr id="7" name="CuadroTexto 6">
            <a:extLst>
              <a:ext uri="{FF2B5EF4-FFF2-40B4-BE49-F238E27FC236}">
                <a16:creationId xmlns:a16="http://schemas.microsoft.com/office/drawing/2014/main" id="{B40CA2AC-5892-BC0D-F83C-3F275BD9A96D}"/>
              </a:ext>
            </a:extLst>
          </p:cNvPr>
          <p:cNvSpPr txBox="1"/>
          <p:nvPr/>
        </p:nvSpPr>
        <p:spPr>
          <a:xfrm>
            <a:off x="171252" y="2820239"/>
            <a:ext cx="11849493" cy="3363741"/>
          </a:xfrm>
          <a:prstGeom prst="rect">
            <a:avLst/>
          </a:prstGeom>
          <a:noFill/>
        </p:spPr>
        <p:txBody>
          <a:bodyPr wrap="square" rtlCol="0">
            <a:spAutoFit/>
          </a:bodyPr>
          <a:lstStyle/>
          <a:p>
            <a:pPr>
              <a:lnSpc>
                <a:spcPct val="150000"/>
              </a:lnSpc>
            </a:pPr>
            <a:r>
              <a:rPr lang="es-AR" dirty="0">
                <a:latin typeface="Lucida Bright" panose="02040602050505020304" pitchFamily="18" charset="0"/>
              </a:rPr>
              <a:t>Índice “Laspeyres geométrico encadenado”</a:t>
            </a:r>
          </a:p>
          <a:p>
            <a:pPr>
              <a:lnSpc>
                <a:spcPct val="150000"/>
              </a:lnSpc>
            </a:pPr>
            <a:r>
              <a:rPr lang="es-MX" dirty="0">
                <a:latin typeface="Lucida Bright" panose="02040602050505020304" pitchFamily="18" charset="0"/>
              </a:rPr>
              <a:t>Socios comerciales ponderados por su participación en los flujos de comercio (exportaciones + importaciones) de manufacturas </a:t>
            </a:r>
            <a:r>
              <a:rPr lang="es-MX" dirty="0">
                <a:latin typeface="Lucida Bright" panose="02040602050505020304" pitchFamily="18" charset="0"/>
                <a:sym typeface="Wingdings" panose="05000000000000000000" pitchFamily="2" charset="2"/>
              </a:rPr>
              <a:t></a:t>
            </a:r>
            <a:r>
              <a:rPr lang="es-MX" dirty="0">
                <a:latin typeface="Lucida Bright" panose="02040602050505020304" pitchFamily="18" charset="0"/>
              </a:rPr>
              <a:t> fueron incluidos los países cuya participación en el flujo de comercio fue mayor o igual a 2% en al menos un año a partir de 1996 </a:t>
            </a:r>
          </a:p>
          <a:p>
            <a:pPr>
              <a:lnSpc>
                <a:spcPct val="150000"/>
              </a:lnSpc>
            </a:pPr>
            <a:endParaRPr lang="es-MX" dirty="0">
              <a:latin typeface="Lucida Bright" panose="02040602050505020304" pitchFamily="18" charset="0"/>
            </a:endParaRPr>
          </a:p>
          <a:p>
            <a:pPr>
              <a:lnSpc>
                <a:spcPct val="150000"/>
              </a:lnSpc>
            </a:pPr>
            <a:r>
              <a:rPr lang="es-MX" dirty="0">
                <a:latin typeface="Lucida Bright" panose="02040602050505020304" pitchFamily="18" charset="0"/>
              </a:rPr>
              <a:t>Actualmente el índice incluye 13 socios comerciales, considerando la Zona del euro (19 países) como una unidad. Si se desagrega la Zona del euro, el índice comprende 31 países. En el período 1996-2016, la participación conjunta de estos países osciló entre 75% y 83% del flujo de comercio total considerado. </a:t>
            </a:r>
            <a:endParaRPr lang="es-AR" dirty="0">
              <a:latin typeface="Lucida Bright" panose="02040602050505020304" pitchFamily="18" charset="0"/>
            </a:endParaRPr>
          </a:p>
        </p:txBody>
      </p:sp>
    </p:spTree>
    <p:extLst>
      <p:ext uri="{BB962C8B-B14F-4D97-AF65-F5344CB8AC3E}">
        <p14:creationId xmlns:p14="http://schemas.microsoft.com/office/powerpoint/2010/main" val="230920662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4C2BED-3FEB-E1FF-B798-1C50BD6AA683}"/>
            </a:ext>
          </a:extLst>
        </p:cNvPr>
        <p:cNvGrpSpPr/>
        <p:nvPr/>
      </p:nvGrpSpPr>
      <p:grpSpPr>
        <a:xfrm>
          <a:off x="0" y="0"/>
          <a:ext cx="0" cy="0"/>
          <a:chOff x="0" y="0"/>
          <a:chExt cx="0" cy="0"/>
        </a:xfrm>
      </p:grpSpPr>
      <p:pic>
        <p:nvPicPr>
          <p:cNvPr id="4" name="Imagen 3" descr="Imagen que contiene Texto&#10;&#10;El contenido generado por IA puede ser incorrecto.">
            <a:extLst>
              <a:ext uri="{FF2B5EF4-FFF2-40B4-BE49-F238E27FC236}">
                <a16:creationId xmlns:a16="http://schemas.microsoft.com/office/drawing/2014/main" id="{731EC888-3BBA-D83B-E84D-B44C3BF6BD73}"/>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2000" cy="6857143"/>
          </a:xfrm>
          <a:prstGeom prst="rect">
            <a:avLst/>
          </a:prstGeom>
        </p:spPr>
      </p:pic>
      <p:sp>
        <p:nvSpPr>
          <p:cNvPr id="2" name="CuadroTexto 1">
            <a:extLst>
              <a:ext uri="{FF2B5EF4-FFF2-40B4-BE49-F238E27FC236}">
                <a16:creationId xmlns:a16="http://schemas.microsoft.com/office/drawing/2014/main" id="{3B08D648-41DE-ED62-BB0D-B71F36FCAD7F}"/>
              </a:ext>
            </a:extLst>
          </p:cNvPr>
          <p:cNvSpPr txBox="1"/>
          <p:nvPr/>
        </p:nvSpPr>
        <p:spPr>
          <a:xfrm>
            <a:off x="433632" y="822918"/>
            <a:ext cx="7694367" cy="523220"/>
          </a:xfrm>
          <a:prstGeom prst="rect">
            <a:avLst/>
          </a:prstGeom>
          <a:noFill/>
        </p:spPr>
        <p:txBody>
          <a:bodyPr wrap="square" rtlCol="0">
            <a:spAutoFit/>
          </a:bodyPr>
          <a:lstStyle/>
          <a:p>
            <a:r>
              <a:rPr lang="es-MX" sz="2800" b="1" dirty="0">
                <a:latin typeface="Lucida Bright" panose="02040602050505020304" pitchFamily="18" charset="0"/>
              </a:rPr>
              <a:t>ITCRM CES:</a:t>
            </a:r>
            <a:r>
              <a:rPr lang="es-AR" sz="2800" b="1" dirty="0">
                <a:latin typeface="Lucida Bright" panose="02040602050505020304" pitchFamily="18" charset="0"/>
              </a:rPr>
              <a:t> diferencia respecto del BCRA</a:t>
            </a:r>
          </a:p>
        </p:txBody>
      </p:sp>
      <p:sp>
        <p:nvSpPr>
          <p:cNvPr id="7" name="CuadroTexto 6">
            <a:extLst>
              <a:ext uri="{FF2B5EF4-FFF2-40B4-BE49-F238E27FC236}">
                <a16:creationId xmlns:a16="http://schemas.microsoft.com/office/drawing/2014/main" id="{86F52E34-05EF-76C3-37C6-9B17EFFE19CF}"/>
              </a:ext>
            </a:extLst>
          </p:cNvPr>
          <p:cNvSpPr txBox="1"/>
          <p:nvPr/>
        </p:nvSpPr>
        <p:spPr>
          <a:xfrm>
            <a:off x="171252" y="2820239"/>
            <a:ext cx="11849493" cy="3363741"/>
          </a:xfrm>
          <a:prstGeom prst="rect">
            <a:avLst/>
          </a:prstGeom>
          <a:noFill/>
        </p:spPr>
        <p:txBody>
          <a:bodyPr wrap="square" rtlCol="0">
            <a:spAutoFit/>
          </a:bodyPr>
          <a:lstStyle/>
          <a:p>
            <a:pPr>
              <a:lnSpc>
                <a:spcPct val="150000"/>
              </a:lnSpc>
            </a:pPr>
            <a:r>
              <a:rPr lang="es-AR" dirty="0">
                <a:latin typeface="Lucida Bright" panose="02040602050505020304" pitchFamily="18" charset="0"/>
              </a:rPr>
              <a:t>Se consideran sólo exportaciones</a:t>
            </a:r>
          </a:p>
          <a:p>
            <a:pPr>
              <a:lnSpc>
                <a:spcPct val="150000"/>
              </a:lnSpc>
            </a:pPr>
            <a:r>
              <a:rPr lang="es-AR" dirty="0">
                <a:latin typeface="Lucida Bright" panose="02040602050505020304" pitchFamily="18" charset="0"/>
              </a:rPr>
              <a:t>Se contemplan todos los socios comerciales, incorporándolos en la medida de que se posean datos en cada mes.</a:t>
            </a:r>
          </a:p>
          <a:p>
            <a:pPr>
              <a:lnSpc>
                <a:spcPct val="150000"/>
              </a:lnSpc>
            </a:pPr>
            <a:r>
              <a:rPr lang="es-AR" dirty="0">
                <a:latin typeface="Lucida Bright" panose="02040602050505020304" pitchFamily="18" charset="0"/>
              </a:rPr>
              <a:t>	¿Qué datos se requieren? IPC, TC y, por supuesto, participación en las exportaciones.</a:t>
            </a:r>
          </a:p>
          <a:p>
            <a:pPr>
              <a:lnSpc>
                <a:spcPct val="150000"/>
              </a:lnSpc>
            </a:pPr>
            <a:r>
              <a:rPr lang="es-AR" dirty="0">
                <a:latin typeface="Lucida Bright" panose="02040602050505020304" pitchFamily="18" charset="0"/>
              </a:rPr>
              <a:t>		¿Qué sucede si no se posee información en el mes x respecto del país a? Se quita de la 		canasta de socios comerciales y se </a:t>
            </a:r>
            <a:r>
              <a:rPr lang="es-AR" dirty="0" err="1">
                <a:latin typeface="Lucida Bright" panose="02040602050505020304" pitchFamily="18" charset="0"/>
              </a:rPr>
              <a:t>reescalan</a:t>
            </a:r>
            <a:r>
              <a:rPr lang="es-AR" dirty="0">
                <a:latin typeface="Lucida Bright" panose="02040602050505020304" pitchFamily="18" charset="0"/>
              </a:rPr>
              <a:t> las </a:t>
            </a:r>
            <a:r>
              <a:rPr lang="es-AR" dirty="0" err="1">
                <a:latin typeface="Lucida Bright" panose="02040602050505020304" pitchFamily="18" charset="0"/>
              </a:rPr>
              <a:t>particpaciones</a:t>
            </a:r>
            <a:r>
              <a:rPr lang="es-AR" dirty="0">
                <a:latin typeface="Lucida Bright" panose="02040602050505020304" pitchFamily="18" charset="0"/>
              </a:rPr>
              <a:t> de los demás.</a:t>
            </a:r>
          </a:p>
          <a:p>
            <a:pPr>
              <a:lnSpc>
                <a:spcPct val="150000"/>
              </a:lnSpc>
            </a:pPr>
            <a:r>
              <a:rPr lang="es-AR" dirty="0">
                <a:latin typeface="Lucida Bright" panose="02040602050505020304" pitchFamily="18" charset="0"/>
              </a:rPr>
              <a:t>Socios comerciales tenidos en cuenta en promedio 164 países, con una cobertura del 75% de las MOA y MOI ponderadas.</a:t>
            </a:r>
          </a:p>
        </p:txBody>
      </p:sp>
    </p:spTree>
    <p:extLst>
      <p:ext uri="{BB962C8B-B14F-4D97-AF65-F5344CB8AC3E}">
        <p14:creationId xmlns:p14="http://schemas.microsoft.com/office/powerpoint/2010/main" val="137267978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217D5B-0552-0A2F-76E7-4E3D76F22310}"/>
            </a:ext>
          </a:extLst>
        </p:cNvPr>
        <p:cNvGrpSpPr/>
        <p:nvPr/>
      </p:nvGrpSpPr>
      <p:grpSpPr>
        <a:xfrm>
          <a:off x="0" y="0"/>
          <a:ext cx="0" cy="0"/>
          <a:chOff x="0" y="0"/>
          <a:chExt cx="0" cy="0"/>
        </a:xfrm>
      </p:grpSpPr>
      <p:pic>
        <p:nvPicPr>
          <p:cNvPr id="4" name="Imagen 3" descr="Imagen que contiene Texto&#10;&#10;El contenido generado por IA puede ser incorrecto.">
            <a:extLst>
              <a:ext uri="{FF2B5EF4-FFF2-40B4-BE49-F238E27FC236}">
                <a16:creationId xmlns:a16="http://schemas.microsoft.com/office/drawing/2014/main" id="{A262046B-88EC-A30D-07AD-5A5A000A51AB}"/>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2000" cy="6857143"/>
          </a:xfrm>
          <a:prstGeom prst="rect">
            <a:avLst/>
          </a:prstGeom>
        </p:spPr>
      </p:pic>
      <p:pic>
        <p:nvPicPr>
          <p:cNvPr id="3" name="Imagen 2">
            <a:extLst>
              <a:ext uri="{FF2B5EF4-FFF2-40B4-BE49-F238E27FC236}">
                <a16:creationId xmlns:a16="http://schemas.microsoft.com/office/drawing/2014/main" id="{3C73FBB2-7AB4-47BF-FA06-8D0FB279224C}"/>
              </a:ext>
            </a:extLst>
          </p:cNvPr>
          <p:cNvPicPr>
            <a:picLocks noChangeAspect="1"/>
          </p:cNvPicPr>
          <p:nvPr/>
        </p:nvPicPr>
        <p:blipFill>
          <a:blip r:embed="rId3"/>
          <a:srcRect l="189" t="6135"/>
          <a:stretch>
            <a:fillRect/>
          </a:stretch>
        </p:blipFill>
        <p:spPr>
          <a:xfrm>
            <a:off x="877824" y="1581912"/>
            <a:ext cx="10038415" cy="4321195"/>
          </a:xfrm>
          <a:prstGeom prst="rect">
            <a:avLst/>
          </a:prstGeom>
        </p:spPr>
      </p:pic>
      <p:sp>
        <p:nvSpPr>
          <p:cNvPr id="5" name="CuadroTexto 4">
            <a:extLst>
              <a:ext uri="{FF2B5EF4-FFF2-40B4-BE49-F238E27FC236}">
                <a16:creationId xmlns:a16="http://schemas.microsoft.com/office/drawing/2014/main" id="{7DCAC650-D1E9-6F86-5E92-EA454C36CA9C}"/>
              </a:ext>
            </a:extLst>
          </p:cNvPr>
          <p:cNvSpPr txBox="1"/>
          <p:nvPr/>
        </p:nvSpPr>
        <p:spPr>
          <a:xfrm>
            <a:off x="593889" y="329938"/>
            <a:ext cx="2507530" cy="523220"/>
          </a:xfrm>
          <a:prstGeom prst="rect">
            <a:avLst/>
          </a:prstGeom>
          <a:noFill/>
        </p:spPr>
        <p:txBody>
          <a:bodyPr wrap="square" rtlCol="0">
            <a:spAutoFit/>
          </a:bodyPr>
          <a:lstStyle/>
          <a:p>
            <a:r>
              <a:rPr lang="es-MX" sz="2800" b="1" dirty="0">
                <a:latin typeface="Lucida Bright" panose="02040602050505020304" pitchFamily="18" charset="0"/>
              </a:rPr>
              <a:t>Resultados: </a:t>
            </a:r>
            <a:endParaRPr lang="es-AR" sz="2800" b="1" dirty="0">
              <a:latin typeface="Lucida Bright" panose="02040602050505020304" pitchFamily="18" charset="0"/>
            </a:endParaRPr>
          </a:p>
        </p:txBody>
      </p:sp>
      <p:sp>
        <p:nvSpPr>
          <p:cNvPr id="2" name="CuadroTexto 1">
            <a:extLst>
              <a:ext uri="{FF2B5EF4-FFF2-40B4-BE49-F238E27FC236}">
                <a16:creationId xmlns:a16="http://schemas.microsoft.com/office/drawing/2014/main" id="{D83D3B3D-18F8-C578-2347-9EAFD40E1B6C}"/>
              </a:ext>
            </a:extLst>
          </p:cNvPr>
          <p:cNvSpPr txBox="1"/>
          <p:nvPr/>
        </p:nvSpPr>
        <p:spPr>
          <a:xfrm>
            <a:off x="2125476" y="1183096"/>
            <a:ext cx="6479028" cy="253916"/>
          </a:xfrm>
          <a:prstGeom prst="rect">
            <a:avLst/>
          </a:prstGeom>
          <a:noFill/>
        </p:spPr>
        <p:txBody>
          <a:bodyPr wrap="square" rtlCol="0">
            <a:spAutoFit/>
          </a:bodyPr>
          <a:lstStyle/>
          <a:p>
            <a:r>
              <a:rPr lang="es-MX" sz="1050" b="1" dirty="0">
                <a:latin typeface="Lucida Bright" panose="02040602050505020304" pitchFamily="18" charset="0"/>
              </a:rPr>
              <a:t>Figura 3</a:t>
            </a:r>
            <a:r>
              <a:rPr lang="es-MX" sz="1050" dirty="0">
                <a:latin typeface="Lucida Bright" panose="02040602050505020304" pitchFamily="18" charset="0"/>
              </a:rPr>
              <a:t> | ITCRM de Santa Fe (CES) vs ITCRM de Argentina (BCRA). Base diciembre de 2001 = 100</a:t>
            </a:r>
            <a:endParaRPr lang="es-AR" sz="1050" dirty="0">
              <a:latin typeface="Lucida Bright" panose="02040602050505020304" pitchFamily="18" charset="0"/>
            </a:endParaRPr>
          </a:p>
        </p:txBody>
      </p:sp>
    </p:spTree>
    <p:extLst>
      <p:ext uri="{BB962C8B-B14F-4D97-AF65-F5344CB8AC3E}">
        <p14:creationId xmlns:p14="http://schemas.microsoft.com/office/powerpoint/2010/main" val="406073829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Imagen 3" descr="Imagen que contiene Texto">
            <a:extLst>
              <a:ext uri="{FF2B5EF4-FFF2-40B4-BE49-F238E27FC236}">
                <a16:creationId xmlns:a16="http://schemas.microsoft.com/office/drawing/2014/main" id="{A7AB8252-EF6F-DF75-6BC4-5D7F0E4CA344}"/>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2000" cy="6857143"/>
          </a:xfrm>
          <a:prstGeom prst="rect">
            <a:avLst/>
          </a:prstGeom>
        </p:spPr>
      </p:pic>
      <p:sp>
        <p:nvSpPr>
          <p:cNvPr id="5" name="CuadroTexto 4">
            <a:extLst>
              <a:ext uri="{FF2B5EF4-FFF2-40B4-BE49-F238E27FC236}">
                <a16:creationId xmlns:a16="http://schemas.microsoft.com/office/drawing/2014/main" id="{172C170B-5BBB-6093-55DA-AFA4E0C961F4}"/>
              </a:ext>
            </a:extLst>
          </p:cNvPr>
          <p:cNvSpPr txBox="1"/>
          <p:nvPr/>
        </p:nvSpPr>
        <p:spPr>
          <a:xfrm>
            <a:off x="612742" y="365125"/>
            <a:ext cx="1772239" cy="523220"/>
          </a:xfrm>
          <a:prstGeom prst="rect">
            <a:avLst/>
          </a:prstGeom>
          <a:noFill/>
        </p:spPr>
        <p:txBody>
          <a:bodyPr wrap="square" rtlCol="0">
            <a:spAutoFit/>
          </a:bodyPr>
          <a:lstStyle/>
          <a:p>
            <a:r>
              <a:rPr lang="es-MX" sz="2800" b="1" dirty="0">
                <a:latin typeface="Lucida Bright" panose="02040602050505020304" pitchFamily="18" charset="0"/>
              </a:rPr>
              <a:t>Ajuste</a:t>
            </a:r>
            <a:endParaRPr lang="es-AR" sz="2800" b="1" dirty="0">
              <a:latin typeface="Lucida Bright" panose="02040602050505020304" pitchFamily="18" charset="0"/>
            </a:endParaRPr>
          </a:p>
        </p:txBody>
      </p:sp>
      <p:graphicFrame>
        <p:nvGraphicFramePr>
          <p:cNvPr id="12" name="Marcador de contenido 11">
            <a:extLst>
              <a:ext uri="{FF2B5EF4-FFF2-40B4-BE49-F238E27FC236}">
                <a16:creationId xmlns:a16="http://schemas.microsoft.com/office/drawing/2014/main" id="{A0356ACD-EA59-9006-73C2-313ACA9FD739}"/>
              </a:ext>
            </a:extLst>
          </p:cNvPr>
          <p:cNvGraphicFramePr>
            <a:graphicFrameLocks noGrp="1"/>
          </p:cNvGraphicFramePr>
          <p:nvPr>
            <p:ph idx="1"/>
            <p:extLst>
              <p:ext uri="{D42A27DB-BD31-4B8C-83A1-F6EECF244321}">
                <p14:modId xmlns:p14="http://schemas.microsoft.com/office/powerpoint/2010/main" val="3813412206"/>
              </p:ext>
            </p:extLst>
          </p:nvPr>
        </p:nvGraphicFramePr>
        <p:xfrm>
          <a:off x="882650" y="2474055"/>
          <a:ext cx="10426700" cy="1714500"/>
        </p:xfrm>
        <a:graphic>
          <a:graphicData uri="http://schemas.openxmlformats.org/drawingml/2006/table">
            <a:tbl>
              <a:tblPr/>
              <a:tblGrid>
                <a:gridCol w="1282700">
                  <a:extLst>
                    <a:ext uri="{9D8B030D-6E8A-4147-A177-3AD203B41FA5}">
                      <a16:colId xmlns:a16="http://schemas.microsoft.com/office/drawing/2014/main" val="274767254"/>
                    </a:ext>
                  </a:extLst>
                </a:gridCol>
                <a:gridCol w="762000">
                  <a:extLst>
                    <a:ext uri="{9D8B030D-6E8A-4147-A177-3AD203B41FA5}">
                      <a16:colId xmlns:a16="http://schemas.microsoft.com/office/drawing/2014/main" val="2828085567"/>
                    </a:ext>
                  </a:extLst>
                </a:gridCol>
                <a:gridCol w="762000">
                  <a:extLst>
                    <a:ext uri="{9D8B030D-6E8A-4147-A177-3AD203B41FA5}">
                      <a16:colId xmlns:a16="http://schemas.microsoft.com/office/drawing/2014/main" val="753684733"/>
                    </a:ext>
                  </a:extLst>
                </a:gridCol>
                <a:gridCol w="762000">
                  <a:extLst>
                    <a:ext uri="{9D8B030D-6E8A-4147-A177-3AD203B41FA5}">
                      <a16:colId xmlns:a16="http://schemas.microsoft.com/office/drawing/2014/main" val="4021989135"/>
                    </a:ext>
                  </a:extLst>
                </a:gridCol>
                <a:gridCol w="762000">
                  <a:extLst>
                    <a:ext uri="{9D8B030D-6E8A-4147-A177-3AD203B41FA5}">
                      <a16:colId xmlns:a16="http://schemas.microsoft.com/office/drawing/2014/main" val="2531779624"/>
                    </a:ext>
                  </a:extLst>
                </a:gridCol>
                <a:gridCol w="762000">
                  <a:extLst>
                    <a:ext uri="{9D8B030D-6E8A-4147-A177-3AD203B41FA5}">
                      <a16:colId xmlns:a16="http://schemas.microsoft.com/office/drawing/2014/main" val="2503981789"/>
                    </a:ext>
                  </a:extLst>
                </a:gridCol>
                <a:gridCol w="762000">
                  <a:extLst>
                    <a:ext uri="{9D8B030D-6E8A-4147-A177-3AD203B41FA5}">
                      <a16:colId xmlns:a16="http://schemas.microsoft.com/office/drawing/2014/main" val="1660042784"/>
                    </a:ext>
                  </a:extLst>
                </a:gridCol>
                <a:gridCol w="762000">
                  <a:extLst>
                    <a:ext uri="{9D8B030D-6E8A-4147-A177-3AD203B41FA5}">
                      <a16:colId xmlns:a16="http://schemas.microsoft.com/office/drawing/2014/main" val="1016282941"/>
                    </a:ext>
                  </a:extLst>
                </a:gridCol>
                <a:gridCol w="762000">
                  <a:extLst>
                    <a:ext uri="{9D8B030D-6E8A-4147-A177-3AD203B41FA5}">
                      <a16:colId xmlns:a16="http://schemas.microsoft.com/office/drawing/2014/main" val="3257309952"/>
                    </a:ext>
                  </a:extLst>
                </a:gridCol>
                <a:gridCol w="762000">
                  <a:extLst>
                    <a:ext uri="{9D8B030D-6E8A-4147-A177-3AD203B41FA5}">
                      <a16:colId xmlns:a16="http://schemas.microsoft.com/office/drawing/2014/main" val="3351626756"/>
                    </a:ext>
                  </a:extLst>
                </a:gridCol>
                <a:gridCol w="762000">
                  <a:extLst>
                    <a:ext uri="{9D8B030D-6E8A-4147-A177-3AD203B41FA5}">
                      <a16:colId xmlns:a16="http://schemas.microsoft.com/office/drawing/2014/main" val="4223547852"/>
                    </a:ext>
                  </a:extLst>
                </a:gridCol>
                <a:gridCol w="762000">
                  <a:extLst>
                    <a:ext uri="{9D8B030D-6E8A-4147-A177-3AD203B41FA5}">
                      <a16:colId xmlns:a16="http://schemas.microsoft.com/office/drawing/2014/main" val="1361001394"/>
                    </a:ext>
                  </a:extLst>
                </a:gridCol>
                <a:gridCol w="762000">
                  <a:extLst>
                    <a:ext uri="{9D8B030D-6E8A-4147-A177-3AD203B41FA5}">
                      <a16:colId xmlns:a16="http://schemas.microsoft.com/office/drawing/2014/main" val="24002061"/>
                    </a:ext>
                  </a:extLst>
                </a:gridCol>
              </a:tblGrid>
              <a:tr h="190500">
                <a:tc>
                  <a:txBody>
                    <a:bodyPr/>
                    <a:lstStyle/>
                    <a:p>
                      <a:pPr algn="l" fontAlgn="b">
                        <a:buNone/>
                      </a:pPr>
                      <a:r>
                        <a:rPr lang="es-AR" sz="1100" b="0" i="0" u="none" strike="noStrike">
                          <a:solidFill>
                            <a:srgbClr val="000000"/>
                          </a:solidFill>
                          <a:effectLst/>
                          <a:latin typeface="Lucida Bright" panose="02040602050505020304" pitchFamily="18" charset="0"/>
                        </a:rPr>
                        <a:t> </a:t>
                      </a:r>
                    </a:p>
                  </a:txBody>
                  <a:tcPr marL="9525" marR="9525" marT="9525"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solidFill>
                      <a:srgbClr val="FFFFFF"/>
                    </a:solidFill>
                  </a:tcPr>
                </a:tc>
                <a:tc gridSpan="12">
                  <a:txBody>
                    <a:bodyPr/>
                    <a:lstStyle/>
                    <a:p>
                      <a:pPr algn="ctr" fontAlgn="b">
                        <a:buNone/>
                      </a:pPr>
                      <a:r>
                        <a:rPr lang="es-ES" sz="1100" b="1" i="0" u="none" strike="noStrike" dirty="0">
                          <a:solidFill>
                            <a:srgbClr val="FFFFFF"/>
                          </a:solidFill>
                          <a:effectLst/>
                          <a:latin typeface="Lucida Bright" panose="02040602050505020304" pitchFamily="18" charset="0"/>
                        </a:rPr>
                        <a:t>VARIABLE DEPENDIENTE: EXPORTACIONES TOTALES BRUTAS</a:t>
                      </a:r>
                    </a:p>
                  </a:txBody>
                  <a:tcPr marL="9525" marR="9525" marT="9525"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375623"/>
                    </a:solidFill>
                  </a:tcPr>
                </a:tc>
                <a:tc hMerge="1">
                  <a:txBody>
                    <a:bodyPr/>
                    <a:lstStyle/>
                    <a:p>
                      <a:endParaRPr/>
                    </a:p>
                  </a:txBody>
                  <a:tcPr marL="9525" marR="9525" marT="9525"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375623"/>
                    </a:solidFill>
                  </a:tcPr>
                </a:tc>
                <a:tc hMerge="1">
                  <a:txBody>
                    <a:bodyPr/>
                    <a:lstStyle/>
                    <a:p>
                      <a:endParaRPr/>
                    </a:p>
                  </a:txBody>
                  <a:tcPr marL="9525" marR="9525" marT="9525"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375623"/>
                    </a:solidFill>
                  </a:tcPr>
                </a:tc>
                <a:tc hMerge="1">
                  <a:txBody>
                    <a:bodyPr/>
                    <a:lstStyle/>
                    <a:p>
                      <a:endParaRPr/>
                    </a:p>
                  </a:txBody>
                  <a:tcPr marL="9525" marR="9525" marT="9525"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375623"/>
                    </a:solidFill>
                  </a:tcPr>
                </a:tc>
                <a:tc hMerge="1">
                  <a:txBody>
                    <a:bodyPr/>
                    <a:lstStyle/>
                    <a:p>
                      <a:endParaRPr/>
                    </a:p>
                  </a:txBody>
                  <a:tcPr marL="9525" marR="9525" marT="9525"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375623"/>
                    </a:solidFill>
                  </a:tcPr>
                </a:tc>
                <a:tc hMerge="1">
                  <a:txBody>
                    <a:bodyPr/>
                    <a:lstStyle/>
                    <a:p>
                      <a:endParaRPr/>
                    </a:p>
                  </a:txBody>
                  <a:tcPr marL="9525" marR="9525" marT="9525"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375623"/>
                    </a:solidFill>
                  </a:tcPr>
                </a:tc>
                <a:tc hMerge="1">
                  <a:txBody>
                    <a:bodyPr/>
                    <a:lstStyle/>
                    <a:p>
                      <a:endParaRPr/>
                    </a:p>
                  </a:txBody>
                  <a:tcPr marL="9525" marR="9525" marT="9525"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375623"/>
                    </a:solidFill>
                  </a:tcPr>
                </a:tc>
                <a:tc hMerge="1">
                  <a:txBody>
                    <a:bodyPr/>
                    <a:lstStyle/>
                    <a:p>
                      <a:endParaRPr/>
                    </a:p>
                  </a:txBody>
                  <a:tcPr marL="9525" marR="9525" marT="9525"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375623"/>
                    </a:solidFill>
                  </a:tcPr>
                </a:tc>
                <a:tc hMerge="1">
                  <a:txBody>
                    <a:bodyPr/>
                    <a:lstStyle/>
                    <a:p>
                      <a:endParaRPr/>
                    </a:p>
                  </a:txBody>
                  <a:tcPr marL="9525" marR="9525" marT="9525"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375623"/>
                    </a:solidFill>
                  </a:tcPr>
                </a:tc>
                <a:tc hMerge="1">
                  <a:txBody>
                    <a:bodyPr/>
                    <a:lstStyle/>
                    <a:p>
                      <a:endParaRPr/>
                    </a:p>
                  </a:txBody>
                  <a:tcPr marL="9525" marR="9525" marT="9525"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375623"/>
                    </a:solidFill>
                  </a:tcPr>
                </a:tc>
                <a:tc hMerge="1">
                  <a:txBody>
                    <a:bodyPr/>
                    <a:lstStyle/>
                    <a:p>
                      <a:endParaRPr/>
                    </a:p>
                  </a:txBody>
                  <a:tcPr marL="9525" marR="9525" marT="9525"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375623"/>
                    </a:solidFill>
                  </a:tcPr>
                </a:tc>
                <a:tc hMerge="1">
                  <a:txBody>
                    <a:bodyPr/>
                    <a:lstStyle/>
                    <a:p>
                      <a:endParaRPr dirty="0"/>
                    </a:p>
                  </a:txBody>
                  <a:tcPr marL="9525" marR="9525" marT="9525"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375623"/>
                    </a:solidFill>
                  </a:tcPr>
                </a:tc>
                <a:extLst>
                  <a:ext uri="{0D108BD9-81ED-4DB2-BD59-A6C34878D82A}">
                    <a16:rowId xmlns:a16="http://schemas.microsoft.com/office/drawing/2014/main" val="3661847330"/>
                  </a:ext>
                </a:extLst>
              </a:tr>
              <a:tr h="190500">
                <a:tc>
                  <a:txBody>
                    <a:bodyPr/>
                    <a:lstStyle/>
                    <a:p>
                      <a:pPr algn="l" fontAlgn="b">
                        <a:buNone/>
                      </a:pPr>
                      <a:r>
                        <a:rPr lang="es-AR" sz="1100" b="0" i="0" u="none" strike="noStrike">
                          <a:solidFill>
                            <a:srgbClr val="000000"/>
                          </a:solidFill>
                          <a:effectLst/>
                          <a:latin typeface="Lucida Bright" panose="02040602050505020304" pitchFamily="18" charset="0"/>
                        </a:rPr>
                        <a:t> </a:t>
                      </a:r>
                    </a:p>
                  </a:txBody>
                  <a:tcPr marL="9525" marR="9525" marT="9525"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solidFill>
                      <a:srgbClr val="FFFFFF"/>
                    </a:solidFill>
                  </a:tcPr>
                </a:tc>
                <a:tc gridSpan="3">
                  <a:txBody>
                    <a:bodyPr/>
                    <a:lstStyle/>
                    <a:p>
                      <a:pPr algn="ctr" fontAlgn="b">
                        <a:buNone/>
                      </a:pPr>
                      <a:r>
                        <a:rPr lang="es-AR" sz="1100" b="0" i="0" u="none" strike="noStrike">
                          <a:solidFill>
                            <a:srgbClr val="000000"/>
                          </a:solidFill>
                          <a:effectLst/>
                          <a:latin typeface="Lucida Bright" panose="02040602050505020304" pitchFamily="18" charset="0"/>
                        </a:rPr>
                        <a:t>MODELOS SIMPLES</a:t>
                      </a:r>
                    </a:p>
                  </a:txBody>
                  <a:tcPr marL="9525" marR="9525" marT="9525"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C6E0B4"/>
                    </a:solidFill>
                  </a:tcPr>
                </a:tc>
                <a:tc hMerge="1">
                  <a:txBody>
                    <a:bodyPr/>
                    <a:lstStyle/>
                    <a:p>
                      <a:endParaRPr lang="es-AR"/>
                    </a:p>
                  </a:txBody>
                  <a:tcPr/>
                </a:tc>
                <a:tc hMerge="1">
                  <a:txBody>
                    <a:bodyPr/>
                    <a:lstStyle/>
                    <a:p>
                      <a:endParaRPr lang="es-AR"/>
                    </a:p>
                  </a:txBody>
                  <a:tcPr/>
                </a:tc>
                <a:tc gridSpan="3">
                  <a:txBody>
                    <a:bodyPr/>
                    <a:lstStyle/>
                    <a:p>
                      <a:pPr algn="ctr" fontAlgn="b">
                        <a:buNone/>
                      </a:pPr>
                      <a:r>
                        <a:rPr lang="es-AR" sz="1100" b="0" i="0" u="none" strike="noStrike">
                          <a:solidFill>
                            <a:srgbClr val="000000"/>
                          </a:solidFill>
                          <a:effectLst/>
                          <a:latin typeface="Lucida Bright" panose="02040602050505020304" pitchFamily="18" charset="0"/>
                        </a:rPr>
                        <a:t>INCLUYEN GBEC</a:t>
                      </a:r>
                    </a:p>
                  </a:txBody>
                  <a:tcPr marL="9525" marR="9525" marT="9525"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C6E0B4"/>
                    </a:solidFill>
                  </a:tcPr>
                </a:tc>
                <a:tc hMerge="1">
                  <a:txBody>
                    <a:bodyPr/>
                    <a:lstStyle/>
                    <a:p>
                      <a:endParaRPr lang="es-AR"/>
                    </a:p>
                  </a:txBody>
                  <a:tcPr/>
                </a:tc>
                <a:tc hMerge="1">
                  <a:txBody>
                    <a:bodyPr/>
                    <a:lstStyle/>
                    <a:p>
                      <a:endParaRPr lang="es-AR"/>
                    </a:p>
                  </a:txBody>
                  <a:tcPr/>
                </a:tc>
                <a:tc gridSpan="3">
                  <a:txBody>
                    <a:bodyPr/>
                    <a:lstStyle/>
                    <a:p>
                      <a:pPr algn="ctr" fontAlgn="b">
                        <a:buNone/>
                      </a:pPr>
                      <a:r>
                        <a:rPr lang="es-AR" sz="1100" b="0" i="0" u="none" strike="noStrike">
                          <a:solidFill>
                            <a:srgbClr val="000000"/>
                          </a:solidFill>
                          <a:effectLst/>
                          <a:latin typeface="Lucida Bright" panose="02040602050505020304" pitchFamily="18" charset="0"/>
                        </a:rPr>
                        <a:t>INCLUYEN API</a:t>
                      </a:r>
                    </a:p>
                  </a:txBody>
                  <a:tcPr marL="9525" marR="9525" marT="9525"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C6E0B4"/>
                    </a:solidFill>
                  </a:tcPr>
                </a:tc>
                <a:tc hMerge="1">
                  <a:txBody>
                    <a:bodyPr/>
                    <a:lstStyle/>
                    <a:p>
                      <a:endParaRPr lang="es-AR"/>
                    </a:p>
                  </a:txBody>
                  <a:tcPr/>
                </a:tc>
                <a:tc hMerge="1">
                  <a:txBody>
                    <a:bodyPr/>
                    <a:lstStyle/>
                    <a:p>
                      <a:endParaRPr lang="es-AR"/>
                    </a:p>
                  </a:txBody>
                  <a:tcPr/>
                </a:tc>
                <a:tc gridSpan="3">
                  <a:txBody>
                    <a:bodyPr/>
                    <a:lstStyle/>
                    <a:p>
                      <a:pPr algn="ctr" fontAlgn="b">
                        <a:buNone/>
                      </a:pPr>
                      <a:r>
                        <a:rPr lang="es-AR" sz="1100" b="0" i="0" u="none" strike="noStrike">
                          <a:solidFill>
                            <a:srgbClr val="000000"/>
                          </a:solidFill>
                          <a:effectLst/>
                          <a:latin typeface="Lucida Bright" panose="02040602050505020304" pitchFamily="18" charset="0"/>
                        </a:rPr>
                        <a:t>INCLUTEN API Y GEBC</a:t>
                      </a:r>
                    </a:p>
                  </a:txBody>
                  <a:tcPr marL="9525" marR="9525" marT="9525"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C6E0B4"/>
                    </a:solidFill>
                  </a:tcPr>
                </a:tc>
                <a:tc hMerge="1">
                  <a:txBody>
                    <a:bodyPr/>
                    <a:lstStyle/>
                    <a:p>
                      <a:endParaRPr lang="es-AR"/>
                    </a:p>
                  </a:txBody>
                  <a:tcPr/>
                </a:tc>
                <a:tc hMerge="1">
                  <a:txBody>
                    <a:bodyPr/>
                    <a:lstStyle/>
                    <a:p>
                      <a:endParaRPr lang="es-AR"/>
                    </a:p>
                  </a:txBody>
                  <a:tcPr/>
                </a:tc>
                <a:extLst>
                  <a:ext uri="{0D108BD9-81ED-4DB2-BD59-A6C34878D82A}">
                    <a16:rowId xmlns:a16="http://schemas.microsoft.com/office/drawing/2014/main" val="2478541887"/>
                  </a:ext>
                </a:extLst>
              </a:tr>
              <a:tr h="190500">
                <a:tc>
                  <a:txBody>
                    <a:bodyPr/>
                    <a:lstStyle/>
                    <a:p>
                      <a:pPr algn="ctr" fontAlgn="b">
                        <a:buNone/>
                      </a:pPr>
                      <a:r>
                        <a:rPr lang="es-AR" sz="1100" b="0" i="0" u="none" strike="noStrike">
                          <a:solidFill>
                            <a:srgbClr val="000000"/>
                          </a:solidFill>
                          <a:effectLst/>
                          <a:latin typeface="Lucida Bright" panose="02040602050505020304" pitchFamily="18" charset="0"/>
                        </a:rPr>
                        <a:t>X</a:t>
                      </a:r>
                    </a:p>
                  </a:txBody>
                  <a:tcPr marL="9525" marR="9525" marT="9525"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b">
                        <a:buNone/>
                      </a:pPr>
                      <a:r>
                        <a:rPr lang="es-AR" sz="1100" b="0" i="0" u="none" strike="noStrike">
                          <a:solidFill>
                            <a:srgbClr val="000000"/>
                          </a:solidFill>
                          <a:effectLst/>
                          <a:latin typeface="Lucida Bright" panose="02040602050505020304" pitchFamily="18" charset="0"/>
                        </a:rPr>
                        <a:t>ARG </a:t>
                      </a:r>
                    </a:p>
                  </a:txBody>
                  <a:tcPr marL="9525" marR="9525" marT="9525" marB="0" anchor="b">
                    <a:lnL w="6350" cap="flat" cmpd="sng" algn="ctr">
                      <a:solidFill>
                        <a:srgbClr val="000000"/>
                      </a:solidFill>
                      <a:prstDash val="solid"/>
                      <a:round/>
                      <a:headEnd type="none" w="med" len="med"/>
                      <a:tailEnd type="none" w="med" len="med"/>
                    </a:lnL>
                    <a:lnR w="6350" cap="flat" cmpd="sng" algn="ctr">
                      <a:solidFill>
                        <a:srgbClr val="000000"/>
                      </a:solidFill>
                      <a:prstDash val="dot"/>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b">
                        <a:buNone/>
                      </a:pPr>
                      <a:r>
                        <a:rPr lang="es-AR" sz="1100" b="0" i="0" u="none" strike="noStrike">
                          <a:solidFill>
                            <a:srgbClr val="000000"/>
                          </a:solidFill>
                          <a:effectLst/>
                          <a:latin typeface="Lucida Bright" panose="02040602050505020304" pitchFamily="18" charset="0"/>
                        </a:rPr>
                        <a:t>SFE</a:t>
                      </a:r>
                    </a:p>
                  </a:txBody>
                  <a:tcPr marL="9525" marR="9525" marT="9525" marB="0" anchor="b">
                    <a:lnL w="6350" cap="flat" cmpd="sng" algn="ctr">
                      <a:solidFill>
                        <a:srgbClr val="000000"/>
                      </a:solidFill>
                      <a:prstDash val="dot"/>
                      <a:round/>
                      <a:headEnd type="none" w="med" len="med"/>
                      <a:tailEnd type="none" w="med" len="med"/>
                    </a:lnL>
                    <a:lnR w="6350" cap="flat" cmpd="sng" algn="ctr">
                      <a:solidFill>
                        <a:srgbClr val="000000"/>
                      </a:solidFill>
                      <a:prstDash val="dot"/>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b">
                        <a:buNone/>
                      </a:pPr>
                      <a:r>
                        <a:rPr lang="es-AR" sz="1100" b="0" i="0" u="none" strike="noStrike">
                          <a:solidFill>
                            <a:srgbClr val="000000"/>
                          </a:solidFill>
                          <a:effectLst/>
                          <a:latin typeface="Lucida Bright" panose="02040602050505020304" pitchFamily="18" charset="0"/>
                        </a:rPr>
                        <a:t>SFE</a:t>
                      </a:r>
                    </a:p>
                  </a:txBody>
                  <a:tcPr marL="9525" marR="9525" marT="9525" marB="0" anchor="b">
                    <a:lnL w="6350" cap="flat" cmpd="sng" algn="ctr">
                      <a:solidFill>
                        <a:srgbClr val="000000"/>
                      </a:solidFill>
                      <a:prstDash val="dot"/>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b">
                        <a:buNone/>
                      </a:pPr>
                      <a:r>
                        <a:rPr lang="es-AR" sz="1100" b="0" i="0" u="none" strike="noStrike">
                          <a:solidFill>
                            <a:srgbClr val="000000"/>
                          </a:solidFill>
                          <a:effectLst/>
                          <a:latin typeface="Lucida Bright" panose="02040602050505020304" pitchFamily="18" charset="0"/>
                        </a:rPr>
                        <a:t>ARG </a:t>
                      </a:r>
                    </a:p>
                  </a:txBody>
                  <a:tcPr marL="9525" marR="9525" marT="9525" marB="0" anchor="b">
                    <a:lnL w="6350" cap="flat" cmpd="sng" algn="ctr">
                      <a:solidFill>
                        <a:srgbClr val="000000"/>
                      </a:solidFill>
                      <a:prstDash val="solid"/>
                      <a:round/>
                      <a:headEnd type="none" w="med" len="med"/>
                      <a:tailEnd type="none" w="med" len="med"/>
                    </a:lnL>
                    <a:lnR w="6350" cap="flat" cmpd="sng" algn="ctr">
                      <a:solidFill>
                        <a:srgbClr val="000000"/>
                      </a:solidFill>
                      <a:prstDash val="dot"/>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b">
                        <a:buNone/>
                      </a:pPr>
                      <a:r>
                        <a:rPr lang="es-AR" sz="1100" b="0" i="0" u="none" strike="noStrike">
                          <a:solidFill>
                            <a:srgbClr val="000000"/>
                          </a:solidFill>
                          <a:effectLst/>
                          <a:latin typeface="Lucida Bright" panose="02040602050505020304" pitchFamily="18" charset="0"/>
                        </a:rPr>
                        <a:t>SFE</a:t>
                      </a:r>
                    </a:p>
                  </a:txBody>
                  <a:tcPr marL="9525" marR="9525" marT="9525" marB="0" anchor="b">
                    <a:lnL w="6350" cap="flat" cmpd="sng" algn="ctr">
                      <a:solidFill>
                        <a:srgbClr val="000000"/>
                      </a:solidFill>
                      <a:prstDash val="dot"/>
                      <a:round/>
                      <a:headEnd type="none" w="med" len="med"/>
                      <a:tailEnd type="none" w="med" len="med"/>
                    </a:lnL>
                    <a:lnR w="6350" cap="flat" cmpd="sng" algn="ctr">
                      <a:solidFill>
                        <a:srgbClr val="000000"/>
                      </a:solidFill>
                      <a:prstDash val="dot"/>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b">
                        <a:buNone/>
                      </a:pPr>
                      <a:r>
                        <a:rPr lang="es-AR" sz="1100" b="0" i="0" u="none" strike="noStrike">
                          <a:solidFill>
                            <a:srgbClr val="000000"/>
                          </a:solidFill>
                          <a:effectLst/>
                          <a:latin typeface="Lucida Bright" panose="02040602050505020304" pitchFamily="18" charset="0"/>
                        </a:rPr>
                        <a:t>SFE</a:t>
                      </a:r>
                    </a:p>
                  </a:txBody>
                  <a:tcPr marL="9525" marR="9525" marT="9525" marB="0" anchor="b">
                    <a:lnL w="6350" cap="flat" cmpd="sng" algn="ctr">
                      <a:solidFill>
                        <a:srgbClr val="000000"/>
                      </a:solidFill>
                      <a:prstDash val="dot"/>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b">
                        <a:buNone/>
                      </a:pPr>
                      <a:r>
                        <a:rPr lang="es-AR" sz="1100" b="0" i="0" u="none" strike="noStrike">
                          <a:solidFill>
                            <a:srgbClr val="000000"/>
                          </a:solidFill>
                          <a:effectLst/>
                          <a:latin typeface="Lucida Bright" panose="02040602050505020304" pitchFamily="18" charset="0"/>
                        </a:rPr>
                        <a:t>ARG </a:t>
                      </a:r>
                    </a:p>
                  </a:txBody>
                  <a:tcPr marL="9525" marR="9525" marT="9525" marB="0" anchor="b">
                    <a:lnL w="6350" cap="flat" cmpd="sng" algn="ctr">
                      <a:solidFill>
                        <a:srgbClr val="000000"/>
                      </a:solidFill>
                      <a:prstDash val="solid"/>
                      <a:round/>
                      <a:headEnd type="none" w="med" len="med"/>
                      <a:tailEnd type="none" w="med" len="med"/>
                    </a:lnL>
                    <a:lnR w="6350" cap="flat" cmpd="sng" algn="ctr">
                      <a:solidFill>
                        <a:srgbClr val="000000"/>
                      </a:solidFill>
                      <a:prstDash val="dot"/>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b">
                        <a:buNone/>
                      </a:pPr>
                      <a:r>
                        <a:rPr lang="es-AR" sz="1100" b="0" i="0" u="none" strike="noStrike">
                          <a:solidFill>
                            <a:srgbClr val="000000"/>
                          </a:solidFill>
                          <a:effectLst/>
                          <a:latin typeface="Lucida Bright" panose="02040602050505020304" pitchFamily="18" charset="0"/>
                        </a:rPr>
                        <a:t>SFE</a:t>
                      </a:r>
                    </a:p>
                  </a:txBody>
                  <a:tcPr marL="9525" marR="9525" marT="9525" marB="0" anchor="b">
                    <a:lnL w="6350" cap="flat" cmpd="sng" algn="ctr">
                      <a:solidFill>
                        <a:srgbClr val="000000"/>
                      </a:solidFill>
                      <a:prstDash val="dot"/>
                      <a:round/>
                      <a:headEnd type="none" w="med" len="med"/>
                      <a:tailEnd type="none" w="med" len="med"/>
                    </a:lnL>
                    <a:lnR w="6350" cap="flat" cmpd="sng" algn="ctr">
                      <a:solidFill>
                        <a:srgbClr val="000000"/>
                      </a:solidFill>
                      <a:prstDash val="dot"/>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b">
                        <a:buNone/>
                      </a:pPr>
                      <a:r>
                        <a:rPr lang="es-AR" sz="1100" b="0" i="0" u="none" strike="noStrike">
                          <a:solidFill>
                            <a:srgbClr val="000000"/>
                          </a:solidFill>
                          <a:effectLst/>
                          <a:latin typeface="Lucida Bright" panose="02040602050505020304" pitchFamily="18" charset="0"/>
                        </a:rPr>
                        <a:t>SFE</a:t>
                      </a:r>
                    </a:p>
                  </a:txBody>
                  <a:tcPr marL="9525" marR="9525" marT="9525" marB="0" anchor="b">
                    <a:lnL w="6350" cap="flat" cmpd="sng" algn="ctr">
                      <a:solidFill>
                        <a:srgbClr val="000000"/>
                      </a:solidFill>
                      <a:prstDash val="dot"/>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b">
                        <a:buNone/>
                      </a:pPr>
                      <a:r>
                        <a:rPr lang="es-AR" sz="1100" b="0" i="0" u="none" strike="noStrike">
                          <a:solidFill>
                            <a:srgbClr val="000000"/>
                          </a:solidFill>
                          <a:effectLst/>
                          <a:latin typeface="Lucida Bright" panose="02040602050505020304" pitchFamily="18" charset="0"/>
                        </a:rPr>
                        <a:t>ARG </a:t>
                      </a:r>
                    </a:p>
                  </a:txBody>
                  <a:tcPr marL="9525" marR="9525" marT="9525" marB="0" anchor="b">
                    <a:lnL w="6350" cap="flat" cmpd="sng" algn="ctr">
                      <a:solidFill>
                        <a:srgbClr val="000000"/>
                      </a:solidFill>
                      <a:prstDash val="solid"/>
                      <a:round/>
                      <a:headEnd type="none" w="med" len="med"/>
                      <a:tailEnd type="none" w="med" len="med"/>
                    </a:lnL>
                    <a:lnR w="6350" cap="flat" cmpd="sng" algn="ctr">
                      <a:solidFill>
                        <a:srgbClr val="000000"/>
                      </a:solidFill>
                      <a:prstDash val="dot"/>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b">
                        <a:buNone/>
                      </a:pPr>
                      <a:r>
                        <a:rPr lang="es-AR" sz="1100" b="0" i="0" u="none" strike="noStrike">
                          <a:solidFill>
                            <a:srgbClr val="000000"/>
                          </a:solidFill>
                          <a:effectLst/>
                          <a:latin typeface="Lucida Bright" panose="02040602050505020304" pitchFamily="18" charset="0"/>
                        </a:rPr>
                        <a:t>SFE</a:t>
                      </a:r>
                    </a:p>
                  </a:txBody>
                  <a:tcPr marL="9525" marR="9525" marT="9525" marB="0" anchor="b">
                    <a:lnL w="6350" cap="flat" cmpd="sng" algn="ctr">
                      <a:solidFill>
                        <a:srgbClr val="000000"/>
                      </a:solidFill>
                      <a:prstDash val="dot"/>
                      <a:round/>
                      <a:headEnd type="none" w="med" len="med"/>
                      <a:tailEnd type="none" w="med" len="med"/>
                    </a:lnL>
                    <a:lnR w="6350" cap="flat" cmpd="sng" algn="ctr">
                      <a:solidFill>
                        <a:srgbClr val="000000"/>
                      </a:solidFill>
                      <a:prstDash val="dot"/>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b">
                        <a:buNone/>
                      </a:pPr>
                      <a:r>
                        <a:rPr lang="es-AR" sz="1100" b="0" i="0" u="none" strike="noStrike">
                          <a:solidFill>
                            <a:srgbClr val="000000"/>
                          </a:solidFill>
                          <a:effectLst/>
                          <a:latin typeface="Lucida Bright" panose="02040602050505020304" pitchFamily="18" charset="0"/>
                        </a:rPr>
                        <a:t>SFE</a:t>
                      </a:r>
                    </a:p>
                  </a:txBody>
                  <a:tcPr marL="9525" marR="9525" marT="9525" marB="0" anchor="b">
                    <a:lnL w="6350" cap="flat" cmpd="sng" algn="ctr">
                      <a:solidFill>
                        <a:srgbClr val="000000"/>
                      </a:solidFill>
                      <a:prstDash val="dot"/>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1464143420"/>
                  </a:ext>
                </a:extLst>
              </a:tr>
              <a:tr h="190500">
                <a:tc>
                  <a:txBody>
                    <a:bodyPr/>
                    <a:lstStyle/>
                    <a:p>
                      <a:pPr algn="l" fontAlgn="b">
                        <a:buNone/>
                      </a:pPr>
                      <a:r>
                        <a:rPr lang="es-AR" sz="1100" b="0" i="0" u="none" strike="noStrike">
                          <a:solidFill>
                            <a:srgbClr val="000000"/>
                          </a:solidFill>
                          <a:effectLst/>
                          <a:latin typeface="Lucida Bright" panose="02040602050505020304" pitchFamily="18" charset="0"/>
                        </a:rPr>
                        <a:t>(Intercept)</a:t>
                      </a:r>
                    </a:p>
                  </a:txBody>
                  <a:tcPr marL="9525" marR="9525" marT="9525"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noFill/>
                  </a:tcPr>
                </a:tc>
                <a:tc>
                  <a:txBody>
                    <a:bodyPr/>
                    <a:lstStyle/>
                    <a:p>
                      <a:pPr algn="ctr" fontAlgn="b">
                        <a:buNone/>
                      </a:pPr>
                      <a:r>
                        <a:rPr lang="es-AR" sz="1100" b="0" i="0" u="none" strike="noStrike">
                          <a:solidFill>
                            <a:srgbClr val="000000"/>
                          </a:solidFill>
                          <a:effectLst/>
                          <a:latin typeface="Lucida Bright" panose="02040602050505020304" pitchFamily="18" charset="0"/>
                        </a:rPr>
                        <a:t>12.570***</a:t>
                      </a:r>
                    </a:p>
                  </a:txBody>
                  <a:tcPr marL="9525" marR="9525" marT="9525" marB="0" anchor="b">
                    <a:lnL w="6350" cap="flat" cmpd="sng" algn="ctr">
                      <a:solidFill>
                        <a:srgbClr val="000000"/>
                      </a:solidFill>
                      <a:prstDash val="solid"/>
                      <a:round/>
                      <a:headEnd type="none" w="med" len="med"/>
                      <a:tailEnd type="none" w="med" len="med"/>
                    </a:lnL>
                    <a:lnR w="6350" cap="flat" cmpd="sng" algn="ctr">
                      <a:solidFill>
                        <a:srgbClr val="000000"/>
                      </a:solidFill>
                      <a:prstDash val="dot"/>
                      <a:round/>
                      <a:headEnd type="none" w="med" len="med"/>
                      <a:tailEnd type="none" w="med" len="med"/>
                    </a:lnR>
                    <a:lnT w="6350" cap="flat" cmpd="sng" algn="ctr">
                      <a:solidFill>
                        <a:srgbClr val="000000"/>
                      </a:solidFill>
                      <a:prstDash val="solid"/>
                      <a:round/>
                      <a:headEnd type="none" w="med" len="med"/>
                      <a:tailEnd type="none" w="med" len="med"/>
                    </a:lnT>
                    <a:lnB>
                      <a:noFill/>
                    </a:lnB>
                    <a:noFill/>
                  </a:tcPr>
                </a:tc>
                <a:tc>
                  <a:txBody>
                    <a:bodyPr/>
                    <a:lstStyle/>
                    <a:p>
                      <a:pPr algn="ctr" fontAlgn="b">
                        <a:buNone/>
                      </a:pPr>
                      <a:r>
                        <a:rPr lang="es-AR" sz="1100" b="0" i="0" u="none" strike="noStrike">
                          <a:solidFill>
                            <a:srgbClr val="000000"/>
                          </a:solidFill>
                          <a:effectLst/>
                          <a:latin typeface="Lucida Bright" panose="02040602050505020304" pitchFamily="18" charset="0"/>
                        </a:rPr>
                        <a:t>11.524***</a:t>
                      </a:r>
                    </a:p>
                  </a:txBody>
                  <a:tcPr marL="9525" marR="9525" marT="9525" marB="0" anchor="b">
                    <a:lnL w="6350" cap="flat" cmpd="sng" algn="ctr">
                      <a:solidFill>
                        <a:srgbClr val="000000"/>
                      </a:solidFill>
                      <a:prstDash val="dot"/>
                      <a:round/>
                      <a:headEnd type="none" w="med" len="med"/>
                      <a:tailEnd type="none" w="med" len="med"/>
                    </a:lnL>
                    <a:lnR w="6350" cap="flat" cmpd="sng" algn="ctr">
                      <a:solidFill>
                        <a:srgbClr val="000000"/>
                      </a:solidFill>
                      <a:prstDash val="dot"/>
                      <a:round/>
                      <a:headEnd type="none" w="med" len="med"/>
                      <a:tailEnd type="none" w="med" len="med"/>
                    </a:lnR>
                    <a:lnT w="6350" cap="flat" cmpd="sng" algn="ctr">
                      <a:solidFill>
                        <a:srgbClr val="000000"/>
                      </a:solidFill>
                      <a:prstDash val="solid"/>
                      <a:round/>
                      <a:headEnd type="none" w="med" len="med"/>
                      <a:tailEnd type="none" w="med" len="med"/>
                    </a:lnT>
                    <a:lnB>
                      <a:noFill/>
                    </a:lnB>
                    <a:noFill/>
                  </a:tcPr>
                </a:tc>
                <a:tc>
                  <a:txBody>
                    <a:bodyPr/>
                    <a:lstStyle/>
                    <a:p>
                      <a:pPr algn="ctr" fontAlgn="b">
                        <a:buNone/>
                      </a:pPr>
                      <a:r>
                        <a:rPr lang="es-AR" sz="1100" b="0" i="0" u="none" strike="noStrike">
                          <a:solidFill>
                            <a:srgbClr val="000000"/>
                          </a:solidFill>
                          <a:effectLst/>
                          <a:latin typeface="Lucida Bright" panose="02040602050505020304" pitchFamily="18" charset="0"/>
                        </a:rPr>
                        <a:t>2.948***</a:t>
                      </a:r>
                    </a:p>
                  </a:txBody>
                  <a:tcPr marL="9525" marR="9525" marT="9525" marB="0" anchor="b">
                    <a:lnL w="6350" cap="flat" cmpd="sng" algn="ctr">
                      <a:solidFill>
                        <a:srgbClr val="000000"/>
                      </a:solidFill>
                      <a:prstDash val="dot"/>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noFill/>
                  </a:tcPr>
                </a:tc>
                <a:tc>
                  <a:txBody>
                    <a:bodyPr/>
                    <a:lstStyle/>
                    <a:p>
                      <a:pPr algn="ctr" fontAlgn="b">
                        <a:buNone/>
                      </a:pPr>
                      <a:r>
                        <a:rPr lang="es-AR" sz="1100" b="0" i="0" u="none" strike="noStrike">
                          <a:solidFill>
                            <a:srgbClr val="000000"/>
                          </a:solidFill>
                          <a:effectLst/>
                          <a:latin typeface="Lucida Bright" panose="02040602050505020304" pitchFamily="18" charset="0"/>
                        </a:rPr>
                        <a:t>12.873***</a:t>
                      </a:r>
                    </a:p>
                  </a:txBody>
                  <a:tcPr marL="9525" marR="9525" marT="9525" marB="0" anchor="b">
                    <a:lnL w="6350" cap="flat" cmpd="sng" algn="ctr">
                      <a:solidFill>
                        <a:srgbClr val="000000"/>
                      </a:solidFill>
                      <a:prstDash val="solid"/>
                      <a:round/>
                      <a:headEnd type="none" w="med" len="med"/>
                      <a:tailEnd type="none" w="med" len="med"/>
                    </a:lnL>
                    <a:lnR w="6350" cap="flat" cmpd="sng" algn="ctr">
                      <a:solidFill>
                        <a:srgbClr val="000000"/>
                      </a:solidFill>
                      <a:prstDash val="dot"/>
                      <a:round/>
                      <a:headEnd type="none" w="med" len="med"/>
                      <a:tailEnd type="none" w="med" len="med"/>
                    </a:lnR>
                    <a:lnT w="6350" cap="flat" cmpd="sng" algn="ctr">
                      <a:solidFill>
                        <a:srgbClr val="000000"/>
                      </a:solidFill>
                      <a:prstDash val="solid"/>
                      <a:round/>
                      <a:headEnd type="none" w="med" len="med"/>
                      <a:tailEnd type="none" w="med" len="med"/>
                    </a:lnT>
                    <a:lnB>
                      <a:noFill/>
                    </a:lnB>
                    <a:noFill/>
                  </a:tcPr>
                </a:tc>
                <a:tc>
                  <a:txBody>
                    <a:bodyPr/>
                    <a:lstStyle/>
                    <a:p>
                      <a:pPr algn="ctr" fontAlgn="b">
                        <a:buNone/>
                      </a:pPr>
                      <a:r>
                        <a:rPr lang="es-AR" sz="1100" b="0" i="0" u="none" strike="noStrike">
                          <a:solidFill>
                            <a:srgbClr val="000000"/>
                          </a:solidFill>
                          <a:effectLst/>
                          <a:latin typeface="Lucida Bright" panose="02040602050505020304" pitchFamily="18" charset="0"/>
                        </a:rPr>
                        <a:t>11.751***</a:t>
                      </a:r>
                    </a:p>
                  </a:txBody>
                  <a:tcPr marL="9525" marR="9525" marT="9525" marB="0" anchor="b">
                    <a:lnL w="6350" cap="flat" cmpd="sng" algn="ctr">
                      <a:solidFill>
                        <a:srgbClr val="000000"/>
                      </a:solidFill>
                      <a:prstDash val="dot"/>
                      <a:round/>
                      <a:headEnd type="none" w="med" len="med"/>
                      <a:tailEnd type="none" w="med" len="med"/>
                    </a:lnL>
                    <a:lnR w="6350" cap="flat" cmpd="sng" algn="ctr">
                      <a:solidFill>
                        <a:srgbClr val="000000"/>
                      </a:solidFill>
                      <a:prstDash val="dot"/>
                      <a:round/>
                      <a:headEnd type="none" w="med" len="med"/>
                      <a:tailEnd type="none" w="med" len="med"/>
                    </a:lnR>
                    <a:lnT w="6350" cap="flat" cmpd="sng" algn="ctr">
                      <a:solidFill>
                        <a:srgbClr val="000000"/>
                      </a:solidFill>
                      <a:prstDash val="solid"/>
                      <a:round/>
                      <a:headEnd type="none" w="med" len="med"/>
                      <a:tailEnd type="none" w="med" len="med"/>
                    </a:lnT>
                    <a:lnB>
                      <a:noFill/>
                    </a:lnB>
                    <a:noFill/>
                  </a:tcPr>
                </a:tc>
                <a:tc>
                  <a:txBody>
                    <a:bodyPr/>
                    <a:lstStyle/>
                    <a:p>
                      <a:pPr algn="ctr" fontAlgn="b">
                        <a:buNone/>
                      </a:pPr>
                      <a:r>
                        <a:rPr lang="es-AR" sz="1100" b="0" i="0" u="none" strike="noStrike">
                          <a:solidFill>
                            <a:srgbClr val="000000"/>
                          </a:solidFill>
                          <a:effectLst/>
                          <a:latin typeface="Lucida Bright" panose="02040602050505020304" pitchFamily="18" charset="0"/>
                        </a:rPr>
                        <a:t>3.794***</a:t>
                      </a:r>
                    </a:p>
                  </a:txBody>
                  <a:tcPr marL="9525" marR="9525" marT="9525" marB="0" anchor="b">
                    <a:lnL w="6350" cap="flat" cmpd="sng" algn="ctr">
                      <a:solidFill>
                        <a:srgbClr val="000000"/>
                      </a:solidFill>
                      <a:prstDash val="dot"/>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noFill/>
                  </a:tcPr>
                </a:tc>
                <a:tc>
                  <a:txBody>
                    <a:bodyPr/>
                    <a:lstStyle/>
                    <a:p>
                      <a:pPr algn="ctr" fontAlgn="b">
                        <a:buNone/>
                      </a:pPr>
                      <a:r>
                        <a:rPr lang="es-AR" sz="1100" b="0" i="0" u="none" strike="noStrike">
                          <a:solidFill>
                            <a:srgbClr val="000000"/>
                          </a:solidFill>
                          <a:effectLst/>
                          <a:latin typeface="Lucida Bright" panose="02040602050505020304" pitchFamily="18" charset="0"/>
                        </a:rPr>
                        <a:t>3.213***</a:t>
                      </a:r>
                    </a:p>
                  </a:txBody>
                  <a:tcPr marL="9525" marR="9525" marT="9525" marB="0" anchor="b">
                    <a:lnL w="6350" cap="flat" cmpd="sng" algn="ctr">
                      <a:solidFill>
                        <a:srgbClr val="000000"/>
                      </a:solidFill>
                      <a:prstDash val="solid"/>
                      <a:round/>
                      <a:headEnd type="none" w="med" len="med"/>
                      <a:tailEnd type="none" w="med" len="med"/>
                    </a:lnL>
                    <a:lnR w="6350" cap="flat" cmpd="sng" algn="ctr">
                      <a:solidFill>
                        <a:srgbClr val="000000"/>
                      </a:solidFill>
                      <a:prstDash val="dot"/>
                      <a:round/>
                      <a:headEnd type="none" w="med" len="med"/>
                      <a:tailEnd type="none" w="med" len="med"/>
                    </a:lnR>
                    <a:lnT w="6350" cap="flat" cmpd="sng" algn="ctr">
                      <a:solidFill>
                        <a:srgbClr val="000000"/>
                      </a:solidFill>
                      <a:prstDash val="solid"/>
                      <a:round/>
                      <a:headEnd type="none" w="med" len="med"/>
                      <a:tailEnd type="none" w="med" len="med"/>
                    </a:lnT>
                    <a:lnB>
                      <a:noFill/>
                    </a:lnB>
                    <a:noFill/>
                  </a:tcPr>
                </a:tc>
                <a:tc>
                  <a:txBody>
                    <a:bodyPr/>
                    <a:lstStyle/>
                    <a:p>
                      <a:pPr algn="ctr" fontAlgn="b">
                        <a:buNone/>
                      </a:pPr>
                      <a:r>
                        <a:rPr lang="es-AR" sz="1100" b="0" i="0" u="none" strike="noStrike">
                          <a:solidFill>
                            <a:srgbClr val="000000"/>
                          </a:solidFill>
                          <a:effectLst/>
                          <a:latin typeface="Lucida Bright" panose="02040602050505020304" pitchFamily="18" charset="0"/>
                        </a:rPr>
                        <a:t>1.493**</a:t>
                      </a:r>
                    </a:p>
                  </a:txBody>
                  <a:tcPr marL="9525" marR="9525" marT="9525" marB="0" anchor="b">
                    <a:lnL w="6350" cap="flat" cmpd="sng" algn="ctr">
                      <a:solidFill>
                        <a:srgbClr val="000000"/>
                      </a:solidFill>
                      <a:prstDash val="dot"/>
                      <a:round/>
                      <a:headEnd type="none" w="med" len="med"/>
                      <a:tailEnd type="none" w="med" len="med"/>
                    </a:lnL>
                    <a:lnR w="6350" cap="flat" cmpd="sng" algn="ctr">
                      <a:solidFill>
                        <a:srgbClr val="000000"/>
                      </a:solidFill>
                      <a:prstDash val="dot"/>
                      <a:round/>
                      <a:headEnd type="none" w="med" len="med"/>
                      <a:tailEnd type="none" w="med" len="med"/>
                    </a:lnR>
                    <a:lnT w="6350" cap="flat" cmpd="sng" algn="ctr">
                      <a:solidFill>
                        <a:srgbClr val="000000"/>
                      </a:solidFill>
                      <a:prstDash val="solid"/>
                      <a:round/>
                      <a:headEnd type="none" w="med" len="med"/>
                      <a:tailEnd type="none" w="med" len="med"/>
                    </a:lnT>
                    <a:lnB>
                      <a:noFill/>
                    </a:lnB>
                    <a:noFill/>
                  </a:tcPr>
                </a:tc>
                <a:tc>
                  <a:txBody>
                    <a:bodyPr/>
                    <a:lstStyle/>
                    <a:p>
                      <a:pPr algn="ctr" fontAlgn="b">
                        <a:buNone/>
                      </a:pPr>
                      <a:r>
                        <a:rPr lang="es-AR" sz="1100" b="0" i="0" u="none" strike="noStrike">
                          <a:solidFill>
                            <a:srgbClr val="000000"/>
                          </a:solidFill>
                          <a:effectLst/>
                          <a:latin typeface="Lucida Bright" panose="02040602050505020304" pitchFamily="18" charset="0"/>
                        </a:rPr>
                        <a:t>0.484</a:t>
                      </a:r>
                    </a:p>
                  </a:txBody>
                  <a:tcPr marL="9525" marR="9525" marT="9525" marB="0" anchor="b">
                    <a:lnL w="6350" cap="flat" cmpd="sng" algn="ctr">
                      <a:solidFill>
                        <a:srgbClr val="000000"/>
                      </a:solidFill>
                      <a:prstDash val="dot"/>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noFill/>
                  </a:tcPr>
                </a:tc>
                <a:tc>
                  <a:txBody>
                    <a:bodyPr/>
                    <a:lstStyle/>
                    <a:p>
                      <a:pPr algn="ctr" fontAlgn="b">
                        <a:buNone/>
                      </a:pPr>
                      <a:r>
                        <a:rPr lang="es-AR" sz="1100" b="0" i="0" u="none" strike="noStrike">
                          <a:solidFill>
                            <a:srgbClr val="000000"/>
                          </a:solidFill>
                          <a:effectLst/>
                          <a:latin typeface="Lucida Bright" panose="02040602050505020304" pitchFamily="18" charset="0"/>
                        </a:rPr>
                        <a:t>3.084***</a:t>
                      </a:r>
                    </a:p>
                  </a:txBody>
                  <a:tcPr marL="9525" marR="9525" marT="9525" marB="0" anchor="b">
                    <a:lnL w="6350" cap="flat" cmpd="sng" algn="ctr">
                      <a:solidFill>
                        <a:srgbClr val="000000"/>
                      </a:solidFill>
                      <a:prstDash val="solid"/>
                      <a:round/>
                      <a:headEnd type="none" w="med" len="med"/>
                      <a:tailEnd type="none" w="med" len="med"/>
                    </a:lnL>
                    <a:lnR w="6350" cap="flat" cmpd="sng" algn="ctr">
                      <a:solidFill>
                        <a:srgbClr val="000000"/>
                      </a:solidFill>
                      <a:prstDash val="dot"/>
                      <a:round/>
                      <a:headEnd type="none" w="med" len="med"/>
                      <a:tailEnd type="none" w="med" len="med"/>
                    </a:lnR>
                    <a:lnT w="6350" cap="flat" cmpd="sng" algn="ctr">
                      <a:solidFill>
                        <a:srgbClr val="000000"/>
                      </a:solidFill>
                      <a:prstDash val="solid"/>
                      <a:round/>
                      <a:headEnd type="none" w="med" len="med"/>
                      <a:tailEnd type="none" w="med" len="med"/>
                    </a:lnT>
                    <a:lnB>
                      <a:noFill/>
                    </a:lnB>
                    <a:noFill/>
                  </a:tcPr>
                </a:tc>
                <a:tc>
                  <a:txBody>
                    <a:bodyPr/>
                    <a:lstStyle/>
                    <a:p>
                      <a:pPr algn="ctr" fontAlgn="b">
                        <a:buNone/>
                      </a:pPr>
                      <a:r>
                        <a:rPr lang="es-AR" sz="1100" b="0" i="0" u="none" strike="noStrike">
                          <a:solidFill>
                            <a:srgbClr val="000000"/>
                          </a:solidFill>
                          <a:effectLst/>
                          <a:latin typeface="Lucida Bright" panose="02040602050505020304" pitchFamily="18" charset="0"/>
                        </a:rPr>
                        <a:t>1.251*</a:t>
                      </a:r>
                    </a:p>
                  </a:txBody>
                  <a:tcPr marL="9525" marR="9525" marT="9525" marB="0" anchor="b">
                    <a:lnL w="6350" cap="flat" cmpd="sng" algn="ctr">
                      <a:solidFill>
                        <a:srgbClr val="000000"/>
                      </a:solidFill>
                      <a:prstDash val="dot"/>
                      <a:round/>
                      <a:headEnd type="none" w="med" len="med"/>
                      <a:tailEnd type="none" w="med" len="med"/>
                    </a:lnL>
                    <a:lnR w="6350" cap="flat" cmpd="sng" algn="ctr">
                      <a:solidFill>
                        <a:srgbClr val="000000"/>
                      </a:solidFill>
                      <a:prstDash val="dot"/>
                      <a:round/>
                      <a:headEnd type="none" w="med" len="med"/>
                      <a:tailEnd type="none" w="med" len="med"/>
                    </a:lnR>
                    <a:lnT w="6350" cap="flat" cmpd="sng" algn="ctr">
                      <a:solidFill>
                        <a:srgbClr val="000000"/>
                      </a:solidFill>
                      <a:prstDash val="solid"/>
                      <a:round/>
                      <a:headEnd type="none" w="med" len="med"/>
                      <a:tailEnd type="none" w="med" len="med"/>
                    </a:lnT>
                    <a:lnB>
                      <a:noFill/>
                    </a:lnB>
                    <a:noFill/>
                  </a:tcPr>
                </a:tc>
                <a:tc>
                  <a:txBody>
                    <a:bodyPr/>
                    <a:lstStyle/>
                    <a:p>
                      <a:pPr algn="ctr" fontAlgn="b">
                        <a:buNone/>
                      </a:pPr>
                      <a:r>
                        <a:rPr lang="es-AR" sz="1100" b="0" i="0" u="none" strike="noStrike">
                          <a:solidFill>
                            <a:srgbClr val="000000"/>
                          </a:solidFill>
                          <a:effectLst/>
                          <a:latin typeface="Lucida Bright" panose="02040602050505020304" pitchFamily="18" charset="0"/>
                        </a:rPr>
                        <a:t>0.284</a:t>
                      </a:r>
                    </a:p>
                  </a:txBody>
                  <a:tcPr marL="9525" marR="9525" marT="9525" marB="0" anchor="b">
                    <a:lnL w="6350" cap="flat" cmpd="sng" algn="ctr">
                      <a:solidFill>
                        <a:srgbClr val="000000"/>
                      </a:solidFill>
                      <a:prstDash val="dot"/>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noFill/>
                  </a:tcPr>
                </a:tc>
                <a:extLst>
                  <a:ext uri="{0D108BD9-81ED-4DB2-BD59-A6C34878D82A}">
                    <a16:rowId xmlns:a16="http://schemas.microsoft.com/office/drawing/2014/main" val="2271027162"/>
                  </a:ext>
                </a:extLst>
              </a:tr>
              <a:tr h="190500">
                <a:tc>
                  <a:txBody>
                    <a:bodyPr/>
                    <a:lstStyle/>
                    <a:p>
                      <a:pPr algn="l" fontAlgn="b">
                        <a:buNone/>
                      </a:pPr>
                      <a:r>
                        <a:rPr lang="es-AR" sz="1100" b="0" i="0" u="none" strike="noStrike">
                          <a:solidFill>
                            <a:srgbClr val="000000"/>
                          </a:solidFill>
                          <a:effectLst/>
                          <a:latin typeface="Lucida Bright" panose="02040602050505020304" pitchFamily="18" charset="0"/>
                        </a:rPr>
                        <a:t>log(ITCRM_ARG)</a:t>
                      </a:r>
                    </a:p>
                  </a:txBody>
                  <a:tcPr marL="9525" marR="9525" marT="9525"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b">
                        <a:buNone/>
                      </a:pPr>
                      <a:r>
                        <a:rPr lang="es-AR" sz="1100" b="0" i="0" u="none" strike="noStrike">
                          <a:solidFill>
                            <a:srgbClr val="000000"/>
                          </a:solidFill>
                          <a:effectLst/>
                          <a:latin typeface="Lucida Bright" panose="02040602050505020304" pitchFamily="18" charset="0"/>
                        </a:rPr>
                        <a:t>-0.854***</a:t>
                      </a:r>
                    </a:p>
                  </a:txBody>
                  <a:tcPr marL="9525" marR="9525" marT="9525" marB="0" anchor="b">
                    <a:lnL w="6350" cap="flat" cmpd="sng" algn="ctr">
                      <a:solidFill>
                        <a:srgbClr val="000000"/>
                      </a:solidFill>
                      <a:prstDash val="solid"/>
                      <a:round/>
                      <a:headEnd type="none" w="med" len="med"/>
                      <a:tailEnd type="none" w="med" len="med"/>
                    </a:lnL>
                    <a:lnR w="6350" cap="flat" cmpd="sng" algn="ctr">
                      <a:solidFill>
                        <a:srgbClr val="000000"/>
                      </a:solidFill>
                      <a:prstDash val="dot"/>
                      <a:round/>
                      <a:headEnd type="none" w="med" len="med"/>
                      <a:tailEnd type="none" w="med" len="med"/>
                    </a:lnR>
                    <a:lnT>
                      <a:noFill/>
                    </a:lnT>
                    <a:lnB>
                      <a:noFill/>
                    </a:lnB>
                    <a:solidFill>
                      <a:srgbClr val="E2EFDA"/>
                    </a:solidFill>
                  </a:tcPr>
                </a:tc>
                <a:tc>
                  <a:txBody>
                    <a:bodyPr/>
                    <a:lstStyle/>
                    <a:p>
                      <a:pPr algn="ctr" fontAlgn="b">
                        <a:buNone/>
                      </a:pPr>
                      <a:r>
                        <a:rPr lang="es-AR" sz="1100" b="0" i="0" u="none" strike="noStrike">
                          <a:solidFill>
                            <a:srgbClr val="000000"/>
                          </a:solidFill>
                          <a:effectLst/>
                          <a:latin typeface="Lucida Bright" panose="02040602050505020304" pitchFamily="18" charset="0"/>
                        </a:rPr>
                        <a:t>-0.959***</a:t>
                      </a:r>
                    </a:p>
                  </a:txBody>
                  <a:tcPr marL="9525" marR="9525" marT="9525" marB="0" anchor="b">
                    <a:lnL w="6350" cap="flat" cmpd="sng" algn="ctr">
                      <a:solidFill>
                        <a:srgbClr val="000000"/>
                      </a:solidFill>
                      <a:prstDash val="dot"/>
                      <a:round/>
                      <a:headEnd type="none" w="med" len="med"/>
                      <a:tailEnd type="none" w="med" len="med"/>
                    </a:lnL>
                    <a:lnR w="6350" cap="flat" cmpd="sng" algn="ctr">
                      <a:solidFill>
                        <a:srgbClr val="000000"/>
                      </a:solidFill>
                      <a:prstDash val="dot"/>
                      <a:round/>
                      <a:headEnd type="none" w="med" len="med"/>
                      <a:tailEnd type="none" w="med" len="med"/>
                    </a:lnR>
                    <a:lnT>
                      <a:noFill/>
                    </a:lnT>
                    <a:lnB>
                      <a:noFill/>
                    </a:lnB>
                    <a:solidFill>
                      <a:srgbClr val="E2EFDA"/>
                    </a:solidFill>
                  </a:tcPr>
                </a:tc>
                <a:tc>
                  <a:txBody>
                    <a:bodyPr/>
                    <a:lstStyle/>
                    <a:p>
                      <a:pPr algn="ctr" fontAlgn="b">
                        <a:buNone/>
                      </a:pPr>
                      <a:r>
                        <a:rPr lang="es-AR" sz="1100" b="0" i="0" u="none" strike="noStrike">
                          <a:solidFill>
                            <a:srgbClr val="000000"/>
                          </a:solidFill>
                          <a:effectLst/>
                          <a:latin typeface="Lucida Bright" panose="02040602050505020304" pitchFamily="18" charset="0"/>
                        </a:rPr>
                        <a:t> </a:t>
                      </a:r>
                    </a:p>
                  </a:txBody>
                  <a:tcPr marL="9525" marR="9525" marT="9525" marB="0" anchor="b">
                    <a:lnL w="6350" cap="flat" cmpd="sng" algn="ctr">
                      <a:solidFill>
                        <a:srgbClr val="000000"/>
                      </a:solidFill>
                      <a:prstDash val="dot"/>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b">
                        <a:buNone/>
                      </a:pPr>
                      <a:r>
                        <a:rPr lang="es-AR" sz="1100" b="0" i="0" u="none" strike="noStrike">
                          <a:solidFill>
                            <a:srgbClr val="000000"/>
                          </a:solidFill>
                          <a:effectLst/>
                          <a:latin typeface="Lucida Bright" panose="02040602050505020304" pitchFamily="18" charset="0"/>
                        </a:rPr>
                        <a:t>-0.851***</a:t>
                      </a:r>
                    </a:p>
                  </a:txBody>
                  <a:tcPr marL="9525" marR="9525" marT="9525" marB="0" anchor="b">
                    <a:lnL w="6350" cap="flat" cmpd="sng" algn="ctr">
                      <a:solidFill>
                        <a:srgbClr val="000000"/>
                      </a:solidFill>
                      <a:prstDash val="solid"/>
                      <a:round/>
                      <a:headEnd type="none" w="med" len="med"/>
                      <a:tailEnd type="none" w="med" len="med"/>
                    </a:lnL>
                    <a:lnR w="6350" cap="flat" cmpd="sng" algn="ctr">
                      <a:solidFill>
                        <a:srgbClr val="000000"/>
                      </a:solidFill>
                      <a:prstDash val="dot"/>
                      <a:round/>
                      <a:headEnd type="none" w="med" len="med"/>
                      <a:tailEnd type="none" w="med" len="med"/>
                    </a:lnR>
                    <a:lnT>
                      <a:noFill/>
                    </a:lnT>
                    <a:lnB>
                      <a:noFill/>
                    </a:lnB>
                    <a:solidFill>
                      <a:srgbClr val="E2EFDA"/>
                    </a:solidFill>
                  </a:tcPr>
                </a:tc>
                <a:tc>
                  <a:txBody>
                    <a:bodyPr/>
                    <a:lstStyle/>
                    <a:p>
                      <a:pPr algn="ctr" fontAlgn="b">
                        <a:buNone/>
                      </a:pPr>
                      <a:r>
                        <a:rPr lang="es-AR" sz="1100" b="0" i="0" u="none" strike="noStrike">
                          <a:solidFill>
                            <a:srgbClr val="000000"/>
                          </a:solidFill>
                          <a:effectLst/>
                          <a:latin typeface="Lucida Bright" panose="02040602050505020304" pitchFamily="18" charset="0"/>
                        </a:rPr>
                        <a:t>-0.956***</a:t>
                      </a:r>
                    </a:p>
                  </a:txBody>
                  <a:tcPr marL="9525" marR="9525" marT="9525" marB="0" anchor="b">
                    <a:lnL w="6350" cap="flat" cmpd="sng" algn="ctr">
                      <a:solidFill>
                        <a:srgbClr val="000000"/>
                      </a:solidFill>
                      <a:prstDash val="dot"/>
                      <a:round/>
                      <a:headEnd type="none" w="med" len="med"/>
                      <a:tailEnd type="none" w="med" len="med"/>
                    </a:lnL>
                    <a:lnR w="6350" cap="flat" cmpd="sng" algn="ctr">
                      <a:solidFill>
                        <a:srgbClr val="000000"/>
                      </a:solidFill>
                      <a:prstDash val="dot"/>
                      <a:round/>
                      <a:headEnd type="none" w="med" len="med"/>
                      <a:tailEnd type="none" w="med" len="med"/>
                    </a:lnR>
                    <a:lnT>
                      <a:noFill/>
                    </a:lnT>
                    <a:lnB>
                      <a:noFill/>
                    </a:lnB>
                    <a:solidFill>
                      <a:srgbClr val="E2EFDA"/>
                    </a:solidFill>
                  </a:tcPr>
                </a:tc>
                <a:tc>
                  <a:txBody>
                    <a:bodyPr/>
                    <a:lstStyle/>
                    <a:p>
                      <a:pPr algn="ctr" fontAlgn="b">
                        <a:buNone/>
                      </a:pPr>
                      <a:r>
                        <a:rPr lang="es-AR" sz="1100" b="0" i="0" u="none" strike="noStrike">
                          <a:solidFill>
                            <a:srgbClr val="000000"/>
                          </a:solidFill>
                          <a:effectLst/>
                          <a:latin typeface="Lucida Bright" panose="02040602050505020304" pitchFamily="18" charset="0"/>
                        </a:rPr>
                        <a:t> </a:t>
                      </a:r>
                    </a:p>
                  </a:txBody>
                  <a:tcPr marL="9525" marR="9525" marT="9525" marB="0" anchor="b">
                    <a:lnL w="6350" cap="flat" cmpd="sng" algn="ctr">
                      <a:solidFill>
                        <a:srgbClr val="000000"/>
                      </a:solidFill>
                      <a:prstDash val="dot"/>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b">
                        <a:buNone/>
                      </a:pPr>
                      <a:r>
                        <a:rPr lang="es-AR" sz="1100" b="0" i="0" u="none" strike="noStrike">
                          <a:solidFill>
                            <a:srgbClr val="000000"/>
                          </a:solidFill>
                          <a:effectLst/>
                          <a:latin typeface="Lucida Bright" panose="02040602050505020304" pitchFamily="18" charset="0"/>
                        </a:rPr>
                        <a:t>-0.04</a:t>
                      </a:r>
                    </a:p>
                  </a:txBody>
                  <a:tcPr marL="9525" marR="9525" marT="9525" marB="0" anchor="b">
                    <a:lnL w="6350" cap="flat" cmpd="sng" algn="ctr">
                      <a:solidFill>
                        <a:srgbClr val="000000"/>
                      </a:solidFill>
                      <a:prstDash val="solid"/>
                      <a:round/>
                      <a:headEnd type="none" w="med" len="med"/>
                      <a:tailEnd type="none" w="med" len="med"/>
                    </a:lnL>
                    <a:lnR w="6350" cap="flat" cmpd="sng" algn="ctr">
                      <a:solidFill>
                        <a:srgbClr val="000000"/>
                      </a:solidFill>
                      <a:prstDash val="dot"/>
                      <a:round/>
                      <a:headEnd type="none" w="med" len="med"/>
                      <a:tailEnd type="none" w="med" len="med"/>
                    </a:lnR>
                    <a:lnT>
                      <a:noFill/>
                    </a:lnT>
                    <a:lnB>
                      <a:noFill/>
                    </a:lnB>
                    <a:solidFill>
                      <a:srgbClr val="E2EFDA"/>
                    </a:solidFill>
                  </a:tcPr>
                </a:tc>
                <a:tc>
                  <a:txBody>
                    <a:bodyPr/>
                    <a:lstStyle/>
                    <a:p>
                      <a:pPr algn="ctr" fontAlgn="b">
                        <a:buNone/>
                      </a:pPr>
                      <a:r>
                        <a:rPr lang="es-AR" sz="1100" b="0" i="0" u="none" strike="noStrike">
                          <a:solidFill>
                            <a:srgbClr val="000000"/>
                          </a:solidFill>
                          <a:effectLst/>
                          <a:latin typeface="Lucida Bright" panose="02040602050505020304" pitchFamily="18" charset="0"/>
                        </a:rPr>
                        <a:t>-0.085</a:t>
                      </a:r>
                    </a:p>
                  </a:txBody>
                  <a:tcPr marL="9525" marR="9525" marT="9525" marB="0" anchor="b">
                    <a:lnL w="6350" cap="flat" cmpd="sng" algn="ctr">
                      <a:solidFill>
                        <a:srgbClr val="000000"/>
                      </a:solidFill>
                      <a:prstDash val="dot"/>
                      <a:round/>
                      <a:headEnd type="none" w="med" len="med"/>
                      <a:tailEnd type="none" w="med" len="med"/>
                    </a:lnL>
                    <a:lnR w="6350" cap="flat" cmpd="sng" algn="ctr">
                      <a:solidFill>
                        <a:srgbClr val="000000"/>
                      </a:solidFill>
                      <a:prstDash val="dot"/>
                      <a:round/>
                      <a:headEnd type="none" w="med" len="med"/>
                      <a:tailEnd type="none" w="med" len="med"/>
                    </a:lnR>
                    <a:lnT>
                      <a:noFill/>
                    </a:lnT>
                    <a:lnB>
                      <a:noFill/>
                    </a:lnB>
                    <a:solidFill>
                      <a:srgbClr val="E2EFDA"/>
                    </a:solidFill>
                  </a:tcPr>
                </a:tc>
                <a:tc>
                  <a:txBody>
                    <a:bodyPr/>
                    <a:lstStyle/>
                    <a:p>
                      <a:pPr algn="ctr" fontAlgn="b">
                        <a:buNone/>
                      </a:pPr>
                      <a:r>
                        <a:rPr lang="es-AR" sz="1100" b="0" i="0" u="none" strike="noStrike">
                          <a:solidFill>
                            <a:srgbClr val="000000"/>
                          </a:solidFill>
                          <a:effectLst/>
                          <a:latin typeface="Lucida Bright" panose="02040602050505020304" pitchFamily="18" charset="0"/>
                        </a:rPr>
                        <a:t> </a:t>
                      </a:r>
                    </a:p>
                  </a:txBody>
                  <a:tcPr marL="9525" marR="9525" marT="9525" marB="0" anchor="b">
                    <a:lnL w="6350" cap="flat" cmpd="sng" algn="ctr">
                      <a:solidFill>
                        <a:srgbClr val="000000"/>
                      </a:solidFill>
                      <a:prstDash val="dot"/>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b">
                        <a:buNone/>
                      </a:pPr>
                      <a:r>
                        <a:rPr lang="es-AR" sz="1100" b="0" i="0" u="none" strike="noStrike">
                          <a:solidFill>
                            <a:srgbClr val="000000"/>
                          </a:solidFill>
                          <a:effectLst/>
                          <a:latin typeface="Lucida Bright" panose="02040602050505020304" pitchFamily="18" charset="0"/>
                        </a:rPr>
                        <a:t>-0.040</a:t>
                      </a:r>
                    </a:p>
                  </a:txBody>
                  <a:tcPr marL="9525" marR="9525" marT="9525" marB="0" anchor="b">
                    <a:lnL w="6350" cap="flat" cmpd="sng" algn="ctr">
                      <a:solidFill>
                        <a:srgbClr val="000000"/>
                      </a:solidFill>
                      <a:prstDash val="solid"/>
                      <a:round/>
                      <a:headEnd type="none" w="med" len="med"/>
                      <a:tailEnd type="none" w="med" len="med"/>
                    </a:lnL>
                    <a:lnR w="6350" cap="flat" cmpd="sng" algn="ctr">
                      <a:solidFill>
                        <a:srgbClr val="000000"/>
                      </a:solidFill>
                      <a:prstDash val="dot"/>
                      <a:round/>
                      <a:headEnd type="none" w="med" len="med"/>
                      <a:tailEnd type="none" w="med" len="med"/>
                    </a:lnR>
                    <a:lnT>
                      <a:noFill/>
                    </a:lnT>
                    <a:lnB>
                      <a:noFill/>
                    </a:lnB>
                    <a:solidFill>
                      <a:srgbClr val="E2EFDA"/>
                    </a:solidFill>
                  </a:tcPr>
                </a:tc>
                <a:tc>
                  <a:txBody>
                    <a:bodyPr/>
                    <a:lstStyle/>
                    <a:p>
                      <a:pPr algn="ctr" fontAlgn="b">
                        <a:buNone/>
                      </a:pPr>
                      <a:r>
                        <a:rPr lang="es-AR" sz="1100" b="0" i="0" u="none" strike="noStrike">
                          <a:solidFill>
                            <a:srgbClr val="000000"/>
                          </a:solidFill>
                          <a:effectLst/>
                          <a:latin typeface="Lucida Bright" panose="02040602050505020304" pitchFamily="18" charset="0"/>
                        </a:rPr>
                        <a:t>-0.087</a:t>
                      </a:r>
                    </a:p>
                  </a:txBody>
                  <a:tcPr marL="9525" marR="9525" marT="9525" marB="0" anchor="b">
                    <a:lnL w="6350" cap="flat" cmpd="sng" algn="ctr">
                      <a:solidFill>
                        <a:srgbClr val="000000"/>
                      </a:solidFill>
                      <a:prstDash val="dot"/>
                      <a:round/>
                      <a:headEnd type="none" w="med" len="med"/>
                      <a:tailEnd type="none" w="med" len="med"/>
                    </a:lnL>
                    <a:lnR w="6350" cap="flat" cmpd="sng" algn="ctr">
                      <a:solidFill>
                        <a:srgbClr val="000000"/>
                      </a:solidFill>
                      <a:prstDash val="dot"/>
                      <a:round/>
                      <a:headEnd type="none" w="med" len="med"/>
                      <a:tailEnd type="none" w="med" len="med"/>
                    </a:lnR>
                    <a:lnT>
                      <a:noFill/>
                    </a:lnT>
                    <a:lnB>
                      <a:noFill/>
                    </a:lnB>
                    <a:solidFill>
                      <a:srgbClr val="E2EFDA"/>
                    </a:solidFill>
                  </a:tcPr>
                </a:tc>
                <a:tc>
                  <a:txBody>
                    <a:bodyPr/>
                    <a:lstStyle/>
                    <a:p>
                      <a:pPr algn="ctr" fontAlgn="b">
                        <a:buNone/>
                      </a:pPr>
                      <a:r>
                        <a:rPr lang="es-AR" sz="1100" b="0" i="0" u="none" strike="noStrike">
                          <a:solidFill>
                            <a:srgbClr val="000000"/>
                          </a:solidFill>
                          <a:effectLst/>
                          <a:latin typeface="Lucida Bright" panose="02040602050505020304" pitchFamily="18" charset="0"/>
                        </a:rPr>
                        <a:t> </a:t>
                      </a:r>
                    </a:p>
                  </a:txBody>
                  <a:tcPr marL="9525" marR="9525" marT="9525" marB="0" anchor="b">
                    <a:lnL w="6350" cap="flat" cmpd="sng" algn="ctr">
                      <a:solidFill>
                        <a:srgbClr val="000000"/>
                      </a:solidFill>
                      <a:prstDash val="dot"/>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extLst>
                  <a:ext uri="{0D108BD9-81ED-4DB2-BD59-A6C34878D82A}">
                    <a16:rowId xmlns:a16="http://schemas.microsoft.com/office/drawing/2014/main" val="1501548762"/>
                  </a:ext>
                </a:extLst>
              </a:tr>
              <a:tr h="190500">
                <a:tc>
                  <a:txBody>
                    <a:bodyPr/>
                    <a:lstStyle/>
                    <a:p>
                      <a:pPr algn="l" fontAlgn="b">
                        <a:buNone/>
                      </a:pPr>
                      <a:r>
                        <a:rPr lang="es-AR" sz="1100" b="0" i="0" u="none" strike="noStrike">
                          <a:solidFill>
                            <a:srgbClr val="000000"/>
                          </a:solidFill>
                          <a:effectLst/>
                          <a:latin typeface="Lucida Bright" panose="02040602050505020304" pitchFamily="18" charset="0"/>
                        </a:rPr>
                        <a:t>log(ITCRM_SFE)</a:t>
                      </a:r>
                    </a:p>
                  </a:txBody>
                  <a:tcPr marL="9525" marR="9525" marT="9525"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b">
                        <a:buNone/>
                      </a:pPr>
                      <a:r>
                        <a:rPr lang="es-AR" sz="1100" b="0" i="0" u="none" strike="noStrike">
                          <a:solidFill>
                            <a:srgbClr val="000000"/>
                          </a:solidFill>
                          <a:effectLst/>
                          <a:latin typeface="Lucida Bright" panose="02040602050505020304" pitchFamily="18" charset="0"/>
                        </a:rPr>
                        <a:t> </a:t>
                      </a:r>
                    </a:p>
                  </a:txBody>
                  <a:tcPr marL="9525" marR="9525" marT="9525" marB="0" anchor="b">
                    <a:lnL w="6350" cap="flat" cmpd="sng" algn="ctr">
                      <a:solidFill>
                        <a:srgbClr val="000000"/>
                      </a:solidFill>
                      <a:prstDash val="solid"/>
                      <a:round/>
                      <a:headEnd type="none" w="med" len="med"/>
                      <a:tailEnd type="none" w="med" len="med"/>
                    </a:lnL>
                    <a:lnR w="6350" cap="flat" cmpd="sng" algn="ctr">
                      <a:solidFill>
                        <a:srgbClr val="000000"/>
                      </a:solidFill>
                      <a:prstDash val="dot"/>
                      <a:round/>
                      <a:headEnd type="none" w="med" len="med"/>
                      <a:tailEnd type="none" w="med" len="med"/>
                    </a:lnR>
                    <a:lnT>
                      <a:noFill/>
                    </a:lnT>
                    <a:lnB>
                      <a:noFill/>
                    </a:lnB>
                    <a:noFill/>
                  </a:tcPr>
                </a:tc>
                <a:tc>
                  <a:txBody>
                    <a:bodyPr/>
                    <a:lstStyle/>
                    <a:p>
                      <a:pPr algn="ctr" fontAlgn="b">
                        <a:buNone/>
                      </a:pPr>
                      <a:r>
                        <a:rPr lang="es-AR" sz="1100" b="0" i="0" u="none" strike="noStrike">
                          <a:solidFill>
                            <a:srgbClr val="000000"/>
                          </a:solidFill>
                          <a:effectLst/>
                          <a:latin typeface="Lucida Bright" panose="02040602050505020304" pitchFamily="18" charset="0"/>
                        </a:rPr>
                        <a:t> </a:t>
                      </a:r>
                    </a:p>
                  </a:txBody>
                  <a:tcPr marL="9525" marR="9525" marT="9525" marB="0" anchor="b">
                    <a:lnL w="6350" cap="flat" cmpd="sng" algn="ctr">
                      <a:solidFill>
                        <a:srgbClr val="000000"/>
                      </a:solidFill>
                      <a:prstDash val="dot"/>
                      <a:round/>
                      <a:headEnd type="none" w="med" len="med"/>
                      <a:tailEnd type="none" w="med" len="med"/>
                    </a:lnL>
                    <a:lnR w="6350" cap="flat" cmpd="sng" algn="ctr">
                      <a:solidFill>
                        <a:srgbClr val="000000"/>
                      </a:solidFill>
                      <a:prstDash val="dot"/>
                      <a:round/>
                      <a:headEnd type="none" w="med" len="med"/>
                      <a:tailEnd type="none" w="med" len="med"/>
                    </a:lnR>
                    <a:lnT>
                      <a:noFill/>
                    </a:lnT>
                    <a:lnB>
                      <a:noFill/>
                    </a:lnB>
                    <a:noFill/>
                  </a:tcPr>
                </a:tc>
                <a:tc>
                  <a:txBody>
                    <a:bodyPr/>
                    <a:lstStyle/>
                    <a:p>
                      <a:pPr algn="ctr" fontAlgn="b">
                        <a:buNone/>
                      </a:pPr>
                      <a:r>
                        <a:rPr lang="es-AR" sz="1100" b="0" i="0" u="none" strike="noStrike">
                          <a:solidFill>
                            <a:srgbClr val="000000"/>
                          </a:solidFill>
                          <a:effectLst/>
                          <a:latin typeface="Lucida Bright" panose="02040602050505020304" pitchFamily="18" charset="0"/>
                        </a:rPr>
                        <a:t>0.697***</a:t>
                      </a:r>
                    </a:p>
                  </a:txBody>
                  <a:tcPr marL="9525" marR="9525" marT="9525" marB="0" anchor="b">
                    <a:lnL w="6350" cap="flat" cmpd="sng" algn="ctr">
                      <a:solidFill>
                        <a:srgbClr val="000000"/>
                      </a:solidFill>
                      <a:prstDash val="dot"/>
                      <a:round/>
                      <a:headEnd type="none" w="med" len="med"/>
                      <a:tailEnd type="none" w="med" len="med"/>
                    </a:lnL>
                    <a:lnR w="6350" cap="flat" cmpd="sng" algn="ctr">
                      <a:solidFill>
                        <a:srgbClr val="000000"/>
                      </a:solidFill>
                      <a:prstDash val="solid"/>
                      <a:round/>
                      <a:headEnd type="none" w="med" len="med"/>
                      <a:tailEnd type="none" w="med" len="med"/>
                    </a:lnR>
                    <a:lnT>
                      <a:noFill/>
                    </a:lnT>
                    <a:lnB>
                      <a:noFill/>
                    </a:lnB>
                    <a:solidFill>
                      <a:srgbClr val="E2EFDA"/>
                    </a:solidFill>
                  </a:tcPr>
                </a:tc>
                <a:tc>
                  <a:txBody>
                    <a:bodyPr/>
                    <a:lstStyle/>
                    <a:p>
                      <a:pPr algn="ctr" fontAlgn="b">
                        <a:buNone/>
                      </a:pPr>
                      <a:r>
                        <a:rPr lang="es-AR" sz="1100" b="0" i="0" u="none" strike="noStrike">
                          <a:solidFill>
                            <a:srgbClr val="000000"/>
                          </a:solidFill>
                          <a:effectLst/>
                          <a:latin typeface="Lucida Bright" panose="02040602050505020304" pitchFamily="18" charset="0"/>
                        </a:rPr>
                        <a:t> </a:t>
                      </a:r>
                    </a:p>
                  </a:txBody>
                  <a:tcPr marL="9525" marR="9525" marT="9525" marB="0" anchor="b">
                    <a:lnL w="6350" cap="flat" cmpd="sng" algn="ctr">
                      <a:solidFill>
                        <a:srgbClr val="000000"/>
                      </a:solidFill>
                      <a:prstDash val="solid"/>
                      <a:round/>
                      <a:headEnd type="none" w="med" len="med"/>
                      <a:tailEnd type="none" w="med" len="med"/>
                    </a:lnL>
                    <a:lnR w="6350" cap="flat" cmpd="sng" algn="ctr">
                      <a:solidFill>
                        <a:srgbClr val="000000"/>
                      </a:solidFill>
                      <a:prstDash val="dot"/>
                      <a:round/>
                      <a:headEnd type="none" w="med" len="med"/>
                      <a:tailEnd type="none" w="med" len="med"/>
                    </a:lnR>
                    <a:lnT>
                      <a:noFill/>
                    </a:lnT>
                    <a:lnB>
                      <a:noFill/>
                    </a:lnB>
                    <a:noFill/>
                  </a:tcPr>
                </a:tc>
                <a:tc>
                  <a:txBody>
                    <a:bodyPr/>
                    <a:lstStyle/>
                    <a:p>
                      <a:pPr algn="ctr" fontAlgn="b">
                        <a:buNone/>
                      </a:pPr>
                      <a:r>
                        <a:rPr lang="es-AR" sz="1100" b="0" i="0" u="none" strike="noStrike">
                          <a:solidFill>
                            <a:srgbClr val="000000"/>
                          </a:solidFill>
                          <a:effectLst/>
                          <a:latin typeface="Lucida Bright" panose="02040602050505020304" pitchFamily="18" charset="0"/>
                        </a:rPr>
                        <a:t> </a:t>
                      </a:r>
                    </a:p>
                  </a:txBody>
                  <a:tcPr marL="9525" marR="9525" marT="9525" marB="0" anchor="b">
                    <a:lnL w="6350" cap="flat" cmpd="sng" algn="ctr">
                      <a:solidFill>
                        <a:srgbClr val="000000"/>
                      </a:solidFill>
                      <a:prstDash val="dot"/>
                      <a:round/>
                      <a:headEnd type="none" w="med" len="med"/>
                      <a:tailEnd type="none" w="med" len="med"/>
                    </a:lnL>
                    <a:lnR w="6350" cap="flat" cmpd="sng" algn="ctr">
                      <a:solidFill>
                        <a:srgbClr val="000000"/>
                      </a:solidFill>
                      <a:prstDash val="dot"/>
                      <a:round/>
                      <a:headEnd type="none" w="med" len="med"/>
                      <a:tailEnd type="none" w="med" len="med"/>
                    </a:lnR>
                    <a:lnT>
                      <a:noFill/>
                    </a:lnT>
                    <a:lnB>
                      <a:noFill/>
                    </a:lnB>
                    <a:noFill/>
                  </a:tcPr>
                </a:tc>
                <a:tc>
                  <a:txBody>
                    <a:bodyPr/>
                    <a:lstStyle/>
                    <a:p>
                      <a:pPr algn="ctr" fontAlgn="b">
                        <a:buNone/>
                      </a:pPr>
                      <a:r>
                        <a:rPr lang="es-AR" sz="1100" b="0" i="0" u="none" strike="noStrike">
                          <a:solidFill>
                            <a:srgbClr val="000000"/>
                          </a:solidFill>
                          <a:effectLst/>
                          <a:latin typeface="Lucida Bright" panose="02040602050505020304" pitchFamily="18" charset="0"/>
                        </a:rPr>
                        <a:t>0.696***</a:t>
                      </a:r>
                    </a:p>
                  </a:txBody>
                  <a:tcPr marL="9525" marR="9525" marT="9525" marB="0" anchor="b">
                    <a:lnL w="6350" cap="flat" cmpd="sng" algn="ctr">
                      <a:solidFill>
                        <a:srgbClr val="000000"/>
                      </a:solidFill>
                      <a:prstDash val="dot"/>
                      <a:round/>
                      <a:headEnd type="none" w="med" len="med"/>
                      <a:tailEnd type="none" w="med" len="med"/>
                    </a:lnL>
                    <a:lnR w="6350" cap="flat" cmpd="sng" algn="ctr">
                      <a:solidFill>
                        <a:srgbClr val="000000"/>
                      </a:solidFill>
                      <a:prstDash val="solid"/>
                      <a:round/>
                      <a:headEnd type="none" w="med" len="med"/>
                      <a:tailEnd type="none" w="med" len="med"/>
                    </a:lnR>
                    <a:lnT>
                      <a:noFill/>
                    </a:lnT>
                    <a:lnB>
                      <a:noFill/>
                    </a:lnB>
                    <a:solidFill>
                      <a:srgbClr val="E2EFDA"/>
                    </a:solidFill>
                  </a:tcPr>
                </a:tc>
                <a:tc>
                  <a:txBody>
                    <a:bodyPr/>
                    <a:lstStyle/>
                    <a:p>
                      <a:pPr algn="ctr" fontAlgn="b">
                        <a:buNone/>
                      </a:pPr>
                      <a:r>
                        <a:rPr lang="es-AR" sz="1100" b="0" i="0" u="none" strike="noStrike">
                          <a:solidFill>
                            <a:srgbClr val="000000"/>
                          </a:solidFill>
                          <a:effectLst/>
                          <a:latin typeface="Lucida Bright" panose="02040602050505020304" pitchFamily="18" charset="0"/>
                        </a:rPr>
                        <a:t> </a:t>
                      </a:r>
                    </a:p>
                  </a:txBody>
                  <a:tcPr marL="9525" marR="9525" marT="9525" marB="0" anchor="b">
                    <a:lnL w="6350" cap="flat" cmpd="sng" algn="ctr">
                      <a:solidFill>
                        <a:srgbClr val="000000"/>
                      </a:solidFill>
                      <a:prstDash val="solid"/>
                      <a:round/>
                      <a:headEnd type="none" w="med" len="med"/>
                      <a:tailEnd type="none" w="med" len="med"/>
                    </a:lnL>
                    <a:lnR w="6350" cap="flat" cmpd="sng" algn="ctr">
                      <a:solidFill>
                        <a:srgbClr val="000000"/>
                      </a:solidFill>
                      <a:prstDash val="dot"/>
                      <a:round/>
                      <a:headEnd type="none" w="med" len="med"/>
                      <a:tailEnd type="none" w="med" len="med"/>
                    </a:lnR>
                    <a:lnT>
                      <a:noFill/>
                    </a:lnT>
                    <a:lnB>
                      <a:noFill/>
                    </a:lnB>
                    <a:noFill/>
                  </a:tcPr>
                </a:tc>
                <a:tc>
                  <a:txBody>
                    <a:bodyPr/>
                    <a:lstStyle/>
                    <a:p>
                      <a:pPr algn="ctr" fontAlgn="b">
                        <a:buNone/>
                      </a:pPr>
                      <a:r>
                        <a:rPr lang="es-AR" sz="1100" b="0" i="0" u="none" strike="noStrike">
                          <a:solidFill>
                            <a:srgbClr val="000000"/>
                          </a:solidFill>
                          <a:effectLst/>
                          <a:latin typeface="Lucida Bright" panose="02040602050505020304" pitchFamily="18" charset="0"/>
                        </a:rPr>
                        <a:t> </a:t>
                      </a:r>
                    </a:p>
                  </a:txBody>
                  <a:tcPr marL="9525" marR="9525" marT="9525" marB="0" anchor="b">
                    <a:lnL w="6350" cap="flat" cmpd="sng" algn="ctr">
                      <a:solidFill>
                        <a:srgbClr val="000000"/>
                      </a:solidFill>
                      <a:prstDash val="dot"/>
                      <a:round/>
                      <a:headEnd type="none" w="med" len="med"/>
                      <a:tailEnd type="none" w="med" len="med"/>
                    </a:lnL>
                    <a:lnR w="6350" cap="flat" cmpd="sng" algn="ctr">
                      <a:solidFill>
                        <a:srgbClr val="000000"/>
                      </a:solidFill>
                      <a:prstDash val="dot"/>
                      <a:round/>
                      <a:headEnd type="none" w="med" len="med"/>
                      <a:tailEnd type="none" w="med" len="med"/>
                    </a:lnR>
                    <a:lnT>
                      <a:noFill/>
                    </a:lnT>
                    <a:lnB>
                      <a:noFill/>
                    </a:lnB>
                    <a:noFill/>
                  </a:tcPr>
                </a:tc>
                <a:tc>
                  <a:txBody>
                    <a:bodyPr/>
                    <a:lstStyle/>
                    <a:p>
                      <a:pPr algn="ctr" fontAlgn="b">
                        <a:buNone/>
                      </a:pPr>
                      <a:r>
                        <a:rPr lang="es-AR" sz="1100" b="0" i="0" u="none" strike="noStrike">
                          <a:solidFill>
                            <a:srgbClr val="000000"/>
                          </a:solidFill>
                          <a:effectLst/>
                          <a:latin typeface="Lucida Bright" panose="02040602050505020304" pitchFamily="18" charset="0"/>
                        </a:rPr>
                        <a:t>0.101*</a:t>
                      </a:r>
                    </a:p>
                  </a:txBody>
                  <a:tcPr marL="9525" marR="9525" marT="9525" marB="0" anchor="b">
                    <a:lnL w="6350" cap="flat" cmpd="sng" algn="ctr">
                      <a:solidFill>
                        <a:srgbClr val="000000"/>
                      </a:solidFill>
                      <a:prstDash val="dot"/>
                      <a:round/>
                      <a:headEnd type="none" w="med" len="med"/>
                      <a:tailEnd type="none" w="med" len="med"/>
                    </a:lnL>
                    <a:lnR w="6350" cap="flat" cmpd="sng" algn="ctr">
                      <a:solidFill>
                        <a:srgbClr val="000000"/>
                      </a:solidFill>
                      <a:prstDash val="solid"/>
                      <a:round/>
                      <a:headEnd type="none" w="med" len="med"/>
                      <a:tailEnd type="none" w="med" len="med"/>
                    </a:lnR>
                    <a:lnT>
                      <a:noFill/>
                    </a:lnT>
                    <a:lnB>
                      <a:noFill/>
                    </a:lnB>
                    <a:solidFill>
                      <a:srgbClr val="E2EFDA"/>
                    </a:solidFill>
                  </a:tcPr>
                </a:tc>
                <a:tc>
                  <a:txBody>
                    <a:bodyPr/>
                    <a:lstStyle/>
                    <a:p>
                      <a:pPr algn="ctr" fontAlgn="b">
                        <a:buNone/>
                      </a:pPr>
                      <a:r>
                        <a:rPr lang="es-AR" sz="1100" b="0" i="0" u="none" strike="noStrike">
                          <a:solidFill>
                            <a:srgbClr val="000000"/>
                          </a:solidFill>
                          <a:effectLst/>
                          <a:latin typeface="Lucida Bright" panose="02040602050505020304" pitchFamily="18" charset="0"/>
                        </a:rPr>
                        <a:t> </a:t>
                      </a:r>
                    </a:p>
                  </a:txBody>
                  <a:tcPr marL="9525" marR="9525" marT="9525" marB="0" anchor="b">
                    <a:lnL w="6350" cap="flat" cmpd="sng" algn="ctr">
                      <a:solidFill>
                        <a:srgbClr val="000000"/>
                      </a:solidFill>
                      <a:prstDash val="solid"/>
                      <a:round/>
                      <a:headEnd type="none" w="med" len="med"/>
                      <a:tailEnd type="none" w="med" len="med"/>
                    </a:lnL>
                    <a:lnR w="6350" cap="flat" cmpd="sng" algn="ctr">
                      <a:solidFill>
                        <a:srgbClr val="000000"/>
                      </a:solidFill>
                      <a:prstDash val="dot"/>
                      <a:round/>
                      <a:headEnd type="none" w="med" len="med"/>
                      <a:tailEnd type="none" w="med" len="med"/>
                    </a:lnR>
                    <a:lnT>
                      <a:noFill/>
                    </a:lnT>
                    <a:lnB>
                      <a:noFill/>
                    </a:lnB>
                    <a:noFill/>
                  </a:tcPr>
                </a:tc>
                <a:tc>
                  <a:txBody>
                    <a:bodyPr/>
                    <a:lstStyle/>
                    <a:p>
                      <a:pPr algn="ctr" fontAlgn="b">
                        <a:buNone/>
                      </a:pPr>
                      <a:r>
                        <a:rPr lang="es-AR" sz="1100" b="0" i="0" u="none" strike="noStrike">
                          <a:solidFill>
                            <a:srgbClr val="000000"/>
                          </a:solidFill>
                          <a:effectLst/>
                          <a:latin typeface="Lucida Bright" panose="02040602050505020304" pitchFamily="18" charset="0"/>
                        </a:rPr>
                        <a:t> </a:t>
                      </a:r>
                    </a:p>
                  </a:txBody>
                  <a:tcPr marL="9525" marR="9525" marT="9525" marB="0" anchor="b">
                    <a:lnL w="6350" cap="flat" cmpd="sng" algn="ctr">
                      <a:solidFill>
                        <a:srgbClr val="000000"/>
                      </a:solidFill>
                      <a:prstDash val="dot"/>
                      <a:round/>
                      <a:headEnd type="none" w="med" len="med"/>
                      <a:tailEnd type="none" w="med" len="med"/>
                    </a:lnL>
                    <a:lnR w="6350" cap="flat" cmpd="sng" algn="ctr">
                      <a:solidFill>
                        <a:srgbClr val="000000"/>
                      </a:solidFill>
                      <a:prstDash val="dot"/>
                      <a:round/>
                      <a:headEnd type="none" w="med" len="med"/>
                      <a:tailEnd type="none" w="med" len="med"/>
                    </a:lnR>
                    <a:lnT>
                      <a:noFill/>
                    </a:lnT>
                    <a:lnB>
                      <a:noFill/>
                    </a:lnB>
                    <a:noFill/>
                  </a:tcPr>
                </a:tc>
                <a:tc>
                  <a:txBody>
                    <a:bodyPr/>
                    <a:lstStyle/>
                    <a:p>
                      <a:pPr algn="ctr" fontAlgn="b">
                        <a:buNone/>
                      </a:pPr>
                      <a:r>
                        <a:rPr lang="es-AR" sz="1100" b="0" i="0" u="none" strike="noStrike">
                          <a:solidFill>
                            <a:srgbClr val="000000"/>
                          </a:solidFill>
                          <a:effectLst/>
                          <a:latin typeface="Lucida Bright" panose="02040602050505020304" pitchFamily="18" charset="0"/>
                        </a:rPr>
                        <a:t>0.100*</a:t>
                      </a:r>
                    </a:p>
                  </a:txBody>
                  <a:tcPr marL="9525" marR="9525" marT="9525" marB="0" anchor="b">
                    <a:lnL w="6350" cap="flat" cmpd="sng" algn="ctr">
                      <a:solidFill>
                        <a:srgbClr val="000000"/>
                      </a:solidFill>
                      <a:prstDash val="dot"/>
                      <a:round/>
                      <a:headEnd type="none" w="med" len="med"/>
                      <a:tailEnd type="none" w="med" len="med"/>
                    </a:lnL>
                    <a:lnR w="6350" cap="flat" cmpd="sng" algn="ctr">
                      <a:solidFill>
                        <a:srgbClr val="000000"/>
                      </a:solidFill>
                      <a:prstDash val="solid"/>
                      <a:round/>
                      <a:headEnd type="none" w="med" len="med"/>
                      <a:tailEnd type="none" w="med" len="med"/>
                    </a:lnR>
                    <a:lnT>
                      <a:noFill/>
                    </a:lnT>
                    <a:lnB>
                      <a:noFill/>
                    </a:lnB>
                    <a:solidFill>
                      <a:srgbClr val="E2EFDA"/>
                    </a:solidFill>
                  </a:tcPr>
                </a:tc>
                <a:extLst>
                  <a:ext uri="{0D108BD9-81ED-4DB2-BD59-A6C34878D82A}">
                    <a16:rowId xmlns:a16="http://schemas.microsoft.com/office/drawing/2014/main" val="3611651013"/>
                  </a:ext>
                </a:extLst>
              </a:tr>
              <a:tr h="190500">
                <a:tc>
                  <a:txBody>
                    <a:bodyPr/>
                    <a:lstStyle/>
                    <a:p>
                      <a:pPr algn="l" fontAlgn="b">
                        <a:buNone/>
                      </a:pPr>
                      <a:r>
                        <a:rPr lang="es-AR" sz="1100" b="0" i="0" u="none" strike="noStrike">
                          <a:solidFill>
                            <a:srgbClr val="000000"/>
                          </a:solidFill>
                          <a:effectLst/>
                          <a:latin typeface="Lucida Bright" panose="02040602050505020304" pitchFamily="18" charset="0"/>
                        </a:rPr>
                        <a:t>log(GEBC)</a:t>
                      </a:r>
                    </a:p>
                  </a:txBody>
                  <a:tcPr marL="9525" marR="9525" marT="9525"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b">
                        <a:buNone/>
                      </a:pPr>
                      <a:r>
                        <a:rPr lang="es-AR" sz="1100" b="0" i="0" u="none" strike="noStrike">
                          <a:solidFill>
                            <a:srgbClr val="000000"/>
                          </a:solidFill>
                          <a:effectLst/>
                          <a:latin typeface="Lucida Bright" panose="02040602050505020304" pitchFamily="18" charset="0"/>
                        </a:rPr>
                        <a:t> </a:t>
                      </a:r>
                    </a:p>
                  </a:txBody>
                  <a:tcPr marL="9525" marR="9525" marT="9525" marB="0" anchor="b">
                    <a:lnL w="6350" cap="flat" cmpd="sng" algn="ctr">
                      <a:solidFill>
                        <a:srgbClr val="000000"/>
                      </a:solidFill>
                      <a:prstDash val="solid"/>
                      <a:round/>
                      <a:headEnd type="none" w="med" len="med"/>
                      <a:tailEnd type="none" w="med" len="med"/>
                    </a:lnL>
                    <a:lnR w="6350" cap="flat" cmpd="sng" algn="ctr">
                      <a:solidFill>
                        <a:srgbClr val="000000"/>
                      </a:solidFill>
                      <a:prstDash val="dot"/>
                      <a:round/>
                      <a:headEnd type="none" w="med" len="med"/>
                      <a:tailEnd type="none" w="med" len="med"/>
                    </a:lnR>
                    <a:lnT>
                      <a:noFill/>
                    </a:lnT>
                    <a:lnB>
                      <a:noFill/>
                    </a:lnB>
                    <a:noFill/>
                  </a:tcPr>
                </a:tc>
                <a:tc>
                  <a:txBody>
                    <a:bodyPr/>
                    <a:lstStyle/>
                    <a:p>
                      <a:pPr algn="ctr" fontAlgn="b">
                        <a:buNone/>
                      </a:pPr>
                      <a:r>
                        <a:rPr lang="es-AR" sz="1100" b="0" i="0" u="none" strike="noStrike">
                          <a:solidFill>
                            <a:srgbClr val="000000"/>
                          </a:solidFill>
                          <a:effectLst/>
                          <a:latin typeface="Lucida Bright" panose="02040602050505020304" pitchFamily="18" charset="0"/>
                        </a:rPr>
                        <a:t> </a:t>
                      </a:r>
                    </a:p>
                  </a:txBody>
                  <a:tcPr marL="9525" marR="9525" marT="9525" marB="0" anchor="b">
                    <a:lnL w="6350" cap="flat" cmpd="sng" algn="ctr">
                      <a:solidFill>
                        <a:srgbClr val="000000"/>
                      </a:solidFill>
                      <a:prstDash val="dot"/>
                      <a:round/>
                      <a:headEnd type="none" w="med" len="med"/>
                      <a:tailEnd type="none" w="med" len="med"/>
                    </a:lnL>
                    <a:lnR w="6350" cap="flat" cmpd="sng" algn="ctr">
                      <a:solidFill>
                        <a:srgbClr val="000000"/>
                      </a:solidFill>
                      <a:prstDash val="dot"/>
                      <a:round/>
                      <a:headEnd type="none" w="med" len="med"/>
                      <a:tailEnd type="none" w="med" len="med"/>
                    </a:lnR>
                    <a:lnT>
                      <a:noFill/>
                    </a:lnT>
                    <a:lnB>
                      <a:noFill/>
                    </a:lnB>
                    <a:noFill/>
                  </a:tcPr>
                </a:tc>
                <a:tc>
                  <a:txBody>
                    <a:bodyPr/>
                    <a:lstStyle/>
                    <a:p>
                      <a:pPr algn="ctr" fontAlgn="b">
                        <a:buNone/>
                      </a:pPr>
                      <a:r>
                        <a:rPr lang="es-AR" sz="1100" b="0" i="0" u="none" strike="noStrike">
                          <a:solidFill>
                            <a:srgbClr val="000000"/>
                          </a:solidFill>
                          <a:effectLst/>
                          <a:latin typeface="Lucida Bright" panose="02040602050505020304" pitchFamily="18" charset="0"/>
                        </a:rPr>
                        <a:t> </a:t>
                      </a:r>
                    </a:p>
                  </a:txBody>
                  <a:tcPr marL="9525" marR="9525" marT="9525" marB="0" anchor="b">
                    <a:lnL w="6350" cap="flat" cmpd="sng" algn="ctr">
                      <a:solidFill>
                        <a:srgbClr val="000000"/>
                      </a:solidFill>
                      <a:prstDash val="dot"/>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b">
                        <a:buNone/>
                      </a:pPr>
                      <a:r>
                        <a:rPr lang="es-AR" sz="1100" b="0" i="0" u="none" strike="noStrike">
                          <a:solidFill>
                            <a:srgbClr val="000000"/>
                          </a:solidFill>
                          <a:effectLst/>
                          <a:latin typeface="Lucida Bright" panose="02040602050505020304" pitchFamily="18" charset="0"/>
                        </a:rPr>
                        <a:t>-0.07</a:t>
                      </a:r>
                    </a:p>
                  </a:txBody>
                  <a:tcPr marL="9525" marR="9525" marT="9525" marB="0" anchor="b">
                    <a:lnL w="6350" cap="flat" cmpd="sng" algn="ctr">
                      <a:solidFill>
                        <a:srgbClr val="000000"/>
                      </a:solidFill>
                      <a:prstDash val="solid"/>
                      <a:round/>
                      <a:headEnd type="none" w="med" len="med"/>
                      <a:tailEnd type="none" w="med" len="med"/>
                    </a:lnL>
                    <a:lnR w="6350" cap="flat" cmpd="sng" algn="ctr">
                      <a:solidFill>
                        <a:srgbClr val="000000"/>
                      </a:solidFill>
                      <a:prstDash val="dot"/>
                      <a:round/>
                      <a:headEnd type="none" w="med" len="med"/>
                      <a:tailEnd type="none" w="med" len="med"/>
                    </a:lnR>
                    <a:lnT>
                      <a:noFill/>
                    </a:lnT>
                    <a:lnB>
                      <a:noFill/>
                    </a:lnB>
                    <a:noFill/>
                  </a:tcPr>
                </a:tc>
                <a:tc>
                  <a:txBody>
                    <a:bodyPr/>
                    <a:lstStyle/>
                    <a:p>
                      <a:pPr algn="ctr" fontAlgn="b">
                        <a:buNone/>
                      </a:pPr>
                      <a:r>
                        <a:rPr lang="es-AR" sz="1100" b="0" i="0" u="none" strike="noStrike">
                          <a:solidFill>
                            <a:srgbClr val="000000"/>
                          </a:solidFill>
                          <a:effectLst/>
                          <a:latin typeface="Lucida Bright" panose="02040602050505020304" pitchFamily="18" charset="0"/>
                        </a:rPr>
                        <a:t>-0.052</a:t>
                      </a:r>
                    </a:p>
                  </a:txBody>
                  <a:tcPr marL="9525" marR="9525" marT="9525" marB="0" anchor="b">
                    <a:lnL w="6350" cap="flat" cmpd="sng" algn="ctr">
                      <a:solidFill>
                        <a:srgbClr val="000000"/>
                      </a:solidFill>
                      <a:prstDash val="dot"/>
                      <a:round/>
                      <a:headEnd type="none" w="med" len="med"/>
                      <a:tailEnd type="none" w="med" len="med"/>
                    </a:lnL>
                    <a:lnR w="6350" cap="flat" cmpd="sng" algn="ctr">
                      <a:solidFill>
                        <a:srgbClr val="000000"/>
                      </a:solidFill>
                      <a:prstDash val="dot"/>
                      <a:round/>
                      <a:headEnd type="none" w="med" len="med"/>
                      <a:tailEnd type="none" w="med" len="med"/>
                    </a:lnR>
                    <a:lnT>
                      <a:noFill/>
                    </a:lnT>
                    <a:lnB>
                      <a:noFill/>
                    </a:lnB>
                    <a:noFill/>
                  </a:tcPr>
                </a:tc>
                <a:tc>
                  <a:txBody>
                    <a:bodyPr/>
                    <a:lstStyle/>
                    <a:p>
                      <a:pPr algn="ctr" fontAlgn="b">
                        <a:buNone/>
                      </a:pPr>
                      <a:r>
                        <a:rPr lang="es-AR" sz="1100" b="0" i="0" u="none" strike="noStrike">
                          <a:solidFill>
                            <a:srgbClr val="000000"/>
                          </a:solidFill>
                          <a:effectLst/>
                          <a:latin typeface="Lucida Bright" panose="02040602050505020304" pitchFamily="18" charset="0"/>
                        </a:rPr>
                        <a:t>-0.183</a:t>
                      </a:r>
                    </a:p>
                  </a:txBody>
                  <a:tcPr marL="9525" marR="9525" marT="9525" marB="0" anchor="b">
                    <a:lnL w="6350" cap="flat" cmpd="sng" algn="ctr">
                      <a:solidFill>
                        <a:srgbClr val="000000"/>
                      </a:solidFill>
                      <a:prstDash val="dot"/>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b">
                        <a:buNone/>
                      </a:pPr>
                      <a:r>
                        <a:rPr lang="es-AR" sz="1100" b="0" i="0" u="none" strike="noStrike">
                          <a:solidFill>
                            <a:srgbClr val="000000"/>
                          </a:solidFill>
                          <a:effectLst/>
                          <a:latin typeface="Lucida Bright" panose="02040602050505020304" pitchFamily="18" charset="0"/>
                        </a:rPr>
                        <a:t> </a:t>
                      </a:r>
                    </a:p>
                  </a:txBody>
                  <a:tcPr marL="9525" marR="9525" marT="9525" marB="0" anchor="b">
                    <a:lnL w="6350" cap="flat" cmpd="sng" algn="ctr">
                      <a:solidFill>
                        <a:srgbClr val="000000"/>
                      </a:solidFill>
                      <a:prstDash val="solid"/>
                      <a:round/>
                      <a:headEnd type="none" w="med" len="med"/>
                      <a:tailEnd type="none" w="med" len="med"/>
                    </a:lnL>
                    <a:lnR w="6350" cap="flat" cmpd="sng" algn="ctr">
                      <a:solidFill>
                        <a:srgbClr val="000000"/>
                      </a:solidFill>
                      <a:prstDash val="dot"/>
                      <a:round/>
                      <a:headEnd type="none" w="med" len="med"/>
                      <a:tailEnd type="none" w="med" len="med"/>
                    </a:lnR>
                    <a:lnT>
                      <a:noFill/>
                    </a:lnT>
                    <a:lnB>
                      <a:noFill/>
                    </a:lnB>
                    <a:noFill/>
                  </a:tcPr>
                </a:tc>
                <a:tc>
                  <a:txBody>
                    <a:bodyPr/>
                    <a:lstStyle/>
                    <a:p>
                      <a:pPr algn="ctr" fontAlgn="b">
                        <a:buNone/>
                      </a:pPr>
                      <a:r>
                        <a:rPr lang="es-AR" sz="1100" b="0" i="0" u="none" strike="noStrike">
                          <a:solidFill>
                            <a:srgbClr val="000000"/>
                          </a:solidFill>
                          <a:effectLst/>
                          <a:latin typeface="Lucida Bright" panose="02040602050505020304" pitchFamily="18" charset="0"/>
                        </a:rPr>
                        <a:t> </a:t>
                      </a:r>
                    </a:p>
                  </a:txBody>
                  <a:tcPr marL="9525" marR="9525" marT="9525" marB="0" anchor="b">
                    <a:lnL w="6350" cap="flat" cmpd="sng" algn="ctr">
                      <a:solidFill>
                        <a:srgbClr val="000000"/>
                      </a:solidFill>
                      <a:prstDash val="dot"/>
                      <a:round/>
                      <a:headEnd type="none" w="med" len="med"/>
                      <a:tailEnd type="none" w="med" len="med"/>
                    </a:lnL>
                    <a:lnR w="6350" cap="flat" cmpd="sng" algn="ctr">
                      <a:solidFill>
                        <a:srgbClr val="000000"/>
                      </a:solidFill>
                      <a:prstDash val="dot"/>
                      <a:round/>
                      <a:headEnd type="none" w="med" len="med"/>
                      <a:tailEnd type="none" w="med" len="med"/>
                    </a:lnR>
                    <a:lnT>
                      <a:noFill/>
                    </a:lnT>
                    <a:lnB>
                      <a:noFill/>
                    </a:lnB>
                    <a:noFill/>
                  </a:tcPr>
                </a:tc>
                <a:tc>
                  <a:txBody>
                    <a:bodyPr/>
                    <a:lstStyle/>
                    <a:p>
                      <a:pPr algn="ctr" fontAlgn="b">
                        <a:buNone/>
                      </a:pPr>
                      <a:r>
                        <a:rPr lang="es-AR" sz="1100" b="0" i="0" u="none" strike="noStrike">
                          <a:solidFill>
                            <a:srgbClr val="000000"/>
                          </a:solidFill>
                          <a:effectLst/>
                          <a:latin typeface="Lucida Bright" panose="02040602050505020304" pitchFamily="18" charset="0"/>
                        </a:rPr>
                        <a:t> </a:t>
                      </a:r>
                    </a:p>
                  </a:txBody>
                  <a:tcPr marL="9525" marR="9525" marT="9525" marB="0" anchor="b">
                    <a:lnL w="6350" cap="flat" cmpd="sng" algn="ctr">
                      <a:solidFill>
                        <a:srgbClr val="000000"/>
                      </a:solidFill>
                      <a:prstDash val="dot"/>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b">
                        <a:buNone/>
                      </a:pPr>
                      <a:r>
                        <a:rPr lang="es-AR" sz="1100" b="0" i="0" u="none" strike="noStrike">
                          <a:solidFill>
                            <a:srgbClr val="000000"/>
                          </a:solidFill>
                          <a:effectLst/>
                          <a:latin typeface="Lucida Bright" panose="02040602050505020304" pitchFamily="18" charset="0"/>
                        </a:rPr>
                        <a:t>0.028</a:t>
                      </a:r>
                    </a:p>
                  </a:txBody>
                  <a:tcPr marL="9525" marR="9525" marT="9525" marB="0" anchor="b">
                    <a:lnL w="6350" cap="flat" cmpd="sng" algn="ctr">
                      <a:solidFill>
                        <a:srgbClr val="000000"/>
                      </a:solidFill>
                      <a:prstDash val="solid"/>
                      <a:round/>
                      <a:headEnd type="none" w="med" len="med"/>
                      <a:tailEnd type="none" w="med" len="med"/>
                    </a:lnL>
                    <a:lnR w="6350" cap="flat" cmpd="sng" algn="ctr">
                      <a:solidFill>
                        <a:srgbClr val="000000"/>
                      </a:solidFill>
                      <a:prstDash val="dot"/>
                      <a:round/>
                      <a:headEnd type="none" w="med" len="med"/>
                      <a:tailEnd type="none" w="med" len="med"/>
                    </a:lnR>
                    <a:lnT>
                      <a:noFill/>
                    </a:lnT>
                    <a:lnB>
                      <a:noFill/>
                    </a:lnB>
                    <a:noFill/>
                  </a:tcPr>
                </a:tc>
                <a:tc>
                  <a:txBody>
                    <a:bodyPr/>
                    <a:lstStyle/>
                    <a:p>
                      <a:pPr algn="ctr" fontAlgn="b">
                        <a:buNone/>
                      </a:pPr>
                      <a:r>
                        <a:rPr lang="es-AR" sz="1100" b="0" i="0" u="none" strike="noStrike">
                          <a:solidFill>
                            <a:srgbClr val="000000"/>
                          </a:solidFill>
                          <a:effectLst/>
                          <a:latin typeface="Lucida Bright" panose="02040602050505020304" pitchFamily="18" charset="0"/>
                        </a:rPr>
                        <a:t>0.052</a:t>
                      </a:r>
                    </a:p>
                  </a:txBody>
                  <a:tcPr marL="9525" marR="9525" marT="9525" marB="0" anchor="b">
                    <a:lnL w="6350" cap="flat" cmpd="sng" algn="ctr">
                      <a:solidFill>
                        <a:srgbClr val="000000"/>
                      </a:solidFill>
                      <a:prstDash val="dot"/>
                      <a:round/>
                      <a:headEnd type="none" w="med" len="med"/>
                      <a:tailEnd type="none" w="med" len="med"/>
                    </a:lnL>
                    <a:lnR w="6350" cap="flat" cmpd="sng" algn="ctr">
                      <a:solidFill>
                        <a:srgbClr val="000000"/>
                      </a:solidFill>
                      <a:prstDash val="dot"/>
                      <a:round/>
                      <a:headEnd type="none" w="med" len="med"/>
                      <a:tailEnd type="none" w="med" len="med"/>
                    </a:lnR>
                    <a:lnT>
                      <a:noFill/>
                    </a:lnT>
                    <a:lnB>
                      <a:noFill/>
                    </a:lnB>
                    <a:noFill/>
                  </a:tcPr>
                </a:tc>
                <a:tc>
                  <a:txBody>
                    <a:bodyPr/>
                    <a:lstStyle/>
                    <a:p>
                      <a:pPr algn="ctr" fontAlgn="b">
                        <a:buNone/>
                      </a:pPr>
                      <a:r>
                        <a:rPr lang="es-AR" sz="1100" b="0" i="0" u="none" strike="noStrike">
                          <a:solidFill>
                            <a:srgbClr val="000000"/>
                          </a:solidFill>
                          <a:effectLst/>
                          <a:latin typeface="Lucida Bright" panose="02040602050505020304" pitchFamily="18" charset="0"/>
                        </a:rPr>
                        <a:t>0.042</a:t>
                      </a:r>
                    </a:p>
                  </a:txBody>
                  <a:tcPr marL="9525" marR="9525" marT="9525" marB="0" anchor="b">
                    <a:lnL w="6350" cap="flat" cmpd="sng" algn="ctr">
                      <a:solidFill>
                        <a:srgbClr val="000000"/>
                      </a:solidFill>
                      <a:prstDash val="dot"/>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extLst>
                  <a:ext uri="{0D108BD9-81ED-4DB2-BD59-A6C34878D82A}">
                    <a16:rowId xmlns:a16="http://schemas.microsoft.com/office/drawing/2014/main" val="3041176211"/>
                  </a:ext>
                </a:extLst>
              </a:tr>
              <a:tr h="190500">
                <a:tc>
                  <a:txBody>
                    <a:bodyPr/>
                    <a:lstStyle/>
                    <a:p>
                      <a:pPr algn="l" fontAlgn="b">
                        <a:buNone/>
                      </a:pPr>
                      <a:r>
                        <a:rPr lang="es-AR" sz="1100" b="0" i="0" u="none" strike="noStrike">
                          <a:solidFill>
                            <a:srgbClr val="000000"/>
                          </a:solidFill>
                          <a:effectLst/>
                          <a:latin typeface="Lucida Bright" panose="02040602050505020304" pitchFamily="18" charset="0"/>
                        </a:rPr>
                        <a:t>log(API)</a:t>
                      </a:r>
                    </a:p>
                  </a:txBody>
                  <a:tcPr marL="9525" marR="9525" marT="9525"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noFill/>
                  </a:tcPr>
                </a:tc>
                <a:tc>
                  <a:txBody>
                    <a:bodyPr/>
                    <a:lstStyle/>
                    <a:p>
                      <a:pPr algn="ctr" fontAlgn="b">
                        <a:buNone/>
                      </a:pPr>
                      <a:r>
                        <a:rPr lang="es-AR" sz="1100" b="0" i="0" u="none" strike="noStrike">
                          <a:solidFill>
                            <a:srgbClr val="000000"/>
                          </a:solidFill>
                          <a:effectLst/>
                          <a:latin typeface="Lucida Bright" panose="02040602050505020304" pitchFamily="18" charset="0"/>
                        </a:rPr>
                        <a:t> </a:t>
                      </a:r>
                    </a:p>
                  </a:txBody>
                  <a:tcPr marL="9525" marR="9525" marT="9525" marB="0" anchor="b">
                    <a:lnL w="6350" cap="flat" cmpd="sng" algn="ctr">
                      <a:solidFill>
                        <a:srgbClr val="000000"/>
                      </a:solidFill>
                      <a:prstDash val="solid"/>
                      <a:round/>
                      <a:headEnd type="none" w="med" len="med"/>
                      <a:tailEnd type="none" w="med" len="med"/>
                    </a:lnL>
                    <a:lnR w="6350" cap="flat" cmpd="sng" algn="ctr">
                      <a:solidFill>
                        <a:srgbClr val="000000"/>
                      </a:solidFill>
                      <a:prstDash val="dot"/>
                      <a:round/>
                      <a:headEnd type="none" w="med" len="med"/>
                      <a:tailEnd type="none" w="med" len="med"/>
                    </a:lnR>
                    <a:lnT>
                      <a:noFill/>
                    </a:lnT>
                    <a:lnB w="6350" cap="flat" cmpd="sng" algn="ctr">
                      <a:solidFill>
                        <a:srgbClr val="000000"/>
                      </a:solidFill>
                      <a:prstDash val="solid"/>
                      <a:round/>
                      <a:headEnd type="none" w="med" len="med"/>
                      <a:tailEnd type="none" w="med" len="med"/>
                    </a:lnB>
                    <a:noFill/>
                  </a:tcPr>
                </a:tc>
                <a:tc>
                  <a:txBody>
                    <a:bodyPr/>
                    <a:lstStyle/>
                    <a:p>
                      <a:pPr algn="ctr" fontAlgn="b">
                        <a:buNone/>
                      </a:pPr>
                      <a:r>
                        <a:rPr lang="es-AR" sz="1100" b="0" i="0" u="none" strike="noStrike">
                          <a:solidFill>
                            <a:srgbClr val="000000"/>
                          </a:solidFill>
                          <a:effectLst/>
                          <a:latin typeface="Lucida Bright" panose="02040602050505020304" pitchFamily="18" charset="0"/>
                        </a:rPr>
                        <a:t> </a:t>
                      </a:r>
                    </a:p>
                  </a:txBody>
                  <a:tcPr marL="9525" marR="9525" marT="9525" marB="0" anchor="b">
                    <a:lnL w="6350" cap="flat" cmpd="sng" algn="ctr">
                      <a:solidFill>
                        <a:srgbClr val="000000"/>
                      </a:solidFill>
                      <a:prstDash val="dot"/>
                      <a:round/>
                      <a:headEnd type="none" w="med" len="med"/>
                      <a:tailEnd type="none" w="med" len="med"/>
                    </a:lnL>
                    <a:lnR w="6350" cap="flat" cmpd="sng" algn="ctr">
                      <a:solidFill>
                        <a:srgbClr val="000000"/>
                      </a:solidFill>
                      <a:prstDash val="dot"/>
                      <a:round/>
                      <a:headEnd type="none" w="med" len="med"/>
                      <a:tailEnd type="none" w="med" len="med"/>
                    </a:lnR>
                    <a:lnT>
                      <a:noFill/>
                    </a:lnT>
                    <a:lnB w="6350" cap="flat" cmpd="sng" algn="ctr">
                      <a:solidFill>
                        <a:srgbClr val="000000"/>
                      </a:solidFill>
                      <a:prstDash val="solid"/>
                      <a:round/>
                      <a:headEnd type="none" w="med" len="med"/>
                      <a:tailEnd type="none" w="med" len="med"/>
                    </a:lnB>
                    <a:noFill/>
                  </a:tcPr>
                </a:tc>
                <a:tc>
                  <a:txBody>
                    <a:bodyPr/>
                    <a:lstStyle/>
                    <a:p>
                      <a:pPr algn="ctr" fontAlgn="b">
                        <a:buNone/>
                      </a:pPr>
                      <a:r>
                        <a:rPr lang="es-AR" sz="1100" b="0" i="0" u="none" strike="noStrike">
                          <a:solidFill>
                            <a:srgbClr val="000000"/>
                          </a:solidFill>
                          <a:effectLst/>
                          <a:latin typeface="Lucida Bright" panose="02040602050505020304" pitchFamily="18" charset="0"/>
                        </a:rPr>
                        <a:t> </a:t>
                      </a:r>
                    </a:p>
                  </a:txBody>
                  <a:tcPr marL="9525" marR="9525" marT="9525" marB="0" anchor="b">
                    <a:lnL w="6350" cap="flat" cmpd="sng" algn="ctr">
                      <a:solidFill>
                        <a:srgbClr val="000000"/>
                      </a:solidFill>
                      <a:prstDash val="dot"/>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noFill/>
                  </a:tcPr>
                </a:tc>
                <a:tc>
                  <a:txBody>
                    <a:bodyPr/>
                    <a:lstStyle/>
                    <a:p>
                      <a:pPr algn="ctr" fontAlgn="b">
                        <a:buNone/>
                      </a:pPr>
                      <a:r>
                        <a:rPr lang="es-AR" sz="1100" b="0" i="0" u="none" strike="noStrike">
                          <a:solidFill>
                            <a:srgbClr val="000000"/>
                          </a:solidFill>
                          <a:effectLst/>
                          <a:latin typeface="Lucida Bright" panose="02040602050505020304" pitchFamily="18" charset="0"/>
                        </a:rPr>
                        <a:t> </a:t>
                      </a:r>
                    </a:p>
                  </a:txBody>
                  <a:tcPr marL="9525" marR="9525" marT="9525" marB="0" anchor="b">
                    <a:lnL w="6350" cap="flat" cmpd="sng" algn="ctr">
                      <a:solidFill>
                        <a:srgbClr val="000000"/>
                      </a:solidFill>
                      <a:prstDash val="solid"/>
                      <a:round/>
                      <a:headEnd type="none" w="med" len="med"/>
                      <a:tailEnd type="none" w="med" len="med"/>
                    </a:lnL>
                    <a:lnR w="6350" cap="flat" cmpd="sng" algn="ctr">
                      <a:solidFill>
                        <a:srgbClr val="000000"/>
                      </a:solidFill>
                      <a:prstDash val="dot"/>
                      <a:round/>
                      <a:headEnd type="none" w="med" len="med"/>
                      <a:tailEnd type="none" w="med" len="med"/>
                    </a:lnR>
                    <a:lnT>
                      <a:noFill/>
                    </a:lnT>
                    <a:lnB w="6350" cap="flat" cmpd="sng" algn="ctr">
                      <a:solidFill>
                        <a:srgbClr val="000000"/>
                      </a:solidFill>
                      <a:prstDash val="solid"/>
                      <a:round/>
                      <a:headEnd type="none" w="med" len="med"/>
                      <a:tailEnd type="none" w="med" len="med"/>
                    </a:lnB>
                    <a:noFill/>
                  </a:tcPr>
                </a:tc>
                <a:tc>
                  <a:txBody>
                    <a:bodyPr/>
                    <a:lstStyle/>
                    <a:p>
                      <a:pPr algn="ctr" fontAlgn="b">
                        <a:buNone/>
                      </a:pPr>
                      <a:r>
                        <a:rPr lang="es-AR" sz="1100" b="0" i="0" u="none" strike="noStrike">
                          <a:solidFill>
                            <a:srgbClr val="000000"/>
                          </a:solidFill>
                          <a:effectLst/>
                          <a:latin typeface="Lucida Bright" panose="02040602050505020304" pitchFamily="18" charset="0"/>
                        </a:rPr>
                        <a:t> </a:t>
                      </a:r>
                    </a:p>
                  </a:txBody>
                  <a:tcPr marL="9525" marR="9525" marT="9525" marB="0" anchor="b">
                    <a:lnL w="6350" cap="flat" cmpd="sng" algn="ctr">
                      <a:solidFill>
                        <a:srgbClr val="000000"/>
                      </a:solidFill>
                      <a:prstDash val="dot"/>
                      <a:round/>
                      <a:headEnd type="none" w="med" len="med"/>
                      <a:tailEnd type="none" w="med" len="med"/>
                    </a:lnL>
                    <a:lnR w="6350" cap="flat" cmpd="sng" algn="ctr">
                      <a:solidFill>
                        <a:srgbClr val="000000"/>
                      </a:solidFill>
                      <a:prstDash val="dot"/>
                      <a:round/>
                      <a:headEnd type="none" w="med" len="med"/>
                      <a:tailEnd type="none" w="med" len="med"/>
                    </a:lnR>
                    <a:lnT>
                      <a:noFill/>
                    </a:lnT>
                    <a:lnB w="6350" cap="flat" cmpd="sng" algn="ctr">
                      <a:solidFill>
                        <a:srgbClr val="000000"/>
                      </a:solidFill>
                      <a:prstDash val="solid"/>
                      <a:round/>
                      <a:headEnd type="none" w="med" len="med"/>
                      <a:tailEnd type="none" w="med" len="med"/>
                    </a:lnB>
                    <a:noFill/>
                  </a:tcPr>
                </a:tc>
                <a:tc>
                  <a:txBody>
                    <a:bodyPr/>
                    <a:lstStyle/>
                    <a:p>
                      <a:pPr algn="ctr" fontAlgn="b">
                        <a:buNone/>
                      </a:pPr>
                      <a:r>
                        <a:rPr lang="es-AR" sz="1100" b="0" i="0" u="none" strike="noStrike">
                          <a:solidFill>
                            <a:srgbClr val="000000"/>
                          </a:solidFill>
                          <a:effectLst/>
                          <a:latin typeface="Lucida Bright" panose="02040602050505020304" pitchFamily="18" charset="0"/>
                        </a:rPr>
                        <a:t> </a:t>
                      </a:r>
                    </a:p>
                  </a:txBody>
                  <a:tcPr marL="9525" marR="9525" marT="9525" marB="0" anchor="b">
                    <a:lnL w="6350" cap="flat" cmpd="sng" algn="ctr">
                      <a:solidFill>
                        <a:srgbClr val="000000"/>
                      </a:solidFill>
                      <a:prstDash val="dot"/>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noFill/>
                  </a:tcPr>
                </a:tc>
                <a:tc>
                  <a:txBody>
                    <a:bodyPr/>
                    <a:lstStyle/>
                    <a:p>
                      <a:pPr algn="ctr" fontAlgn="b">
                        <a:buNone/>
                      </a:pPr>
                      <a:r>
                        <a:rPr lang="es-AR" sz="1100" b="0" i="0" u="none" strike="noStrike">
                          <a:solidFill>
                            <a:srgbClr val="000000"/>
                          </a:solidFill>
                          <a:effectLst/>
                          <a:latin typeface="Lucida Bright" panose="02040602050505020304" pitchFamily="18" charset="0"/>
                        </a:rPr>
                        <a:t>1.219***</a:t>
                      </a:r>
                    </a:p>
                  </a:txBody>
                  <a:tcPr marL="9525" marR="9525" marT="9525" marB="0" anchor="b">
                    <a:lnL w="6350" cap="flat" cmpd="sng" algn="ctr">
                      <a:solidFill>
                        <a:srgbClr val="000000"/>
                      </a:solidFill>
                      <a:prstDash val="solid"/>
                      <a:round/>
                      <a:headEnd type="none" w="med" len="med"/>
                      <a:tailEnd type="none" w="med" len="med"/>
                    </a:lnL>
                    <a:lnR w="6350" cap="flat" cmpd="sng" algn="ctr">
                      <a:solidFill>
                        <a:srgbClr val="000000"/>
                      </a:solidFill>
                      <a:prstDash val="dot"/>
                      <a:round/>
                      <a:headEnd type="none" w="med" len="med"/>
                      <a:tailEnd type="none" w="med" len="med"/>
                    </a:lnR>
                    <a:lnT>
                      <a:noFill/>
                    </a:lnT>
                    <a:lnB w="6350" cap="flat" cmpd="sng" algn="ctr">
                      <a:solidFill>
                        <a:srgbClr val="000000"/>
                      </a:solidFill>
                      <a:prstDash val="solid"/>
                      <a:round/>
                      <a:headEnd type="none" w="med" len="med"/>
                      <a:tailEnd type="none" w="med" len="med"/>
                    </a:lnB>
                    <a:noFill/>
                  </a:tcPr>
                </a:tc>
                <a:tc>
                  <a:txBody>
                    <a:bodyPr/>
                    <a:lstStyle/>
                    <a:p>
                      <a:pPr algn="ctr" fontAlgn="b">
                        <a:buNone/>
                      </a:pPr>
                      <a:r>
                        <a:rPr lang="es-AR" sz="1100" b="0" i="0" u="none" strike="noStrike">
                          <a:solidFill>
                            <a:srgbClr val="000000"/>
                          </a:solidFill>
                          <a:effectLst/>
                          <a:latin typeface="Lucida Bright" panose="02040602050505020304" pitchFamily="18" charset="0"/>
                        </a:rPr>
                        <a:t>1.306***</a:t>
                      </a:r>
                    </a:p>
                  </a:txBody>
                  <a:tcPr marL="9525" marR="9525" marT="9525" marB="0" anchor="b">
                    <a:lnL w="6350" cap="flat" cmpd="sng" algn="ctr">
                      <a:solidFill>
                        <a:srgbClr val="000000"/>
                      </a:solidFill>
                      <a:prstDash val="dot"/>
                      <a:round/>
                      <a:headEnd type="none" w="med" len="med"/>
                      <a:tailEnd type="none" w="med" len="med"/>
                    </a:lnL>
                    <a:lnR w="6350" cap="flat" cmpd="sng" algn="ctr">
                      <a:solidFill>
                        <a:srgbClr val="000000"/>
                      </a:solidFill>
                      <a:prstDash val="dot"/>
                      <a:round/>
                      <a:headEnd type="none" w="med" len="med"/>
                      <a:tailEnd type="none" w="med" len="med"/>
                    </a:lnR>
                    <a:lnT>
                      <a:noFill/>
                    </a:lnT>
                    <a:lnB w="6350" cap="flat" cmpd="sng" algn="ctr">
                      <a:solidFill>
                        <a:srgbClr val="000000"/>
                      </a:solidFill>
                      <a:prstDash val="solid"/>
                      <a:round/>
                      <a:headEnd type="none" w="med" len="med"/>
                      <a:tailEnd type="none" w="med" len="med"/>
                    </a:lnB>
                    <a:noFill/>
                  </a:tcPr>
                </a:tc>
                <a:tc>
                  <a:txBody>
                    <a:bodyPr/>
                    <a:lstStyle/>
                    <a:p>
                      <a:pPr algn="ctr" fontAlgn="b">
                        <a:buNone/>
                      </a:pPr>
                      <a:r>
                        <a:rPr lang="es-AR" sz="1100" b="0" i="0" u="none" strike="noStrike">
                          <a:solidFill>
                            <a:srgbClr val="000000"/>
                          </a:solidFill>
                          <a:effectLst/>
                          <a:latin typeface="Lucida Bright" panose="02040602050505020304" pitchFamily="18" charset="0"/>
                        </a:rPr>
                        <a:t>1.312***</a:t>
                      </a:r>
                    </a:p>
                  </a:txBody>
                  <a:tcPr marL="9525" marR="9525" marT="9525" marB="0" anchor="b">
                    <a:lnL w="6350" cap="flat" cmpd="sng" algn="ctr">
                      <a:solidFill>
                        <a:srgbClr val="000000"/>
                      </a:solidFill>
                      <a:prstDash val="dot"/>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noFill/>
                  </a:tcPr>
                </a:tc>
                <a:tc>
                  <a:txBody>
                    <a:bodyPr/>
                    <a:lstStyle/>
                    <a:p>
                      <a:pPr algn="ctr" fontAlgn="b">
                        <a:buNone/>
                      </a:pPr>
                      <a:r>
                        <a:rPr lang="es-AR" sz="1100" b="0" i="0" u="none" strike="noStrike">
                          <a:solidFill>
                            <a:srgbClr val="000000"/>
                          </a:solidFill>
                          <a:effectLst/>
                          <a:latin typeface="Lucida Bright" panose="02040602050505020304" pitchFamily="18" charset="0"/>
                        </a:rPr>
                        <a:t>1.220***</a:t>
                      </a:r>
                    </a:p>
                  </a:txBody>
                  <a:tcPr marL="9525" marR="9525" marT="9525" marB="0" anchor="b">
                    <a:lnL w="6350" cap="flat" cmpd="sng" algn="ctr">
                      <a:solidFill>
                        <a:srgbClr val="000000"/>
                      </a:solidFill>
                      <a:prstDash val="solid"/>
                      <a:round/>
                      <a:headEnd type="none" w="med" len="med"/>
                      <a:tailEnd type="none" w="med" len="med"/>
                    </a:lnL>
                    <a:lnR w="6350" cap="flat" cmpd="sng" algn="ctr">
                      <a:solidFill>
                        <a:srgbClr val="000000"/>
                      </a:solidFill>
                      <a:prstDash val="dot"/>
                      <a:round/>
                      <a:headEnd type="none" w="med" len="med"/>
                      <a:tailEnd type="none" w="med" len="med"/>
                    </a:lnR>
                    <a:lnT>
                      <a:noFill/>
                    </a:lnT>
                    <a:lnB w="6350" cap="flat" cmpd="sng" algn="ctr">
                      <a:solidFill>
                        <a:srgbClr val="000000"/>
                      </a:solidFill>
                      <a:prstDash val="solid"/>
                      <a:round/>
                      <a:headEnd type="none" w="med" len="med"/>
                      <a:tailEnd type="none" w="med" len="med"/>
                    </a:lnB>
                    <a:noFill/>
                  </a:tcPr>
                </a:tc>
                <a:tc>
                  <a:txBody>
                    <a:bodyPr/>
                    <a:lstStyle/>
                    <a:p>
                      <a:pPr algn="ctr" fontAlgn="b">
                        <a:buNone/>
                      </a:pPr>
                      <a:r>
                        <a:rPr lang="es-AR" sz="1100" b="0" i="0" u="none" strike="noStrike">
                          <a:solidFill>
                            <a:srgbClr val="000000"/>
                          </a:solidFill>
                          <a:effectLst/>
                          <a:latin typeface="Lucida Bright" panose="02040602050505020304" pitchFamily="18" charset="0"/>
                        </a:rPr>
                        <a:t>1.308***</a:t>
                      </a:r>
                    </a:p>
                  </a:txBody>
                  <a:tcPr marL="9525" marR="9525" marT="9525" marB="0" anchor="b">
                    <a:lnL w="6350" cap="flat" cmpd="sng" algn="ctr">
                      <a:solidFill>
                        <a:srgbClr val="000000"/>
                      </a:solidFill>
                      <a:prstDash val="dot"/>
                      <a:round/>
                      <a:headEnd type="none" w="med" len="med"/>
                      <a:tailEnd type="none" w="med" len="med"/>
                    </a:lnL>
                    <a:lnR w="6350" cap="flat" cmpd="sng" algn="ctr">
                      <a:solidFill>
                        <a:srgbClr val="000000"/>
                      </a:solidFill>
                      <a:prstDash val="dot"/>
                      <a:round/>
                      <a:headEnd type="none" w="med" len="med"/>
                      <a:tailEnd type="none" w="med" len="med"/>
                    </a:lnR>
                    <a:lnT>
                      <a:noFill/>
                    </a:lnT>
                    <a:lnB w="6350" cap="flat" cmpd="sng" algn="ctr">
                      <a:solidFill>
                        <a:srgbClr val="000000"/>
                      </a:solidFill>
                      <a:prstDash val="solid"/>
                      <a:round/>
                      <a:headEnd type="none" w="med" len="med"/>
                      <a:tailEnd type="none" w="med" len="med"/>
                    </a:lnB>
                    <a:noFill/>
                  </a:tcPr>
                </a:tc>
                <a:tc>
                  <a:txBody>
                    <a:bodyPr/>
                    <a:lstStyle/>
                    <a:p>
                      <a:pPr algn="ctr" fontAlgn="b">
                        <a:buNone/>
                      </a:pPr>
                      <a:r>
                        <a:rPr lang="es-AR" sz="1100" b="0" i="0" u="none" strike="noStrike">
                          <a:solidFill>
                            <a:srgbClr val="000000"/>
                          </a:solidFill>
                          <a:effectLst/>
                          <a:latin typeface="Lucida Bright" panose="02040602050505020304" pitchFamily="18" charset="0"/>
                        </a:rPr>
                        <a:t>1.314***</a:t>
                      </a:r>
                    </a:p>
                  </a:txBody>
                  <a:tcPr marL="9525" marR="9525" marT="9525" marB="0" anchor="b">
                    <a:lnL w="6350" cap="flat" cmpd="sng" algn="ctr">
                      <a:solidFill>
                        <a:srgbClr val="000000"/>
                      </a:solidFill>
                      <a:prstDash val="dot"/>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1791016685"/>
                  </a:ext>
                </a:extLst>
              </a:tr>
              <a:tr h="190500">
                <a:tc>
                  <a:txBody>
                    <a:bodyPr/>
                    <a:lstStyle/>
                    <a:p>
                      <a:pPr algn="l" fontAlgn="b">
                        <a:buNone/>
                      </a:pPr>
                      <a:r>
                        <a:rPr lang="es-AR" sz="1100" b="0" i="0" u="none" strike="noStrike">
                          <a:solidFill>
                            <a:srgbClr val="000000"/>
                          </a:solidFill>
                          <a:effectLst/>
                          <a:latin typeface="Lucida Bright" panose="02040602050505020304" pitchFamily="18" charset="0"/>
                        </a:rPr>
                        <a:t>R² ajustado</a:t>
                      </a:r>
                    </a:p>
                  </a:txBody>
                  <a:tcPr marL="9525" marR="9525" marT="9525"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b">
                        <a:buNone/>
                      </a:pPr>
                      <a:r>
                        <a:rPr lang="es-AR" sz="1100" b="1" i="0" u="none" strike="noStrike" dirty="0">
                          <a:solidFill>
                            <a:srgbClr val="000000"/>
                          </a:solidFill>
                          <a:effectLst/>
                          <a:latin typeface="Lucida Bright" panose="02040602050505020304" pitchFamily="18" charset="0"/>
                        </a:rPr>
                        <a:t>0.334</a:t>
                      </a:r>
                    </a:p>
                  </a:txBody>
                  <a:tcPr marL="9525" marR="9525" marT="9525" marB="0" anchor="b">
                    <a:lnL w="6350" cap="flat" cmpd="sng" algn="ctr">
                      <a:solidFill>
                        <a:srgbClr val="000000"/>
                      </a:solidFill>
                      <a:prstDash val="solid"/>
                      <a:round/>
                      <a:headEnd type="none" w="med" len="med"/>
                      <a:tailEnd type="none" w="med" len="med"/>
                    </a:lnL>
                    <a:lnR w="6350" cap="flat" cmpd="sng" algn="ctr">
                      <a:solidFill>
                        <a:srgbClr val="000000"/>
                      </a:solidFill>
                      <a:prstDash val="dot"/>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b">
                        <a:buNone/>
                      </a:pPr>
                      <a:r>
                        <a:rPr lang="es-AR" sz="1100" b="1" i="0" u="none" strike="noStrike">
                          <a:solidFill>
                            <a:srgbClr val="000000"/>
                          </a:solidFill>
                          <a:effectLst/>
                          <a:latin typeface="Lucida Bright" panose="02040602050505020304" pitchFamily="18" charset="0"/>
                        </a:rPr>
                        <a:t>0.302</a:t>
                      </a:r>
                    </a:p>
                  </a:txBody>
                  <a:tcPr marL="9525" marR="9525" marT="9525" marB="0" anchor="b">
                    <a:lnL w="6350" cap="flat" cmpd="sng" algn="ctr">
                      <a:solidFill>
                        <a:srgbClr val="000000"/>
                      </a:solidFill>
                      <a:prstDash val="dot"/>
                      <a:round/>
                      <a:headEnd type="none" w="med" len="med"/>
                      <a:tailEnd type="none" w="med" len="med"/>
                    </a:lnL>
                    <a:lnR w="6350" cap="flat" cmpd="sng" algn="ctr">
                      <a:solidFill>
                        <a:srgbClr val="000000"/>
                      </a:solidFill>
                      <a:prstDash val="dot"/>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b">
                        <a:buNone/>
                      </a:pPr>
                      <a:r>
                        <a:rPr lang="es-AR" sz="1100" b="1" i="0" u="none" strike="noStrike" dirty="0">
                          <a:solidFill>
                            <a:srgbClr val="000000"/>
                          </a:solidFill>
                          <a:effectLst/>
                          <a:latin typeface="Lucida Bright" panose="02040602050505020304" pitchFamily="18" charset="0"/>
                        </a:rPr>
                        <a:t>0.176</a:t>
                      </a:r>
                    </a:p>
                  </a:txBody>
                  <a:tcPr marL="9525" marR="9525" marT="9525" marB="0" anchor="b">
                    <a:lnL w="6350" cap="flat" cmpd="sng" algn="ctr">
                      <a:solidFill>
                        <a:srgbClr val="000000"/>
                      </a:solidFill>
                      <a:prstDash val="dot"/>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b">
                        <a:buNone/>
                      </a:pPr>
                      <a:r>
                        <a:rPr lang="es-AR" sz="1100" b="1" i="0" u="none" strike="noStrike">
                          <a:solidFill>
                            <a:srgbClr val="000000"/>
                          </a:solidFill>
                          <a:effectLst/>
                          <a:latin typeface="Lucida Bright" panose="02040602050505020304" pitchFamily="18" charset="0"/>
                        </a:rPr>
                        <a:t>0.332</a:t>
                      </a:r>
                    </a:p>
                  </a:txBody>
                  <a:tcPr marL="9525" marR="9525" marT="9525" marB="0" anchor="b">
                    <a:lnL w="6350" cap="flat" cmpd="sng" algn="ctr">
                      <a:solidFill>
                        <a:srgbClr val="000000"/>
                      </a:solidFill>
                      <a:prstDash val="solid"/>
                      <a:round/>
                      <a:headEnd type="none" w="med" len="med"/>
                      <a:tailEnd type="none" w="med" len="med"/>
                    </a:lnL>
                    <a:lnR w="6350" cap="flat" cmpd="sng" algn="ctr">
                      <a:solidFill>
                        <a:srgbClr val="000000"/>
                      </a:solidFill>
                      <a:prstDash val="dot"/>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b">
                        <a:buNone/>
                      </a:pPr>
                      <a:r>
                        <a:rPr lang="es-AR" sz="1100" b="1" i="0" u="none" strike="noStrike" dirty="0">
                          <a:solidFill>
                            <a:srgbClr val="000000"/>
                          </a:solidFill>
                          <a:effectLst/>
                          <a:latin typeface="Lucida Bright" panose="02040602050505020304" pitchFamily="18" charset="0"/>
                        </a:rPr>
                        <a:t>0.299</a:t>
                      </a:r>
                    </a:p>
                  </a:txBody>
                  <a:tcPr marL="9525" marR="9525" marT="9525" marB="0" anchor="b">
                    <a:lnL w="6350" cap="flat" cmpd="sng" algn="ctr">
                      <a:solidFill>
                        <a:srgbClr val="000000"/>
                      </a:solidFill>
                      <a:prstDash val="dot"/>
                      <a:round/>
                      <a:headEnd type="none" w="med" len="med"/>
                      <a:tailEnd type="none" w="med" len="med"/>
                    </a:lnL>
                    <a:lnR w="6350" cap="flat" cmpd="sng" algn="ctr">
                      <a:solidFill>
                        <a:srgbClr val="000000"/>
                      </a:solidFill>
                      <a:prstDash val="dot"/>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b">
                        <a:buNone/>
                      </a:pPr>
                      <a:r>
                        <a:rPr lang="es-AR" sz="1100" b="1" i="0" u="none" strike="noStrike" dirty="0">
                          <a:solidFill>
                            <a:srgbClr val="000000"/>
                          </a:solidFill>
                          <a:effectLst/>
                          <a:latin typeface="Lucida Bright" panose="02040602050505020304" pitchFamily="18" charset="0"/>
                        </a:rPr>
                        <a:t>0.177</a:t>
                      </a:r>
                    </a:p>
                  </a:txBody>
                  <a:tcPr marL="9525" marR="9525" marT="9525" marB="0" anchor="b">
                    <a:lnL w="6350" cap="flat" cmpd="sng" algn="ctr">
                      <a:solidFill>
                        <a:srgbClr val="000000"/>
                      </a:solidFill>
                      <a:prstDash val="dot"/>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b">
                        <a:buNone/>
                      </a:pPr>
                      <a:r>
                        <a:rPr lang="es-AR" sz="1100" b="1" i="0" u="none" strike="noStrike">
                          <a:solidFill>
                            <a:srgbClr val="000000"/>
                          </a:solidFill>
                          <a:effectLst/>
                          <a:latin typeface="Lucida Bright" panose="02040602050505020304" pitchFamily="18" charset="0"/>
                        </a:rPr>
                        <a:t>0.827</a:t>
                      </a:r>
                    </a:p>
                  </a:txBody>
                  <a:tcPr marL="9525" marR="9525" marT="9525" marB="0" anchor="b">
                    <a:lnL w="6350" cap="flat" cmpd="sng" algn="ctr">
                      <a:solidFill>
                        <a:srgbClr val="000000"/>
                      </a:solidFill>
                      <a:prstDash val="solid"/>
                      <a:round/>
                      <a:headEnd type="none" w="med" len="med"/>
                      <a:tailEnd type="none" w="med" len="med"/>
                    </a:lnL>
                    <a:lnR w="6350" cap="flat" cmpd="sng" algn="ctr">
                      <a:solidFill>
                        <a:srgbClr val="000000"/>
                      </a:solidFill>
                      <a:prstDash val="dot"/>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b">
                        <a:buNone/>
                      </a:pPr>
                      <a:r>
                        <a:rPr lang="es-AR" sz="1100" b="1" i="0" u="none" strike="noStrike" dirty="0">
                          <a:solidFill>
                            <a:srgbClr val="000000"/>
                          </a:solidFill>
                          <a:effectLst/>
                          <a:latin typeface="Lucida Bright" panose="02040602050505020304" pitchFamily="18" charset="0"/>
                        </a:rPr>
                        <a:t>0.708</a:t>
                      </a:r>
                    </a:p>
                  </a:txBody>
                  <a:tcPr marL="9525" marR="9525" marT="9525" marB="0" anchor="b">
                    <a:lnL w="6350" cap="flat" cmpd="sng" algn="ctr">
                      <a:solidFill>
                        <a:srgbClr val="000000"/>
                      </a:solidFill>
                      <a:prstDash val="dot"/>
                      <a:round/>
                      <a:headEnd type="none" w="med" len="med"/>
                      <a:tailEnd type="none" w="med" len="med"/>
                    </a:lnL>
                    <a:lnR w="6350" cap="flat" cmpd="sng" algn="ctr">
                      <a:solidFill>
                        <a:srgbClr val="000000"/>
                      </a:solidFill>
                      <a:prstDash val="dot"/>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b">
                        <a:buNone/>
                      </a:pPr>
                      <a:r>
                        <a:rPr lang="es-AR" sz="1100" b="1" i="0" u="none" strike="noStrike" dirty="0">
                          <a:solidFill>
                            <a:srgbClr val="000000"/>
                          </a:solidFill>
                          <a:effectLst/>
                          <a:latin typeface="Lucida Bright" panose="02040602050505020304" pitchFamily="18" charset="0"/>
                        </a:rPr>
                        <a:t>0.71</a:t>
                      </a:r>
                    </a:p>
                  </a:txBody>
                  <a:tcPr marL="9525" marR="9525" marT="9525" marB="0" anchor="b">
                    <a:lnL w="6350" cap="flat" cmpd="sng" algn="ctr">
                      <a:solidFill>
                        <a:srgbClr val="000000"/>
                      </a:solidFill>
                      <a:prstDash val="dot"/>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b">
                        <a:buNone/>
                      </a:pPr>
                      <a:r>
                        <a:rPr lang="es-AR" sz="1100" b="1" i="0" u="none" strike="noStrike" dirty="0">
                          <a:solidFill>
                            <a:srgbClr val="000000"/>
                          </a:solidFill>
                          <a:effectLst/>
                          <a:latin typeface="Lucida Bright" panose="02040602050505020304" pitchFamily="18" charset="0"/>
                        </a:rPr>
                        <a:t>0.827</a:t>
                      </a:r>
                    </a:p>
                  </a:txBody>
                  <a:tcPr marL="9525" marR="9525" marT="9525" marB="0" anchor="b">
                    <a:lnL w="6350" cap="flat" cmpd="sng" algn="ctr">
                      <a:solidFill>
                        <a:srgbClr val="000000"/>
                      </a:solidFill>
                      <a:prstDash val="solid"/>
                      <a:round/>
                      <a:headEnd type="none" w="med" len="med"/>
                      <a:tailEnd type="none" w="med" len="med"/>
                    </a:lnL>
                    <a:lnR w="6350" cap="flat" cmpd="sng" algn="ctr">
                      <a:solidFill>
                        <a:srgbClr val="000000"/>
                      </a:solidFill>
                      <a:prstDash val="dot"/>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b">
                        <a:buNone/>
                      </a:pPr>
                      <a:r>
                        <a:rPr lang="es-AR" sz="1100" b="1" i="0" u="none" strike="noStrike" dirty="0">
                          <a:solidFill>
                            <a:srgbClr val="000000"/>
                          </a:solidFill>
                          <a:effectLst/>
                          <a:latin typeface="Lucida Bright" panose="02040602050505020304" pitchFamily="18" charset="0"/>
                        </a:rPr>
                        <a:t>0.707</a:t>
                      </a:r>
                    </a:p>
                  </a:txBody>
                  <a:tcPr marL="9525" marR="9525" marT="9525" marB="0" anchor="b">
                    <a:lnL w="6350" cap="flat" cmpd="sng" algn="ctr">
                      <a:solidFill>
                        <a:srgbClr val="000000"/>
                      </a:solidFill>
                      <a:prstDash val="dot"/>
                      <a:round/>
                      <a:headEnd type="none" w="med" len="med"/>
                      <a:tailEnd type="none" w="med" len="med"/>
                    </a:lnL>
                    <a:lnR w="6350" cap="flat" cmpd="sng" algn="ctr">
                      <a:solidFill>
                        <a:srgbClr val="000000"/>
                      </a:solidFill>
                      <a:prstDash val="dot"/>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b">
                        <a:buNone/>
                      </a:pPr>
                      <a:r>
                        <a:rPr lang="es-AR" sz="1100" b="1" i="0" u="none" strike="noStrike" dirty="0">
                          <a:solidFill>
                            <a:srgbClr val="000000"/>
                          </a:solidFill>
                          <a:effectLst/>
                          <a:latin typeface="Lucida Bright" panose="02040602050505020304" pitchFamily="18" charset="0"/>
                        </a:rPr>
                        <a:t>0.709</a:t>
                      </a:r>
                    </a:p>
                  </a:txBody>
                  <a:tcPr marL="9525" marR="9525" marT="9525" marB="0" anchor="b">
                    <a:lnL w="6350" cap="flat" cmpd="sng" algn="ctr">
                      <a:solidFill>
                        <a:srgbClr val="000000"/>
                      </a:solidFill>
                      <a:prstDash val="dot"/>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975354172"/>
                  </a:ext>
                </a:extLst>
              </a:tr>
            </a:tbl>
          </a:graphicData>
        </a:graphic>
      </p:graphicFrame>
      <p:sp>
        <p:nvSpPr>
          <p:cNvPr id="13" name="CuadroTexto 12">
            <a:extLst>
              <a:ext uri="{FF2B5EF4-FFF2-40B4-BE49-F238E27FC236}">
                <a16:creationId xmlns:a16="http://schemas.microsoft.com/office/drawing/2014/main" id="{003831CE-821B-EFD5-F396-12A92AFD0A2F}"/>
              </a:ext>
            </a:extLst>
          </p:cNvPr>
          <p:cNvSpPr txBox="1"/>
          <p:nvPr/>
        </p:nvSpPr>
        <p:spPr>
          <a:xfrm>
            <a:off x="3163824" y="2061991"/>
            <a:ext cx="5450645" cy="253916"/>
          </a:xfrm>
          <a:prstGeom prst="rect">
            <a:avLst/>
          </a:prstGeom>
          <a:noFill/>
        </p:spPr>
        <p:txBody>
          <a:bodyPr wrap="square" rtlCol="0">
            <a:spAutoFit/>
          </a:bodyPr>
          <a:lstStyle/>
          <a:p>
            <a:r>
              <a:rPr lang="es-MX" sz="1050" b="1" dirty="0">
                <a:latin typeface="Lucida Bright" panose="02040602050505020304" pitchFamily="18" charset="0"/>
              </a:rPr>
              <a:t>Cuadro 2</a:t>
            </a:r>
            <a:r>
              <a:rPr lang="es-MX" sz="1050" dirty="0">
                <a:latin typeface="Lucida Bright" panose="02040602050505020304" pitchFamily="18" charset="0"/>
              </a:rPr>
              <a:t> | Resultado de regresiones sobre exportaciones </a:t>
            </a:r>
            <a:r>
              <a:rPr lang="es-MX" sz="1050" b="1" dirty="0">
                <a:latin typeface="Lucida Bright" panose="02040602050505020304" pitchFamily="18" charset="0"/>
              </a:rPr>
              <a:t>totales</a:t>
            </a:r>
            <a:r>
              <a:rPr lang="es-MX" sz="1050" dirty="0">
                <a:latin typeface="Lucida Bright" panose="02040602050505020304" pitchFamily="18" charset="0"/>
              </a:rPr>
              <a:t> de Santa Fe</a:t>
            </a:r>
            <a:endParaRPr lang="es-AR" sz="1050" dirty="0">
              <a:latin typeface="Lucida Bright" panose="02040602050505020304" pitchFamily="18" charset="0"/>
            </a:endParaRPr>
          </a:p>
        </p:txBody>
      </p:sp>
    </p:spTree>
    <p:extLst>
      <p:ext uri="{BB962C8B-B14F-4D97-AF65-F5344CB8AC3E}">
        <p14:creationId xmlns:p14="http://schemas.microsoft.com/office/powerpoint/2010/main" val="71055565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95B74A-3A82-7418-8847-DF90AEB91ECF}"/>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3884278F-4C61-547A-5768-5717EA70223D}"/>
              </a:ext>
            </a:extLst>
          </p:cNvPr>
          <p:cNvSpPr>
            <a:spLocks noGrp="1"/>
          </p:cNvSpPr>
          <p:nvPr>
            <p:ph type="title"/>
          </p:nvPr>
        </p:nvSpPr>
        <p:spPr/>
        <p:txBody>
          <a:bodyPr/>
          <a:lstStyle/>
          <a:p>
            <a:endParaRPr lang="es-AR"/>
          </a:p>
        </p:txBody>
      </p:sp>
      <p:graphicFrame>
        <p:nvGraphicFramePr>
          <p:cNvPr id="8" name="Marcador de contenido 7">
            <a:extLst>
              <a:ext uri="{FF2B5EF4-FFF2-40B4-BE49-F238E27FC236}">
                <a16:creationId xmlns:a16="http://schemas.microsoft.com/office/drawing/2014/main" id="{F3BF6789-BE08-B2B6-DDF6-E4F05F232984}"/>
              </a:ext>
            </a:extLst>
          </p:cNvPr>
          <p:cNvGraphicFramePr>
            <a:graphicFrameLocks noGrp="1"/>
          </p:cNvGraphicFramePr>
          <p:nvPr>
            <p:ph idx="1"/>
          </p:nvPr>
        </p:nvGraphicFramePr>
        <p:xfrm>
          <a:off x="1905937" y="1808655"/>
          <a:ext cx="8380125" cy="4385278"/>
        </p:xfrm>
        <a:graphic>
          <a:graphicData uri="http://schemas.openxmlformats.org/drawingml/2006/table">
            <a:tbl>
              <a:tblPr/>
              <a:tblGrid>
                <a:gridCol w="1030929">
                  <a:extLst>
                    <a:ext uri="{9D8B030D-6E8A-4147-A177-3AD203B41FA5}">
                      <a16:colId xmlns:a16="http://schemas.microsoft.com/office/drawing/2014/main" val="3338794064"/>
                    </a:ext>
                  </a:extLst>
                </a:gridCol>
                <a:gridCol w="612433">
                  <a:extLst>
                    <a:ext uri="{9D8B030D-6E8A-4147-A177-3AD203B41FA5}">
                      <a16:colId xmlns:a16="http://schemas.microsoft.com/office/drawing/2014/main" val="3538855033"/>
                    </a:ext>
                  </a:extLst>
                </a:gridCol>
                <a:gridCol w="612433">
                  <a:extLst>
                    <a:ext uri="{9D8B030D-6E8A-4147-A177-3AD203B41FA5}">
                      <a16:colId xmlns:a16="http://schemas.microsoft.com/office/drawing/2014/main" val="603907857"/>
                    </a:ext>
                  </a:extLst>
                </a:gridCol>
                <a:gridCol w="612433">
                  <a:extLst>
                    <a:ext uri="{9D8B030D-6E8A-4147-A177-3AD203B41FA5}">
                      <a16:colId xmlns:a16="http://schemas.microsoft.com/office/drawing/2014/main" val="3093607170"/>
                    </a:ext>
                  </a:extLst>
                </a:gridCol>
                <a:gridCol w="612433">
                  <a:extLst>
                    <a:ext uri="{9D8B030D-6E8A-4147-A177-3AD203B41FA5}">
                      <a16:colId xmlns:a16="http://schemas.microsoft.com/office/drawing/2014/main" val="2455181416"/>
                    </a:ext>
                  </a:extLst>
                </a:gridCol>
                <a:gridCol w="612433">
                  <a:extLst>
                    <a:ext uri="{9D8B030D-6E8A-4147-A177-3AD203B41FA5}">
                      <a16:colId xmlns:a16="http://schemas.microsoft.com/office/drawing/2014/main" val="668714016"/>
                    </a:ext>
                  </a:extLst>
                </a:gridCol>
                <a:gridCol w="612433">
                  <a:extLst>
                    <a:ext uri="{9D8B030D-6E8A-4147-A177-3AD203B41FA5}">
                      <a16:colId xmlns:a16="http://schemas.microsoft.com/office/drawing/2014/main" val="2404293430"/>
                    </a:ext>
                  </a:extLst>
                </a:gridCol>
                <a:gridCol w="612433">
                  <a:extLst>
                    <a:ext uri="{9D8B030D-6E8A-4147-A177-3AD203B41FA5}">
                      <a16:colId xmlns:a16="http://schemas.microsoft.com/office/drawing/2014/main" val="2777787145"/>
                    </a:ext>
                  </a:extLst>
                </a:gridCol>
                <a:gridCol w="612433">
                  <a:extLst>
                    <a:ext uri="{9D8B030D-6E8A-4147-A177-3AD203B41FA5}">
                      <a16:colId xmlns:a16="http://schemas.microsoft.com/office/drawing/2014/main" val="1850172679"/>
                    </a:ext>
                  </a:extLst>
                </a:gridCol>
                <a:gridCol w="612433">
                  <a:extLst>
                    <a:ext uri="{9D8B030D-6E8A-4147-A177-3AD203B41FA5}">
                      <a16:colId xmlns:a16="http://schemas.microsoft.com/office/drawing/2014/main" val="120030644"/>
                    </a:ext>
                  </a:extLst>
                </a:gridCol>
                <a:gridCol w="612433">
                  <a:extLst>
                    <a:ext uri="{9D8B030D-6E8A-4147-A177-3AD203B41FA5}">
                      <a16:colId xmlns:a16="http://schemas.microsoft.com/office/drawing/2014/main" val="360128236"/>
                    </a:ext>
                  </a:extLst>
                </a:gridCol>
                <a:gridCol w="612433">
                  <a:extLst>
                    <a:ext uri="{9D8B030D-6E8A-4147-A177-3AD203B41FA5}">
                      <a16:colId xmlns:a16="http://schemas.microsoft.com/office/drawing/2014/main" val="2459768093"/>
                    </a:ext>
                  </a:extLst>
                </a:gridCol>
                <a:gridCol w="612433">
                  <a:extLst>
                    <a:ext uri="{9D8B030D-6E8A-4147-A177-3AD203B41FA5}">
                      <a16:colId xmlns:a16="http://schemas.microsoft.com/office/drawing/2014/main" val="4043846485"/>
                    </a:ext>
                  </a:extLst>
                </a:gridCol>
              </a:tblGrid>
              <a:tr h="950802">
                <a:tc>
                  <a:txBody>
                    <a:bodyPr/>
                    <a:lstStyle/>
                    <a:p>
                      <a:pPr algn="l" fontAlgn="b">
                        <a:buNone/>
                      </a:pPr>
                      <a:r>
                        <a:rPr lang="es-AR" sz="900" b="0" i="0" u="none" strike="noStrike">
                          <a:solidFill>
                            <a:srgbClr val="000000"/>
                          </a:solidFill>
                          <a:effectLst/>
                          <a:latin typeface="Lucida Bright" panose="02040602050505020304" pitchFamily="18" charset="0"/>
                        </a:rPr>
                        <a:t> </a:t>
                      </a:r>
                    </a:p>
                  </a:txBody>
                  <a:tcPr marL="7655" marR="7655" marT="7655"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solidFill>
                      <a:srgbClr val="FFFFFF"/>
                    </a:solidFill>
                  </a:tcPr>
                </a:tc>
                <a:tc>
                  <a:txBody>
                    <a:bodyPr/>
                    <a:lstStyle/>
                    <a:p>
                      <a:pPr algn="ctr" fontAlgn="b">
                        <a:buNone/>
                      </a:pPr>
                      <a:r>
                        <a:rPr lang="es-ES" sz="900" b="1" i="0" u="none" strike="noStrike" dirty="0">
                          <a:solidFill>
                            <a:srgbClr val="FFFFFF"/>
                          </a:solidFill>
                          <a:effectLst/>
                          <a:latin typeface="Lucida Bright" panose="02040602050505020304" pitchFamily="18" charset="0"/>
                        </a:rPr>
                        <a:t>VARIABLE DEPENDIENTE: EXPORTACIONES MOA BRUTAS</a:t>
                      </a:r>
                    </a:p>
                  </a:txBody>
                  <a:tcPr marL="7655" marR="7655" marT="7655"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375623"/>
                    </a:solidFill>
                  </a:tcPr>
                </a:tc>
                <a:tc>
                  <a:txBody>
                    <a:bodyPr/>
                    <a:lstStyle/>
                    <a:p>
                      <a:pPr algn="ctr" fontAlgn="b">
                        <a:buNone/>
                      </a:pPr>
                      <a:r>
                        <a:rPr lang="es-AR" sz="900" b="1" i="0" u="none" strike="noStrike">
                          <a:solidFill>
                            <a:srgbClr val="FFFFFF"/>
                          </a:solidFill>
                          <a:effectLst/>
                          <a:latin typeface="Lucida Bright" panose="02040602050505020304" pitchFamily="18" charset="0"/>
                        </a:rPr>
                        <a:t> </a:t>
                      </a:r>
                    </a:p>
                  </a:txBody>
                  <a:tcPr marL="7655" marR="7655" marT="7655"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375623"/>
                    </a:solidFill>
                  </a:tcPr>
                </a:tc>
                <a:tc>
                  <a:txBody>
                    <a:bodyPr/>
                    <a:lstStyle/>
                    <a:p>
                      <a:pPr algn="ctr" fontAlgn="b">
                        <a:buNone/>
                      </a:pPr>
                      <a:r>
                        <a:rPr lang="es-AR" sz="900" b="1" i="0" u="none" strike="noStrike">
                          <a:solidFill>
                            <a:srgbClr val="FFFFFF"/>
                          </a:solidFill>
                          <a:effectLst/>
                          <a:latin typeface="Lucida Bright" panose="02040602050505020304" pitchFamily="18" charset="0"/>
                        </a:rPr>
                        <a:t> </a:t>
                      </a:r>
                    </a:p>
                  </a:txBody>
                  <a:tcPr marL="7655" marR="7655" marT="7655"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375623"/>
                    </a:solidFill>
                  </a:tcPr>
                </a:tc>
                <a:tc>
                  <a:txBody>
                    <a:bodyPr/>
                    <a:lstStyle/>
                    <a:p>
                      <a:pPr algn="ctr" fontAlgn="b">
                        <a:buNone/>
                      </a:pPr>
                      <a:r>
                        <a:rPr lang="es-AR" sz="900" b="1" i="0" u="none" strike="noStrike">
                          <a:solidFill>
                            <a:srgbClr val="FFFFFF"/>
                          </a:solidFill>
                          <a:effectLst/>
                          <a:latin typeface="Lucida Bright" panose="02040602050505020304" pitchFamily="18" charset="0"/>
                        </a:rPr>
                        <a:t> </a:t>
                      </a:r>
                    </a:p>
                  </a:txBody>
                  <a:tcPr marL="7655" marR="7655" marT="7655"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375623"/>
                    </a:solidFill>
                  </a:tcPr>
                </a:tc>
                <a:tc>
                  <a:txBody>
                    <a:bodyPr/>
                    <a:lstStyle/>
                    <a:p>
                      <a:pPr algn="ctr" fontAlgn="b">
                        <a:buNone/>
                      </a:pPr>
                      <a:r>
                        <a:rPr lang="es-AR" sz="900" b="1" i="0" u="none" strike="noStrike">
                          <a:solidFill>
                            <a:srgbClr val="FFFFFF"/>
                          </a:solidFill>
                          <a:effectLst/>
                          <a:latin typeface="Lucida Bright" panose="02040602050505020304" pitchFamily="18" charset="0"/>
                        </a:rPr>
                        <a:t> </a:t>
                      </a:r>
                    </a:p>
                  </a:txBody>
                  <a:tcPr marL="7655" marR="7655" marT="7655"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375623"/>
                    </a:solidFill>
                  </a:tcPr>
                </a:tc>
                <a:tc>
                  <a:txBody>
                    <a:bodyPr/>
                    <a:lstStyle/>
                    <a:p>
                      <a:pPr algn="ctr" fontAlgn="b">
                        <a:buNone/>
                      </a:pPr>
                      <a:r>
                        <a:rPr lang="es-AR" sz="900" b="1" i="0" u="none" strike="noStrike">
                          <a:solidFill>
                            <a:srgbClr val="FFFFFF"/>
                          </a:solidFill>
                          <a:effectLst/>
                          <a:latin typeface="Lucida Bright" panose="02040602050505020304" pitchFamily="18" charset="0"/>
                        </a:rPr>
                        <a:t> </a:t>
                      </a:r>
                    </a:p>
                  </a:txBody>
                  <a:tcPr marL="7655" marR="7655" marT="7655"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375623"/>
                    </a:solidFill>
                  </a:tcPr>
                </a:tc>
                <a:tc>
                  <a:txBody>
                    <a:bodyPr/>
                    <a:lstStyle/>
                    <a:p>
                      <a:pPr algn="ctr" fontAlgn="b">
                        <a:buNone/>
                      </a:pPr>
                      <a:r>
                        <a:rPr lang="es-AR" sz="900" b="1" i="0" u="none" strike="noStrike">
                          <a:solidFill>
                            <a:srgbClr val="FFFFFF"/>
                          </a:solidFill>
                          <a:effectLst/>
                          <a:latin typeface="Lucida Bright" panose="02040602050505020304" pitchFamily="18" charset="0"/>
                        </a:rPr>
                        <a:t> </a:t>
                      </a:r>
                    </a:p>
                  </a:txBody>
                  <a:tcPr marL="7655" marR="7655" marT="7655"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375623"/>
                    </a:solidFill>
                  </a:tcPr>
                </a:tc>
                <a:tc>
                  <a:txBody>
                    <a:bodyPr/>
                    <a:lstStyle/>
                    <a:p>
                      <a:pPr algn="ctr" fontAlgn="b">
                        <a:buNone/>
                      </a:pPr>
                      <a:r>
                        <a:rPr lang="es-AR" sz="900" b="1" i="0" u="none" strike="noStrike">
                          <a:solidFill>
                            <a:srgbClr val="FFFFFF"/>
                          </a:solidFill>
                          <a:effectLst/>
                          <a:latin typeface="Lucida Bright" panose="02040602050505020304" pitchFamily="18" charset="0"/>
                        </a:rPr>
                        <a:t> </a:t>
                      </a:r>
                    </a:p>
                  </a:txBody>
                  <a:tcPr marL="7655" marR="7655" marT="7655"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375623"/>
                    </a:solidFill>
                  </a:tcPr>
                </a:tc>
                <a:tc>
                  <a:txBody>
                    <a:bodyPr/>
                    <a:lstStyle/>
                    <a:p>
                      <a:pPr algn="ctr" fontAlgn="b">
                        <a:buNone/>
                      </a:pPr>
                      <a:r>
                        <a:rPr lang="es-AR" sz="900" b="1" i="0" u="none" strike="noStrike">
                          <a:solidFill>
                            <a:srgbClr val="FFFFFF"/>
                          </a:solidFill>
                          <a:effectLst/>
                          <a:latin typeface="Lucida Bright" panose="02040602050505020304" pitchFamily="18" charset="0"/>
                        </a:rPr>
                        <a:t> </a:t>
                      </a:r>
                    </a:p>
                  </a:txBody>
                  <a:tcPr marL="7655" marR="7655" marT="7655"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375623"/>
                    </a:solidFill>
                  </a:tcPr>
                </a:tc>
                <a:tc>
                  <a:txBody>
                    <a:bodyPr/>
                    <a:lstStyle/>
                    <a:p>
                      <a:pPr algn="ctr" fontAlgn="b">
                        <a:buNone/>
                      </a:pPr>
                      <a:r>
                        <a:rPr lang="es-AR" sz="900" b="1" i="0" u="none" strike="noStrike">
                          <a:solidFill>
                            <a:srgbClr val="FFFFFF"/>
                          </a:solidFill>
                          <a:effectLst/>
                          <a:latin typeface="Lucida Bright" panose="02040602050505020304" pitchFamily="18" charset="0"/>
                        </a:rPr>
                        <a:t> </a:t>
                      </a:r>
                    </a:p>
                  </a:txBody>
                  <a:tcPr marL="7655" marR="7655" marT="7655"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375623"/>
                    </a:solidFill>
                  </a:tcPr>
                </a:tc>
                <a:tc>
                  <a:txBody>
                    <a:bodyPr/>
                    <a:lstStyle/>
                    <a:p>
                      <a:pPr algn="ctr" fontAlgn="b">
                        <a:buNone/>
                      </a:pPr>
                      <a:r>
                        <a:rPr lang="es-AR" sz="900" b="1" i="0" u="none" strike="noStrike">
                          <a:solidFill>
                            <a:srgbClr val="FFFFFF"/>
                          </a:solidFill>
                          <a:effectLst/>
                          <a:latin typeface="Lucida Bright" panose="02040602050505020304" pitchFamily="18" charset="0"/>
                        </a:rPr>
                        <a:t> </a:t>
                      </a:r>
                    </a:p>
                  </a:txBody>
                  <a:tcPr marL="7655" marR="7655" marT="7655"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375623"/>
                    </a:solidFill>
                  </a:tcPr>
                </a:tc>
                <a:tc>
                  <a:txBody>
                    <a:bodyPr/>
                    <a:lstStyle/>
                    <a:p>
                      <a:pPr algn="ctr" fontAlgn="b">
                        <a:buNone/>
                      </a:pPr>
                      <a:r>
                        <a:rPr lang="es-AR" sz="900" b="1" i="0" u="none" strike="noStrike">
                          <a:solidFill>
                            <a:srgbClr val="FFFFFF"/>
                          </a:solidFill>
                          <a:effectLst/>
                          <a:latin typeface="Lucida Bright" panose="02040602050505020304" pitchFamily="18" charset="0"/>
                        </a:rPr>
                        <a:t> </a:t>
                      </a:r>
                    </a:p>
                  </a:txBody>
                  <a:tcPr marL="7655" marR="7655" marT="7655"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375623"/>
                    </a:solidFill>
                  </a:tcPr>
                </a:tc>
                <a:extLst>
                  <a:ext uri="{0D108BD9-81ED-4DB2-BD59-A6C34878D82A}">
                    <a16:rowId xmlns:a16="http://schemas.microsoft.com/office/drawing/2014/main" val="3543578814"/>
                  </a:ext>
                </a:extLst>
              </a:tr>
              <a:tr h="153108">
                <a:tc>
                  <a:txBody>
                    <a:bodyPr/>
                    <a:lstStyle/>
                    <a:p>
                      <a:pPr algn="l" fontAlgn="b">
                        <a:buNone/>
                      </a:pPr>
                      <a:r>
                        <a:rPr lang="es-AR" sz="900" b="0" i="0" u="none" strike="noStrike">
                          <a:solidFill>
                            <a:srgbClr val="000000"/>
                          </a:solidFill>
                          <a:effectLst/>
                          <a:latin typeface="Lucida Bright" panose="02040602050505020304" pitchFamily="18" charset="0"/>
                        </a:rPr>
                        <a:t> </a:t>
                      </a:r>
                    </a:p>
                  </a:txBody>
                  <a:tcPr marL="7655" marR="7655" marT="7655"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solidFill>
                      <a:srgbClr val="FFFFFF"/>
                    </a:solidFill>
                  </a:tcPr>
                </a:tc>
                <a:tc gridSpan="3">
                  <a:txBody>
                    <a:bodyPr/>
                    <a:lstStyle/>
                    <a:p>
                      <a:pPr algn="ctr" fontAlgn="b">
                        <a:buNone/>
                      </a:pPr>
                      <a:r>
                        <a:rPr lang="es-AR" sz="900" b="0" i="0" u="none" strike="noStrike">
                          <a:solidFill>
                            <a:srgbClr val="000000"/>
                          </a:solidFill>
                          <a:effectLst/>
                          <a:latin typeface="Lucida Bright" panose="02040602050505020304" pitchFamily="18" charset="0"/>
                        </a:rPr>
                        <a:t>MODELOS SIMPLES</a:t>
                      </a:r>
                    </a:p>
                  </a:txBody>
                  <a:tcPr marL="7655" marR="7655" marT="7655"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C6E0B4"/>
                    </a:solidFill>
                  </a:tcPr>
                </a:tc>
                <a:tc hMerge="1">
                  <a:txBody>
                    <a:bodyPr/>
                    <a:lstStyle/>
                    <a:p>
                      <a:endParaRPr lang="es-AR"/>
                    </a:p>
                  </a:txBody>
                  <a:tcPr/>
                </a:tc>
                <a:tc hMerge="1">
                  <a:txBody>
                    <a:bodyPr/>
                    <a:lstStyle/>
                    <a:p>
                      <a:endParaRPr lang="es-AR"/>
                    </a:p>
                  </a:txBody>
                  <a:tcPr/>
                </a:tc>
                <a:tc gridSpan="3">
                  <a:txBody>
                    <a:bodyPr/>
                    <a:lstStyle/>
                    <a:p>
                      <a:pPr algn="ctr" fontAlgn="b">
                        <a:buNone/>
                      </a:pPr>
                      <a:r>
                        <a:rPr lang="es-AR" sz="900" b="0" i="0" u="none" strike="noStrike">
                          <a:solidFill>
                            <a:srgbClr val="000000"/>
                          </a:solidFill>
                          <a:effectLst/>
                          <a:latin typeface="Lucida Bright" panose="02040602050505020304" pitchFamily="18" charset="0"/>
                        </a:rPr>
                        <a:t>INCLUYEN GBEC</a:t>
                      </a:r>
                    </a:p>
                  </a:txBody>
                  <a:tcPr marL="7655" marR="7655" marT="7655"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C6E0B4"/>
                    </a:solidFill>
                  </a:tcPr>
                </a:tc>
                <a:tc hMerge="1">
                  <a:txBody>
                    <a:bodyPr/>
                    <a:lstStyle/>
                    <a:p>
                      <a:endParaRPr lang="es-AR"/>
                    </a:p>
                  </a:txBody>
                  <a:tcPr/>
                </a:tc>
                <a:tc hMerge="1">
                  <a:txBody>
                    <a:bodyPr/>
                    <a:lstStyle/>
                    <a:p>
                      <a:endParaRPr lang="es-AR"/>
                    </a:p>
                  </a:txBody>
                  <a:tcPr/>
                </a:tc>
                <a:tc gridSpan="3">
                  <a:txBody>
                    <a:bodyPr/>
                    <a:lstStyle/>
                    <a:p>
                      <a:pPr algn="ctr" fontAlgn="b">
                        <a:buNone/>
                      </a:pPr>
                      <a:r>
                        <a:rPr lang="es-AR" sz="900" b="0" i="0" u="none" strike="noStrike">
                          <a:solidFill>
                            <a:srgbClr val="000000"/>
                          </a:solidFill>
                          <a:effectLst/>
                          <a:latin typeface="Lucida Bright" panose="02040602050505020304" pitchFamily="18" charset="0"/>
                        </a:rPr>
                        <a:t>INCLUYEN API</a:t>
                      </a:r>
                    </a:p>
                  </a:txBody>
                  <a:tcPr marL="7655" marR="7655" marT="7655"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C6E0B4"/>
                    </a:solidFill>
                  </a:tcPr>
                </a:tc>
                <a:tc hMerge="1">
                  <a:txBody>
                    <a:bodyPr/>
                    <a:lstStyle/>
                    <a:p>
                      <a:endParaRPr lang="es-AR"/>
                    </a:p>
                  </a:txBody>
                  <a:tcPr/>
                </a:tc>
                <a:tc hMerge="1">
                  <a:txBody>
                    <a:bodyPr/>
                    <a:lstStyle/>
                    <a:p>
                      <a:endParaRPr lang="es-AR"/>
                    </a:p>
                  </a:txBody>
                  <a:tcPr/>
                </a:tc>
                <a:tc gridSpan="3">
                  <a:txBody>
                    <a:bodyPr/>
                    <a:lstStyle/>
                    <a:p>
                      <a:pPr algn="ctr" fontAlgn="b">
                        <a:buNone/>
                      </a:pPr>
                      <a:r>
                        <a:rPr lang="es-AR" sz="900" b="0" i="0" u="none" strike="noStrike">
                          <a:solidFill>
                            <a:srgbClr val="000000"/>
                          </a:solidFill>
                          <a:effectLst/>
                          <a:latin typeface="Lucida Bright" panose="02040602050505020304" pitchFamily="18" charset="0"/>
                        </a:rPr>
                        <a:t>INCLUTEN API Y GEBC</a:t>
                      </a:r>
                    </a:p>
                  </a:txBody>
                  <a:tcPr marL="7655" marR="7655" marT="7655"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C6E0B4"/>
                    </a:solidFill>
                  </a:tcPr>
                </a:tc>
                <a:tc hMerge="1">
                  <a:txBody>
                    <a:bodyPr/>
                    <a:lstStyle/>
                    <a:p>
                      <a:endParaRPr lang="es-AR"/>
                    </a:p>
                  </a:txBody>
                  <a:tcPr/>
                </a:tc>
                <a:tc hMerge="1">
                  <a:txBody>
                    <a:bodyPr/>
                    <a:lstStyle/>
                    <a:p>
                      <a:endParaRPr lang="es-AR"/>
                    </a:p>
                  </a:txBody>
                  <a:tcPr/>
                </a:tc>
                <a:extLst>
                  <a:ext uri="{0D108BD9-81ED-4DB2-BD59-A6C34878D82A}">
                    <a16:rowId xmlns:a16="http://schemas.microsoft.com/office/drawing/2014/main" val="2386653143"/>
                  </a:ext>
                </a:extLst>
              </a:tr>
              <a:tr h="153108">
                <a:tc>
                  <a:txBody>
                    <a:bodyPr/>
                    <a:lstStyle/>
                    <a:p>
                      <a:pPr algn="ctr" fontAlgn="b">
                        <a:buNone/>
                      </a:pPr>
                      <a:r>
                        <a:rPr lang="es-AR" sz="900" b="0" i="0" u="none" strike="noStrike">
                          <a:solidFill>
                            <a:srgbClr val="000000"/>
                          </a:solidFill>
                          <a:effectLst/>
                          <a:latin typeface="Lucida Bright" panose="02040602050505020304" pitchFamily="18" charset="0"/>
                        </a:rPr>
                        <a:t>X</a:t>
                      </a:r>
                    </a:p>
                  </a:txBody>
                  <a:tcPr marL="7655" marR="7655" marT="7655"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noFill/>
                  </a:tcPr>
                </a:tc>
                <a:tc>
                  <a:txBody>
                    <a:bodyPr/>
                    <a:lstStyle/>
                    <a:p>
                      <a:pPr algn="ctr" fontAlgn="b">
                        <a:buNone/>
                      </a:pPr>
                      <a:r>
                        <a:rPr lang="es-AR" sz="900" b="0" i="0" u="none" strike="noStrike">
                          <a:solidFill>
                            <a:srgbClr val="000000"/>
                          </a:solidFill>
                          <a:effectLst/>
                          <a:latin typeface="Lucida Bright" panose="02040602050505020304" pitchFamily="18" charset="0"/>
                        </a:rPr>
                        <a:t>ARG </a:t>
                      </a:r>
                    </a:p>
                  </a:txBody>
                  <a:tcPr marL="7655" marR="7655" marT="7655" marB="0" anchor="b">
                    <a:lnL w="6350" cap="flat" cmpd="sng" algn="ctr">
                      <a:solidFill>
                        <a:srgbClr val="000000"/>
                      </a:solidFill>
                      <a:prstDash val="solid"/>
                      <a:round/>
                      <a:headEnd type="none" w="med" len="med"/>
                      <a:tailEnd type="none" w="med" len="med"/>
                    </a:lnL>
                    <a:lnR w="6350" cap="flat" cmpd="sng" algn="ctr">
                      <a:solidFill>
                        <a:srgbClr val="000000"/>
                      </a:solidFill>
                      <a:prstDash val="dot"/>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b">
                        <a:buNone/>
                      </a:pPr>
                      <a:r>
                        <a:rPr lang="es-AR" sz="900" b="0" i="0" u="none" strike="noStrike">
                          <a:solidFill>
                            <a:srgbClr val="000000"/>
                          </a:solidFill>
                          <a:effectLst/>
                          <a:latin typeface="Lucida Bright" panose="02040602050505020304" pitchFamily="18" charset="0"/>
                        </a:rPr>
                        <a:t>SFE</a:t>
                      </a:r>
                    </a:p>
                  </a:txBody>
                  <a:tcPr marL="7655" marR="7655" marT="7655" marB="0" anchor="b">
                    <a:lnL w="6350" cap="flat" cmpd="sng" algn="ctr">
                      <a:solidFill>
                        <a:srgbClr val="000000"/>
                      </a:solidFill>
                      <a:prstDash val="dot"/>
                      <a:round/>
                      <a:headEnd type="none" w="med" len="med"/>
                      <a:tailEnd type="none" w="med" len="med"/>
                    </a:lnL>
                    <a:lnR w="6350" cap="flat" cmpd="sng" algn="ctr">
                      <a:solidFill>
                        <a:srgbClr val="000000"/>
                      </a:solidFill>
                      <a:prstDash val="dot"/>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b">
                        <a:buNone/>
                      </a:pPr>
                      <a:r>
                        <a:rPr lang="es-AR" sz="900" b="0" i="0" u="none" strike="noStrike">
                          <a:solidFill>
                            <a:srgbClr val="000000"/>
                          </a:solidFill>
                          <a:effectLst/>
                          <a:latin typeface="Lucida Bright" panose="02040602050505020304" pitchFamily="18" charset="0"/>
                        </a:rPr>
                        <a:t>SFE</a:t>
                      </a:r>
                    </a:p>
                  </a:txBody>
                  <a:tcPr marL="7655" marR="7655" marT="7655" marB="0" anchor="b">
                    <a:lnL w="6350" cap="flat" cmpd="sng" algn="ctr">
                      <a:solidFill>
                        <a:srgbClr val="000000"/>
                      </a:solidFill>
                      <a:prstDash val="dot"/>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b">
                        <a:buNone/>
                      </a:pPr>
                      <a:r>
                        <a:rPr lang="es-AR" sz="900" b="0" i="0" u="none" strike="noStrike">
                          <a:solidFill>
                            <a:srgbClr val="000000"/>
                          </a:solidFill>
                          <a:effectLst/>
                          <a:latin typeface="Lucida Bright" panose="02040602050505020304" pitchFamily="18" charset="0"/>
                        </a:rPr>
                        <a:t>ARG </a:t>
                      </a:r>
                    </a:p>
                  </a:txBody>
                  <a:tcPr marL="7655" marR="7655" marT="7655" marB="0" anchor="b">
                    <a:lnL w="6350" cap="flat" cmpd="sng" algn="ctr">
                      <a:solidFill>
                        <a:srgbClr val="000000"/>
                      </a:solidFill>
                      <a:prstDash val="solid"/>
                      <a:round/>
                      <a:headEnd type="none" w="med" len="med"/>
                      <a:tailEnd type="none" w="med" len="med"/>
                    </a:lnL>
                    <a:lnR w="6350" cap="flat" cmpd="sng" algn="ctr">
                      <a:solidFill>
                        <a:srgbClr val="000000"/>
                      </a:solidFill>
                      <a:prstDash val="dot"/>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b">
                        <a:buNone/>
                      </a:pPr>
                      <a:r>
                        <a:rPr lang="es-AR" sz="900" b="0" i="0" u="none" strike="noStrike">
                          <a:solidFill>
                            <a:srgbClr val="000000"/>
                          </a:solidFill>
                          <a:effectLst/>
                          <a:latin typeface="Lucida Bright" panose="02040602050505020304" pitchFamily="18" charset="0"/>
                        </a:rPr>
                        <a:t>SFE</a:t>
                      </a:r>
                    </a:p>
                  </a:txBody>
                  <a:tcPr marL="7655" marR="7655" marT="7655" marB="0" anchor="b">
                    <a:lnL w="6350" cap="flat" cmpd="sng" algn="ctr">
                      <a:solidFill>
                        <a:srgbClr val="000000"/>
                      </a:solidFill>
                      <a:prstDash val="dot"/>
                      <a:round/>
                      <a:headEnd type="none" w="med" len="med"/>
                      <a:tailEnd type="none" w="med" len="med"/>
                    </a:lnL>
                    <a:lnR w="6350" cap="flat" cmpd="sng" algn="ctr">
                      <a:solidFill>
                        <a:srgbClr val="000000"/>
                      </a:solidFill>
                      <a:prstDash val="dot"/>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b">
                        <a:buNone/>
                      </a:pPr>
                      <a:r>
                        <a:rPr lang="es-AR" sz="900" b="0" i="0" u="none" strike="noStrike">
                          <a:solidFill>
                            <a:srgbClr val="000000"/>
                          </a:solidFill>
                          <a:effectLst/>
                          <a:latin typeface="Lucida Bright" panose="02040602050505020304" pitchFamily="18" charset="0"/>
                        </a:rPr>
                        <a:t>SFE</a:t>
                      </a:r>
                    </a:p>
                  </a:txBody>
                  <a:tcPr marL="7655" marR="7655" marT="7655" marB="0" anchor="b">
                    <a:lnL w="6350" cap="flat" cmpd="sng" algn="ctr">
                      <a:solidFill>
                        <a:srgbClr val="000000"/>
                      </a:solidFill>
                      <a:prstDash val="dot"/>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b">
                        <a:buNone/>
                      </a:pPr>
                      <a:r>
                        <a:rPr lang="es-AR" sz="900" b="0" i="0" u="none" strike="noStrike">
                          <a:solidFill>
                            <a:srgbClr val="000000"/>
                          </a:solidFill>
                          <a:effectLst/>
                          <a:latin typeface="Lucida Bright" panose="02040602050505020304" pitchFamily="18" charset="0"/>
                        </a:rPr>
                        <a:t>ARG </a:t>
                      </a:r>
                    </a:p>
                  </a:txBody>
                  <a:tcPr marL="7655" marR="7655" marT="7655" marB="0" anchor="b">
                    <a:lnL w="6350" cap="flat" cmpd="sng" algn="ctr">
                      <a:solidFill>
                        <a:srgbClr val="000000"/>
                      </a:solidFill>
                      <a:prstDash val="solid"/>
                      <a:round/>
                      <a:headEnd type="none" w="med" len="med"/>
                      <a:tailEnd type="none" w="med" len="med"/>
                    </a:lnL>
                    <a:lnR w="6350" cap="flat" cmpd="sng" algn="ctr">
                      <a:solidFill>
                        <a:srgbClr val="000000"/>
                      </a:solidFill>
                      <a:prstDash val="dot"/>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b">
                        <a:buNone/>
                      </a:pPr>
                      <a:r>
                        <a:rPr lang="es-AR" sz="900" b="0" i="0" u="none" strike="noStrike">
                          <a:solidFill>
                            <a:srgbClr val="000000"/>
                          </a:solidFill>
                          <a:effectLst/>
                          <a:latin typeface="Lucida Bright" panose="02040602050505020304" pitchFamily="18" charset="0"/>
                        </a:rPr>
                        <a:t>SFE</a:t>
                      </a:r>
                    </a:p>
                  </a:txBody>
                  <a:tcPr marL="7655" marR="7655" marT="7655" marB="0" anchor="b">
                    <a:lnL w="6350" cap="flat" cmpd="sng" algn="ctr">
                      <a:solidFill>
                        <a:srgbClr val="000000"/>
                      </a:solidFill>
                      <a:prstDash val="dot"/>
                      <a:round/>
                      <a:headEnd type="none" w="med" len="med"/>
                      <a:tailEnd type="none" w="med" len="med"/>
                    </a:lnL>
                    <a:lnR w="6350" cap="flat" cmpd="sng" algn="ctr">
                      <a:solidFill>
                        <a:srgbClr val="000000"/>
                      </a:solidFill>
                      <a:prstDash val="dot"/>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b">
                        <a:buNone/>
                      </a:pPr>
                      <a:r>
                        <a:rPr lang="es-AR" sz="900" b="0" i="0" u="none" strike="noStrike">
                          <a:solidFill>
                            <a:srgbClr val="000000"/>
                          </a:solidFill>
                          <a:effectLst/>
                          <a:latin typeface="Lucida Bright" panose="02040602050505020304" pitchFamily="18" charset="0"/>
                        </a:rPr>
                        <a:t>SFE</a:t>
                      </a:r>
                    </a:p>
                  </a:txBody>
                  <a:tcPr marL="7655" marR="7655" marT="7655" marB="0" anchor="b">
                    <a:lnL w="6350" cap="flat" cmpd="sng" algn="ctr">
                      <a:solidFill>
                        <a:srgbClr val="000000"/>
                      </a:solidFill>
                      <a:prstDash val="dot"/>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b">
                        <a:buNone/>
                      </a:pPr>
                      <a:r>
                        <a:rPr lang="es-AR" sz="900" b="0" i="0" u="none" strike="noStrike">
                          <a:solidFill>
                            <a:srgbClr val="000000"/>
                          </a:solidFill>
                          <a:effectLst/>
                          <a:latin typeface="Lucida Bright" panose="02040602050505020304" pitchFamily="18" charset="0"/>
                        </a:rPr>
                        <a:t>ARG </a:t>
                      </a:r>
                    </a:p>
                  </a:txBody>
                  <a:tcPr marL="7655" marR="7655" marT="7655" marB="0" anchor="b">
                    <a:lnL w="6350" cap="flat" cmpd="sng" algn="ctr">
                      <a:solidFill>
                        <a:srgbClr val="000000"/>
                      </a:solidFill>
                      <a:prstDash val="solid"/>
                      <a:round/>
                      <a:headEnd type="none" w="med" len="med"/>
                      <a:tailEnd type="none" w="med" len="med"/>
                    </a:lnL>
                    <a:lnR w="6350" cap="flat" cmpd="sng" algn="ctr">
                      <a:solidFill>
                        <a:srgbClr val="000000"/>
                      </a:solidFill>
                      <a:prstDash val="dot"/>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b">
                        <a:buNone/>
                      </a:pPr>
                      <a:r>
                        <a:rPr lang="es-AR" sz="900" b="0" i="0" u="none" strike="noStrike">
                          <a:solidFill>
                            <a:srgbClr val="000000"/>
                          </a:solidFill>
                          <a:effectLst/>
                          <a:latin typeface="Lucida Bright" panose="02040602050505020304" pitchFamily="18" charset="0"/>
                        </a:rPr>
                        <a:t>SFE</a:t>
                      </a:r>
                    </a:p>
                  </a:txBody>
                  <a:tcPr marL="7655" marR="7655" marT="7655" marB="0" anchor="b">
                    <a:lnL w="6350" cap="flat" cmpd="sng" algn="ctr">
                      <a:solidFill>
                        <a:srgbClr val="000000"/>
                      </a:solidFill>
                      <a:prstDash val="dot"/>
                      <a:round/>
                      <a:headEnd type="none" w="med" len="med"/>
                      <a:tailEnd type="none" w="med" len="med"/>
                    </a:lnL>
                    <a:lnR w="6350" cap="flat" cmpd="sng" algn="ctr">
                      <a:solidFill>
                        <a:srgbClr val="000000"/>
                      </a:solidFill>
                      <a:prstDash val="dot"/>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b">
                        <a:buNone/>
                      </a:pPr>
                      <a:r>
                        <a:rPr lang="es-AR" sz="900" b="0" i="0" u="none" strike="noStrike">
                          <a:solidFill>
                            <a:srgbClr val="000000"/>
                          </a:solidFill>
                          <a:effectLst/>
                          <a:latin typeface="Lucida Bright" panose="02040602050505020304" pitchFamily="18" charset="0"/>
                        </a:rPr>
                        <a:t>SFE</a:t>
                      </a:r>
                    </a:p>
                  </a:txBody>
                  <a:tcPr marL="7655" marR="7655" marT="7655" marB="0" anchor="b">
                    <a:lnL w="6350" cap="flat" cmpd="sng" algn="ctr">
                      <a:solidFill>
                        <a:srgbClr val="000000"/>
                      </a:solidFill>
                      <a:prstDash val="dot"/>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2815667051"/>
                  </a:ext>
                </a:extLst>
              </a:tr>
              <a:tr h="153108">
                <a:tc>
                  <a:txBody>
                    <a:bodyPr/>
                    <a:lstStyle/>
                    <a:p>
                      <a:pPr algn="l" fontAlgn="b">
                        <a:buNone/>
                      </a:pPr>
                      <a:r>
                        <a:rPr lang="es-AR" sz="900" b="0" i="0" u="none" strike="noStrike">
                          <a:solidFill>
                            <a:srgbClr val="000000"/>
                          </a:solidFill>
                          <a:effectLst/>
                          <a:latin typeface="Lucida Bright" panose="02040602050505020304" pitchFamily="18" charset="0"/>
                        </a:rPr>
                        <a:t>(Intercept)</a:t>
                      </a:r>
                    </a:p>
                  </a:txBody>
                  <a:tcPr marL="7655" marR="7655" marT="7655"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b">
                        <a:buNone/>
                      </a:pPr>
                      <a:r>
                        <a:rPr lang="es-AR" sz="900" b="0" i="0" u="none" strike="noStrike">
                          <a:solidFill>
                            <a:srgbClr val="000000"/>
                          </a:solidFill>
                          <a:effectLst/>
                          <a:latin typeface="Lucida Bright" panose="02040602050505020304" pitchFamily="18" charset="0"/>
                        </a:rPr>
                        <a:t>12.607***</a:t>
                      </a:r>
                    </a:p>
                  </a:txBody>
                  <a:tcPr marL="7655" marR="7655" marT="7655" marB="0" anchor="b">
                    <a:lnL w="6350" cap="flat" cmpd="sng" algn="ctr">
                      <a:solidFill>
                        <a:srgbClr val="000000"/>
                      </a:solidFill>
                      <a:prstDash val="solid"/>
                      <a:round/>
                      <a:headEnd type="none" w="med" len="med"/>
                      <a:tailEnd type="none" w="med" len="med"/>
                    </a:lnL>
                    <a:lnR w="6350" cap="flat" cmpd="sng" algn="ctr">
                      <a:solidFill>
                        <a:srgbClr val="000000"/>
                      </a:solidFill>
                      <a:prstDash val="dot"/>
                      <a:round/>
                      <a:headEnd type="none" w="med" len="med"/>
                      <a:tailEnd type="none" w="med" len="med"/>
                    </a:lnR>
                    <a:lnT w="6350" cap="flat" cmpd="sng" algn="ctr">
                      <a:solidFill>
                        <a:srgbClr val="000000"/>
                      </a:solidFill>
                      <a:prstDash val="solid"/>
                      <a:round/>
                      <a:headEnd type="none" w="med" len="med"/>
                      <a:tailEnd type="none" w="med" len="med"/>
                    </a:lnT>
                    <a:lnB>
                      <a:noFill/>
                    </a:lnB>
                    <a:noFill/>
                  </a:tcPr>
                </a:tc>
                <a:tc>
                  <a:txBody>
                    <a:bodyPr/>
                    <a:lstStyle/>
                    <a:p>
                      <a:pPr algn="ctr" fontAlgn="b">
                        <a:buNone/>
                      </a:pPr>
                      <a:r>
                        <a:rPr lang="es-AR" sz="900" b="0" i="0" u="none" strike="noStrike">
                          <a:solidFill>
                            <a:srgbClr val="000000"/>
                          </a:solidFill>
                          <a:effectLst/>
                          <a:latin typeface="Lucida Bright" panose="02040602050505020304" pitchFamily="18" charset="0"/>
                        </a:rPr>
                        <a:t>11.243***</a:t>
                      </a:r>
                    </a:p>
                  </a:txBody>
                  <a:tcPr marL="7655" marR="7655" marT="7655" marB="0" anchor="b">
                    <a:lnL w="6350" cap="flat" cmpd="sng" algn="ctr">
                      <a:solidFill>
                        <a:srgbClr val="000000"/>
                      </a:solidFill>
                      <a:prstDash val="dot"/>
                      <a:round/>
                      <a:headEnd type="none" w="med" len="med"/>
                      <a:tailEnd type="none" w="med" len="med"/>
                    </a:lnL>
                    <a:lnR w="6350" cap="flat" cmpd="sng" algn="ctr">
                      <a:solidFill>
                        <a:srgbClr val="000000"/>
                      </a:solidFill>
                      <a:prstDash val="dot"/>
                      <a:round/>
                      <a:headEnd type="none" w="med" len="med"/>
                      <a:tailEnd type="none" w="med" len="med"/>
                    </a:lnR>
                    <a:lnT w="6350" cap="flat" cmpd="sng" algn="ctr">
                      <a:solidFill>
                        <a:srgbClr val="000000"/>
                      </a:solidFill>
                      <a:prstDash val="solid"/>
                      <a:round/>
                      <a:headEnd type="none" w="med" len="med"/>
                      <a:tailEnd type="none" w="med" len="med"/>
                    </a:lnT>
                    <a:lnB>
                      <a:noFill/>
                    </a:lnB>
                    <a:noFill/>
                  </a:tcPr>
                </a:tc>
                <a:tc>
                  <a:txBody>
                    <a:bodyPr/>
                    <a:lstStyle/>
                    <a:p>
                      <a:pPr algn="ctr" fontAlgn="b">
                        <a:buNone/>
                      </a:pPr>
                      <a:r>
                        <a:rPr lang="es-AR" sz="900" b="0" i="0" u="none" strike="noStrike">
                          <a:solidFill>
                            <a:srgbClr val="000000"/>
                          </a:solidFill>
                          <a:effectLst/>
                          <a:latin typeface="Lucida Bright" panose="02040602050505020304" pitchFamily="18" charset="0"/>
                        </a:rPr>
                        <a:t>2.401***</a:t>
                      </a:r>
                    </a:p>
                  </a:txBody>
                  <a:tcPr marL="7655" marR="7655" marT="7655" marB="0" anchor="b">
                    <a:lnL w="6350" cap="flat" cmpd="sng" algn="ctr">
                      <a:solidFill>
                        <a:srgbClr val="000000"/>
                      </a:solidFill>
                      <a:prstDash val="dot"/>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noFill/>
                  </a:tcPr>
                </a:tc>
                <a:tc>
                  <a:txBody>
                    <a:bodyPr/>
                    <a:lstStyle/>
                    <a:p>
                      <a:pPr algn="ctr" fontAlgn="b">
                        <a:buNone/>
                      </a:pPr>
                      <a:r>
                        <a:rPr lang="es-AR" sz="900" b="0" i="0" u="none" strike="noStrike">
                          <a:solidFill>
                            <a:srgbClr val="000000"/>
                          </a:solidFill>
                          <a:effectLst/>
                          <a:latin typeface="Lucida Bright" panose="02040602050505020304" pitchFamily="18" charset="0"/>
                        </a:rPr>
                        <a:t>13.120***</a:t>
                      </a:r>
                    </a:p>
                  </a:txBody>
                  <a:tcPr marL="7655" marR="7655" marT="7655" marB="0" anchor="b">
                    <a:lnL w="6350" cap="flat" cmpd="sng" algn="ctr">
                      <a:solidFill>
                        <a:srgbClr val="000000"/>
                      </a:solidFill>
                      <a:prstDash val="solid"/>
                      <a:round/>
                      <a:headEnd type="none" w="med" len="med"/>
                      <a:tailEnd type="none" w="med" len="med"/>
                    </a:lnL>
                    <a:lnR w="6350" cap="flat" cmpd="sng" algn="ctr">
                      <a:solidFill>
                        <a:srgbClr val="000000"/>
                      </a:solidFill>
                      <a:prstDash val="dot"/>
                      <a:round/>
                      <a:headEnd type="none" w="med" len="med"/>
                      <a:tailEnd type="none" w="med" len="med"/>
                    </a:lnR>
                    <a:lnT w="6350" cap="flat" cmpd="sng" algn="ctr">
                      <a:solidFill>
                        <a:srgbClr val="000000"/>
                      </a:solidFill>
                      <a:prstDash val="solid"/>
                      <a:round/>
                      <a:headEnd type="none" w="med" len="med"/>
                      <a:tailEnd type="none" w="med" len="med"/>
                    </a:lnT>
                    <a:lnB>
                      <a:noFill/>
                    </a:lnB>
                    <a:noFill/>
                  </a:tcPr>
                </a:tc>
                <a:tc>
                  <a:txBody>
                    <a:bodyPr/>
                    <a:lstStyle/>
                    <a:p>
                      <a:pPr algn="ctr" fontAlgn="b">
                        <a:buNone/>
                      </a:pPr>
                      <a:r>
                        <a:rPr lang="es-AR" sz="900" b="0" i="0" u="none" strike="noStrike">
                          <a:solidFill>
                            <a:srgbClr val="000000"/>
                          </a:solidFill>
                          <a:effectLst/>
                          <a:latin typeface="Lucida Bright" panose="02040602050505020304" pitchFamily="18" charset="0"/>
                        </a:rPr>
                        <a:t>11.782***</a:t>
                      </a:r>
                    </a:p>
                  </a:txBody>
                  <a:tcPr marL="7655" marR="7655" marT="7655" marB="0" anchor="b">
                    <a:lnL w="6350" cap="flat" cmpd="sng" algn="ctr">
                      <a:solidFill>
                        <a:srgbClr val="000000"/>
                      </a:solidFill>
                      <a:prstDash val="dot"/>
                      <a:round/>
                      <a:headEnd type="none" w="med" len="med"/>
                      <a:tailEnd type="none" w="med" len="med"/>
                    </a:lnL>
                    <a:lnR w="6350" cap="flat" cmpd="sng" algn="ctr">
                      <a:solidFill>
                        <a:srgbClr val="000000"/>
                      </a:solidFill>
                      <a:prstDash val="dot"/>
                      <a:round/>
                      <a:headEnd type="none" w="med" len="med"/>
                      <a:tailEnd type="none" w="med" len="med"/>
                    </a:lnR>
                    <a:lnT w="6350" cap="flat" cmpd="sng" algn="ctr">
                      <a:solidFill>
                        <a:srgbClr val="000000"/>
                      </a:solidFill>
                      <a:prstDash val="solid"/>
                      <a:round/>
                      <a:headEnd type="none" w="med" len="med"/>
                      <a:tailEnd type="none" w="med" len="med"/>
                    </a:lnT>
                    <a:lnB>
                      <a:noFill/>
                    </a:lnB>
                    <a:noFill/>
                  </a:tcPr>
                </a:tc>
                <a:tc>
                  <a:txBody>
                    <a:bodyPr/>
                    <a:lstStyle/>
                    <a:p>
                      <a:pPr algn="ctr" fontAlgn="b">
                        <a:buNone/>
                      </a:pPr>
                      <a:r>
                        <a:rPr lang="es-AR" sz="900" b="0" i="0" u="none" strike="noStrike">
                          <a:solidFill>
                            <a:srgbClr val="000000"/>
                          </a:solidFill>
                          <a:effectLst/>
                          <a:latin typeface="Lucida Bright" panose="02040602050505020304" pitchFamily="18" charset="0"/>
                        </a:rPr>
                        <a:t>3.578***</a:t>
                      </a:r>
                    </a:p>
                  </a:txBody>
                  <a:tcPr marL="7655" marR="7655" marT="7655" marB="0" anchor="b">
                    <a:lnL w="6350" cap="flat" cmpd="sng" algn="ctr">
                      <a:solidFill>
                        <a:srgbClr val="000000"/>
                      </a:solidFill>
                      <a:prstDash val="dot"/>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noFill/>
                  </a:tcPr>
                </a:tc>
                <a:tc>
                  <a:txBody>
                    <a:bodyPr/>
                    <a:lstStyle/>
                    <a:p>
                      <a:pPr algn="ctr" fontAlgn="b">
                        <a:buNone/>
                      </a:pPr>
                      <a:r>
                        <a:rPr lang="es-AR" sz="900" b="0" i="0" u="none" strike="noStrike">
                          <a:solidFill>
                            <a:srgbClr val="000000"/>
                          </a:solidFill>
                          <a:effectLst/>
                          <a:latin typeface="Lucida Bright" panose="02040602050505020304" pitchFamily="18" charset="0"/>
                        </a:rPr>
                        <a:t>3.341***</a:t>
                      </a:r>
                    </a:p>
                  </a:txBody>
                  <a:tcPr marL="7655" marR="7655" marT="7655" marB="0" anchor="b">
                    <a:lnL w="6350" cap="flat" cmpd="sng" algn="ctr">
                      <a:solidFill>
                        <a:srgbClr val="000000"/>
                      </a:solidFill>
                      <a:prstDash val="solid"/>
                      <a:round/>
                      <a:headEnd type="none" w="med" len="med"/>
                      <a:tailEnd type="none" w="med" len="med"/>
                    </a:lnL>
                    <a:lnR w="6350" cap="flat" cmpd="sng" algn="ctr">
                      <a:solidFill>
                        <a:srgbClr val="000000"/>
                      </a:solidFill>
                      <a:prstDash val="dot"/>
                      <a:round/>
                      <a:headEnd type="none" w="med" len="med"/>
                      <a:tailEnd type="none" w="med" len="med"/>
                    </a:lnR>
                    <a:lnT w="6350" cap="flat" cmpd="sng" algn="ctr">
                      <a:solidFill>
                        <a:srgbClr val="000000"/>
                      </a:solidFill>
                      <a:prstDash val="solid"/>
                      <a:round/>
                      <a:headEnd type="none" w="med" len="med"/>
                      <a:tailEnd type="none" w="med" len="med"/>
                    </a:lnT>
                    <a:lnB>
                      <a:noFill/>
                    </a:lnB>
                    <a:noFill/>
                  </a:tcPr>
                </a:tc>
                <a:tc>
                  <a:txBody>
                    <a:bodyPr/>
                    <a:lstStyle/>
                    <a:p>
                      <a:pPr algn="ctr" fontAlgn="b">
                        <a:buNone/>
                      </a:pPr>
                      <a:r>
                        <a:rPr lang="es-AR" sz="900" b="0" i="0" u="none" strike="noStrike">
                          <a:solidFill>
                            <a:srgbClr val="000000"/>
                          </a:solidFill>
                          <a:effectLst/>
                          <a:latin typeface="Lucida Bright" panose="02040602050505020304" pitchFamily="18" charset="0"/>
                        </a:rPr>
                        <a:t>1.862***</a:t>
                      </a:r>
                    </a:p>
                  </a:txBody>
                  <a:tcPr marL="7655" marR="7655" marT="7655" marB="0" anchor="b">
                    <a:lnL w="6350" cap="flat" cmpd="sng" algn="ctr">
                      <a:solidFill>
                        <a:srgbClr val="000000"/>
                      </a:solidFill>
                      <a:prstDash val="dot"/>
                      <a:round/>
                      <a:headEnd type="none" w="med" len="med"/>
                      <a:tailEnd type="none" w="med" len="med"/>
                    </a:lnL>
                    <a:lnR w="6350" cap="flat" cmpd="sng" algn="ctr">
                      <a:solidFill>
                        <a:srgbClr val="000000"/>
                      </a:solidFill>
                      <a:prstDash val="dot"/>
                      <a:round/>
                      <a:headEnd type="none" w="med" len="med"/>
                      <a:tailEnd type="none" w="med" len="med"/>
                    </a:lnR>
                    <a:lnT w="6350" cap="flat" cmpd="sng" algn="ctr">
                      <a:solidFill>
                        <a:srgbClr val="000000"/>
                      </a:solidFill>
                      <a:prstDash val="solid"/>
                      <a:round/>
                      <a:headEnd type="none" w="med" len="med"/>
                      <a:tailEnd type="none" w="med" len="med"/>
                    </a:lnT>
                    <a:lnB>
                      <a:noFill/>
                    </a:lnB>
                    <a:noFill/>
                  </a:tcPr>
                </a:tc>
                <a:tc>
                  <a:txBody>
                    <a:bodyPr/>
                    <a:lstStyle/>
                    <a:p>
                      <a:pPr algn="ctr" fontAlgn="b">
                        <a:buNone/>
                      </a:pPr>
                      <a:r>
                        <a:rPr lang="es-AR" sz="900" b="0" i="0" u="none" strike="noStrike">
                          <a:solidFill>
                            <a:srgbClr val="000000"/>
                          </a:solidFill>
                          <a:effectLst/>
                          <a:latin typeface="Lucida Bright" panose="02040602050505020304" pitchFamily="18" charset="0"/>
                        </a:rPr>
                        <a:t>0.088</a:t>
                      </a:r>
                    </a:p>
                  </a:txBody>
                  <a:tcPr marL="7655" marR="7655" marT="7655" marB="0" anchor="b">
                    <a:lnL w="6350" cap="flat" cmpd="sng" algn="ctr">
                      <a:solidFill>
                        <a:srgbClr val="000000"/>
                      </a:solidFill>
                      <a:prstDash val="dot"/>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noFill/>
                  </a:tcPr>
                </a:tc>
                <a:tc>
                  <a:txBody>
                    <a:bodyPr/>
                    <a:lstStyle/>
                    <a:p>
                      <a:pPr algn="ctr" fontAlgn="b">
                        <a:buNone/>
                      </a:pPr>
                      <a:r>
                        <a:rPr lang="es-AR" sz="900" b="0" i="0" u="none" strike="noStrike">
                          <a:solidFill>
                            <a:srgbClr val="000000"/>
                          </a:solidFill>
                          <a:effectLst/>
                          <a:latin typeface="Lucida Bright" panose="02040602050505020304" pitchFamily="18" charset="0"/>
                        </a:rPr>
                        <a:t>3.441***</a:t>
                      </a:r>
                    </a:p>
                  </a:txBody>
                  <a:tcPr marL="7655" marR="7655" marT="7655" marB="0" anchor="b">
                    <a:lnL w="6350" cap="flat" cmpd="sng" algn="ctr">
                      <a:solidFill>
                        <a:srgbClr val="000000"/>
                      </a:solidFill>
                      <a:prstDash val="solid"/>
                      <a:round/>
                      <a:headEnd type="none" w="med" len="med"/>
                      <a:tailEnd type="none" w="med" len="med"/>
                    </a:lnL>
                    <a:lnR w="6350" cap="flat" cmpd="sng" algn="ctr">
                      <a:solidFill>
                        <a:srgbClr val="000000"/>
                      </a:solidFill>
                      <a:prstDash val="dot"/>
                      <a:round/>
                      <a:headEnd type="none" w="med" len="med"/>
                      <a:tailEnd type="none" w="med" len="med"/>
                    </a:lnR>
                    <a:lnT w="6350" cap="flat" cmpd="sng" algn="ctr">
                      <a:solidFill>
                        <a:srgbClr val="000000"/>
                      </a:solidFill>
                      <a:prstDash val="solid"/>
                      <a:round/>
                      <a:headEnd type="none" w="med" len="med"/>
                      <a:tailEnd type="none" w="med" len="med"/>
                    </a:lnT>
                    <a:lnB>
                      <a:noFill/>
                    </a:lnB>
                    <a:noFill/>
                  </a:tcPr>
                </a:tc>
                <a:tc>
                  <a:txBody>
                    <a:bodyPr/>
                    <a:lstStyle/>
                    <a:p>
                      <a:pPr algn="ctr" fontAlgn="b">
                        <a:buNone/>
                      </a:pPr>
                      <a:r>
                        <a:rPr lang="es-AR" sz="900" b="0" i="0" u="none" strike="noStrike">
                          <a:solidFill>
                            <a:srgbClr val="000000"/>
                          </a:solidFill>
                          <a:effectLst/>
                          <a:latin typeface="Lucida Bright" panose="02040602050505020304" pitchFamily="18" charset="0"/>
                        </a:rPr>
                        <a:t>1.984***</a:t>
                      </a:r>
                    </a:p>
                  </a:txBody>
                  <a:tcPr marL="7655" marR="7655" marT="7655" marB="0" anchor="b">
                    <a:lnL w="6350" cap="flat" cmpd="sng" algn="ctr">
                      <a:solidFill>
                        <a:srgbClr val="000000"/>
                      </a:solidFill>
                      <a:prstDash val="dot"/>
                      <a:round/>
                      <a:headEnd type="none" w="med" len="med"/>
                      <a:tailEnd type="none" w="med" len="med"/>
                    </a:lnL>
                    <a:lnR w="6350" cap="flat" cmpd="sng" algn="ctr">
                      <a:solidFill>
                        <a:srgbClr val="000000"/>
                      </a:solidFill>
                      <a:prstDash val="dot"/>
                      <a:round/>
                      <a:headEnd type="none" w="med" len="med"/>
                      <a:tailEnd type="none" w="med" len="med"/>
                    </a:lnR>
                    <a:lnT w="6350" cap="flat" cmpd="sng" algn="ctr">
                      <a:solidFill>
                        <a:srgbClr val="000000"/>
                      </a:solidFill>
                      <a:prstDash val="solid"/>
                      <a:round/>
                      <a:headEnd type="none" w="med" len="med"/>
                      <a:tailEnd type="none" w="med" len="med"/>
                    </a:lnT>
                    <a:lnB>
                      <a:noFill/>
                    </a:lnB>
                    <a:noFill/>
                  </a:tcPr>
                </a:tc>
                <a:tc>
                  <a:txBody>
                    <a:bodyPr/>
                    <a:lstStyle/>
                    <a:p>
                      <a:pPr algn="ctr" fontAlgn="b">
                        <a:buNone/>
                      </a:pPr>
                      <a:r>
                        <a:rPr lang="es-AR" sz="900" b="0" i="0" u="none" strike="noStrike">
                          <a:solidFill>
                            <a:srgbClr val="000000"/>
                          </a:solidFill>
                          <a:effectLst/>
                          <a:latin typeface="Lucida Bright" panose="02040602050505020304" pitchFamily="18" charset="0"/>
                        </a:rPr>
                        <a:t>0.297</a:t>
                      </a:r>
                    </a:p>
                  </a:txBody>
                  <a:tcPr marL="7655" marR="7655" marT="7655" marB="0" anchor="b">
                    <a:lnL w="6350" cap="flat" cmpd="sng" algn="ctr">
                      <a:solidFill>
                        <a:srgbClr val="000000"/>
                      </a:solidFill>
                      <a:prstDash val="dot"/>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noFill/>
                  </a:tcPr>
                </a:tc>
                <a:extLst>
                  <a:ext uri="{0D108BD9-81ED-4DB2-BD59-A6C34878D82A}">
                    <a16:rowId xmlns:a16="http://schemas.microsoft.com/office/drawing/2014/main" val="350409132"/>
                  </a:ext>
                </a:extLst>
              </a:tr>
              <a:tr h="153108">
                <a:tc>
                  <a:txBody>
                    <a:bodyPr/>
                    <a:lstStyle/>
                    <a:p>
                      <a:pPr algn="l" fontAlgn="b">
                        <a:buNone/>
                      </a:pPr>
                      <a:r>
                        <a:rPr lang="es-AR" sz="900" b="0" i="0" u="none" strike="noStrike">
                          <a:solidFill>
                            <a:srgbClr val="000000"/>
                          </a:solidFill>
                          <a:effectLst/>
                          <a:latin typeface="Lucida Bright" panose="02040602050505020304" pitchFamily="18" charset="0"/>
                        </a:rPr>
                        <a:t>log(ITCRM_ARG)</a:t>
                      </a:r>
                    </a:p>
                  </a:txBody>
                  <a:tcPr marL="7655" marR="7655" marT="7655"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b">
                        <a:buNone/>
                      </a:pPr>
                      <a:r>
                        <a:rPr lang="es-AR" sz="900" b="0" i="0" u="none" strike="noStrike">
                          <a:solidFill>
                            <a:srgbClr val="000000"/>
                          </a:solidFill>
                          <a:effectLst/>
                          <a:latin typeface="Lucida Bright" panose="02040602050505020304" pitchFamily="18" charset="0"/>
                        </a:rPr>
                        <a:t>-1.077***</a:t>
                      </a:r>
                    </a:p>
                  </a:txBody>
                  <a:tcPr marL="7655" marR="7655" marT="7655" marB="0" anchor="b">
                    <a:lnL w="6350" cap="flat" cmpd="sng" algn="ctr">
                      <a:solidFill>
                        <a:srgbClr val="000000"/>
                      </a:solidFill>
                      <a:prstDash val="solid"/>
                      <a:round/>
                      <a:headEnd type="none" w="med" len="med"/>
                      <a:tailEnd type="none" w="med" len="med"/>
                    </a:lnL>
                    <a:lnR w="6350" cap="flat" cmpd="sng" algn="ctr">
                      <a:solidFill>
                        <a:srgbClr val="000000"/>
                      </a:solidFill>
                      <a:prstDash val="dot"/>
                      <a:round/>
                      <a:headEnd type="none" w="med" len="med"/>
                      <a:tailEnd type="none" w="med" len="med"/>
                    </a:lnR>
                    <a:lnT>
                      <a:noFill/>
                    </a:lnT>
                    <a:lnB>
                      <a:noFill/>
                    </a:lnB>
                    <a:solidFill>
                      <a:srgbClr val="E2EFDA"/>
                    </a:solidFill>
                  </a:tcPr>
                </a:tc>
                <a:tc>
                  <a:txBody>
                    <a:bodyPr/>
                    <a:lstStyle/>
                    <a:p>
                      <a:pPr algn="ctr" fontAlgn="b">
                        <a:buNone/>
                      </a:pPr>
                      <a:r>
                        <a:rPr lang="es-AR" sz="900" b="0" i="0" u="none" strike="noStrike">
                          <a:solidFill>
                            <a:srgbClr val="000000"/>
                          </a:solidFill>
                          <a:effectLst/>
                          <a:latin typeface="Lucida Bright" panose="02040602050505020304" pitchFamily="18" charset="0"/>
                        </a:rPr>
                        <a:t>-0.968***</a:t>
                      </a:r>
                    </a:p>
                  </a:txBody>
                  <a:tcPr marL="7655" marR="7655" marT="7655" marB="0" anchor="b">
                    <a:lnL w="6350" cap="flat" cmpd="sng" algn="ctr">
                      <a:solidFill>
                        <a:srgbClr val="000000"/>
                      </a:solidFill>
                      <a:prstDash val="dot"/>
                      <a:round/>
                      <a:headEnd type="none" w="med" len="med"/>
                      <a:tailEnd type="none" w="med" len="med"/>
                    </a:lnL>
                    <a:lnR w="6350" cap="flat" cmpd="sng" algn="ctr">
                      <a:solidFill>
                        <a:srgbClr val="000000"/>
                      </a:solidFill>
                      <a:prstDash val="dot"/>
                      <a:round/>
                      <a:headEnd type="none" w="med" len="med"/>
                      <a:tailEnd type="none" w="med" len="med"/>
                    </a:lnR>
                    <a:lnT>
                      <a:noFill/>
                    </a:lnT>
                    <a:lnB>
                      <a:noFill/>
                    </a:lnB>
                    <a:solidFill>
                      <a:srgbClr val="E2EFDA"/>
                    </a:solidFill>
                  </a:tcPr>
                </a:tc>
                <a:tc>
                  <a:txBody>
                    <a:bodyPr/>
                    <a:lstStyle/>
                    <a:p>
                      <a:pPr algn="ctr" fontAlgn="b">
                        <a:buNone/>
                      </a:pPr>
                      <a:r>
                        <a:rPr lang="es-AR" sz="900" b="0" i="0" u="none" strike="noStrike">
                          <a:solidFill>
                            <a:srgbClr val="000000"/>
                          </a:solidFill>
                          <a:effectLst/>
                          <a:latin typeface="Lucida Bright" panose="02040602050505020304" pitchFamily="18" charset="0"/>
                        </a:rPr>
                        <a:t> </a:t>
                      </a:r>
                    </a:p>
                  </a:txBody>
                  <a:tcPr marL="7655" marR="7655" marT="7655" marB="0" anchor="b">
                    <a:lnL w="6350" cap="flat" cmpd="sng" algn="ctr">
                      <a:solidFill>
                        <a:srgbClr val="000000"/>
                      </a:solidFill>
                      <a:prstDash val="dot"/>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b">
                        <a:buNone/>
                      </a:pPr>
                      <a:r>
                        <a:rPr lang="es-AR" sz="900" b="0" i="0" u="none" strike="noStrike">
                          <a:solidFill>
                            <a:srgbClr val="000000"/>
                          </a:solidFill>
                          <a:effectLst/>
                          <a:latin typeface="Lucida Bright" panose="02040602050505020304" pitchFamily="18" charset="0"/>
                        </a:rPr>
                        <a:t>-1.071***</a:t>
                      </a:r>
                    </a:p>
                  </a:txBody>
                  <a:tcPr marL="7655" marR="7655" marT="7655" marB="0" anchor="b">
                    <a:lnL w="6350" cap="flat" cmpd="sng" algn="ctr">
                      <a:solidFill>
                        <a:srgbClr val="000000"/>
                      </a:solidFill>
                      <a:prstDash val="solid"/>
                      <a:round/>
                      <a:headEnd type="none" w="med" len="med"/>
                      <a:tailEnd type="none" w="med" len="med"/>
                    </a:lnL>
                    <a:lnR w="6350" cap="flat" cmpd="sng" algn="ctr">
                      <a:solidFill>
                        <a:srgbClr val="000000"/>
                      </a:solidFill>
                      <a:prstDash val="dot"/>
                      <a:round/>
                      <a:headEnd type="none" w="med" len="med"/>
                      <a:tailEnd type="none" w="med" len="med"/>
                    </a:lnR>
                    <a:lnT>
                      <a:noFill/>
                    </a:lnT>
                    <a:lnB>
                      <a:noFill/>
                    </a:lnB>
                    <a:solidFill>
                      <a:srgbClr val="E2EFDA"/>
                    </a:solidFill>
                  </a:tcPr>
                </a:tc>
                <a:tc>
                  <a:txBody>
                    <a:bodyPr/>
                    <a:lstStyle/>
                    <a:p>
                      <a:pPr algn="ctr" fontAlgn="b">
                        <a:buNone/>
                      </a:pPr>
                      <a:r>
                        <a:rPr lang="es-AR" sz="900" b="0" i="0" u="none" strike="noStrike">
                          <a:solidFill>
                            <a:srgbClr val="000000"/>
                          </a:solidFill>
                          <a:effectLst/>
                          <a:latin typeface="Lucida Bright" panose="02040602050505020304" pitchFamily="18" charset="0"/>
                        </a:rPr>
                        <a:t>-0.961***</a:t>
                      </a:r>
                    </a:p>
                  </a:txBody>
                  <a:tcPr marL="7655" marR="7655" marT="7655" marB="0" anchor="b">
                    <a:lnL w="6350" cap="flat" cmpd="sng" algn="ctr">
                      <a:solidFill>
                        <a:srgbClr val="000000"/>
                      </a:solidFill>
                      <a:prstDash val="dot"/>
                      <a:round/>
                      <a:headEnd type="none" w="med" len="med"/>
                      <a:tailEnd type="none" w="med" len="med"/>
                    </a:lnL>
                    <a:lnR w="6350" cap="flat" cmpd="sng" algn="ctr">
                      <a:solidFill>
                        <a:srgbClr val="000000"/>
                      </a:solidFill>
                      <a:prstDash val="dot"/>
                      <a:round/>
                      <a:headEnd type="none" w="med" len="med"/>
                      <a:tailEnd type="none" w="med" len="med"/>
                    </a:lnR>
                    <a:lnT>
                      <a:noFill/>
                    </a:lnT>
                    <a:lnB>
                      <a:noFill/>
                    </a:lnB>
                    <a:solidFill>
                      <a:srgbClr val="E2EFDA"/>
                    </a:solidFill>
                  </a:tcPr>
                </a:tc>
                <a:tc>
                  <a:txBody>
                    <a:bodyPr/>
                    <a:lstStyle/>
                    <a:p>
                      <a:pPr algn="ctr" fontAlgn="b">
                        <a:buNone/>
                      </a:pPr>
                      <a:r>
                        <a:rPr lang="es-AR" sz="900" b="0" i="0" u="none" strike="noStrike">
                          <a:solidFill>
                            <a:srgbClr val="000000"/>
                          </a:solidFill>
                          <a:effectLst/>
                          <a:latin typeface="Lucida Bright" panose="02040602050505020304" pitchFamily="18" charset="0"/>
                        </a:rPr>
                        <a:t> </a:t>
                      </a:r>
                    </a:p>
                  </a:txBody>
                  <a:tcPr marL="7655" marR="7655" marT="7655" marB="0" anchor="b">
                    <a:lnL w="6350" cap="flat" cmpd="sng" algn="ctr">
                      <a:solidFill>
                        <a:srgbClr val="000000"/>
                      </a:solidFill>
                      <a:prstDash val="dot"/>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b">
                        <a:buNone/>
                      </a:pPr>
                      <a:r>
                        <a:rPr lang="es-AR" sz="900" b="0" i="0" u="none" strike="noStrike">
                          <a:solidFill>
                            <a:srgbClr val="000000"/>
                          </a:solidFill>
                          <a:effectLst/>
                          <a:latin typeface="Lucida Bright" panose="02040602050505020304" pitchFamily="18" charset="0"/>
                        </a:rPr>
                        <a:t>-0.270***</a:t>
                      </a:r>
                    </a:p>
                  </a:txBody>
                  <a:tcPr marL="7655" marR="7655" marT="7655" marB="0" anchor="b">
                    <a:lnL w="6350" cap="flat" cmpd="sng" algn="ctr">
                      <a:solidFill>
                        <a:srgbClr val="000000"/>
                      </a:solidFill>
                      <a:prstDash val="solid"/>
                      <a:round/>
                      <a:headEnd type="none" w="med" len="med"/>
                      <a:tailEnd type="none" w="med" len="med"/>
                    </a:lnL>
                    <a:lnR w="6350" cap="flat" cmpd="sng" algn="ctr">
                      <a:solidFill>
                        <a:srgbClr val="000000"/>
                      </a:solidFill>
                      <a:prstDash val="dot"/>
                      <a:round/>
                      <a:headEnd type="none" w="med" len="med"/>
                      <a:tailEnd type="none" w="med" len="med"/>
                    </a:lnR>
                    <a:lnT>
                      <a:noFill/>
                    </a:lnT>
                    <a:lnB>
                      <a:noFill/>
                    </a:lnB>
                    <a:solidFill>
                      <a:srgbClr val="E2EFDA"/>
                    </a:solidFill>
                  </a:tcPr>
                </a:tc>
                <a:tc>
                  <a:txBody>
                    <a:bodyPr/>
                    <a:lstStyle/>
                    <a:p>
                      <a:pPr algn="ctr" fontAlgn="b">
                        <a:buNone/>
                      </a:pPr>
                      <a:r>
                        <a:rPr lang="es-AR" sz="900" b="0" i="0" u="none" strike="noStrike">
                          <a:solidFill>
                            <a:srgbClr val="000000"/>
                          </a:solidFill>
                          <a:effectLst/>
                          <a:latin typeface="Lucida Bright" panose="02040602050505020304" pitchFamily="18" charset="0"/>
                        </a:rPr>
                        <a:t>-0.151**</a:t>
                      </a:r>
                    </a:p>
                  </a:txBody>
                  <a:tcPr marL="7655" marR="7655" marT="7655" marB="0" anchor="b">
                    <a:lnL w="6350" cap="flat" cmpd="sng" algn="ctr">
                      <a:solidFill>
                        <a:srgbClr val="000000"/>
                      </a:solidFill>
                      <a:prstDash val="dot"/>
                      <a:round/>
                      <a:headEnd type="none" w="med" len="med"/>
                      <a:tailEnd type="none" w="med" len="med"/>
                    </a:lnL>
                    <a:lnR w="6350" cap="flat" cmpd="sng" algn="ctr">
                      <a:solidFill>
                        <a:srgbClr val="000000"/>
                      </a:solidFill>
                      <a:prstDash val="dot"/>
                      <a:round/>
                      <a:headEnd type="none" w="med" len="med"/>
                      <a:tailEnd type="none" w="med" len="med"/>
                    </a:lnR>
                    <a:lnT>
                      <a:noFill/>
                    </a:lnT>
                    <a:lnB>
                      <a:noFill/>
                    </a:lnB>
                    <a:solidFill>
                      <a:srgbClr val="E2EFDA"/>
                    </a:solidFill>
                  </a:tcPr>
                </a:tc>
                <a:tc>
                  <a:txBody>
                    <a:bodyPr/>
                    <a:lstStyle/>
                    <a:p>
                      <a:pPr algn="ctr" fontAlgn="b">
                        <a:buNone/>
                      </a:pPr>
                      <a:r>
                        <a:rPr lang="es-AR" sz="900" b="0" i="0" u="none" strike="noStrike">
                          <a:solidFill>
                            <a:srgbClr val="000000"/>
                          </a:solidFill>
                          <a:effectLst/>
                          <a:latin typeface="Lucida Bright" panose="02040602050505020304" pitchFamily="18" charset="0"/>
                        </a:rPr>
                        <a:t> </a:t>
                      </a:r>
                    </a:p>
                  </a:txBody>
                  <a:tcPr marL="7655" marR="7655" marT="7655" marB="0" anchor="b">
                    <a:lnL w="6350" cap="flat" cmpd="sng" algn="ctr">
                      <a:solidFill>
                        <a:srgbClr val="000000"/>
                      </a:solidFill>
                      <a:prstDash val="dot"/>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b">
                        <a:buNone/>
                      </a:pPr>
                      <a:r>
                        <a:rPr lang="es-AR" sz="900" b="0" i="0" u="none" strike="noStrike">
                          <a:solidFill>
                            <a:srgbClr val="000000"/>
                          </a:solidFill>
                          <a:effectLst/>
                          <a:latin typeface="Lucida Bright" panose="02040602050505020304" pitchFamily="18" charset="0"/>
                        </a:rPr>
                        <a:t>-0.269***</a:t>
                      </a:r>
                    </a:p>
                  </a:txBody>
                  <a:tcPr marL="7655" marR="7655" marT="7655" marB="0" anchor="b">
                    <a:lnL w="6350" cap="flat" cmpd="sng" algn="ctr">
                      <a:solidFill>
                        <a:srgbClr val="000000"/>
                      </a:solidFill>
                      <a:prstDash val="solid"/>
                      <a:round/>
                      <a:headEnd type="none" w="med" len="med"/>
                      <a:tailEnd type="none" w="med" len="med"/>
                    </a:lnL>
                    <a:lnR w="6350" cap="flat" cmpd="sng" algn="ctr">
                      <a:solidFill>
                        <a:srgbClr val="000000"/>
                      </a:solidFill>
                      <a:prstDash val="dot"/>
                      <a:round/>
                      <a:headEnd type="none" w="med" len="med"/>
                      <a:tailEnd type="none" w="med" len="med"/>
                    </a:lnR>
                    <a:lnT>
                      <a:noFill/>
                    </a:lnT>
                    <a:lnB>
                      <a:noFill/>
                    </a:lnB>
                    <a:solidFill>
                      <a:srgbClr val="E2EFDA"/>
                    </a:solidFill>
                  </a:tcPr>
                </a:tc>
                <a:tc>
                  <a:txBody>
                    <a:bodyPr/>
                    <a:lstStyle/>
                    <a:p>
                      <a:pPr algn="ctr" fontAlgn="b">
                        <a:buNone/>
                      </a:pPr>
                      <a:r>
                        <a:rPr lang="es-AR" sz="900" b="0" i="0" u="none" strike="noStrike">
                          <a:solidFill>
                            <a:srgbClr val="000000"/>
                          </a:solidFill>
                          <a:effectLst/>
                          <a:latin typeface="Lucida Bright" panose="02040602050505020304" pitchFamily="18" charset="0"/>
                        </a:rPr>
                        <a:t>-0.150**</a:t>
                      </a:r>
                    </a:p>
                  </a:txBody>
                  <a:tcPr marL="7655" marR="7655" marT="7655" marB="0" anchor="b">
                    <a:lnL w="6350" cap="flat" cmpd="sng" algn="ctr">
                      <a:solidFill>
                        <a:srgbClr val="000000"/>
                      </a:solidFill>
                      <a:prstDash val="dot"/>
                      <a:round/>
                      <a:headEnd type="none" w="med" len="med"/>
                      <a:tailEnd type="none" w="med" len="med"/>
                    </a:lnL>
                    <a:lnR w="6350" cap="flat" cmpd="sng" algn="ctr">
                      <a:solidFill>
                        <a:srgbClr val="000000"/>
                      </a:solidFill>
                      <a:prstDash val="dot"/>
                      <a:round/>
                      <a:headEnd type="none" w="med" len="med"/>
                      <a:tailEnd type="none" w="med" len="med"/>
                    </a:lnR>
                    <a:lnT>
                      <a:noFill/>
                    </a:lnT>
                    <a:lnB>
                      <a:noFill/>
                    </a:lnB>
                    <a:solidFill>
                      <a:srgbClr val="E2EFDA"/>
                    </a:solidFill>
                  </a:tcPr>
                </a:tc>
                <a:tc>
                  <a:txBody>
                    <a:bodyPr/>
                    <a:lstStyle/>
                    <a:p>
                      <a:pPr algn="ctr" fontAlgn="b">
                        <a:buNone/>
                      </a:pPr>
                      <a:r>
                        <a:rPr lang="es-AR" sz="900" b="0" i="0" u="none" strike="noStrike">
                          <a:solidFill>
                            <a:srgbClr val="000000"/>
                          </a:solidFill>
                          <a:effectLst/>
                          <a:latin typeface="Lucida Bright" panose="02040602050505020304" pitchFamily="18" charset="0"/>
                        </a:rPr>
                        <a:t> </a:t>
                      </a:r>
                    </a:p>
                  </a:txBody>
                  <a:tcPr marL="7655" marR="7655" marT="7655" marB="0" anchor="b">
                    <a:lnL w="6350" cap="flat" cmpd="sng" algn="ctr">
                      <a:solidFill>
                        <a:srgbClr val="000000"/>
                      </a:solidFill>
                      <a:prstDash val="dot"/>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extLst>
                  <a:ext uri="{0D108BD9-81ED-4DB2-BD59-A6C34878D82A}">
                    <a16:rowId xmlns:a16="http://schemas.microsoft.com/office/drawing/2014/main" val="1200095198"/>
                  </a:ext>
                </a:extLst>
              </a:tr>
              <a:tr h="153108">
                <a:tc>
                  <a:txBody>
                    <a:bodyPr/>
                    <a:lstStyle/>
                    <a:p>
                      <a:pPr algn="l" fontAlgn="b">
                        <a:buNone/>
                      </a:pPr>
                      <a:r>
                        <a:rPr lang="es-AR" sz="900" b="0" i="0" u="none" strike="noStrike">
                          <a:solidFill>
                            <a:srgbClr val="000000"/>
                          </a:solidFill>
                          <a:effectLst/>
                          <a:latin typeface="Lucida Bright" panose="02040602050505020304" pitchFamily="18" charset="0"/>
                        </a:rPr>
                        <a:t>log(ITCRM_SFE)</a:t>
                      </a:r>
                    </a:p>
                  </a:txBody>
                  <a:tcPr marL="7655" marR="7655" marT="7655"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b">
                        <a:buNone/>
                      </a:pPr>
                      <a:r>
                        <a:rPr lang="es-AR" sz="900" b="0" i="0" u="none" strike="noStrike">
                          <a:solidFill>
                            <a:srgbClr val="000000"/>
                          </a:solidFill>
                          <a:effectLst/>
                          <a:latin typeface="Lucida Bright" panose="02040602050505020304" pitchFamily="18" charset="0"/>
                        </a:rPr>
                        <a:t> </a:t>
                      </a:r>
                    </a:p>
                  </a:txBody>
                  <a:tcPr marL="7655" marR="7655" marT="7655" marB="0" anchor="b">
                    <a:lnL w="6350" cap="flat" cmpd="sng" algn="ctr">
                      <a:solidFill>
                        <a:srgbClr val="000000"/>
                      </a:solidFill>
                      <a:prstDash val="solid"/>
                      <a:round/>
                      <a:headEnd type="none" w="med" len="med"/>
                      <a:tailEnd type="none" w="med" len="med"/>
                    </a:lnL>
                    <a:lnR w="6350" cap="flat" cmpd="sng" algn="ctr">
                      <a:solidFill>
                        <a:srgbClr val="000000"/>
                      </a:solidFill>
                      <a:prstDash val="dot"/>
                      <a:round/>
                      <a:headEnd type="none" w="med" len="med"/>
                      <a:tailEnd type="none" w="med" len="med"/>
                    </a:lnR>
                    <a:lnT>
                      <a:noFill/>
                    </a:lnT>
                    <a:lnB>
                      <a:noFill/>
                    </a:lnB>
                    <a:noFill/>
                  </a:tcPr>
                </a:tc>
                <a:tc>
                  <a:txBody>
                    <a:bodyPr/>
                    <a:lstStyle/>
                    <a:p>
                      <a:pPr algn="ctr" fontAlgn="b">
                        <a:buNone/>
                      </a:pPr>
                      <a:r>
                        <a:rPr lang="es-AR" sz="900" b="0" i="0" u="none" strike="noStrike">
                          <a:solidFill>
                            <a:srgbClr val="000000"/>
                          </a:solidFill>
                          <a:effectLst/>
                          <a:latin typeface="Lucida Bright" panose="02040602050505020304" pitchFamily="18" charset="0"/>
                        </a:rPr>
                        <a:t> </a:t>
                      </a:r>
                    </a:p>
                  </a:txBody>
                  <a:tcPr marL="7655" marR="7655" marT="7655" marB="0" anchor="b">
                    <a:lnL w="6350" cap="flat" cmpd="sng" algn="ctr">
                      <a:solidFill>
                        <a:srgbClr val="000000"/>
                      </a:solidFill>
                      <a:prstDash val="dot"/>
                      <a:round/>
                      <a:headEnd type="none" w="med" len="med"/>
                      <a:tailEnd type="none" w="med" len="med"/>
                    </a:lnL>
                    <a:lnR w="6350" cap="flat" cmpd="sng" algn="ctr">
                      <a:solidFill>
                        <a:srgbClr val="000000"/>
                      </a:solidFill>
                      <a:prstDash val="dot"/>
                      <a:round/>
                      <a:headEnd type="none" w="med" len="med"/>
                      <a:tailEnd type="none" w="med" len="med"/>
                    </a:lnR>
                    <a:lnT>
                      <a:noFill/>
                    </a:lnT>
                    <a:lnB>
                      <a:noFill/>
                    </a:lnB>
                    <a:noFill/>
                  </a:tcPr>
                </a:tc>
                <a:tc>
                  <a:txBody>
                    <a:bodyPr/>
                    <a:lstStyle/>
                    <a:p>
                      <a:pPr algn="ctr" fontAlgn="b">
                        <a:buNone/>
                      </a:pPr>
                      <a:r>
                        <a:rPr lang="es-AR" sz="900" b="0" i="0" u="none" strike="noStrike">
                          <a:solidFill>
                            <a:srgbClr val="000000"/>
                          </a:solidFill>
                          <a:effectLst/>
                          <a:latin typeface="Lucida Bright" panose="02040602050505020304" pitchFamily="18" charset="0"/>
                        </a:rPr>
                        <a:t>0.736***</a:t>
                      </a:r>
                    </a:p>
                  </a:txBody>
                  <a:tcPr marL="7655" marR="7655" marT="7655" marB="0" anchor="b">
                    <a:lnL w="6350" cap="flat" cmpd="sng" algn="ctr">
                      <a:solidFill>
                        <a:srgbClr val="000000"/>
                      </a:solidFill>
                      <a:prstDash val="dot"/>
                      <a:round/>
                      <a:headEnd type="none" w="med" len="med"/>
                      <a:tailEnd type="none" w="med" len="med"/>
                    </a:lnL>
                    <a:lnR w="6350" cap="flat" cmpd="sng" algn="ctr">
                      <a:solidFill>
                        <a:srgbClr val="000000"/>
                      </a:solidFill>
                      <a:prstDash val="solid"/>
                      <a:round/>
                      <a:headEnd type="none" w="med" len="med"/>
                      <a:tailEnd type="none" w="med" len="med"/>
                    </a:lnR>
                    <a:lnT>
                      <a:noFill/>
                    </a:lnT>
                    <a:lnB>
                      <a:noFill/>
                    </a:lnB>
                    <a:solidFill>
                      <a:srgbClr val="E2EFDA"/>
                    </a:solidFill>
                  </a:tcPr>
                </a:tc>
                <a:tc>
                  <a:txBody>
                    <a:bodyPr/>
                    <a:lstStyle/>
                    <a:p>
                      <a:pPr algn="ctr" fontAlgn="b">
                        <a:buNone/>
                      </a:pPr>
                      <a:r>
                        <a:rPr lang="es-AR" sz="900" b="0" i="0" u="none" strike="noStrike">
                          <a:solidFill>
                            <a:srgbClr val="000000"/>
                          </a:solidFill>
                          <a:effectLst/>
                          <a:latin typeface="Lucida Bright" panose="02040602050505020304" pitchFamily="18" charset="0"/>
                        </a:rPr>
                        <a:t> </a:t>
                      </a:r>
                    </a:p>
                  </a:txBody>
                  <a:tcPr marL="7655" marR="7655" marT="7655" marB="0" anchor="b">
                    <a:lnL w="6350" cap="flat" cmpd="sng" algn="ctr">
                      <a:solidFill>
                        <a:srgbClr val="000000"/>
                      </a:solidFill>
                      <a:prstDash val="solid"/>
                      <a:round/>
                      <a:headEnd type="none" w="med" len="med"/>
                      <a:tailEnd type="none" w="med" len="med"/>
                    </a:lnL>
                    <a:lnR w="6350" cap="flat" cmpd="sng" algn="ctr">
                      <a:solidFill>
                        <a:srgbClr val="000000"/>
                      </a:solidFill>
                      <a:prstDash val="dot"/>
                      <a:round/>
                      <a:headEnd type="none" w="med" len="med"/>
                      <a:tailEnd type="none" w="med" len="med"/>
                    </a:lnR>
                    <a:lnT>
                      <a:noFill/>
                    </a:lnT>
                    <a:lnB>
                      <a:noFill/>
                    </a:lnB>
                    <a:noFill/>
                  </a:tcPr>
                </a:tc>
                <a:tc>
                  <a:txBody>
                    <a:bodyPr/>
                    <a:lstStyle/>
                    <a:p>
                      <a:pPr algn="ctr" fontAlgn="b">
                        <a:buNone/>
                      </a:pPr>
                      <a:r>
                        <a:rPr lang="es-AR" sz="900" b="0" i="0" u="none" strike="noStrike">
                          <a:solidFill>
                            <a:srgbClr val="000000"/>
                          </a:solidFill>
                          <a:effectLst/>
                          <a:latin typeface="Lucida Bright" panose="02040602050505020304" pitchFamily="18" charset="0"/>
                        </a:rPr>
                        <a:t> </a:t>
                      </a:r>
                    </a:p>
                  </a:txBody>
                  <a:tcPr marL="7655" marR="7655" marT="7655" marB="0" anchor="b">
                    <a:lnL w="6350" cap="flat" cmpd="sng" algn="ctr">
                      <a:solidFill>
                        <a:srgbClr val="000000"/>
                      </a:solidFill>
                      <a:prstDash val="dot"/>
                      <a:round/>
                      <a:headEnd type="none" w="med" len="med"/>
                      <a:tailEnd type="none" w="med" len="med"/>
                    </a:lnL>
                    <a:lnR w="6350" cap="flat" cmpd="sng" algn="ctr">
                      <a:solidFill>
                        <a:srgbClr val="000000"/>
                      </a:solidFill>
                      <a:prstDash val="dot"/>
                      <a:round/>
                      <a:headEnd type="none" w="med" len="med"/>
                      <a:tailEnd type="none" w="med" len="med"/>
                    </a:lnR>
                    <a:lnT>
                      <a:noFill/>
                    </a:lnT>
                    <a:lnB>
                      <a:noFill/>
                    </a:lnB>
                    <a:noFill/>
                  </a:tcPr>
                </a:tc>
                <a:tc>
                  <a:txBody>
                    <a:bodyPr/>
                    <a:lstStyle/>
                    <a:p>
                      <a:pPr algn="ctr" fontAlgn="b">
                        <a:buNone/>
                      </a:pPr>
                      <a:r>
                        <a:rPr lang="es-AR" sz="900" b="0" i="0" u="none" strike="noStrike">
                          <a:solidFill>
                            <a:srgbClr val="000000"/>
                          </a:solidFill>
                          <a:effectLst/>
                          <a:latin typeface="Lucida Bright" panose="02040602050505020304" pitchFamily="18" charset="0"/>
                        </a:rPr>
                        <a:t>0.734***</a:t>
                      </a:r>
                    </a:p>
                  </a:txBody>
                  <a:tcPr marL="7655" marR="7655" marT="7655" marB="0" anchor="b">
                    <a:lnL w="6350" cap="flat" cmpd="sng" algn="ctr">
                      <a:solidFill>
                        <a:srgbClr val="000000"/>
                      </a:solidFill>
                      <a:prstDash val="dot"/>
                      <a:round/>
                      <a:headEnd type="none" w="med" len="med"/>
                      <a:tailEnd type="none" w="med" len="med"/>
                    </a:lnL>
                    <a:lnR w="6350" cap="flat" cmpd="sng" algn="ctr">
                      <a:solidFill>
                        <a:srgbClr val="000000"/>
                      </a:solidFill>
                      <a:prstDash val="solid"/>
                      <a:round/>
                      <a:headEnd type="none" w="med" len="med"/>
                      <a:tailEnd type="none" w="med" len="med"/>
                    </a:lnR>
                    <a:lnT>
                      <a:noFill/>
                    </a:lnT>
                    <a:lnB>
                      <a:noFill/>
                    </a:lnB>
                    <a:solidFill>
                      <a:srgbClr val="E2EFDA"/>
                    </a:solidFill>
                  </a:tcPr>
                </a:tc>
                <a:tc>
                  <a:txBody>
                    <a:bodyPr/>
                    <a:lstStyle/>
                    <a:p>
                      <a:pPr algn="ctr" fontAlgn="b">
                        <a:buNone/>
                      </a:pPr>
                      <a:r>
                        <a:rPr lang="es-AR" sz="900" b="0" i="0" u="none" strike="noStrike">
                          <a:solidFill>
                            <a:srgbClr val="000000"/>
                          </a:solidFill>
                          <a:effectLst/>
                          <a:latin typeface="Lucida Bright" panose="02040602050505020304" pitchFamily="18" charset="0"/>
                        </a:rPr>
                        <a:t> </a:t>
                      </a:r>
                    </a:p>
                  </a:txBody>
                  <a:tcPr marL="7655" marR="7655" marT="7655" marB="0" anchor="b">
                    <a:lnL w="6350" cap="flat" cmpd="sng" algn="ctr">
                      <a:solidFill>
                        <a:srgbClr val="000000"/>
                      </a:solidFill>
                      <a:prstDash val="solid"/>
                      <a:round/>
                      <a:headEnd type="none" w="med" len="med"/>
                      <a:tailEnd type="none" w="med" len="med"/>
                    </a:lnL>
                    <a:lnR w="6350" cap="flat" cmpd="sng" algn="ctr">
                      <a:solidFill>
                        <a:srgbClr val="000000"/>
                      </a:solidFill>
                      <a:prstDash val="dot"/>
                      <a:round/>
                      <a:headEnd type="none" w="med" len="med"/>
                      <a:tailEnd type="none" w="med" len="med"/>
                    </a:lnR>
                    <a:lnT>
                      <a:noFill/>
                    </a:lnT>
                    <a:lnB>
                      <a:noFill/>
                    </a:lnB>
                    <a:noFill/>
                  </a:tcPr>
                </a:tc>
                <a:tc>
                  <a:txBody>
                    <a:bodyPr/>
                    <a:lstStyle/>
                    <a:p>
                      <a:pPr algn="ctr" fontAlgn="b">
                        <a:buNone/>
                      </a:pPr>
                      <a:r>
                        <a:rPr lang="es-AR" sz="900" b="0" i="0" u="none" strike="noStrike">
                          <a:solidFill>
                            <a:srgbClr val="000000"/>
                          </a:solidFill>
                          <a:effectLst/>
                          <a:latin typeface="Lucida Bright" panose="02040602050505020304" pitchFamily="18" charset="0"/>
                        </a:rPr>
                        <a:t> </a:t>
                      </a:r>
                    </a:p>
                  </a:txBody>
                  <a:tcPr marL="7655" marR="7655" marT="7655" marB="0" anchor="b">
                    <a:lnL w="6350" cap="flat" cmpd="sng" algn="ctr">
                      <a:solidFill>
                        <a:srgbClr val="000000"/>
                      </a:solidFill>
                      <a:prstDash val="dot"/>
                      <a:round/>
                      <a:headEnd type="none" w="med" len="med"/>
                      <a:tailEnd type="none" w="med" len="med"/>
                    </a:lnL>
                    <a:lnR w="6350" cap="flat" cmpd="sng" algn="ctr">
                      <a:solidFill>
                        <a:srgbClr val="000000"/>
                      </a:solidFill>
                      <a:prstDash val="dot"/>
                      <a:round/>
                      <a:headEnd type="none" w="med" len="med"/>
                      <a:tailEnd type="none" w="med" len="med"/>
                    </a:lnR>
                    <a:lnT>
                      <a:noFill/>
                    </a:lnT>
                    <a:lnB>
                      <a:noFill/>
                    </a:lnB>
                    <a:noFill/>
                  </a:tcPr>
                </a:tc>
                <a:tc>
                  <a:txBody>
                    <a:bodyPr/>
                    <a:lstStyle/>
                    <a:p>
                      <a:pPr algn="ctr" fontAlgn="b">
                        <a:buNone/>
                      </a:pPr>
                      <a:r>
                        <a:rPr lang="es-AR" sz="900" b="0" i="0" u="none" strike="noStrike">
                          <a:solidFill>
                            <a:srgbClr val="000000"/>
                          </a:solidFill>
                          <a:effectLst/>
                          <a:latin typeface="Lucida Bright" panose="02040602050505020304" pitchFamily="18" charset="0"/>
                        </a:rPr>
                        <a:t>0.176***</a:t>
                      </a:r>
                    </a:p>
                  </a:txBody>
                  <a:tcPr marL="7655" marR="7655" marT="7655" marB="0" anchor="b">
                    <a:lnL w="6350" cap="flat" cmpd="sng" algn="ctr">
                      <a:solidFill>
                        <a:srgbClr val="000000"/>
                      </a:solidFill>
                      <a:prstDash val="dot"/>
                      <a:round/>
                      <a:headEnd type="none" w="med" len="med"/>
                      <a:tailEnd type="none" w="med" len="med"/>
                    </a:lnL>
                    <a:lnR w="6350" cap="flat" cmpd="sng" algn="ctr">
                      <a:solidFill>
                        <a:srgbClr val="000000"/>
                      </a:solidFill>
                      <a:prstDash val="solid"/>
                      <a:round/>
                      <a:headEnd type="none" w="med" len="med"/>
                      <a:tailEnd type="none" w="med" len="med"/>
                    </a:lnR>
                    <a:lnT>
                      <a:noFill/>
                    </a:lnT>
                    <a:lnB>
                      <a:noFill/>
                    </a:lnB>
                    <a:solidFill>
                      <a:srgbClr val="E2EFDA"/>
                    </a:solidFill>
                  </a:tcPr>
                </a:tc>
                <a:tc>
                  <a:txBody>
                    <a:bodyPr/>
                    <a:lstStyle/>
                    <a:p>
                      <a:pPr algn="ctr" fontAlgn="b">
                        <a:buNone/>
                      </a:pPr>
                      <a:r>
                        <a:rPr lang="es-AR" sz="900" b="0" i="0" u="none" strike="noStrike">
                          <a:solidFill>
                            <a:srgbClr val="000000"/>
                          </a:solidFill>
                          <a:effectLst/>
                          <a:latin typeface="Lucida Bright" panose="02040602050505020304" pitchFamily="18" charset="0"/>
                        </a:rPr>
                        <a:t> </a:t>
                      </a:r>
                    </a:p>
                  </a:txBody>
                  <a:tcPr marL="7655" marR="7655" marT="7655" marB="0" anchor="b">
                    <a:lnL w="6350" cap="flat" cmpd="sng" algn="ctr">
                      <a:solidFill>
                        <a:srgbClr val="000000"/>
                      </a:solidFill>
                      <a:prstDash val="solid"/>
                      <a:round/>
                      <a:headEnd type="none" w="med" len="med"/>
                      <a:tailEnd type="none" w="med" len="med"/>
                    </a:lnL>
                    <a:lnR w="6350" cap="flat" cmpd="sng" algn="ctr">
                      <a:solidFill>
                        <a:srgbClr val="000000"/>
                      </a:solidFill>
                      <a:prstDash val="dot"/>
                      <a:round/>
                      <a:headEnd type="none" w="med" len="med"/>
                      <a:tailEnd type="none" w="med" len="med"/>
                    </a:lnR>
                    <a:lnT>
                      <a:noFill/>
                    </a:lnT>
                    <a:lnB>
                      <a:noFill/>
                    </a:lnB>
                    <a:noFill/>
                  </a:tcPr>
                </a:tc>
                <a:tc>
                  <a:txBody>
                    <a:bodyPr/>
                    <a:lstStyle/>
                    <a:p>
                      <a:pPr algn="ctr" fontAlgn="b">
                        <a:buNone/>
                      </a:pPr>
                      <a:r>
                        <a:rPr lang="es-AR" sz="900" b="0" i="0" u="none" strike="noStrike">
                          <a:solidFill>
                            <a:srgbClr val="000000"/>
                          </a:solidFill>
                          <a:effectLst/>
                          <a:latin typeface="Lucida Bright" panose="02040602050505020304" pitchFamily="18" charset="0"/>
                        </a:rPr>
                        <a:t> </a:t>
                      </a:r>
                    </a:p>
                  </a:txBody>
                  <a:tcPr marL="7655" marR="7655" marT="7655" marB="0" anchor="b">
                    <a:lnL w="6350" cap="flat" cmpd="sng" algn="ctr">
                      <a:solidFill>
                        <a:srgbClr val="000000"/>
                      </a:solidFill>
                      <a:prstDash val="dot"/>
                      <a:round/>
                      <a:headEnd type="none" w="med" len="med"/>
                      <a:tailEnd type="none" w="med" len="med"/>
                    </a:lnL>
                    <a:lnR w="6350" cap="flat" cmpd="sng" algn="ctr">
                      <a:solidFill>
                        <a:srgbClr val="000000"/>
                      </a:solidFill>
                      <a:prstDash val="dot"/>
                      <a:round/>
                      <a:headEnd type="none" w="med" len="med"/>
                      <a:tailEnd type="none" w="med" len="med"/>
                    </a:lnR>
                    <a:lnT>
                      <a:noFill/>
                    </a:lnT>
                    <a:lnB>
                      <a:noFill/>
                    </a:lnB>
                    <a:noFill/>
                  </a:tcPr>
                </a:tc>
                <a:tc>
                  <a:txBody>
                    <a:bodyPr/>
                    <a:lstStyle/>
                    <a:p>
                      <a:pPr algn="ctr" fontAlgn="b">
                        <a:buNone/>
                      </a:pPr>
                      <a:r>
                        <a:rPr lang="es-AR" sz="900" b="0" i="0" u="none" strike="noStrike">
                          <a:solidFill>
                            <a:srgbClr val="000000"/>
                          </a:solidFill>
                          <a:effectLst/>
                          <a:latin typeface="Lucida Bright" panose="02040602050505020304" pitchFamily="18" charset="0"/>
                        </a:rPr>
                        <a:t>0.177***</a:t>
                      </a:r>
                    </a:p>
                  </a:txBody>
                  <a:tcPr marL="7655" marR="7655" marT="7655" marB="0" anchor="b">
                    <a:lnL w="6350" cap="flat" cmpd="sng" algn="ctr">
                      <a:solidFill>
                        <a:srgbClr val="000000"/>
                      </a:solidFill>
                      <a:prstDash val="dot"/>
                      <a:round/>
                      <a:headEnd type="none" w="med" len="med"/>
                      <a:tailEnd type="none" w="med" len="med"/>
                    </a:lnL>
                    <a:lnR w="6350" cap="flat" cmpd="sng" algn="ctr">
                      <a:solidFill>
                        <a:srgbClr val="000000"/>
                      </a:solidFill>
                      <a:prstDash val="solid"/>
                      <a:round/>
                      <a:headEnd type="none" w="med" len="med"/>
                      <a:tailEnd type="none" w="med" len="med"/>
                    </a:lnR>
                    <a:lnT>
                      <a:noFill/>
                    </a:lnT>
                    <a:lnB>
                      <a:noFill/>
                    </a:lnB>
                    <a:solidFill>
                      <a:srgbClr val="E2EFDA"/>
                    </a:solidFill>
                  </a:tcPr>
                </a:tc>
                <a:extLst>
                  <a:ext uri="{0D108BD9-81ED-4DB2-BD59-A6C34878D82A}">
                    <a16:rowId xmlns:a16="http://schemas.microsoft.com/office/drawing/2014/main" val="1239508317"/>
                  </a:ext>
                </a:extLst>
              </a:tr>
              <a:tr h="153108">
                <a:tc>
                  <a:txBody>
                    <a:bodyPr/>
                    <a:lstStyle/>
                    <a:p>
                      <a:pPr algn="l" fontAlgn="b">
                        <a:buNone/>
                      </a:pPr>
                      <a:r>
                        <a:rPr lang="es-AR" sz="900" b="0" i="0" u="none" strike="noStrike">
                          <a:solidFill>
                            <a:srgbClr val="000000"/>
                          </a:solidFill>
                          <a:effectLst/>
                          <a:latin typeface="Lucida Bright" panose="02040602050505020304" pitchFamily="18" charset="0"/>
                        </a:rPr>
                        <a:t>log(GEBC)</a:t>
                      </a:r>
                    </a:p>
                  </a:txBody>
                  <a:tcPr marL="7655" marR="7655" marT="7655"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b">
                        <a:buNone/>
                      </a:pPr>
                      <a:r>
                        <a:rPr lang="es-AR" sz="900" b="0" i="0" u="none" strike="noStrike">
                          <a:solidFill>
                            <a:srgbClr val="000000"/>
                          </a:solidFill>
                          <a:effectLst/>
                          <a:latin typeface="Lucida Bright" panose="02040602050505020304" pitchFamily="18" charset="0"/>
                        </a:rPr>
                        <a:t> </a:t>
                      </a:r>
                    </a:p>
                  </a:txBody>
                  <a:tcPr marL="7655" marR="7655" marT="7655" marB="0" anchor="b">
                    <a:lnL w="6350" cap="flat" cmpd="sng" algn="ctr">
                      <a:solidFill>
                        <a:srgbClr val="000000"/>
                      </a:solidFill>
                      <a:prstDash val="solid"/>
                      <a:round/>
                      <a:headEnd type="none" w="med" len="med"/>
                      <a:tailEnd type="none" w="med" len="med"/>
                    </a:lnL>
                    <a:lnR w="6350" cap="flat" cmpd="sng" algn="ctr">
                      <a:solidFill>
                        <a:srgbClr val="000000"/>
                      </a:solidFill>
                      <a:prstDash val="dot"/>
                      <a:round/>
                      <a:headEnd type="none" w="med" len="med"/>
                      <a:tailEnd type="none" w="med" len="med"/>
                    </a:lnR>
                    <a:lnT>
                      <a:noFill/>
                    </a:lnT>
                    <a:lnB>
                      <a:noFill/>
                    </a:lnB>
                    <a:noFill/>
                  </a:tcPr>
                </a:tc>
                <a:tc>
                  <a:txBody>
                    <a:bodyPr/>
                    <a:lstStyle/>
                    <a:p>
                      <a:pPr algn="ctr" fontAlgn="b">
                        <a:buNone/>
                      </a:pPr>
                      <a:r>
                        <a:rPr lang="es-AR" sz="900" b="0" i="0" u="none" strike="noStrike">
                          <a:solidFill>
                            <a:srgbClr val="000000"/>
                          </a:solidFill>
                          <a:effectLst/>
                          <a:latin typeface="Lucida Bright" panose="02040602050505020304" pitchFamily="18" charset="0"/>
                        </a:rPr>
                        <a:t> </a:t>
                      </a:r>
                    </a:p>
                  </a:txBody>
                  <a:tcPr marL="7655" marR="7655" marT="7655" marB="0" anchor="b">
                    <a:lnL w="6350" cap="flat" cmpd="sng" algn="ctr">
                      <a:solidFill>
                        <a:srgbClr val="000000"/>
                      </a:solidFill>
                      <a:prstDash val="dot"/>
                      <a:round/>
                      <a:headEnd type="none" w="med" len="med"/>
                      <a:tailEnd type="none" w="med" len="med"/>
                    </a:lnL>
                    <a:lnR w="6350" cap="flat" cmpd="sng" algn="ctr">
                      <a:solidFill>
                        <a:srgbClr val="000000"/>
                      </a:solidFill>
                      <a:prstDash val="dot"/>
                      <a:round/>
                      <a:headEnd type="none" w="med" len="med"/>
                      <a:tailEnd type="none" w="med" len="med"/>
                    </a:lnR>
                    <a:lnT>
                      <a:noFill/>
                    </a:lnT>
                    <a:lnB>
                      <a:noFill/>
                    </a:lnB>
                    <a:noFill/>
                  </a:tcPr>
                </a:tc>
                <a:tc>
                  <a:txBody>
                    <a:bodyPr/>
                    <a:lstStyle/>
                    <a:p>
                      <a:pPr algn="ctr" fontAlgn="b">
                        <a:buNone/>
                      </a:pPr>
                      <a:r>
                        <a:rPr lang="es-AR" sz="900" b="0" i="0" u="none" strike="noStrike">
                          <a:solidFill>
                            <a:srgbClr val="000000"/>
                          </a:solidFill>
                          <a:effectLst/>
                          <a:latin typeface="Lucida Bright" panose="02040602050505020304" pitchFamily="18" charset="0"/>
                        </a:rPr>
                        <a:t> </a:t>
                      </a:r>
                    </a:p>
                  </a:txBody>
                  <a:tcPr marL="7655" marR="7655" marT="7655" marB="0" anchor="b">
                    <a:lnL w="6350" cap="flat" cmpd="sng" algn="ctr">
                      <a:solidFill>
                        <a:srgbClr val="000000"/>
                      </a:solidFill>
                      <a:prstDash val="dot"/>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b">
                        <a:buNone/>
                      </a:pPr>
                      <a:r>
                        <a:rPr lang="es-AR" sz="900" b="0" i="0" u="none" strike="noStrike">
                          <a:solidFill>
                            <a:srgbClr val="000000"/>
                          </a:solidFill>
                          <a:effectLst/>
                          <a:latin typeface="Lucida Bright" panose="02040602050505020304" pitchFamily="18" charset="0"/>
                        </a:rPr>
                        <a:t>-0.118</a:t>
                      </a:r>
                    </a:p>
                  </a:txBody>
                  <a:tcPr marL="7655" marR="7655" marT="7655" marB="0" anchor="b">
                    <a:lnL w="6350" cap="flat" cmpd="sng" algn="ctr">
                      <a:solidFill>
                        <a:srgbClr val="000000"/>
                      </a:solidFill>
                      <a:prstDash val="solid"/>
                      <a:round/>
                      <a:headEnd type="none" w="med" len="med"/>
                      <a:tailEnd type="none" w="med" len="med"/>
                    </a:lnL>
                    <a:lnR w="6350" cap="flat" cmpd="sng" algn="ctr">
                      <a:solidFill>
                        <a:srgbClr val="000000"/>
                      </a:solidFill>
                      <a:prstDash val="dot"/>
                      <a:round/>
                      <a:headEnd type="none" w="med" len="med"/>
                      <a:tailEnd type="none" w="med" len="med"/>
                    </a:lnR>
                    <a:lnT>
                      <a:noFill/>
                    </a:lnT>
                    <a:lnB>
                      <a:noFill/>
                    </a:lnB>
                    <a:noFill/>
                  </a:tcPr>
                </a:tc>
                <a:tc>
                  <a:txBody>
                    <a:bodyPr/>
                    <a:lstStyle/>
                    <a:p>
                      <a:pPr algn="ctr" fontAlgn="b">
                        <a:buNone/>
                      </a:pPr>
                      <a:r>
                        <a:rPr lang="es-AR" sz="900" b="0" i="0" u="none" strike="noStrike">
                          <a:solidFill>
                            <a:srgbClr val="000000"/>
                          </a:solidFill>
                          <a:effectLst/>
                          <a:latin typeface="Lucida Bright" panose="02040602050505020304" pitchFamily="18" charset="0"/>
                        </a:rPr>
                        <a:t>-0.124</a:t>
                      </a:r>
                    </a:p>
                  </a:txBody>
                  <a:tcPr marL="7655" marR="7655" marT="7655" marB="0" anchor="b">
                    <a:lnL w="6350" cap="flat" cmpd="sng" algn="ctr">
                      <a:solidFill>
                        <a:srgbClr val="000000"/>
                      </a:solidFill>
                      <a:prstDash val="dot"/>
                      <a:round/>
                      <a:headEnd type="none" w="med" len="med"/>
                      <a:tailEnd type="none" w="med" len="med"/>
                    </a:lnL>
                    <a:lnR w="6350" cap="flat" cmpd="sng" algn="ctr">
                      <a:solidFill>
                        <a:srgbClr val="000000"/>
                      </a:solidFill>
                      <a:prstDash val="dot"/>
                      <a:round/>
                      <a:headEnd type="none" w="med" len="med"/>
                      <a:tailEnd type="none" w="med" len="med"/>
                    </a:lnR>
                    <a:lnT>
                      <a:noFill/>
                    </a:lnT>
                    <a:lnB>
                      <a:noFill/>
                    </a:lnB>
                    <a:noFill/>
                  </a:tcPr>
                </a:tc>
                <a:tc>
                  <a:txBody>
                    <a:bodyPr/>
                    <a:lstStyle/>
                    <a:p>
                      <a:pPr algn="ctr" fontAlgn="b">
                        <a:buNone/>
                      </a:pPr>
                      <a:r>
                        <a:rPr lang="es-AR" sz="900" b="0" i="0" u="none" strike="noStrike">
                          <a:solidFill>
                            <a:srgbClr val="000000"/>
                          </a:solidFill>
                          <a:effectLst/>
                          <a:latin typeface="Lucida Bright" panose="02040602050505020304" pitchFamily="18" charset="0"/>
                        </a:rPr>
                        <a:t>-0.254</a:t>
                      </a:r>
                    </a:p>
                  </a:txBody>
                  <a:tcPr marL="7655" marR="7655" marT="7655" marB="0" anchor="b">
                    <a:lnL w="6350" cap="flat" cmpd="sng" algn="ctr">
                      <a:solidFill>
                        <a:srgbClr val="000000"/>
                      </a:solidFill>
                      <a:prstDash val="dot"/>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b">
                        <a:buNone/>
                      </a:pPr>
                      <a:r>
                        <a:rPr lang="es-AR" sz="900" b="0" i="0" u="none" strike="noStrike">
                          <a:solidFill>
                            <a:srgbClr val="000000"/>
                          </a:solidFill>
                          <a:effectLst/>
                          <a:latin typeface="Lucida Bright" panose="02040602050505020304" pitchFamily="18" charset="0"/>
                        </a:rPr>
                        <a:t> </a:t>
                      </a:r>
                    </a:p>
                  </a:txBody>
                  <a:tcPr marL="7655" marR="7655" marT="7655" marB="0" anchor="b">
                    <a:lnL w="6350" cap="flat" cmpd="sng" algn="ctr">
                      <a:solidFill>
                        <a:srgbClr val="000000"/>
                      </a:solidFill>
                      <a:prstDash val="solid"/>
                      <a:round/>
                      <a:headEnd type="none" w="med" len="med"/>
                      <a:tailEnd type="none" w="med" len="med"/>
                    </a:lnL>
                    <a:lnR w="6350" cap="flat" cmpd="sng" algn="ctr">
                      <a:solidFill>
                        <a:srgbClr val="000000"/>
                      </a:solidFill>
                      <a:prstDash val="dot"/>
                      <a:round/>
                      <a:headEnd type="none" w="med" len="med"/>
                      <a:tailEnd type="none" w="med" len="med"/>
                    </a:lnR>
                    <a:lnT>
                      <a:noFill/>
                    </a:lnT>
                    <a:lnB>
                      <a:noFill/>
                    </a:lnB>
                    <a:noFill/>
                  </a:tcPr>
                </a:tc>
                <a:tc>
                  <a:txBody>
                    <a:bodyPr/>
                    <a:lstStyle/>
                    <a:p>
                      <a:pPr algn="ctr" fontAlgn="b">
                        <a:buNone/>
                      </a:pPr>
                      <a:r>
                        <a:rPr lang="es-AR" sz="900" b="0" i="0" u="none" strike="noStrike">
                          <a:solidFill>
                            <a:srgbClr val="000000"/>
                          </a:solidFill>
                          <a:effectLst/>
                          <a:latin typeface="Lucida Bright" panose="02040602050505020304" pitchFamily="18" charset="0"/>
                        </a:rPr>
                        <a:t> </a:t>
                      </a:r>
                    </a:p>
                  </a:txBody>
                  <a:tcPr marL="7655" marR="7655" marT="7655" marB="0" anchor="b">
                    <a:lnL w="6350" cap="flat" cmpd="sng" algn="ctr">
                      <a:solidFill>
                        <a:srgbClr val="000000"/>
                      </a:solidFill>
                      <a:prstDash val="dot"/>
                      <a:round/>
                      <a:headEnd type="none" w="med" len="med"/>
                      <a:tailEnd type="none" w="med" len="med"/>
                    </a:lnL>
                    <a:lnR w="6350" cap="flat" cmpd="sng" algn="ctr">
                      <a:solidFill>
                        <a:srgbClr val="000000"/>
                      </a:solidFill>
                      <a:prstDash val="dot"/>
                      <a:round/>
                      <a:headEnd type="none" w="med" len="med"/>
                      <a:tailEnd type="none" w="med" len="med"/>
                    </a:lnR>
                    <a:lnT>
                      <a:noFill/>
                    </a:lnT>
                    <a:lnB>
                      <a:noFill/>
                    </a:lnB>
                    <a:noFill/>
                  </a:tcPr>
                </a:tc>
                <a:tc>
                  <a:txBody>
                    <a:bodyPr/>
                    <a:lstStyle/>
                    <a:p>
                      <a:pPr algn="ctr" fontAlgn="b">
                        <a:buNone/>
                      </a:pPr>
                      <a:r>
                        <a:rPr lang="es-AR" sz="900" b="0" i="0" u="none" strike="noStrike">
                          <a:solidFill>
                            <a:srgbClr val="000000"/>
                          </a:solidFill>
                          <a:effectLst/>
                          <a:latin typeface="Lucida Bright" panose="02040602050505020304" pitchFamily="18" charset="0"/>
                        </a:rPr>
                        <a:t> </a:t>
                      </a:r>
                    </a:p>
                  </a:txBody>
                  <a:tcPr marL="7655" marR="7655" marT="7655" marB="0" anchor="b">
                    <a:lnL w="6350" cap="flat" cmpd="sng" algn="ctr">
                      <a:solidFill>
                        <a:srgbClr val="000000"/>
                      </a:solidFill>
                      <a:prstDash val="dot"/>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b">
                        <a:buNone/>
                      </a:pPr>
                      <a:r>
                        <a:rPr lang="es-AR" sz="900" b="0" i="0" u="none" strike="noStrike">
                          <a:solidFill>
                            <a:srgbClr val="000000"/>
                          </a:solidFill>
                          <a:effectLst/>
                          <a:latin typeface="Lucida Bright" panose="02040602050505020304" pitchFamily="18" charset="0"/>
                        </a:rPr>
                        <a:t>-0.021</a:t>
                      </a:r>
                    </a:p>
                  </a:txBody>
                  <a:tcPr marL="7655" marR="7655" marT="7655" marB="0" anchor="b">
                    <a:lnL w="6350" cap="flat" cmpd="sng" algn="ctr">
                      <a:solidFill>
                        <a:srgbClr val="000000"/>
                      </a:solidFill>
                      <a:prstDash val="solid"/>
                      <a:round/>
                      <a:headEnd type="none" w="med" len="med"/>
                      <a:tailEnd type="none" w="med" len="med"/>
                    </a:lnL>
                    <a:lnR w="6350" cap="flat" cmpd="sng" algn="ctr">
                      <a:solidFill>
                        <a:srgbClr val="000000"/>
                      </a:solidFill>
                      <a:prstDash val="dot"/>
                      <a:round/>
                      <a:headEnd type="none" w="med" len="med"/>
                      <a:tailEnd type="none" w="med" len="med"/>
                    </a:lnR>
                    <a:lnT>
                      <a:noFill/>
                    </a:lnT>
                    <a:lnB>
                      <a:noFill/>
                    </a:lnB>
                    <a:noFill/>
                  </a:tcPr>
                </a:tc>
                <a:tc>
                  <a:txBody>
                    <a:bodyPr/>
                    <a:lstStyle/>
                    <a:p>
                      <a:pPr algn="ctr" fontAlgn="b">
                        <a:buNone/>
                      </a:pPr>
                      <a:r>
                        <a:rPr lang="es-AR" sz="900" b="0" i="0" u="none" strike="noStrike">
                          <a:solidFill>
                            <a:srgbClr val="000000"/>
                          </a:solidFill>
                          <a:effectLst/>
                          <a:latin typeface="Lucida Bright" panose="02040602050505020304" pitchFamily="18" charset="0"/>
                        </a:rPr>
                        <a:t>-0.026</a:t>
                      </a:r>
                    </a:p>
                  </a:txBody>
                  <a:tcPr marL="7655" marR="7655" marT="7655" marB="0" anchor="b">
                    <a:lnL w="6350" cap="flat" cmpd="sng" algn="ctr">
                      <a:solidFill>
                        <a:srgbClr val="000000"/>
                      </a:solidFill>
                      <a:prstDash val="dot"/>
                      <a:round/>
                      <a:headEnd type="none" w="med" len="med"/>
                      <a:tailEnd type="none" w="med" len="med"/>
                    </a:lnL>
                    <a:lnR w="6350" cap="flat" cmpd="sng" algn="ctr">
                      <a:solidFill>
                        <a:srgbClr val="000000"/>
                      </a:solidFill>
                      <a:prstDash val="dot"/>
                      <a:round/>
                      <a:headEnd type="none" w="med" len="med"/>
                      <a:tailEnd type="none" w="med" len="med"/>
                    </a:lnR>
                    <a:lnT>
                      <a:noFill/>
                    </a:lnT>
                    <a:lnB>
                      <a:noFill/>
                    </a:lnB>
                    <a:noFill/>
                  </a:tcPr>
                </a:tc>
                <a:tc>
                  <a:txBody>
                    <a:bodyPr/>
                    <a:lstStyle/>
                    <a:p>
                      <a:pPr algn="ctr" fontAlgn="b">
                        <a:buNone/>
                      </a:pPr>
                      <a:r>
                        <a:rPr lang="es-AR" sz="900" b="0" i="0" u="none" strike="noStrike">
                          <a:solidFill>
                            <a:srgbClr val="000000"/>
                          </a:solidFill>
                          <a:effectLst/>
                          <a:latin typeface="Lucida Bright" panose="02040602050505020304" pitchFamily="18" charset="0"/>
                        </a:rPr>
                        <a:t>-0.044</a:t>
                      </a:r>
                    </a:p>
                  </a:txBody>
                  <a:tcPr marL="7655" marR="7655" marT="7655" marB="0" anchor="b">
                    <a:lnL w="6350" cap="flat" cmpd="sng" algn="ctr">
                      <a:solidFill>
                        <a:srgbClr val="000000"/>
                      </a:solidFill>
                      <a:prstDash val="dot"/>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extLst>
                  <a:ext uri="{0D108BD9-81ED-4DB2-BD59-A6C34878D82A}">
                    <a16:rowId xmlns:a16="http://schemas.microsoft.com/office/drawing/2014/main" val="3975748073"/>
                  </a:ext>
                </a:extLst>
              </a:tr>
              <a:tr h="153108">
                <a:tc>
                  <a:txBody>
                    <a:bodyPr/>
                    <a:lstStyle/>
                    <a:p>
                      <a:pPr algn="l" fontAlgn="b">
                        <a:buNone/>
                      </a:pPr>
                      <a:r>
                        <a:rPr lang="es-AR" sz="900" b="0" i="0" u="none" strike="noStrike">
                          <a:solidFill>
                            <a:srgbClr val="000000"/>
                          </a:solidFill>
                          <a:effectLst/>
                          <a:latin typeface="Lucida Bright" panose="02040602050505020304" pitchFamily="18" charset="0"/>
                        </a:rPr>
                        <a:t>log(API)</a:t>
                      </a:r>
                    </a:p>
                  </a:txBody>
                  <a:tcPr marL="7655" marR="7655" marT="7655"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noFill/>
                  </a:tcPr>
                </a:tc>
                <a:tc>
                  <a:txBody>
                    <a:bodyPr/>
                    <a:lstStyle/>
                    <a:p>
                      <a:pPr algn="ctr" fontAlgn="b">
                        <a:buNone/>
                      </a:pPr>
                      <a:r>
                        <a:rPr lang="es-AR" sz="900" b="0" i="0" u="none" strike="noStrike">
                          <a:solidFill>
                            <a:srgbClr val="000000"/>
                          </a:solidFill>
                          <a:effectLst/>
                          <a:latin typeface="Lucida Bright" panose="02040602050505020304" pitchFamily="18" charset="0"/>
                        </a:rPr>
                        <a:t> </a:t>
                      </a:r>
                    </a:p>
                  </a:txBody>
                  <a:tcPr marL="7655" marR="7655" marT="7655" marB="0" anchor="b">
                    <a:lnL w="6350" cap="flat" cmpd="sng" algn="ctr">
                      <a:solidFill>
                        <a:srgbClr val="000000"/>
                      </a:solidFill>
                      <a:prstDash val="solid"/>
                      <a:round/>
                      <a:headEnd type="none" w="med" len="med"/>
                      <a:tailEnd type="none" w="med" len="med"/>
                    </a:lnL>
                    <a:lnR w="6350" cap="flat" cmpd="sng" algn="ctr">
                      <a:solidFill>
                        <a:srgbClr val="000000"/>
                      </a:solidFill>
                      <a:prstDash val="dot"/>
                      <a:round/>
                      <a:headEnd type="none" w="med" len="med"/>
                      <a:tailEnd type="none" w="med" len="med"/>
                    </a:lnR>
                    <a:lnT>
                      <a:noFill/>
                    </a:lnT>
                    <a:lnB w="6350" cap="flat" cmpd="sng" algn="ctr">
                      <a:solidFill>
                        <a:srgbClr val="000000"/>
                      </a:solidFill>
                      <a:prstDash val="solid"/>
                      <a:round/>
                      <a:headEnd type="none" w="med" len="med"/>
                      <a:tailEnd type="none" w="med" len="med"/>
                    </a:lnB>
                    <a:noFill/>
                  </a:tcPr>
                </a:tc>
                <a:tc>
                  <a:txBody>
                    <a:bodyPr/>
                    <a:lstStyle/>
                    <a:p>
                      <a:pPr algn="ctr" fontAlgn="b">
                        <a:buNone/>
                      </a:pPr>
                      <a:r>
                        <a:rPr lang="es-AR" sz="900" b="0" i="0" u="none" strike="noStrike">
                          <a:solidFill>
                            <a:srgbClr val="000000"/>
                          </a:solidFill>
                          <a:effectLst/>
                          <a:latin typeface="Lucida Bright" panose="02040602050505020304" pitchFamily="18" charset="0"/>
                        </a:rPr>
                        <a:t> </a:t>
                      </a:r>
                    </a:p>
                  </a:txBody>
                  <a:tcPr marL="7655" marR="7655" marT="7655" marB="0" anchor="b">
                    <a:lnL w="6350" cap="flat" cmpd="sng" algn="ctr">
                      <a:solidFill>
                        <a:srgbClr val="000000"/>
                      </a:solidFill>
                      <a:prstDash val="dot"/>
                      <a:round/>
                      <a:headEnd type="none" w="med" len="med"/>
                      <a:tailEnd type="none" w="med" len="med"/>
                    </a:lnL>
                    <a:lnR w="6350" cap="flat" cmpd="sng" algn="ctr">
                      <a:solidFill>
                        <a:srgbClr val="000000"/>
                      </a:solidFill>
                      <a:prstDash val="dot"/>
                      <a:round/>
                      <a:headEnd type="none" w="med" len="med"/>
                      <a:tailEnd type="none" w="med" len="med"/>
                    </a:lnR>
                    <a:lnT>
                      <a:noFill/>
                    </a:lnT>
                    <a:lnB w="6350" cap="flat" cmpd="sng" algn="ctr">
                      <a:solidFill>
                        <a:srgbClr val="000000"/>
                      </a:solidFill>
                      <a:prstDash val="solid"/>
                      <a:round/>
                      <a:headEnd type="none" w="med" len="med"/>
                      <a:tailEnd type="none" w="med" len="med"/>
                    </a:lnB>
                    <a:noFill/>
                  </a:tcPr>
                </a:tc>
                <a:tc>
                  <a:txBody>
                    <a:bodyPr/>
                    <a:lstStyle/>
                    <a:p>
                      <a:pPr algn="ctr" fontAlgn="b">
                        <a:buNone/>
                      </a:pPr>
                      <a:r>
                        <a:rPr lang="es-AR" sz="900" b="0" i="0" u="none" strike="noStrike">
                          <a:solidFill>
                            <a:srgbClr val="000000"/>
                          </a:solidFill>
                          <a:effectLst/>
                          <a:latin typeface="Lucida Bright" panose="02040602050505020304" pitchFamily="18" charset="0"/>
                        </a:rPr>
                        <a:t> </a:t>
                      </a:r>
                    </a:p>
                  </a:txBody>
                  <a:tcPr marL="7655" marR="7655" marT="7655" marB="0" anchor="b">
                    <a:lnL w="6350" cap="flat" cmpd="sng" algn="ctr">
                      <a:solidFill>
                        <a:srgbClr val="000000"/>
                      </a:solidFill>
                      <a:prstDash val="dot"/>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noFill/>
                  </a:tcPr>
                </a:tc>
                <a:tc>
                  <a:txBody>
                    <a:bodyPr/>
                    <a:lstStyle/>
                    <a:p>
                      <a:pPr algn="ctr" fontAlgn="b">
                        <a:buNone/>
                      </a:pPr>
                      <a:r>
                        <a:rPr lang="es-AR" sz="900" b="0" i="0" u="none" strike="noStrike">
                          <a:solidFill>
                            <a:srgbClr val="000000"/>
                          </a:solidFill>
                          <a:effectLst/>
                          <a:latin typeface="Lucida Bright" panose="02040602050505020304" pitchFamily="18" charset="0"/>
                        </a:rPr>
                        <a:t> </a:t>
                      </a:r>
                    </a:p>
                  </a:txBody>
                  <a:tcPr marL="7655" marR="7655" marT="7655" marB="0" anchor="b">
                    <a:lnL w="6350" cap="flat" cmpd="sng" algn="ctr">
                      <a:solidFill>
                        <a:srgbClr val="000000"/>
                      </a:solidFill>
                      <a:prstDash val="solid"/>
                      <a:round/>
                      <a:headEnd type="none" w="med" len="med"/>
                      <a:tailEnd type="none" w="med" len="med"/>
                    </a:lnL>
                    <a:lnR w="6350" cap="flat" cmpd="sng" algn="ctr">
                      <a:solidFill>
                        <a:srgbClr val="000000"/>
                      </a:solidFill>
                      <a:prstDash val="dot"/>
                      <a:round/>
                      <a:headEnd type="none" w="med" len="med"/>
                      <a:tailEnd type="none" w="med" len="med"/>
                    </a:lnR>
                    <a:lnT>
                      <a:noFill/>
                    </a:lnT>
                    <a:lnB w="6350" cap="flat" cmpd="sng" algn="ctr">
                      <a:solidFill>
                        <a:srgbClr val="000000"/>
                      </a:solidFill>
                      <a:prstDash val="solid"/>
                      <a:round/>
                      <a:headEnd type="none" w="med" len="med"/>
                      <a:tailEnd type="none" w="med" len="med"/>
                    </a:lnB>
                    <a:noFill/>
                  </a:tcPr>
                </a:tc>
                <a:tc>
                  <a:txBody>
                    <a:bodyPr/>
                    <a:lstStyle/>
                    <a:p>
                      <a:pPr algn="ctr" fontAlgn="b">
                        <a:buNone/>
                      </a:pPr>
                      <a:r>
                        <a:rPr lang="es-AR" sz="900" b="0" i="0" u="none" strike="noStrike">
                          <a:solidFill>
                            <a:srgbClr val="000000"/>
                          </a:solidFill>
                          <a:effectLst/>
                          <a:latin typeface="Lucida Bright" panose="02040602050505020304" pitchFamily="18" charset="0"/>
                        </a:rPr>
                        <a:t> </a:t>
                      </a:r>
                    </a:p>
                  </a:txBody>
                  <a:tcPr marL="7655" marR="7655" marT="7655" marB="0" anchor="b">
                    <a:lnL w="6350" cap="flat" cmpd="sng" algn="ctr">
                      <a:solidFill>
                        <a:srgbClr val="000000"/>
                      </a:solidFill>
                      <a:prstDash val="dot"/>
                      <a:round/>
                      <a:headEnd type="none" w="med" len="med"/>
                      <a:tailEnd type="none" w="med" len="med"/>
                    </a:lnL>
                    <a:lnR w="6350" cap="flat" cmpd="sng" algn="ctr">
                      <a:solidFill>
                        <a:srgbClr val="000000"/>
                      </a:solidFill>
                      <a:prstDash val="dot"/>
                      <a:round/>
                      <a:headEnd type="none" w="med" len="med"/>
                      <a:tailEnd type="none" w="med" len="med"/>
                    </a:lnR>
                    <a:lnT>
                      <a:noFill/>
                    </a:lnT>
                    <a:lnB w="6350" cap="flat" cmpd="sng" algn="ctr">
                      <a:solidFill>
                        <a:srgbClr val="000000"/>
                      </a:solidFill>
                      <a:prstDash val="solid"/>
                      <a:round/>
                      <a:headEnd type="none" w="med" len="med"/>
                      <a:tailEnd type="none" w="med" len="med"/>
                    </a:lnB>
                    <a:noFill/>
                  </a:tcPr>
                </a:tc>
                <a:tc>
                  <a:txBody>
                    <a:bodyPr/>
                    <a:lstStyle/>
                    <a:p>
                      <a:pPr algn="ctr" fontAlgn="b">
                        <a:buNone/>
                      </a:pPr>
                      <a:r>
                        <a:rPr lang="es-AR" sz="900" b="0" i="0" u="none" strike="noStrike">
                          <a:solidFill>
                            <a:srgbClr val="000000"/>
                          </a:solidFill>
                          <a:effectLst/>
                          <a:latin typeface="Lucida Bright" panose="02040602050505020304" pitchFamily="18" charset="0"/>
                        </a:rPr>
                        <a:t> </a:t>
                      </a:r>
                    </a:p>
                  </a:txBody>
                  <a:tcPr marL="7655" marR="7655" marT="7655" marB="0" anchor="b">
                    <a:lnL w="6350" cap="flat" cmpd="sng" algn="ctr">
                      <a:solidFill>
                        <a:srgbClr val="000000"/>
                      </a:solidFill>
                      <a:prstDash val="dot"/>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noFill/>
                  </a:tcPr>
                </a:tc>
                <a:tc>
                  <a:txBody>
                    <a:bodyPr/>
                    <a:lstStyle/>
                    <a:p>
                      <a:pPr algn="ctr" fontAlgn="b">
                        <a:buNone/>
                      </a:pPr>
                      <a:r>
                        <a:rPr lang="es-AR" sz="900" b="0" i="0" u="none" strike="noStrike">
                          <a:solidFill>
                            <a:srgbClr val="000000"/>
                          </a:solidFill>
                          <a:effectLst/>
                          <a:latin typeface="Lucida Bright" panose="02040602050505020304" pitchFamily="18" charset="0"/>
                        </a:rPr>
                        <a:t>1.207***</a:t>
                      </a:r>
                    </a:p>
                  </a:txBody>
                  <a:tcPr marL="7655" marR="7655" marT="7655" marB="0" anchor="b">
                    <a:lnL w="6350" cap="flat" cmpd="sng" algn="ctr">
                      <a:solidFill>
                        <a:srgbClr val="000000"/>
                      </a:solidFill>
                      <a:prstDash val="solid"/>
                      <a:round/>
                      <a:headEnd type="none" w="med" len="med"/>
                      <a:tailEnd type="none" w="med" len="med"/>
                    </a:lnL>
                    <a:lnR w="6350" cap="flat" cmpd="sng" algn="ctr">
                      <a:solidFill>
                        <a:srgbClr val="000000"/>
                      </a:solidFill>
                      <a:prstDash val="dot"/>
                      <a:round/>
                      <a:headEnd type="none" w="med" len="med"/>
                      <a:tailEnd type="none" w="med" len="med"/>
                    </a:lnR>
                    <a:lnT>
                      <a:noFill/>
                    </a:lnT>
                    <a:lnB w="6350" cap="flat" cmpd="sng" algn="ctr">
                      <a:solidFill>
                        <a:srgbClr val="000000"/>
                      </a:solidFill>
                      <a:prstDash val="solid"/>
                      <a:round/>
                      <a:headEnd type="none" w="med" len="med"/>
                      <a:tailEnd type="none" w="med" len="med"/>
                    </a:lnB>
                    <a:noFill/>
                  </a:tcPr>
                </a:tc>
                <a:tc>
                  <a:txBody>
                    <a:bodyPr/>
                    <a:lstStyle/>
                    <a:p>
                      <a:pPr algn="ctr" fontAlgn="b">
                        <a:buNone/>
                      </a:pPr>
                      <a:r>
                        <a:rPr lang="es-AR" sz="900" b="0" i="0" u="none" strike="noStrike">
                          <a:solidFill>
                            <a:srgbClr val="000000"/>
                          </a:solidFill>
                          <a:effectLst/>
                          <a:latin typeface="Lucida Bright" panose="02040602050505020304" pitchFamily="18" charset="0"/>
                        </a:rPr>
                        <a:t>1.222***</a:t>
                      </a:r>
                    </a:p>
                  </a:txBody>
                  <a:tcPr marL="7655" marR="7655" marT="7655" marB="0" anchor="b">
                    <a:lnL w="6350" cap="flat" cmpd="sng" algn="ctr">
                      <a:solidFill>
                        <a:srgbClr val="000000"/>
                      </a:solidFill>
                      <a:prstDash val="dot"/>
                      <a:round/>
                      <a:headEnd type="none" w="med" len="med"/>
                      <a:tailEnd type="none" w="med" len="med"/>
                    </a:lnL>
                    <a:lnR w="6350" cap="flat" cmpd="sng" algn="ctr">
                      <a:solidFill>
                        <a:srgbClr val="000000"/>
                      </a:solidFill>
                      <a:prstDash val="dot"/>
                      <a:round/>
                      <a:headEnd type="none" w="med" len="med"/>
                      <a:tailEnd type="none" w="med" len="med"/>
                    </a:lnR>
                    <a:lnT>
                      <a:noFill/>
                    </a:lnT>
                    <a:lnB w="6350" cap="flat" cmpd="sng" algn="ctr">
                      <a:solidFill>
                        <a:srgbClr val="000000"/>
                      </a:solidFill>
                      <a:prstDash val="solid"/>
                      <a:round/>
                      <a:headEnd type="none" w="med" len="med"/>
                      <a:tailEnd type="none" w="med" len="med"/>
                    </a:lnB>
                    <a:noFill/>
                  </a:tcPr>
                </a:tc>
                <a:tc>
                  <a:txBody>
                    <a:bodyPr/>
                    <a:lstStyle/>
                    <a:p>
                      <a:pPr algn="ctr" fontAlgn="b">
                        <a:buNone/>
                      </a:pPr>
                      <a:r>
                        <a:rPr lang="es-AR" sz="900" b="0" i="0" u="none" strike="noStrike">
                          <a:solidFill>
                            <a:srgbClr val="000000"/>
                          </a:solidFill>
                          <a:effectLst/>
                          <a:latin typeface="Lucida Bright" panose="02040602050505020304" pitchFamily="18" charset="0"/>
                        </a:rPr>
                        <a:t>1.232***</a:t>
                      </a:r>
                    </a:p>
                  </a:txBody>
                  <a:tcPr marL="7655" marR="7655" marT="7655" marB="0" anchor="b">
                    <a:lnL w="6350" cap="flat" cmpd="sng" algn="ctr">
                      <a:solidFill>
                        <a:srgbClr val="000000"/>
                      </a:solidFill>
                      <a:prstDash val="dot"/>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noFill/>
                  </a:tcPr>
                </a:tc>
                <a:tc>
                  <a:txBody>
                    <a:bodyPr/>
                    <a:lstStyle/>
                    <a:p>
                      <a:pPr algn="ctr" fontAlgn="b">
                        <a:buNone/>
                      </a:pPr>
                      <a:r>
                        <a:rPr lang="es-AR" sz="900" b="0" i="0" u="none" strike="noStrike">
                          <a:solidFill>
                            <a:srgbClr val="000000"/>
                          </a:solidFill>
                          <a:effectLst/>
                          <a:latin typeface="Lucida Bright" panose="02040602050505020304" pitchFamily="18" charset="0"/>
                        </a:rPr>
                        <a:t>1.206***</a:t>
                      </a:r>
                    </a:p>
                  </a:txBody>
                  <a:tcPr marL="7655" marR="7655" marT="7655" marB="0" anchor="b">
                    <a:lnL w="6350" cap="flat" cmpd="sng" algn="ctr">
                      <a:solidFill>
                        <a:srgbClr val="000000"/>
                      </a:solidFill>
                      <a:prstDash val="solid"/>
                      <a:round/>
                      <a:headEnd type="none" w="med" len="med"/>
                      <a:tailEnd type="none" w="med" len="med"/>
                    </a:lnL>
                    <a:lnR w="6350" cap="flat" cmpd="sng" algn="ctr">
                      <a:solidFill>
                        <a:srgbClr val="000000"/>
                      </a:solidFill>
                      <a:prstDash val="dot"/>
                      <a:round/>
                      <a:headEnd type="none" w="med" len="med"/>
                      <a:tailEnd type="none" w="med" len="med"/>
                    </a:lnR>
                    <a:lnT>
                      <a:noFill/>
                    </a:lnT>
                    <a:lnB w="6350" cap="flat" cmpd="sng" algn="ctr">
                      <a:solidFill>
                        <a:srgbClr val="000000"/>
                      </a:solidFill>
                      <a:prstDash val="solid"/>
                      <a:round/>
                      <a:headEnd type="none" w="med" len="med"/>
                      <a:tailEnd type="none" w="med" len="med"/>
                    </a:lnB>
                    <a:noFill/>
                  </a:tcPr>
                </a:tc>
                <a:tc>
                  <a:txBody>
                    <a:bodyPr/>
                    <a:lstStyle/>
                    <a:p>
                      <a:pPr algn="ctr" fontAlgn="b">
                        <a:buNone/>
                      </a:pPr>
                      <a:r>
                        <a:rPr lang="es-AR" sz="900" b="0" i="0" u="none" strike="noStrike">
                          <a:solidFill>
                            <a:srgbClr val="000000"/>
                          </a:solidFill>
                          <a:effectLst/>
                          <a:latin typeface="Lucida Bright" panose="02040602050505020304" pitchFamily="18" charset="0"/>
                        </a:rPr>
                        <a:t>1.221***</a:t>
                      </a:r>
                    </a:p>
                  </a:txBody>
                  <a:tcPr marL="7655" marR="7655" marT="7655" marB="0" anchor="b">
                    <a:lnL w="6350" cap="flat" cmpd="sng" algn="ctr">
                      <a:solidFill>
                        <a:srgbClr val="000000"/>
                      </a:solidFill>
                      <a:prstDash val="dot"/>
                      <a:round/>
                      <a:headEnd type="none" w="med" len="med"/>
                      <a:tailEnd type="none" w="med" len="med"/>
                    </a:lnL>
                    <a:lnR w="6350" cap="flat" cmpd="sng" algn="ctr">
                      <a:solidFill>
                        <a:srgbClr val="000000"/>
                      </a:solidFill>
                      <a:prstDash val="dot"/>
                      <a:round/>
                      <a:headEnd type="none" w="med" len="med"/>
                      <a:tailEnd type="none" w="med" len="med"/>
                    </a:lnR>
                    <a:lnT>
                      <a:noFill/>
                    </a:lnT>
                    <a:lnB w="6350" cap="flat" cmpd="sng" algn="ctr">
                      <a:solidFill>
                        <a:srgbClr val="000000"/>
                      </a:solidFill>
                      <a:prstDash val="solid"/>
                      <a:round/>
                      <a:headEnd type="none" w="med" len="med"/>
                      <a:tailEnd type="none" w="med" len="med"/>
                    </a:lnB>
                    <a:noFill/>
                  </a:tcPr>
                </a:tc>
                <a:tc>
                  <a:txBody>
                    <a:bodyPr/>
                    <a:lstStyle/>
                    <a:p>
                      <a:pPr algn="ctr" fontAlgn="b">
                        <a:buNone/>
                      </a:pPr>
                      <a:r>
                        <a:rPr lang="es-AR" sz="900" b="0" i="0" u="none" strike="noStrike">
                          <a:solidFill>
                            <a:srgbClr val="000000"/>
                          </a:solidFill>
                          <a:effectLst/>
                          <a:latin typeface="Lucida Bright" panose="02040602050505020304" pitchFamily="18" charset="0"/>
                        </a:rPr>
                        <a:t>1.229***</a:t>
                      </a:r>
                    </a:p>
                  </a:txBody>
                  <a:tcPr marL="7655" marR="7655" marT="7655" marB="0" anchor="b">
                    <a:lnL w="6350" cap="flat" cmpd="sng" algn="ctr">
                      <a:solidFill>
                        <a:srgbClr val="000000"/>
                      </a:solidFill>
                      <a:prstDash val="dot"/>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571366273"/>
                  </a:ext>
                </a:extLst>
              </a:tr>
              <a:tr h="153108">
                <a:tc>
                  <a:txBody>
                    <a:bodyPr/>
                    <a:lstStyle/>
                    <a:p>
                      <a:pPr algn="l" fontAlgn="b">
                        <a:buNone/>
                      </a:pPr>
                      <a:r>
                        <a:rPr lang="es-AR" sz="900" b="0" i="0" u="none" strike="noStrike">
                          <a:solidFill>
                            <a:srgbClr val="000000"/>
                          </a:solidFill>
                          <a:effectLst/>
                          <a:latin typeface="Lucida Bright" panose="02040602050505020304" pitchFamily="18" charset="0"/>
                        </a:rPr>
                        <a:t>R² ajustado</a:t>
                      </a:r>
                    </a:p>
                  </a:txBody>
                  <a:tcPr marL="7655" marR="7655" marT="7655"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b">
                        <a:buNone/>
                      </a:pPr>
                      <a:r>
                        <a:rPr lang="es-AR" sz="900" b="0" i="0" u="none" strike="noStrike">
                          <a:solidFill>
                            <a:srgbClr val="000000"/>
                          </a:solidFill>
                          <a:effectLst/>
                          <a:latin typeface="Lucida Bright" panose="02040602050505020304" pitchFamily="18" charset="0"/>
                        </a:rPr>
                        <a:t>0.418</a:t>
                      </a:r>
                    </a:p>
                  </a:txBody>
                  <a:tcPr marL="7655" marR="7655" marT="7655" marB="0" anchor="b">
                    <a:lnL w="6350" cap="flat" cmpd="sng" algn="ctr">
                      <a:solidFill>
                        <a:srgbClr val="000000"/>
                      </a:solidFill>
                      <a:prstDash val="solid"/>
                      <a:round/>
                      <a:headEnd type="none" w="med" len="med"/>
                      <a:tailEnd type="none" w="med" len="med"/>
                    </a:lnL>
                    <a:lnR w="6350" cap="flat" cmpd="sng" algn="ctr">
                      <a:solidFill>
                        <a:srgbClr val="000000"/>
                      </a:solidFill>
                      <a:prstDash val="dot"/>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b">
                        <a:buNone/>
                      </a:pPr>
                      <a:r>
                        <a:rPr lang="es-AR" sz="900" b="0" i="0" u="none" strike="noStrike">
                          <a:solidFill>
                            <a:srgbClr val="000000"/>
                          </a:solidFill>
                          <a:effectLst/>
                          <a:latin typeface="Lucida Bright" panose="02040602050505020304" pitchFamily="18" charset="0"/>
                        </a:rPr>
                        <a:t>0.315</a:t>
                      </a:r>
                    </a:p>
                  </a:txBody>
                  <a:tcPr marL="7655" marR="7655" marT="7655" marB="0" anchor="b">
                    <a:lnL w="6350" cap="flat" cmpd="sng" algn="ctr">
                      <a:solidFill>
                        <a:srgbClr val="000000"/>
                      </a:solidFill>
                      <a:prstDash val="dot"/>
                      <a:round/>
                      <a:headEnd type="none" w="med" len="med"/>
                      <a:tailEnd type="none" w="med" len="med"/>
                    </a:lnL>
                    <a:lnR w="6350" cap="flat" cmpd="sng" algn="ctr">
                      <a:solidFill>
                        <a:srgbClr val="000000"/>
                      </a:solidFill>
                      <a:prstDash val="dot"/>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b">
                        <a:buNone/>
                      </a:pPr>
                      <a:r>
                        <a:rPr lang="es-AR" sz="900" b="0" i="0" u="none" strike="noStrike">
                          <a:solidFill>
                            <a:srgbClr val="000000"/>
                          </a:solidFill>
                          <a:effectLst/>
                          <a:latin typeface="Lucida Bright" panose="02040602050505020304" pitchFamily="18" charset="0"/>
                        </a:rPr>
                        <a:t>0.202</a:t>
                      </a:r>
                    </a:p>
                  </a:txBody>
                  <a:tcPr marL="7655" marR="7655" marT="7655" marB="0" anchor="b">
                    <a:lnL w="6350" cap="flat" cmpd="sng" algn="ctr">
                      <a:solidFill>
                        <a:srgbClr val="000000"/>
                      </a:solidFill>
                      <a:prstDash val="dot"/>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b">
                        <a:buNone/>
                      </a:pPr>
                      <a:r>
                        <a:rPr lang="es-AR" sz="900" b="0" i="0" u="none" strike="noStrike">
                          <a:solidFill>
                            <a:srgbClr val="000000"/>
                          </a:solidFill>
                          <a:effectLst/>
                          <a:latin typeface="Lucida Bright" panose="02040602050505020304" pitchFamily="18" charset="0"/>
                        </a:rPr>
                        <a:t>0.417</a:t>
                      </a:r>
                    </a:p>
                  </a:txBody>
                  <a:tcPr marL="7655" marR="7655" marT="7655" marB="0" anchor="b">
                    <a:lnL w="6350" cap="flat" cmpd="sng" algn="ctr">
                      <a:solidFill>
                        <a:srgbClr val="000000"/>
                      </a:solidFill>
                      <a:prstDash val="solid"/>
                      <a:round/>
                      <a:headEnd type="none" w="med" len="med"/>
                      <a:tailEnd type="none" w="med" len="med"/>
                    </a:lnL>
                    <a:lnR w="6350" cap="flat" cmpd="sng" algn="ctr">
                      <a:solidFill>
                        <a:srgbClr val="000000"/>
                      </a:solidFill>
                      <a:prstDash val="dot"/>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b">
                        <a:buNone/>
                      </a:pPr>
                      <a:r>
                        <a:rPr lang="es-AR" sz="900" b="0" i="0" u="none" strike="noStrike">
                          <a:solidFill>
                            <a:srgbClr val="000000"/>
                          </a:solidFill>
                          <a:effectLst/>
                          <a:latin typeface="Lucida Bright" panose="02040602050505020304" pitchFamily="18" charset="0"/>
                        </a:rPr>
                        <a:t>0.314</a:t>
                      </a:r>
                    </a:p>
                  </a:txBody>
                  <a:tcPr marL="7655" marR="7655" marT="7655" marB="0" anchor="b">
                    <a:lnL w="6350" cap="flat" cmpd="sng" algn="ctr">
                      <a:solidFill>
                        <a:srgbClr val="000000"/>
                      </a:solidFill>
                      <a:prstDash val="dot"/>
                      <a:round/>
                      <a:headEnd type="none" w="med" len="med"/>
                      <a:tailEnd type="none" w="med" len="med"/>
                    </a:lnL>
                    <a:lnR w="6350" cap="flat" cmpd="sng" algn="ctr">
                      <a:solidFill>
                        <a:srgbClr val="000000"/>
                      </a:solidFill>
                      <a:prstDash val="dot"/>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b">
                        <a:buNone/>
                      </a:pPr>
                      <a:r>
                        <a:rPr lang="es-AR" sz="900" b="0" i="0" u="none" strike="noStrike">
                          <a:solidFill>
                            <a:srgbClr val="000000"/>
                          </a:solidFill>
                          <a:effectLst/>
                          <a:latin typeface="Lucida Bright" panose="02040602050505020304" pitchFamily="18" charset="0"/>
                        </a:rPr>
                        <a:t>0.206</a:t>
                      </a:r>
                    </a:p>
                  </a:txBody>
                  <a:tcPr marL="7655" marR="7655" marT="7655" marB="0" anchor="b">
                    <a:lnL w="6350" cap="flat" cmpd="sng" algn="ctr">
                      <a:solidFill>
                        <a:srgbClr val="000000"/>
                      </a:solidFill>
                      <a:prstDash val="dot"/>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b">
                        <a:buNone/>
                      </a:pPr>
                      <a:r>
                        <a:rPr lang="es-AR" sz="900" b="0" i="0" u="none" strike="noStrike">
                          <a:solidFill>
                            <a:srgbClr val="000000"/>
                          </a:solidFill>
                          <a:effectLst/>
                          <a:latin typeface="Lucida Bright" panose="02040602050505020304" pitchFamily="18" charset="0"/>
                        </a:rPr>
                        <a:t>0.798</a:t>
                      </a:r>
                    </a:p>
                  </a:txBody>
                  <a:tcPr marL="7655" marR="7655" marT="7655" marB="0" anchor="b">
                    <a:lnL w="6350" cap="flat" cmpd="sng" algn="ctr">
                      <a:solidFill>
                        <a:srgbClr val="000000"/>
                      </a:solidFill>
                      <a:prstDash val="solid"/>
                      <a:round/>
                      <a:headEnd type="none" w="med" len="med"/>
                      <a:tailEnd type="none" w="med" len="med"/>
                    </a:lnL>
                    <a:lnR w="6350" cap="flat" cmpd="sng" algn="ctr">
                      <a:solidFill>
                        <a:srgbClr val="000000"/>
                      </a:solidFill>
                      <a:prstDash val="dot"/>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b">
                        <a:buNone/>
                      </a:pPr>
                      <a:r>
                        <a:rPr lang="es-AR" sz="900" b="0" i="0" u="none" strike="noStrike">
                          <a:solidFill>
                            <a:srgbClr val="000000"/>
                          </a:solidFill>
                          <a:effectLst/>
                          <a:latin typeface="Lucida Bright" panose="02040602050505020304" pitchFamily="18" charset="0"/>
                        </a:rPr>
                        <a:t>0.679</a:t>
                      </a:r>
                    </a:p>
                  </a:txBody>
                  <a:tcPr marL="7655" marR="7655" marT="7655" marB="0" anchor="b">
                    <a:lnL w="6350" cap="flat" cmpd="sng" algn="ctr">
                      <a:solidFill>
                        <a:srgbClr val="000000"/>
                      </a:solidFill>
                      <a:prstDash val="dot"/>
                      <a:round/>
                      <a:headEnd type="none" w="med" len="med"/>
                      <a:tailEnd type="none" w="med" len="med"/>
                    </a:lnL>
                    <a:lnR w="6350" cap="flat" cmpd="sng" algn="ctr">
                      <a:solidFill>
                        <a:srgbClr val="000000"/>
                      </a:solidFill>
                      <a:prstDash val="dot"/>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b">
                        <a:buNone/>
                      </a:pPr>
                      <a:r>
                        <a:rPr lang="es-AR" sz="900" b="0" i="0" u="none" strike="noStrike">
                          <a:solidFill>
                            <a:srgbClr val="000000"/>
                          </a:solidFill>
                          <a:effectLst/>
                          <a:latin typeface="Lucida Bright" panose="02040602050505020304" pitchFamily="18" charset="0"/>
                        </a:rPr>
                        <a:t>0.684</a:t>
                      </a:r>
                    </a:p>
                  </a:txBody>
                  <a:tcPr marL="7655" marR="7655" marT="7655" marB="0" anchor="b">
                    <a:lnL w="6350" cap="flat" cmpd="sng" algn="ctr">
                      <a:solidFill>
                        <a:srgbClr val="000000"/>
                      </a:solidFill>
                      <a:prstDash val="dot"/>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b">
                        <a:buNone/>
                      </a:pPr>
                      <a:r>
                        <a:rPr lang="es-AR" sz="900" b="0" i="0" u="none" strike="noStrike">
                          <a:solidFill>
                            <a:srgbClr val="000000"/>
                          </a:solidFill>
                          <a:effectLst/>
                          <a:latin typeface="Lucida Bright" panose="02040602050505020304" pitchFamily="18" charset="0"/>
                        </a:rPr>
                        <a:t>0.798</a:t>
                      </a:r>
                    </a:p>
                  </a:txBody>
                  <a:tcPr marL="7655" marR="7655" marT="7655" marB="0" anchor="b">
                    <a:lnL w="6350" cap="flat" cmpd="sng" algn="ctr">
                      <a:solidFill>
                        <a:srgbClr val="000000"/>
                      </a:solidFill>
                      <a:prstDash val="solid"/>
                      <a:round/>
                      <a:headEnd type="none" w="med" len="med"/>
                      <a:tailEnd type="none" w="med" len="med"/>
                    </a:lnL>
                    <a:lnR w="6350" cap="flat" cmpd="sng" algn="ctr">
                      <a:solidFill>
                        <a:srgbClr val="000000"/>
                      </a:solidFill>
                      <a:prstDash val="dot"/>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b">
                        <a:buNone/>
                      </a:pPr>
                      <a:r>
                        <a:rPr lang="es-AR" sz="900" b="0" i="0" u="none" strike="noStrike">
                          <a:solidFill>
                            <a:srgbClr val="000000"/>
                          </a:solidFill>
                          <a:effectLst/>
                          <a:latin typeface="Lucida Bright" panose="02040602050505020304" pitchFamily="18" charset="0"/>
                        </a:rPr>
                        <a:t>0.678</a:t>
                      </a:r>
                    </a:p>
                  </a:txBody>
                  <a:tcPr marL="7655" marR="7655" marT="7655" marB="0" anchor="b">
                    <a:lnL w="6350" cap="flat" cmpd="sng" algn="ctr">
                      <a:solidFill>
                        <a:srgbClr val="000000"/>
                      </a:solidFill>
                      <a:prstDash val="dot"/>
                      <a:round/>
                      <a:headEnd type="none" w="med" len="med"/>
                      <a:tailEnd type="none" w="med" len="med"/>
                    </a:lnL>
                    <a:lnR w="6350" cap="flat" cmpd="sng" algn="ctr">
                      <a:solidFill>
                        <a:srgbClr val="000000"/>
                      </a:solidFill>
                      <a:prstDash val="dot"/>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b">
                        <a:buNone/>
                      </a:pPr>
                      <a:r>
                        <a:rPr lang="es-AR" sz="900" b="0" i="0" u="none" strike="noStrike">
                          <a:solidFill>
                            <a:srgbClr val="000000"/>
                          </a:solidFill>
                          <a:effectLst/>
                          <a:latin typeface="Lucida Bright" panose="02040602050505020304" pitchFamily="18" charset="0"/>
                        </a:rPr>
                        <a:t>0.683</a:t>
                      </a:r>
                    </a:p>
                  </a:txBody>
                  <a:tcPr marL="7655" marR="7655" marT="7655" marB="0" anchor="b">
                    <a:lnL w="6350" cap="flat" cmpd="sng" algn="ctr">
                      <a:solidFill>
                        <a:srgbClr val="000000"/>
                      </a:solidFill>
                      <a:prstDash val="dot"/>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1390235172"/>
                  </a:ext>
                </a:extLst>
              </a:tr>
              <a:tr h="950802">
                <a:tc>
                  <a:txBody>
                    <a:bodyPr/>
                    <a:lstStyle/>
                    <a:p>
                      <a:pPr algn="l" fontAlgn="b">
                        <a:buNone/>
                      </a:pPr>
                      <a:r>
                        <a:rPr lang="es-AR" sz="900" b="0" i="0" u="none" strike="noStrike">
                          <a:solidFill>
                            <a:srgbClr val="000000"/>
                          </a:solidFill>
                          <a:effectLst/>
                          <a:latin typeface="Lucida Bright" panose="02040602050505020304" pitchFamily="18" charset="0"/>
                        </a:rPr>
                        <a:t> </a:t>
                      </a:r>
                    </a:p>
                  </a:txBody>
                  <a:tcPr marL="7655" marR="7655" marT="7655"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solidFill>
                      <a:srgbClr val="FFFFFF"/>
                    </a:solidFill>
                  </a:tcPr>
                </a:tc>
                <a:tc>
                  <a:txBody>
                    <a:bodyPr/>
                    <a:lstStyle/>
                    <a:p>
                      <a:pPr algn="ctr" fontAlgn="b">
                        <a:buNone/>
                      </a:pPr>
                      <a:r>
                        <a:rPr lang="es-ES" sz="900" b="1" i="0" u="none" strike="noStrike">
                          <a:solidFill>
                            <a:srgbClr val="FFFFFF"/>
                          </a:solidFill>
                          <a:effectLst/>
                          <a:latin typeface="Lucida Bright" panose="02040602050505020304" pitchFamily="18" charset="0"/>
                        </a:rPr>
                        <a:t>VARIABLE DEPENDIENTE: EXPORTACIONES MOI BRUTAS</a:t>
                      </a:r>
                    </a:p>
                  </a:txBody>
                  <a:tcPr marL="7655" marR="7655" marT="7655"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375623"/>
                    </a:solidFill>
                  </a:tcPr>
                </a:tc>
                <a:tc>
                  <a:txBody>
                    <a:bodyPr/>
                    <a:lstStyle/>
                    <a:p>
                      <a:pPr algn="ctr" fontAlgn="b">
                        <a:buNone/>
                      </a:pPr>
                      <a:r>
                        <a:rPr lang="es-AR" sz="900" b="1" i="0" u="none" strike="noStrike">
                          <a:solidFill>
                            <a:srgbClr val="FFFFFF"/>
                          </a:solidFill>
                          <a:effectLst/>
                          <a:latin typeface="Lucida Bright" panose="02040602050505020304" pitchFamily="18" charset="0"/>
                        </a:rPr>
                        <a:t> </a:t>
                      </a:r>
                    </a:p>
                  </a:txBody>
                  <a:tcPr marL="7655" marR="7655" marT="7655"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375623"/>
                    </a:solidFill>
                  </a:tcPr>
                </a:tc>
                <a:tc>
                  <a:txBody>
                    <a:bodyPr/>
                    <a:lstStyle/>
                    <a:p>
                      <a:pPr algn="ctr" fontAlgn="b">
                        <a:buNone/>
                      </a:pPr>
                      <a:r>
                        <a:rPr lang="es-AR" sz="900" b="1" i="0" u="none" strike="noStrike">
                          <a:solidFill>
                            <a:srgbClr val="FFFFFF"/>
                          </a:solidFill>
                          <a:effectLst/>
                          <a:latin typeface="Lucida Bright" panose="02040602050505020304" pitchFamily="18" charset="0"/>
                        </a:rPr>
                        <a:t> </a:t>
                      </a:r>
                    </a:p>
                  </a:txBody>
                  <a:tcPr marL="7655" marR="7655" marT="7655"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375623"/>
                    </a:solidFill>
                  </a:tcPr>
                </a:tc>
                <a:tc>
                  <a:txBody>
                    <a:bodyPr/>
                    <a:lstStyle/>
                    <a:p>
                      <a:pPr algn="ctr" fontAlgn="b">
                        <a:buNone/>
                      </a:pPr>
                      <a:r>
                        <a:rPr lang="es-AR" sz="900" b="1" i="0" u="none" strike="noStrike">
                          <a:solidFill>
                            <a:srgbClr val="FFFFFF"/>
                          </a:solidFill>
                          <a:effectLst/>
                          <a:latin typeface="Lucida Bright" panose="02040602050505020304" pitchFamily="18" charset="0"/>
                        </a:rPr>
                        <a:t> </a:t>
                      </a:r>
                    </a:p>
                  </a:txBody>
                  <a:tcPr marL="7655" marR="7655" marT="7655"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375623"/>
                    </a:solidFill>
                  </a:tcPr>
                </a:tc>
                <a:tc>
                  <a:txBody>
                    <a:bodyPr/>
                    <a:lstStyle/>
                    <a:p>
                      <a:pPr algn="ctr" fontAlgn="b">
                        <a:buNone/>
                      </a:pPr>
                      <a:r>
                        <a:rPr lang="es-AR" sz="900" b="1" i="0" u="none" strike="noStrike">
                          <a:solidFill>
                            <a:srgbClr val="FFFFFF"/>
                          </a:solidFill>
                          <a:effectLst/>
                          <a:latin typeface="Lucida Bright" panose="02040602050505020304" pitchFamily="18" charset="0"/>
                        </a:rPr>
                        <a:t> </a:t>
                      </a:r>
                    </a:p>
                  </a:txBody>
                  <a:tcPr marL="7655" marR="7655" marT="7655"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375623"/>
                    </a:solidFill>
                  </a:tcPr>
                </a:tc>
                <a:tc>
                  <a:txBody>
                    <a:bodyPr/>
                    <a:lstStyle/>
                    <a:p>
                      <a:pPr algn="ctr" fontAlgn="b">
                        <a:buNone/>
                      </a:pPr>
                      <a:r>
                        <a:rPr lang="es-AR" sz="900" b="1" i="0" u="none" strike="noStrike">
                          <a:solidFill>
                            <a:srgbClr val="FFFFFF"/>
                          </a:solidFill>
                          <a:effectLst/>
                          <a:latin typeface="Lucida Bright" panose="02040602050505020304" pitchFamily="18" charset="0"/>
                        </a:rPr>
                        <a:t> </a:t>
                      </a:r>
                    </a:p>
                  </a:txBody>
                  <a:tcPr marL="7655" marR="7655" marT="7655"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375623"/>
                    </a:solidFill>
                  </a:tcPr>
                </a:tc>
                <a:tc>
                  <a:txBody>
                    <a:bodyPr/>
                    <a:lstStyle/>
                    <a:p>
                      <a:pPr algn="ctr" fontAlgn="b">
                        <a:buNone/>
                      </a:pPr>
                      <a:r>
                        <a:rPr lang="es-AR" sz="900" b="1" i="0" u="none" strike="noStrike">
                          <a:solidFill>
                            <a:srgbClr val="FFFFFF"/>
                          </a:solidFill>
                          <a:effectLst/>
                          <a:latin typeface="Lucida Bright" panose="02040602050505020304" pitchFamily="18" charset="0"/>
                        </a:rPr>
                        <a:t> </a:t>
                      </a:r>
                    </a:p>
                  </a:txBody>
                  <a:tcPr marL="7655" marR="7655" marT="7655"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375623"/>
                    </a:solidFill>
                  </a:tcPr>
                </a:tc>
                <a:tc>
                  <a:txBody>
                    <a:bodyPr/>
                    <a:lstStyle/>
                    <a:p>
                      <a:pPr algn="ctr" fontAlgn="b">
                        <a:buNone/>
                      </a:pPr>
                      <a:r>
                        <a:rPr lang="es-AR" sz="900" b="1" i="0" u="none" strike="noStrike">
                          <a:solidFill>
                            <a:srgbClr val="FFFFFF"/>
                          </a:solidFill>
                          <a:effectLst/>
                          <a:latin typeface="Lucida Bright" panose="02040602050505020304" pitchFamily="18" charset="0"/>
                        </a:rPr>
                        <a:t> </a:t>
                      </a:r>
                    </a:p>
                  </a:txBody>
                  <a:tcPr marL="7655" marR="7655" marT="7655"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375623"/>
                    </a:solidFill>
                  </a:tcPr>
                </a:tc>
                <a:tc>
                  <a:txBody>
                    <a:bodyPr/>
                    <a:lstStyle/>
                    <a:p>
                      <a:pPr algn="ctr" fontAlgn="b">
                        <a:buNone/>
                      </a:pPr>
                      <a:r>
                        <a:rPr lang="es-AR" sz="900" b="1" i="0" u="none" strike="noStrike">
                          <a:solidFill>
                            <a:srgbClr val="FFFFFF"/>
                          </a:solidFill>
                          <a:effectLst/>
                          <a:latin typeface="Lucida Bright" panose="02040602050505020304" pitchFamily="18" charset="0"/>
                        </a:rPr>
                        <a:t> </a:t>
                      </a:r>
                    </a:p>
                  </a:txBody>
                  <a:tcPr marL="7655" marR="7655" marT="7655"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375623"/>
                    </a:solidFill>
                  </a:tcPr>
                </a:tc>
                <a:tc>
                  <a:txBody>
                    <a:bodyPr/>
                    <a:lstStyle/>
                    <a:p>
                      <a:pPr algn="ctr" fontAlgn="b">
                        <a:buNone/>
                      </a:pPr>
                      <a:r>
                        <a:rPr lang="es-AR" sz="900" b="1" i="0" u="none" strike="noStrike">
                          <a:solidFill>
                            <a:srgbClr val="FFFFFF"/>
                          </a:solidFill>
                          <a:effectLst/>
                          <a:latin typeface="Lucida Bright" panose="02040602050505020304" pitchFamily="18" charset="0"/>
                        </a:rPr>
                        <a:t> </a:t>
                      </a:r>
                    </a:p>
                  </a:txBody>
                  <a:tcPr marL="7655" marR="7655" marT="7655"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375623"/>
                    </a:solidFill>
                  </a:tcPr>
                </a:tc>
                <a:tc>
                  <a:txBody>
                    <a:bodyPr/>
                    <a:lstStyle/>
                    <a:p>
                      <a:pPr algn="ctr" fontAlgn="b">
                        <a:buNone/>
                      </a:pPr>
                      <a:r>
                        <a:rPr lang="es-AR" sz="900" b="1" i="0" u="none" strike="noStrike">
                          <a:solidFill>
                            <a:srgbClr val="FFFFFF"/>
                          </a:solidFill>
                          <a:effectLst/>
                          <a:latin typeface="Lucida Bright" panose="02040602050505020304" pitchFamily="18" charset="0"/>
                        </a:rPr>
                        <a:t> </a:t>
                      </a:r>
                    </a:p>
                  </a:txBody>
                  <a:tcPr marL="7655" marR="7655" marT="7655"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375623"/>
                    </a:solidFill>
                  </a:tcPr>
                </a:tc>
                <a:tc>
                  <a:txBody>
                    <a:bodyPr/>
                    <a:lstStyle/>
                    <a:p>
                      <a:pPr algn="ctr" fontAlgn="b">
                        <a:buNone/>
                      </a:pPr>
                      <a:r>
                        <a:rPr lang="es-AR" sz="900" b="1" i="0" u="none" strike="noStrike">
                          <a:solidFill>
                            <a:srgbClr val="FFFFFF"/>
                          </a:solidFill>
                          <a:effectLst/>
                          <a:latin typeface="Lucida Bright" panose="02040602050505020304" pitchFamily="18" charset="0"/>
                        </a:rPr>
                        <a:t> </a:t>
                      </a:r>
                    </a:p>
                  </a:txBody>
                  <a:tcPr marL="7655" marR="7655" marT="7655"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375623"/>
                    </a:solidFill>
                  </a:tcPr>
                </a:tc>
                <a:extLst>
                  <a:ext uri="{0D108BD9-81ED-4DB2-BD59-A6C34878D82A}">
                    <a16:rowId xmlns:a16="http://schemas.microsoft.com/office/drawing/2014/main" val="3173616149"/>
                  </a:ext>
                </a:extLst>
              </a:tr>
              <a:tr h="153108">
                <a:tc>
                  <a:txBody>
                    <a:bodyPr/>
                    <a:lstStyle/>
                    <a:p>
                      <a:pPr algn="l" fontAlgn="b">
                        <a:buNone/>
                      </a:pPr>
                      <a:r>
                        <a:rPr lang="es-AR" sz="900" b="0" i="0" u="none" strike="noStrike">
                          <a:solidFill>
                            <a:srgbClr val="000000"/>
                          </a:solidFill>
                          <a:effectLst/>
                          <a:latin typeface="Lucida Bright" panose="02040602050505020304" pitchFamily="18" charset="0"/>
                        </a:rPr>
                        <a:t> </a:t>
                      </a:r>
                    </a:p>
                  </a:txBody>
                  <a:tcPr marL="7655" marR="7655" marT="7655"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solidFill>
                      <a:srgbClr val="FFFFFF"/>
                    </a:solidFill>
                  </a:tcPr>
                </a:tc>
                <a:tc gridSpan="3">
                  <a:txBody>
                    <a:bodyPr/>
                    <a:lstStyle/>
                    <a:p>
                      <a:pPr algn="ctr" fontAlgn="b">
                        <a:buNone/>
                      </a:pPr>
                      <a:r>
                        <a:rPr lang="es-AR" sz="900" b="0" i="0" u="none" strike="noStrike">
                          <a:solidFill>
                            <a:srgbClr val="000000"/>
                          </a:solidFill>
                          <a:effectLst/>
                          <a:latin typeface="Lucida Bright" panose="02040602050505020304" pitchFamily="18" charset="0"/>
                        </a:rPr>
                        <a:t>MODELOS SIMPLES</a:t>
                      </a:r>
                    </a:p>
                  </a:txBody>
                  <a:tcPr marL="7655" marR="7655" marT="7655"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C6E0B4"/>
                    </a:solidFill>
                  </a:tcPr>
                </a:tc>
                <a:tc hMerge="1">
                  <a:txBody>
                    <a:bodyPr/>
                    <a:lstStyle/>
                    <a:p>
                      <a:endParaRPr lang="es-AR"/>
                    </a:p>
                  </a:txBody>
                  <a:tcPr/>
                </a:tc>
                <a:tc hMerge="1">
                  <a:txBody>
                    <a:bodyPr/>
                    <a:lstStyle/>
                    <a:p>
                      <a:endParaRPr lang="es-AR"/>
                    </a:p>
                  </a:txBody>
                  <a:tcPr/>
                </a:tc>
                <a:tc gridSpan="3">
                  <a:txBody>
                    <a:bodyPr/>
                    <a:lstStyle/>
                    <a:p>
                      <a:pPr algn="ctr" fontAlgn="b">
                        <a:buNone/>
                      </a:pPr>
                      <a:r>
                        <a:rPr lang="es-AR" sz="900" b="0" i="0" u="none" strike="noStrike">
                          <a:solidFill>
                            <a:srgbClr val="000000"/>
                          </a:solidFill>
                          <a:effectLst/>
                          <a:latin typeface="Lucida Bright" panose="02040602050505020304" pitchFamily="18" charset="0"/>
                        </a:rPr>
                        <a:t>INCLUYEN GBEC</a:t>
                      </a:r>
                    </a:p>
                  </a:txBody>
                  <a:tcPr marL="7655" marR="7655" marT="7655"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C6E0B4"/>
                    </a:solidFill>
                  </a:tcPr>
                </a:tc>
                <a:tc hMerge="1">
                  <a:txBody>
                    <a:bodyPr/>
                    <a:lstStyle/>
                    <a:p>
                      <a:endParaRPr lang="es-AR"/>
                    </a:p>
                  </a:txBody>
                  <a:tcPr/>
                </a:tc>
                <a:tc hMerge="1">
                  <a:txBody>
                    <a:bodyPr/>
                    <a:lstStyle/>
                    <a:p>
                      <a:endParaRPr lang="es-AR"/>
                    </a:p>
                  </a:txBody>
                  <a:tcPr/>
                </a:tc>
                <a:tc gridSpan="3">
                  <a:txBody>
                    <a:bodyPr/>
                    <a:lstStyle/>
                    <a:p>
                      <a:pPr algn="ctr" fontAlgn="b">
                        <a:buNone/>
                      </a:pPr>
                      <a:r>
                        <a:rPr lang="es-AR" sz="900" b="0" i="0" u="none" strike="noStrike">
                          <a:solidFill>
                            <a:srgbClr val="000000"/>
                          </a:solidFill>
                          <a:effectLst/>
                          <a:latin typeface="Lucida Bright" panose="02040602050505020304" pitchFamily="18" charset="0"/>
                        </a:rPr>
                        <a:t>INCLUYEN API</a:t>
                      </a:r>
                    </a:p>
                  </a:txBody>
                  <a:tcPr marL="7655" marR="7655" marT="7655"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C6E0B4"/>
                    </a:solidFill>
                  </a:tcPr>
                </a:tc>
                <a:tc hMerge="1">
                  <a:txBody>
                    <a:bodyPr/>
                    <a:lstStyle/>
                    <a:p>
                      <a:endParaRPr lang="es-AR"/>
                    </a:p>
                  </a:txBody>
                  <a:tcPr/>
                </a:tc>
                <a:tc hMerge="1">
                  <a:txBody>
                    <a:bodyPr/>
                    <a:lstStyle/>
                    <a:p>
                      <a:endParaRPr lang="es-AR"/>
                    </a:p>
                  </a:txBody>
                  <a:tcPr/>
                </a:tc>
                <a:tc gridSpan="3">
                  <a:txBody>
                    <a:bodyPr/>
                    <a:lstStyle/>
                    <a:p>
                      <a:pPr algn="ctr" fontAlgn="b">
                        <a:buNone/>
                      </a:pPr>
                      <a:r>
                        <a:rPr lang="es-AR" sz="900" b="0" i="0" u="none" strike="noStrike">
                          <a:solidFill>
                            <a:srgbClr val="000000"/>
                          </a:solidFill>
                          <a:effectLst/>
                          <a:latin typeface="Lucida Bright" panose="02040602050505020304" pitchFamily="18" charset="0"/>
                        </a:rPr>
                        <a:t>INCLUTEN API Y GEBC</a:t>
                      </a:r>
                    </a:p>
                  </a:txBody>
                  <a:tcPr marL="7655" marR="7655" marT="7655"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C6E0B4"/>
                    </a:solidFill>
                  </a:tcPr>
                </a:tc>
                <a:tc hMerge="1">
                  <a:txBody>
                    <a:bodyPr/>
                    <a:lstStyle/>
                    <a:p>
                      <a:endParaRPr lang="es-AR"/>
                    </a:p>
                  </a:txBody>
                  <a:tcPr/>
                </a:tc>
                <a:tc hMerge="1">
                  <a:txBody>
                    <a:bodyPr/>
                    <a:lstStyle/>
                    <a:p>
                      <a:endParaRPr lang="es-AR"/>
                    </a:p>
                  </a:txBody>
                  <a:tcPr/>
                </a:tc>
                <a:extLst>
                  <a:ext uri="{0D108BD9-81ED-4DB2-BD59-A6C34878D82A}">
                    <a16:rowId xmlns:a16="http://schemas.microsoft.com/office/drawing/2014/main" val="3444368127"/>
                  </a:ext>
                </a:extLst>
              </a:tr>
              <a:tr h="153108">
                <a:tc>
                  <a:txBody>
                    <a:bodyPr/>
                    <a:lstStyle/>
                    <a:p>
                      <a:pPr algn="ctr" fontAlgn="b">
                        <a:buNone/>
                      </a:pPr>
                      <a:r>
                        <a:rPr lang="es-AR" sz="900" b="0" i="0" u="none" strike="noStrike">
                          <a:solidFill>
                            <a:srgbClr val="000000"/>
                          </a:solidFill>
                          <a:effectLst/>
                          <a:latin typeface="Lucida Bright" panose="02040602050505020304" pitchFamily="18" charset="0"/>
                        </a:rPr>
                        <a:t>X</a:t>
                      </a:r>
                    </a:p>
                  </a:txBody>
                  <a:tcPr marL="7655" marR="7655" marT="7655"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noFill/>
                  </a:tcPr>
                </a:tc>
                <a:tc>
                  <a:txBody>
                    <a:bodyPr/>
                    <a:lstStyle/>
                    <a:p>
                      <a:pPr algn="ctr" fontAlgn="b">
                        <a:buNone/>
                      </a:pPr>
                      <a:r>
                        <a:rPr lang="es-AR" sz="900" b="0" i="0" u="none" strike="noStrike">
                          <a:solidFill>
                            <a:srgbClr val="000000"/>
                          </a:solidFill>
                          <a:effectLst/>
                          <a:latin typeface="Lucida Bright" panose="02040602050505020304" pitchFamily="18" charset="0"/>
                        </a:rPr>
                        <a:t>ARG </a:t>
                      </a:r>
                    </a:p>
                  </a:txBody>
                  <a:tcPr marL="7655" marR="7655" marT="7655" marB="0" anchor="b">
                    <a:lnL w="6350" cap="flat" cmpd="sng" algn="ctr">
                      <a:solidFill>
                        <a:srgbClr val="000000"/>
                      </a:solidFill>
                      <a:prstDash val="solid"/>
                      <a:round/>
                      <a:headEnd type="none" w="med" len="med"/>
                      <a:tailEnd type="none" w="med" len="med"/>
                    </a:lnL>
                    <a:lnR w="6350" cap="flat" cmpd="sng" algn="ctr">
                      <a:solidFill>
                        <a:srgbClr val="000000"/>
                      </a:solidFill>
                      <a:prstDash val="dot"/>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b">
                        <a:buNone/>
                      </a:pPr>
                      <a:r>
                        <a:rPr lang="es-AR" sz="900" b="0" i="0" u="none" strike="noStrike">
                          <a:solidFill>
                            <a:srgbClr val="000000"/>
                          </a:solidFill>
                          <a:effectLst/>
                          <a:latin typeface="Lucida Bright" panose="02040602050505020304" pitchFamily="18" charset="0"/>
                        </a:rPr>
                        <a:t>SFE</a:t>
                      </a:r>
                    </a:p>
                  </a:txBody>
                  <a:tcPr marL="7655" marR="7655" marT="7655" marB="0" anchor="b">
                    <a:lnL w="6350" cap="flat" cmpd="sng" algn="ctr">
                      <a:solidFill>
                        <a:srgbClr val="000000"/>
                      </a:solidFill>
                      <a:prstDash val="dot"/>
                      <a:round/>
                      <a:headEnd type="none" w="med" len="med"/>
                      <a:tailEnd type="none" w="med" len="med"/>
                    </a:lnL>
                    <a:lnR w="6350" cap="flat" cmpd="sng" algn="ctr">
                      <a:solidFill>
                        <a:srgbClr val="000000"/>
                      </a:solidFill>
                      <a:prstDash val="dot"/>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b">
                        <a:buNone/>
                      </a:pPr>
                      <a:r>
                        <a:rPr lang="es-AR" sz="900" b="0" i="0" u="none" strike="noStrike">
                          <a:solidFill>
                            <a:srgbClr val="000000"/>
                          </a:solidFill>
                          <a:effectLst/>
                          <a:latin typeface="Lucida Bright" panose="02040602050505020304" pitchFamily="18" charset="0"/>
                        </a:rPr>
                        <a:t>SFE</a:t>
                      </a:r>
                    </a:p>
                  </a:txBody>
                  <a:tcPr marL="7655" marR="7655" marT="7655" marB="0" anchor="b">
                    <a:lnL w="6350" cap="flat" cmpd="sng" algn="ctr">
                      <a:solidFill>
                        <a:srgbClr val="000000"/>
                      </a:solidFill>
                      <a:prstDash val="dot"/>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b">
                        <a:buNone/>
                      </a:pPr>
                      <a:r>
                        <a:rPr lang="es-AR" sz="900" b="0" i="0" u="none" strike="noStrike">
                          <a:solidFill>
                            <a:srgbClr val="000000"/>
                          </a:solidFill>
                          <a:effectLst/>
                          <a:latin typeface="Lucida Bright" panose="02040602050505020304" pitchFamily="18" charset="0"/>
                        </a:rPr>
                        <a:t>ARG </a:t>
                      </a:r>
                    </a:p>
                  </a:txBody>
                  <a:tcPr marL="7655" marR="7655" marT="7655" marB="0" anchor="b">
                    <a:lnL w="6350" cap="flat" cmpd="sng" algn="ctr">
                      <a:solidFill>
                        <a:srgbClr val="000000"/>
                      </a:solidFill>
                      <a:prstDash val="solid"/>
                      <a:round/>
                      <a:headEnd type="none" w="med" len="med"/>
                      <a:tailEnd type="none" w="med" len="med"/>
                    </a:lnL>
                    <a:lnR w="6350" cap="flat" cmpd="sng" algn="ctr">
                      <a:solidFill>
                        <a:srgbClr val="000000"/>
                      </a:solidFill>
                      <a:prstDash val="dot"/>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b">
                        <a:buNone/>
                      </a:pPr>
                      <a:r>
                        <a:rPr lang="es-AR" sz="900" b="0" i="0" u="none" strike="noStrike">
                          <a:solidFill>
                            <a:srgbClr val="000000"/>
                          </a:solidFill>
                          <a:effectLst/>
                          <a:latin typeface="Lucida Bright" panose="02040602050505020304" pitchFamily="18" charset="0"/>
                        </a:rPr>
                        <a:t>SFE</a:t>
                      </a:r>
                    </a:p>
                  </a:txBody>
                  <a:tcPr marL="7655" marR="7655" marT="7655" marB="0" anchor="b">
                    <a:lnL w="6350" cap="flat" cmpd="sng" algn="ctr">
                      <a:solidFill>
                        <a:srgbClr val="000000"/>
                      </a:solidFill>
                      <a:prstDash val="dot"/>
                      <a:round/>
                      <a:headEnd type="none" w="med" len="med"/>
                      <a:tailEnd type="none" w="med" len="med"/>
                    </a:lnL>
                    <a:lnR w="6350" cap="flat" cmpd="sng" algn="ctr">
                      <a:solidFill>
                        <a:srgbClr val="000000"/>
                      </a:solidFill>
                      <a:prstDash val="dot"/>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b">
                        <a:buNone/>
                      </a:pPr>
                      <a:r>
                        <a:rPr lang="es-AR" sz="900" b="0" i="0" u="none" strike="noStrike">
                          <a:solidFill>
                            <a:srgbClr val="000000"/>
                          </a:solidFill>
                          <a:effectLst/>
                          <a:latin typeface="Lucida Bright" panose="02040602050505020304" pitchFamily="18" charset="0"/>
                        </a:rPr>
                        <a:t>SFE</a:t>
                      </a:r>
                    </a:p>
                  </a:txBody>
                  <a:tcPr marL="7655" marR="7655" marT="7655" marB="0" anchor="b">
                    <a:lnL w="6350" cap="flat" cmpd="sng" algn="ctr">
                      <a:solidFill>
                        <a:srgbClr val="000000"/>
                      </a:solidFill>
                      <a:prstDash val="dot"/>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b">
                        <a:buNone/>
                      </a:pPr>
                      <a:r>
                        <a:rPr lang="es-AR" sz="900" b="0" i="0" u="none" strike="noStrike">
                          <a:solidFill>
                            <a:srgbClr val="000000"/>
                          </a:solidFill>
                          <a:effectLst/>
                          <a:latin typeface="Lucida Bright" panose="02040602050505020304" pitchFamily="18" charset="0"/>
                        </a:rPr>
                        <a:t>ARG </a:t>
                      </a:r>
                    </a:p>
                  </a:txBody>
                  <a:tcPr marL="7655" marR="7655" marT="7655" marB="0" anchor="b">
                    <a:lnL w="6350" cap="flat" cmpd="sng" algn="ctr">
                      <a:solidFill>
                        <a:srgbClr val="000000"/>
                      </a:solidFill>
                      <a:prstDash val="solid"/>
                      <a:round/>
                      <a:headEnd type="none" w="med" len="med"/>
                      <a:tailEnd type="none" w="med" len="med"/>
                    </a:lnL>
                    <a:lnR w="6350" cap="flat" cmpd="sng" algn="ctr">
                      <a:solidFill>
                        <a:srgbClr val="000000"/>
                      </a:solidFill>
                      <a:prstDash val="dot"/>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b">
                        <a:buNone/>
                      </a:pPr>
                      <a:r>
                        <a:rPr lang="es-AR" sz="900" b="0" i="0" u="none" strike="noStrike">
                          <a:solidFill>
                            <a:srgbClr val="000000"/>
                          </a:solidFill>
                          <a:effectLst/>
                          <a:latin typeface="Lucida Bright" panose="02040602050505020304" pitchFamily="18" charset="0"/>
                        </a:rPr>
                        <a:t>SFE</a:t>
                      </a:r>
                    </a:p>
                  </a:txBody>
                  <a:tcPr marL="7655" marR="7655" marT="7655" marB="0" anchor="b">
                    <a:lnL w="6350" cap="flat" cmpd="sng" algn="ctr">
                      <a:solidFill>
                        <a:srgbClr val="000000"/>
                      </a:solidFill>
                      <a:prstDash val="dot"/>
                      <a:round/>
                      <a:headEnd type="none" w="med" len="med"/>
                      <a:tailEnd type="none" w="med" len="med"/>
                    </a:lnL>
                    <a:lnR w="6350" cap="flat" cmpd="sng" algn="ctr">
                      <a:solidFill>
                        <a:srgbClr val="000000"/>
                      </a:solidFill>
                      <a:prstDash val="dot"/>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b">
                        <a:buNone/>
                      </a:pPr>
                      <a:r>
                        <a:rPr lang="es-AR" sz="900" b="0" i="0" u="none" strike="noStrike">
                          <a:solidFill>
                            <a:srgbClr val="000000"/>
                          </a:solidFill>
                          <a:effectLst/>
                          <a:latin typeface="Lucida Bright" panose="02040602050505020304" pitchFamily="18" charset="0"/>
                        </a:rPr>
                        <a:t>SFE</a:t>
                      </a:r>
                    </a:p>
                  </a:txBody>
                  <a:tcPr marL="7655" marR="7655" marT="7655" marB="0" anchor="b">
                    <a:lnL w="6350" cap="flat" cmpd="sng" algn="ctr">
                      <a:solidFill>
                        <a:srgbClr val="000000"/>
                      </a:solidFill>
                      <a:prstDash val="dot"/>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b">
                        <a:buNone/>
                      </a:pPr>
                      <a:r>
                        <a:rPr lang="es-AR" sz="900" b="0" i="0" u="none" strike="noStrike">
                          <a:solidFill>
                            <a:srgbClr val="000000"/>
                          </a:solidFill>
                          <a:effectLst/>
                          <a:latin typeface="Lucida Bright" panose="02040602050505020304" pitchFamily="18" charset="0"/>
                        </a:rPr>
                        <a:t>ARG </a:t>
                      </a:r>
                    </a:p>
                  </a:txBody>
                  <a:tcPr marL="7655" marR="7655" marT="7655" marB="0" anchor="b">
                    <a:lnL w="6350" cap="flat" cmpd="sng" algn="ctr">
                      <a:solidFill>
                        <a:srgbClr val="000000"/>
                      </a:solidFill>
                      <a:prstDash val="solid"/>
                      <a:round/>
                      <a:headEnd type="none" w="med" len="med"/>
                      <a:tailEnd type="none" w="med" len="med"/>
                    </a:lnL>
                    <a:lnR w="6350" cap="flat" cmpd="sng" algn="ctr">
                      <a:solidFill>
                        <a:srgbClr val="000000"/>
                      </a:solidFill>
                      <a:prstDash val="dot"/>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b">
                        <a:buNone/>
                      </a:pPr>
                      <a:r>
                        <a:rPr lang="es-AR" sz="900" b="0" i="0" u="none" strike="noStrike">
                          <a:solidFill>
                            <a:srgbClr val="000000"/>
                          </a:solidFill>
                          <a:effectLst/>
                          <a:latin typeface="Lucida Bright" panose="02040602050505020304" pitchFamily="18" charset="0"/>
                        </a:rPr>
                        <a:t>SFE</a:t>
                      </a:r>
                    </a:p>
                  </a:txBody>
                  <a:tcPr marL="7655" marR="7655" marT="7655" marB="0" anchor="b">
                    <a:lnL w="6350" cap="flat" cmpd="sng" algn="ctr">
                      <a:solidFill>
                        <a:srgbClr val="000000"/>
                      </a:solidFill>
                      <a:prstDash val="dot"/>
                      <a:round/>
                      <a:headEnd type="none" w="med" len="med"/>
                      <a:tailEnd type="none" w="med" len="med"/>
                    </a:lnL>
                    <a:lnR w="6350" cap="flat" cmpd="sng" algn="ctr">
                      <a:solidFill>
                        <a:srgbClr val="000000"/>
                      </a:solidFill>
                      <a:prstDash val="dot"/>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b">
                        <a:buNone/>
                      </a:pPr>
                      <a:r>
                        <a:rPr lang="es-AR" sz="900" b="0" i="0" u="none" strike="noStrike">
                          <a:solidFill>
                            <a:srgbClr val="000000"/>
                          </a:solidFill>
                          <a:effectLst/>
                          <a:latin typeface="Lucida Bright" panose="02040602050505020304" pitchFamily="18" charset="0"/>
                        </a:rPr>
                        <a:t>SFE</a:t>
                      </a:r>
                    </a:p>
                  </a:txBody>
                  <a:tcPr marL="7655" marR="7655" marT="7655" marB="0" anchor="b">
                    <a:lnL w="6350" cap="flat" cmpd="sng" algn="ctr">
                      <a:solidFill>
                        <a:srgbClr val="000000"/>
                      </a:solidFill>
                      <a:prstDash val="dot"/>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2071810843"/>
                  </a:ext>
                </a:extLst>
              </a:tr>
              <a:tr h="153108">
                <a:tc>
                  <a:txBody>
                    <a:bodyPr/>
                    <a:lstStyle/>
                    <a:p>
                      <a:pPr algn="l" fontAlgn="b">
                        <a:buNone/>
                      </a:pPr>
                      <a:r>
                        <a:rPr lang="es-AR" sz="900" b="0" i="0" u="none" strike="noStrike">
                          <a:solidFill>
                            <a:srgbClr val="000000"/>
                          </a:solidFill>
                          <a:effectLst/>
                          <a:latin typeface="Lucida Bright" panose="02040602050505020304" pitchFamily="18" charset="0"/>
                        </a:rPr>
                        <a:t>(Intercept)</a:t>
                      </a:r>
                    </a:p>
                  </a:txBody>
                  <a:tcPr marL="7655" marR="7655" marT="7655"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b">
                        <a:buNone/>
                      </a:pPr>
                      <a:r>
                        <a:rPr lang="es-AR" sz="900" b="0" i="0" u="none" strike="noStrike">
                          <a:solidFill>
                            <a:srgbClr val="000000"/>
                          </a:solidFill>
                          <a:effectLst/>
                          <a:latin typeface="Lucida Bright" panose="02040602050505020304" pitchFamily="18" charset="0"/>
                        </a:rPr>
                        <a:t>11.543***</a:t>
                      </a:r>
                    </a:p>
                  </a:txBody>
                  <a:tcPr marL="7655" marR="7655" marT="7655" marB="0" anchor="b">
                    <a:lnL w="6350" cap="flat" cmpd="sng" algn="ctr">
                      <a:solidFill>
                        <a:srgbClr val="000000"/>
                      </a:solidFill>
                      <a:prstDash val="solid"/>
                      <a:round/>
                      <a:headEnd type="none" w="med" len="med"/>
                      <a:tailEnd type="none" w="med" len="med"/>
                    </a:lnL>
                    <a:lnR w="6350" cap="flat" cmpd="sng" algn="ctr">
                      <a:solidFill>
                        <a:srgbClr val="000000"/>
                      </a:solidFill>
                      <a:prstDash val="dot"/>
                      <a:round/>
                      <a:headEnd type="none" w="med" len="med"/>
                      <a:tailEnd type="none" w="med" len="med"/>
                    </a:lnR>
                    <a:lnT w="6350" cap="flat" cmpd="sng" algn="ctr">
                      <a:solidFill>
                        <a:srgbClr val="000000"/>
                      </a:solidFill>
                      <a:prstDash val="solid"/>
                      <a:round/>
                      <a:headEnd type="none" w="med" len="med"/>
                      <a:tailEnd type="none" w="med" len="med"/>
                    </a:lnT>
                    <a:lnB>
                      <a:noFill/>
                    </a:lnB>
                    <a:noFill/>
                  </a:tcPr>
                </a:tc>
                <a:tc>
                  <a:txBody>
                    <a:bodyPr/>
                    <a:lstStyle/>
                    <a:p>
                      <a:pPr algn="ctr" fontAlgn="b">
                        <a:buNone/>
                      </a:pPr>
                      <a:r>
                        <a:rPr lang="es-AR" sz="900" b="0" i="0" u="none" strike="noStrike">
                          <a:solidFill>
                            <a:srgbClr val="000000"/>
                          </a:solidFill>
                          <a:effectLst/>
                          <a:latin typeface="Lucida Bright" panose="02040602050505020304" pitchFamily="18" charset="0"/>
                        </a:rPr>
                        <a:t>10.484***</a:t>
                      </a:r>
                    </a:p>
                  </a:txBody>
                  <a:tcPr marL="7655" marR="7655" marT="7655" marB="0" anchor="b">
                    <a:lnL w="6350" cap="flat" cmpd="sng" algn="ctr">
                      <a:solidFill>
                        <a:srgbClr val="000000"/>
                      </a:solidFill>
                      <a:prstDash val="dot"/>
                      <a:round/>
                      <a:headEnd type="none" w="med" len="med"/>
                      <a:tailEnd type="none" w="med" len="med"/>
                    </a:lnL>
                    <a:lnR w="6350" cap="flat" cmpd="sng" algn="ctr">
                      <a:solidFill>
                        <a:srgbClr val="000000"/>
                      </a:solidFill>
                      <a:prstDash val="dot"/>
                      <a:round/>
                      <a:headEnd type="none" w="med" len="med"/>
                      <a:tailEnd type="none" w="med" len="med"/>
                    </a:lnR>
                    <a:lnT w="6350" cap="flat" cmpd="sng" algn="ctr">
                      <a:solidFill>
                        <a:srgbClr val="000000"/>
                      </a:solidFill>
                      <a:prstDash val="solid"/>
                      <a:round/>
                      <a:headEnd type="none" w="med" len="med"/>
                      <a:tailEnd type="none" w="med" len="med"/>
                    </a:lnT>
                    <a:lnB>
                      <a:noFill/>
                    </a:lnB>
                    <a:noFill/>
                  </a:tcPr>
                </a:tc>
                <a:tc>
                  <a:txBody>
                    <a:bodyPr/>
                    <a:lstStyle/>
                    <a:p>
                      <a:pPr algn="ctr" fontAlgn="b">
                        <a:buNone/>
                      </a:pPr>
                      <a:r>
                        <a:rPr lang="es-AR" sz="900" b="0" i="0" u="none" strike="noStrike">
                          <a:solidFill>
                            <a:srgbClr val="000000"/>
                          </a:solidFill>
                          <a:effectLst/>
                          <a:latin typeface="Lucida Bright" panose="02040602050505020304" pitchFamily="18" charset="0"/>
                        </a:rPr>
                        <a:t>1.838**</a:t>
                      </a:r>
                    </a:p>
                  </a:txBody>
                  <a:tcPr marL="7655" marR="7655" marT="7655" marB="0" anchor="b">
                    <a:lnL w="6350" cap="flat" cmpd="sng" algn="ctr">
                      <a:solidFill>
                        <a:srgbClr val="000000"/>
                      </a:solidFill>
                      <a:prstDash val="dot"/>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noFill/>
                  </a:tcPr>
                </a:tc>
                <a:tc>
                  <a:txBody>
                    <a:bodyPr/>
                    <a:lstStyle/>
                    <a:p>
                      <a:pPr algn="ctr" fontAlgn="b">
                        <a:buNone/>
                      </a:pPr>
                      <a:r>
                        <a:rPr lang="es-AR" sz="900" b="0" i="0" u="none" strike="noStrike">
                          <a:solidFill>
                            <a:srgbClr val="000000"/>
                          </a:solidFill>
                          <a:effectLst/>
                          <a:latin typeface="Lucida Bright" panose="02040602050505020304" pitchFamily="18" charset="0"/>
                        </a:rPr>
                        <a:t>11.215***</a:t>
                      </a:r>
                    </a:p>
                  </a:txBody>
                  <a:tcPr marL="7655" marR="7655" marT="7655" marB="0" anchor="b">
                    <a:lnL w="6350" cap="flat" cmpd="sng" algn="ctr">
                      <a:solidFill>
                        <a:srgbClr val="000000"/>
                      </a:solidFill>
                      <a:prstDash val="solid"/>
                      <a:round/>
                      <a:headEnd type="none" w="med" len="med"/>
                      <a:tailEnd type="none" w="med" len="med"/>
                    </a:lnL>
                    <a:lnR w="6350" cap="flat" cmpd="sng" algn="ctr">
                      <a:solidFill>
                        <a:srgbClr val="000000"/>
                      </a:solidFill>
                      <a:prstDash val="dot"/>
                      <a:round/>
                      <a:headEnd type="none" w="med" len="med"/>
                      <a:tailEnd type="none" w="med" len="med"/>
                    </a:lnR>
                    <a:lnT w="6350" cap="flat" cmpd="sng" algn="ctr">
                      <a:solidFill>
                        <a:srgbClr val="000000"/>
                      </a:solidFill>
                      <a:prstDash val="solid"/>
                      <a:round/>
                      <a:headEnd type="none" w="med" len="med"/>
                      <a:tailEnd type="none" w="med" len="med"/>
                    </a:lnT>
                    <a:lnB>
                      <a:noFill/>
                    </a:lnB>
                    <a:noFill/>
                  </a:tcPr>
                </a:tc>
                <a:tc>
                  <a:txBody>
                    <a:bodyPr/>
                    <a:lstStyle/>
                    <a:p>
                      <a:pPr algn="ctr" fontAlgn="b">
                        <a:buNone/>
                      </a:pPr>
                      <a:r>
                        <a:rPr lang="es-AR" sz="900" b="0" i="0" u="none" strike="noStrike">
                          <a:solidFill>
                            <a:srgbClr val="000000"/>
                          </a:solidFill>
                          <a:effectLst/>
                          <a:latin typeface="Lucida Bright" panose="02040602050505020304" pitchFamily="18" charset="0"/>
                        </a:rPr>
                        <a:t>8.497***</a:t>
                      </a:r>
                    </a:p>
                  </a:txBody>
                  <a:tcPr marL="7655" marR="7655" marT="7655" marB="0" anchor="b">
                    <a:lnL w="6350" cap="flat" cmpd="sng" algn="ctr">
                      <a:solidFill>
                        <a:srgbClr val="000000"/>
                      </a:solidFill>
                      <a:prstDash val="dot"/>
                      <a:round/>
                      <a:headEnd type="none" w="med" len="med"/>
                      <a:tailEnd type="none" w="med" len="med"/>
                    </a:lnL>
                    <a:lnR w="6350" cap="flat" cmpd="sng" algn="ctr">
                      <a:solidFill>
                        <a:srgbClr val="000000"/>
                      </a:solidFill>
                      <a:prstDash val="dot"/>
                      <a:round/>
                      <a:headEnd type="none" w="med" len="med"/>
                      <a:tailEnd type="none" w="med" len="med"/>
                    </a:lnR>
                    <a:lnT w="6350" cap="flat" cmpd="sng" algn="ctr">
                      <a:solidFill>
                        <a:srgbClr val="000000"/>
                      </a:solidFill>
                      <a:prstDash val="solid"/>
                      <a:round/>
                      <a:headEnd type="none" w="med" len="med"/>
                      <a:tailEnd type="none" w="med" len="med"/>
                    </a:lnT>
                    <a:lnB>
                      <a:noFill/>
                    </a:lnB>
                    <a:noFill/>
                  </a:tcPr>
                </a:tc>
                <a:tc>
                  <a:txBody>
                    <a:bodyPr/>
                    <a:lstStyle/>
                    <a:p>
                      <a:pPr algn="ctr" fontAlgn="b">
                        <a:buNone/>
                      </a:pPr>
                      <a:r>
                        <a:rPr lang="es-AR" sz="900" b="0" i="0" u="none" strike="noStrike">
                          <a:solidFill>
                            <a:srgbClr val="000000"/>
                          </a:solidFill>
                          <a:effectLst/>
                          <a:latin typeface="Lucida Bright" panose="02040602050505020304" pitchFamily="18" charset="0"/>
                        </a:rPr>
                        <a:t>0.496</a:t>
                      </a:r>
                    </a:p>
                  </a:txBody>
                  <a:tcPr marL="7655" marR="7655" marT="7655" marB="0" anchor="b">
                    <a:lnL w="6350" cap="flat" cmpd="sng" algn="ctr">
                      <a:solidFill>
                        <a:srgbClr val="000000"/>
                      </a:solidFill>
                      <a:prstDash val="dot"/>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noFill/>
                  </a:tcPr>
                </a:tc>
                <a:tc>
                  <a:txBody>
                    <a:bodyPr/>
                    <a:lstStyle/>
                    <a:p>
                      <a:pPr algn="ctr" fontAlgn="b">
                        <a:buNone/>
                      </a:pPr>
                      <a:r>
                        <a:rPr lang="es-AR" sz="900" b="0" i="0" u="none" strike="noStrike">
                          <a:solidFill>
                            <a:srgbClr val="000000"/>
                          </a:solidFill>
                          <a:effectLst/>
                          <a:latin typeface="Lucida Bright" panose="02040602050505020304" pitchFamily="18" charset="0"/>
                        </a:rPr>
                        <a:t>1.299**</a:t>
                      </a:r>
                    </a:p>
                  </a:txBody>
                  <a:tcPr marL="7655" marR="7655" marT="7655" marB="0" anchor="b">
                    <a:lnL w="6350" cap="flat" cmpd="sng" algn="ctr">
                      <a:solidFill>
                        <a:srgbClr val="000000"/>
                      </a:solidFill>
                      <a:prstDash val="solid"/>
                      <a:round/>
                      <a:headEnd type="none" w="med" len="med"/>
                      <a:tailEnd type="none" w="med" len="med"/>
                    </a:lnL>
                    <a:lnR w="6350" cap="flat" cmpd="sng" algn="ctr">
                      <a:solidFill>
                        <a:srgbClr val="000000"/>
                      </a:solidFill>
                      <a:prstDash val="dot"/>
                      <a:round/>
                      <a:headEnd type="none" w="med" len="med"/>
                      <a:tailEnd type="none" w="med" len="med"/>
                    </a:lnR>
                    <a:lnT w="6350" cap="flat" cmpd="sng" algn="ctr">
                      <a:solidFill>
                        <a:srgbClr val="000000"/>
                      </a:solidFill>
                      <a:prstDash val="solid"/>
                      <a:round/>
                      <a:headEnd type="none" w="med" len="med"/>
                      <a:tailEnd type="none" w="med" len="med"/>
                    </a:lnT>
                    <a:lnB>
                      <a:noFill/>
                    </a:lnB>
                    <a:noFill/>
                  </a:tcPr>
                </a:tc>
                <a:tc>
                  <a:txBody>
                    <a:bodyPr/>
                    <a:lstStyle/>
                    <a:p>
                      <a:pPr algn="ctr" fontAlgn="b">
                        <a:buNone/>
                      </a:pPr>
                      <a:r>
                        <a:rPr lang="es-AR" sz="900" b="0" i="0" u="none" strike="noStrike">
                          <a:solidFill>
                            <a:srgbClr val="000000"/>
                          </a:solidFill>
                          <a:effectLst/>
                          <a:latin typeface="Lucida Bright" panose="02040602050505020304" pitchFamily="18" charset="0"/>
                        </a:rPr>
                        <a:t>-2.803***</a:t>
                      </a:r>
                    </a:p>
                  </a:txBody>
                  <a:tcPr marL="7655" marR="7655" marT="7655" marB="0" anchor="b">
                    <a:lnL w="6350" cap="flat" cmpd="sng" algn="ctr">
                      <a:solidFill>
                        <a:srgbClr val="000000"/>
                      </a:solidFill>
                      <a:prstDash val="dot"/>
                      <a:round/>
                      <a:headEnd type="none" w="med" len="med"/>
                      <a:tailEnd type="none" w="med" len="med"/>
                    </a:lnL>
                    <a:lnR w="6350" cap="flat" cmpd="sng" algn="ctr">
                      <a:solidFill>
                        <a:srgbClr val="000000"/>
                      </a:solidFill>
                      <a:prstDash val="dot"/>
                      <a:round/>
                      <a:headEnd type="none" w="med" len="med"/>
                      <a:tailEnd type="none" w="med" len="med"/>
                    </a:lnR>
                    <a:lnT w="6350" cap="flat" cmpd="sng" algn="ctr">
                      <a:solidFill>
                        <a:srgbClr val="000000"/>
                      </a:solidFill>
                      <a:prstDash val="solid"/>
                      <a:round/>
                      <a:headEnd type="none" w="med" len="med"/>
                      <a:tailEnd type="none" w="med" len="med"/>
                    </a:lnT>
                    <a:lnB>
                      <a:noFill/>
                    </a:lnB>
                    <a:noFill/>
                  </a:tcPr>
                </a:tc>
                <a:tc>
                  <a:txBody>
                    <a:bodyPr/>
                    <a:lstStyle/>
                    <a:p>
                      <a:pPr algn="ctr" fontAlgn="b">
                        <a:buNone/>
                      </a:pPr>
                      <a:r>
                        <a:rPr lang="es-AR" sz="900" b="0" i="0" u="none" strike="noStrike">
                          <a:solidFill>
                            <a:srgbClr val="000000"/>
                          </a:solidFill>
                          <a:effectLst/>
                          <a:latin typeface="Lucida Bright" panose="02040602050505020304" pitchFamily="18" charset="0"/>
                        </a:rPr>
                        <a:t>-1.656***</a:t>
                      </a:r>
                    </a:p>
                  </a:txBody>
                  <a:tcPr marL="7655" marR="7655" marT="7655" marB="0" anchor="b">
                    <a:lnL w="6350" cap="flat" cmpd="sng" algn="ctr">
                      <a:solidFill>
                        <a:srgbClr val="000000"/>
                      </a:solidFill>
                      <a:prstDash val="dot"/>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noFill/>
                  </a:tcPr>
                </a:tc>
                <a:tc>
                  <a:txBody>
                    <a:bodyPr/>
                    <a:lstStyle/>
                    <a:p>
                      <a:pPr algn="ctr" fontAlgn="b">
                        <a:buNone/>
                      </a:pPr>
                      <a:r>
                        <a:rPr lang="es-AR" sz="900" b="0" i="0" u="none" strike="noStrike">
                          <a:solidFill>
                            <a:srgbClr val="000000"/>
                          </a:solidFill>
                          <a:effectLst/>
                          <a:latin typeface="Lucida Bright" panose="02040602050505020304" pitchFamily="18" charset="0"/>
                        </a:rPr>
                        <a:t>0.453</a:t>
                      </a:r>
                    </a:p>
                  </a:txBody>
                  <a:tcPr marL="7655" marR="7655" marT="7655" marB="0" anchor="b">
                    <a:lnL w="6350" cap="flat" cmpd="sng" algn="ctr">
                      <a:solidFill>
                        <a:srgbClr val="000000"/>
                      </a:solidFill>
                      <a:prstDash val="solid"/>
                      <a:round/>
                      <a:headEnd type="none" w="med" len="med"/>
                      <a:tailEnd type="none" w="med" len="med"/>
                    </a:lnL>
                    <a:lnR w="6350" cap="flat" cmpd="sng" algn="ctr">
                      <a:solidFill>
                        <a:srgbClr val="000000"/>
                      </a:solidFill>
                      <a:prstDash val="dot"/>
                      <a:round/>
                      <a:headEnd type="none" w="med" len="med"/>
                      <a:tailEnd type="none" w="med" len="med"/>
                    </a:lnR>
                    <a:lnT w="6350" cap="flat" cmpd="sng" algn="ctr">
                      <a:solidFill>
                        <a:srgbClr val="000000"/>
                      </a:solidFill>
                      <a:prstDash val="solid"/>
                      <a:round/>
                      <a:headEnd type="none" w="med" len="med"/>
                      <a:tailEnd type="none" w="med" len="med"/>
                    </a:lnT>
                    <a:lnB>
                      <a:noFill/>
                    </a:lnB>
                    <a:noFill/>
                  </a:tcPr>
                </a:tc>
                <a:tc>
                  <a:txBody>
                    <a:bodyPr/>
                    <a:lstStyle/>
                    <a:p>
                      <a:pPr algn="ctr" fontAlgn="b">
                        <a:buNone/>
                      </a:pPr>
                      <a:r>
                        <a:rPr lang="es-AR" sz="900" b="0" i="0" u="none" strike="noStrike">
                          <a:solidFill>
                            <a:srgbClr val="000000"/>
                          </a:solidFill>
                          <a:effectLst/>
                          <a:latin typeface="Lucida Bright" panose="02040602050505020304" pitchFamily="18" charset="0"/>
                        </a:rPr>
                        <a:t>-5.571***</a:t>
                      </a:r>
                    </a:p>
                  </a:txBody>
                  <a:tcPr marL="7655" marR="7655" marT="7655" marB="0" anchor="b">
                    <a:lnL w="6350" cap="flat" cmpd="sng" algn="ctr">
                      <a:solidFill>
                        <a:srgbClr val="000000"/>
                      </a:solidFill>
                      <a:prstDash val="dot"/>
                      <a:round/>
                      <a:headEnd type="none" w="med" len="med"/>
                      <a:tailEnd type="none" w="med" len="med"/>
                    </a:lnL>
                    <a:lnR w="6350" cap="flat" cmpd="sng" algn="ctr">
                      <a:solidFill>
                        <a:srgbClr val="000000"/>
                      </a:solidFill>
                      <a:prstDash val="dot"/>
                      <a:round/>
                      <a:headEnd type="none" w="med" len="med"/>
                      <a:tailEnd type="none" w="med" len="med"/>
                    </a:lnR>
                    <a:lnT w="6350" cap="flat" cmpd="sng" algn="ctr">
                      <a:solidFill>
                        <a:srgbClr val="000000"/>
                      </a:solidFill>
                      <a:prstDash val="solid"/>
                      <a:round/>
                      <a:headEnd type="none" w="med" len="med"/>
                      <a:tailEnd type="none" w="med" len="med"/>
                    </a:lnT>
                    <a:lnB>
                      <a:noFill/>
                    </a:lnB>
                    <a:noFill/>
                  </a:tcPr>
                </a:tc>
                <a:tc>
                  <a:txBody>
                    <a:bodyPr/>
                    <a:lstStyle/>
                    <a:p>
                      <a:pPr algn="ctr" fontAlgn="b">
                        <a:buNone/>
                      </a:pPr>
                      <a:r>
                        <a:rPr lang="es-AR" sz="900" b="0" i="0" u="none" strike="noStrike">
                          <a:solidFill>
                            <a:srgbClr val="000000"/>
                          </a:solidFill>
                          <a:effectLst/>
                          <a:latin typeface="Lucida Bright" panose="02040602050505020304" pitchFamily="18" charset="0"/>
                        </a:rPr>
                        <a:t>-4.573***</a:t>
                      </a:r>
                    </a:p>
                  </a:txBody>
                  <a:tcPr marL="7655" marR="7655" marT="7655" marB="0" anchor="b">
                    <a:lnL w="6350" cap="flat" cmpd="sng" algn="ctr">
                      <a:solidFill>
                        <a:srgbClr val="000000"/>
                      </a:solidFill>
                      <a:prstDash val="dot"/>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noFill/>
                  </a:tcPr>
                </a:tc>
                <a:extLst>
                  <a:ext uri="{0D108BD9-81ED-4DB2-BD59-A6C34878D82A}">
                    <a16:rowId xmlns:a16="http://schemas.microsoft.com/office/drawing/2014/main" val="713455620"/>
                  </a:ext>
                </a:extLst>
              </a:tr>
              <a:tr h="153108">
                <a:tc>
                  <a:txBody>
                    <a:bodyPr/>
                    <a:lstStyle/>
                    <a:p>
                      <a:pPr algn="l" fontAlgn="b">
                        <a:buNone/>
                      </a:pPr>
                      <a:r>
                        <a:rPr lang="es-AR" sz="900" b="0" i="0" u="none" strike="noStrike">
                          <a:solidFill>
                            <a:srgbClr val="000000"/>
                          </a:solidFill>
                          <a:effectLst/>
                          <a:latin typeface="Lucida Bright" panose="02040602050505020304" pitchFamily="18" charset="0"/>
                        </a:rPr>
                        <a:t>log(ITCRM_ARG)</a:t>
                      </a:r>
                    </a:p>
                  </a:txBody>
                  <a:tcPr marL="7655" marR="7655" marT="7655"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b">
                        <a:buNone/>
                      </a:pPr>
                      <a:r>
                        <a:rPr lang="es-AR" sz="900" b="0" i="0" u="none" strike="noStrike">
                          <a:solidFill>
                            <a:srgbClr val="000000"/>
                          </a:solidFill>
                          <a:effectLst/>
                          <a:latin typeface="Lucida Bright" panose="02040602050505020304" pitchFamily="18" charset="0"/>
                        </a:rPr>
                        <a:t>-0.889***</a:t>
                      </a:r>
                    </a:p>
                  </a:txBody>
                  <a:tcPr marL="7655" marR="7655" marT="7655" marB="0" anchor="b">
                    <a:lnL w="6350" cap="flat" cmpd="sng" algn="ctr">
                      <a:solidFill>
                        <a:srgbClr val="000000"/>
                      </a:solidFill>
                      <a:prstDash val="solid"/>
                      <a:round/>
                      <a:headEnd type="none" w="med" len="med"/>
                      <a:tailEnd type="none" w="med" len="med"/>
                    </a:lnL>
                    <a:lnR w="6350" cap="flat" cmpd="sng" algn="ctr">
                      <a:solidFill>
                        <a:srgbClr val="000000"/>
                      </a:solidFill>
                      <a:prstDash val="dot"/>
                      <a:round/>
                      <a:headEnd type="none" w="med" len="med"/>
                      <a:tailEnd type="none" w="med" len="med"/>
                    </a:lnR>
                    <a:lnT>
                      <a:noFill/>
                    </a:lnT>
                    <a:lnB>
                      <a:noFill/>
                    </a:lnB>
                    <a:solidFill>
                      <a:srgbClr val="E2EFDA"/>
                    </a:solidFill>
                  </a:tcPr>
                </a:tc>
                <a:tc>
                  <a:txBody>
                    <a:bodyPr/>
                    <a:lstStyle/>
                    <a:p>
                      <a:pPr algn="ctr" fontAlgn="b">
                        <a:buNone/>
                      </a:pPr>
                      <a:r>
                        <a:rPr lang="es-AR" sz="900" b="0" i="0" u="none" strike="noStrike">
                          <a:solidFill>
                            <a:srgbClr val="000000"/>
                          </a:solidFill>
                          <a:effectLst/>
                          <a:latin typeface="Lucida Bright" panose="02040602050505020304" pitchFamily="18" charset="0"/>
                        </a:rPr>
                        <a:t>-1.156***</a:t>
                      </a:r>
                    </a:p>
                  </a:txBody>
                  <a:tcPr marL="7655" marR="7655" marT="7655" marB="0" anchor="b">
                    <a:lnL w="6350" cap="flat" cmpd="sng" algn="ctr">
                      <a:solidFill>
                        <a:srgbClr val="000000"/>
                      </a:solidFill>
                      <a:prstDash val="dot"/>
                      <a:round/>
                      <a:headEnd type="none" w="med" len="med"/>
                      <a:tailEnd type="none" w="med" len="med"/>
                    </a:lnL>
                    <a:lnR w="6350" cap="flat" cmpd="sng" algn="ctr">
                      <a:solidFill>
                        <a:srgbClr val="000000"/>
                      </a:solidFill>
                      <a:prstDash val="dot"/>
                      <a:round/>
                      <a:headEnd type="none" w="med" len="med"/>
                      <a:tailEnd type="none" w="med" len="med"/>
                    </a:lnR>
                    <a:lnT>
                      <a:noFill/>
                    </a:lnT>
                    <a:lnB>
                      <a:noFill/>
                    </a:lnB>
                    <a:solidFill>
                      <a:srgbClr val="E2EFDA"/>
                    </a:solidFill>
                  </a:tcPr>
                </a:tc>
                <a:tc>
                  <a:txBody>
                    <a:bodyPr/>
                    <a:lstStyle/>
                    <a:p>
                      <a:pPr algn="ctr" fontAlgn="b">
                        <a:buNone/>
                      </a:pPr>
                      <a:r>
                        <a:rPr lang="es-AR" sz="900" b="0" i="0" u="none" strike="noStrike">
                          <a:solidFill>
                            <a:srgbClr val="000000"/>
                          </a:solidFill>
                          <a:effectLst/>
                          <a:latin typeface="Lucida Bright" panose="02040602050505020304" pitchFamily="18" charset="0"/>
                        </a:rPr>
                        <a:t> </a:t>
                      </a:r>
                    </a:p>
                  </a:txBody>
                  <a:tcPr marL="7655" marR="7655" marT="7655" marB="0" anchor="b">
                    <a:lnL w="6350" cap="flat" cmpd="sng" algn="ctr">
                      <a:solidFill>
                        <a:srgbClr val="000000"/>
                      </a:solidFill>
                      <a:prstDash val="dot"/>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b">
                        <a:buNone/>
                      </a:pPr>
                      <a:r>
                        <a:rPr lang="es-AR" sz="900" b="0" i="0" u="none" strike="noStrike">
                          <a:solidFill>
                            <a:srgbClr val="000000"/>
                          </a:solidFill>
                          <a:effectLst/>
                          <a:latin typeface="Lucida Bright" panose="02040602050505020304" pitchFamily="18" charset="0"/>
                        </a:rPr>
                        <a:t>-0.893***</a:t>
                      </a:r>
                    </a:p>
                  </a:txBody>
                  <a:tcPr marL="7655" marR="7655" marT="7655" marB="0" anchor="b">
                    <a:lnL w="6350" cap="flat" cmpd="sng" algn="ctr">
                      <a:solidFill>
                        <a:srgbClr val="000000"/>
                      </a:solidFill>
                      <a:prstDash val="solid"/>
                      <a:round/>
                      <a:headEnd type="none" w="med" len="med"/>
                      <a:tailEnd type="none" w="med" len="med"/>
                    </a:lnL>
                    <a:lnR w="6350" cap="flat" cmpd="sng" algn="ctr">
                      <a:solidFill>
                        <a:srgbClr val="000000"/>
                      </a:solidFill>
                      <a:prstDash val="dot"/>
                      <a:round/>
                      <a:headEnd type="none" w="med" len="med"/>
                      <a:tailEnd type="none" w="med" len="med"/>
                    </a:lnR>
                    <a:lnT>
                      <a:noFill/>
                    </a:lnT>
                    <a:lnB>
                      <a:noFill/>
                    </a:lnB>
                    <a:solidFill>
                      <a:srgbClr val="E2EFDA"/>
                    </a:solidFill>
                  </a:tcPr>
                </a:tc>
                <a:tc>
                  <a:txBody>
                    <a:bodyPr/>
                    <a:lstStyle/>
                    <a:p>
                      <a:pPr algn="ctr" fontAlgn="b">
                        <a:buNone/>
                      </a:pPr>
                      <a:r>
                        <a:rPr lang="es-AR" sz="900" b="0" i="0" u="none" strike="noStrike">
                          <a:solidFill>
                            <a:srgbClr val="000000"/>
                          </a:solidFill>
                          <a:effectLst/>
                          <a:latin typeface="Lucida Bright" panose="02040602050505020304" pitchFamily="18" charset="0"/>
                        </a:rPr>
                        <a:t>-1.179***</a:t>
                      </a:r>
                    </a:p>
                  </a:txBody>
                  <a:tcPr marL="7655" marR="7655" marT="7655" marB="0" anchor="b">
                    <a:lnL w="6350" cap="flat" cmpd="sng" algn="ctr">
                      <a:solidFill>
                        <a:srgbClr val="000000"/>
                      </a:solidFill>
                      <a:prstDash val="dot"/>
                      <a:round/>
                      <a:headEnd type="none" w="med" len="med"/>
                      <a:tailEnd type="none" w="med" len="med"/>
                    </a:lnL>
                    <a:lnR w="6350" cap="flat" cmpd="sng" algn="ctr">
                      <a:solidFill>
                        <a:srgbClr val="000000"/>
                      </a:solidFill>
                      <a:prstDash val="dot"/>
                      <a:round/>
                      <a:headEnd type="none" w="med" len="med"/>
                      <a:tailEnd type="none" w="med" len="med"/>
                    </a:lnR>
                    <a:lnT>
                      <a:noFill/>
                    </a:lnT>
                    <a:lnB>
                      <a:noFill/>
                    </a:lnB>
                    <a:solidFill>
                      <a:srgbClr val="E2EFDA"/>
                    </a:solidFill>
                  </a:tcPr>
                </a:tc>
                <a:tc>
                  <a:txBody>
                    <a:bodyPr/>
                    <a:lstStyle/>
                    <a:p>
                      <a:pPr algn="ctr" fontAlgn="b">
                        <a:buNone/>
                      </a:pPr>
                      <a:r>
                        <a:rPr lang="es-AR" sz="900" b="0" i="0" u="none" strike="noStrike">
                          <a:solidFill>
                            <a:srgbClr val="000000"/>
                          </a:solidFill>
                          <a:effectLst/>
                          <a:latin typeface="Lucida Bright" panose="02040602050505020304" pitchFamily="18" charset="0"/>
                        </a:rPr>
                        <a:t> </a:t>
                      </a:r>
                    </a:p>
                  </a:txBody>
                  <a:tcPr marL="7655" marR="7655" marT="7655" marB="0" anchor="b">
                    <a:lnL w="6350" cap="flat" cmpd="sng" algn="ctr">
                      <a:solidFill>
                        <a:srgbClr val="000000"/>
                      </a:solidFill>
                      <a:prstDash val="dot"/>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b">
                        <a:buNone/>
                      </a:pPr>
                      <a:r>
                        <a:rPr lang="es-AR" sz="900" b="0" i="0" u="none" strike="noStrike">
                          <a:solidFill>
                            <a:srgbClr val="000000"/>
                          </a:solidFill>
                          <a:effectLst/>
                          <a:latin typeface="Lucida Bright" panose="02040602050505020304" pitchFamily="18" charset="0"/>
                        </a:rPr>
                        <a:t>0.003</a:t>
                      </a:r>
                    </a:p>
                  </a:txBody>
                  <a:tcPr marL="7655" marR="7655" marT="7655" marB="0" anchor="b">
                    <a:lnL w="6350" cap="flat" cmpd="sng" algn="ctr">
                      <a:solidFill>
                        <a:srgbClr val="000000"/>
                      </a:solidFill>
                      <a:prstDash val="solid"/>
                      <a:round/>
                      <a:headEnd type="none" w="med" len="med"/>
                      <a:tailEnd type="none" w="med" len="med"/>
                    </a:lnL>
                    <a:lnR w="6350" cap="flat" cmpd="sng" algn="ctr">
                      <a:solidFill>
                        <a:srgbClr val="000000"/>
                      </a:solidFill>
                      <a:prstDash val="dot"/>
                      <a:round/>
                      <a:headEnd type="none" w="med" len="med"/>
                      <a:tailEnd type="none" w="med" len="med"/>
                    </a:lnR>
                    <a:lnT>
                      <a:noFill/>
                    </a:lnT>
                    <a:lnB>
                      <a:noFill/>
                    </a:lnB>
                    <a:solidFill>
                      <a:srgbClr val="E2EFDA"/>
                    </a:solidFill>
                  </a:tcPr>
                </a:tc>
                <a:tc>
                  <a:txBody>
                    <a:bodyPr/>
                    <a:lstStyle/>
                    <a:p>
                      <a:pPr algn="ctr" fontAlgn="b">
                        <a:buNone/>
                      </a:pPr>
                      <a:r>
                        <a:rPr lang="es-AR" sz="900" b="0" i="0" u="none" strike="noStrike">
                          <a:solidFill>
                            <a:srgbClr val="000000"/>
                          </a:solidFill>
                          <a:effectLst/>
                          <a:latin typeface="Lucida Bright" panose="02040602050505020304" pitchFamily="18" charset="0"/>
                        </a:rPr>
                        <a:t>0.001</a:t>
                      </a:r>
                    </a:p>
                  </a:txBody>
                  <a:tcPr marL="7655" marR="7655" marT="7655" marB="0" anchor="b">
                    <a:lnL w="6350" cap="flat" cmpd="sng" algn="ctr">
                      <a:solidFill>
                        <a:srgbClr val="000000"/>
                      </a:solidFill>
                      <a:prstDash val="dot"/>
                      <a:round/>
                      <a:headEnd type="none" w="med" len="med"/>
                      <a:tailEnd type="none" w="med" len="med"/>
                    </a:lnL>
                    <a:lnR w="6350" cap="flat" cmpd="sng" algn="ctr">
                      <a:solidFill>
                        <a:srgbClr val="000000"/>
                      </a:solidFill>
                      <a:prstDash val="dot"/>
                      <a:round/>
                      <a:headEnd type="none" w="med" len="med"/>
                      <a:tailEnd type="none" w="med" len="med"/>
                    </a:lnR>
                    <a:lnT>
                      <a:noFill/>
                    </a:lnT>
                    <a:lnB>
                      <a:noFill/>
                    </a:lnB>
                    <a:solidFill>
                      <a:srgbClr val="E2EFDA"/>
                    </a:solidFill>
                  </a:tcPr>
                </a:tc>
                <a:tc>
                  <a:txBody>
                    <a:bodyPr/>
                    <a:lstStyle/>
                    <a:p>
                      <a:pPr algn="ctr" fontAlgn="b">
                        <a:buNone/>
                      </a:pPr>
                      <a:r>
                        <a:rPr lang="es-AR" sz="900" b="0" i="0" u="none" strike="noStrike">
                          <a:solidFill>
                            <a:srgbClr val="000000"/>
                          </a:solidFill>
                          <a:effectLst/>
                          <a:latin typeface="Lucida Bright" panose="02040602050505020304" pitchFamily="18" charset="0"/>
                        </a:rPr>
                        <a:t> </a:t>
                      </a:r>
                    </a:p>
                  </a:txBody>
                  <a:tcPr marL="7655" marR="7655" marT="7655" marB="0" anchor="b">
                    <a:lnL w="6350" cap="flat" cmpd="sng" algn="ctr">
                      <a:solidFill>
                        <a:srgbClr val="000000"/>
                      </a:solidFill>
                      <a:prstDash val="dot"/>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b">
                        <a:buNone/>
                      </a:pPr>
                      <a:r>
                        <a:rPr lang="es-AR" sz="900" b="0" i="0" u="none" strike="noStrike">
                          <a:solidFill>
                            <a:srgbClr val="000000"/>
                          </a:solidFill>
                          <a:effectLst/>
                          <a:latin typeface="Lucida Bright" panose="02040602050505020304" pitchFamily="18" charset="0"/>
                        </a:rPr>
                        <a:t>-0.002</a:t>
                      </a:r>
                    </a:p>
                  </a:txBody>
                  <a:tcPr marL="7655" marR="7655" marT="7655" marB="0" anchor="b">
                    <a:lnL w="6350" cap="flat" cmpd="sng" algn="ctr">
                      <a:solidFill>
                        <a:srgbClr val="000000"/>
                      </a:solidFill>
                      <a:prstDash val="solid"/>
                      <a:round/>
                      <a:headEnd type="none" w="med" len="med"/>
                      <a:tailEnd type="none" w="med" len="med"/>
                    </a:lnL>
                    <a:lnR w="6350" cap="flat" cmpd="sng" algn="ctr">
                      <a:solidFill>
                        <a:srgbClr val="000000"/>
                      </a:solidFill>
                      <a:prstDash val="dot"/>
                      <a:round/>
                      <a:headEnd type="none" w="med" len="med"/>
                      <a:tailEnd type="none" w="med" len="med"/>
                    </a:lnR>
                    <a:lnT>
                      <a:noFill/>
                    </a:lnT>
                    <a:lnB>
                      <a:noFill/>
                    </a:lnB>
                    <a:solidFill>
                      <a:srgbClr val="E2EFDA"/>
                    </a:solidFill>
                  </a:tcPr>
                </a:tc>
                <a:tc>
                  <a:txBody>
                    <a:bodyPr/>
                    <a:lstStyle/>
                    <a:p>
                      <a:pPr algn="ctr" fontAlgn="b">
                        <a:buNone/>
                      </a:pPr>
                      <a:r>
                        <a:rPr lang="es-AR" sz="900" b="0" i="0" u="none" strike="noStrike">
                          <a:solidFill>
                            <a:srgbClr val="000000"/>
                          </a:solidFill>
                          <a:effectLst/>
                          <a:latin typeface="Lucida Bright" panose="02040602050505020304" pitchFamily="18" charset="0"/>
                        </a:rPr>
                        <a:t>-0.014</a:t>
                      </a:r>
                    </a:p>
                  </a:txBody>
                  <a:tcPr marL="7655" marR="7655" marT="7655" marB="0" anchor="b">
                    <a:lnL w="6350" cap="flat" cmpd="sng" algn="ctr">
                      <a:solidFill>
                        <a:srgbClr val="000000"/>
                      </a:solidFill>
                      <a:prstDash val="dot"/>
                      <a:round/>
                      <a:headEnd type="none" w="med" len="med"/>
                      <a:tailEnd type="none" w="med" len="med"/>
                    </a:lnL>
                    <a:lnR w="6350" cap="flat" cmpd="sng" algn="ctr">
                      <a:solidFill>
                        <a:srgbClr val="000000"/>
                      </a:solidFill>
                      <a:prstDash val="dot"/>
                      <a:round/>
                      <a:headEnd type="none" w="med" len="med"/>
                      <a:tailEnd type="none" w="med" len="med"/>
                    </a:lnR>
                    <a:lnT>
                      <a:noFill/>
                    </a:lnT>
                    <a:lnB>
                      <a:noFill/>
                    </a:lnB>
                    <a:solidFill>
                      <a:srgbClr val="E2EFDA"/>
                    </a:solidFill>
                  </a:tcPr>
                </a:tc>
                <a:tc>
                  <a:txBody>
                    <a:bodyPr/>
                    <a:lstStyle/>
                    <a:p>
                      <a:pPr algn="ctr" fontAlgn="b">
                        <a:buNone/>
                      </a:pPr>
                      <a:r>
                        <a:rPr lang="es-AR" sz="900" b="0" i="0" u="none" strike="noStrike">
                          <a:solidFill>
                            <a:srgbClr val="000000"/>
                          </a:solidFill>
                          <a:effectLst/>
                          <a:latin typeface="Lucida Bright" panose="02040602050505020304" pitchFamily="18" charset="0"/>
                        </a:rPr>
                        <a:t> </a:t>
                      </a:r>
                    </a:p>
                  </a:txBody>
                  <a:tcPr marL="7655" marR="7655" marT="7655" marB="0" anchor="b">
                    <a:lnL w="6350" cap="flat" cmpd="sng" algn="ctr">
                      <a:solidFill>
                        <a:srgbClr val="000000"/>
                      </a:solidFill>
                      <a:prstDash val="dot"/>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extLst>
                  <a:ext uri="{0D108BD9-81ED-4DB2-BD59-A6C34878D82A}">
                    <a16:rowId xmlns:a16="http://schemas.microsoft.com/office/drawing/2014/main" val="2920087929"/>
                  </a:ext>
                </a:extLst>
              </a:tr>
              <a:tr h="153108">
                <a:tc>
                  <a:txBody>
                    <a:bodyPr/>
                    <a:lstStyle/>
                    <a:p>
                      <a:pPr algn="l" fontAlgn="b">
                        <a:buNone/>
                      </a:pPr>
                      <a:r>
                        <a:rPr lang="es-AR" sz="900" b="0" i="0" u="none" strike="noStrike">
                          <a:solidFill>
                            <a:srgbClr val="000000"/>
                          </a:solidFill>
                          <a:effectLst/>
                          <a:latin typeface="Lucida Bright" panose="02040602050505020304" pitchFamily="18" charset="0"/>
                        </a:rPr>
                        <a:t>log(ITCRM_SFE)</a:t>
                      </a:r>
                    </a:p>
                  </a:txBody>
                  <a:tcPr marL="7655" marR="7655" marT="7655"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b">
                        <a:buNone/>
                      </a:pPr>
                      <a:r>
                        <a:rPr lang="es-AR" sz="900" b="0" i="0" u="none" strike="noStrike">
                          <a:solidFill>
                            <a:srgbClr val="000000"/>
                          </a:solidFill>
                          <a:effectLst/>
                          <a:latin typeface="Lucida Bright" panose="02040602050505020304" pitchFamily="18" charset="0"/>
                        </a:rPr>
                        <a:t> </a:t>
                      </a:r>
                    </a:p>
                  </a:txBody>
                  <a:tcPr marL="7655" marR="7655" marT="7655" marB="0" anchor="b">
                    <a:lnL w="6350" cap="flat" cmpd="sng" algn="ctr">
                      <a:solidFill>
                        <a:srgbClr val="000000"/>
                      </a:solidFill>
                      <a:prstDash val="solid"/>
                      <a:round/>
                      <a:headEnd type="none" w="med" len="med"/>
                      <a:tailEnd type="none" w="med" len="med"/>
                    </a:lnL>
                    <a:lnR w="6350" cap="flat" cmpd="sng" algn="ctr">
                      <a:solidFill>
                        <a:srgbClr val="000000"/>
                      </a:solidFill>
                      <a:prstDash val="dot"/>
                      <a:round/>
                      <a:headEnd type="none" w="med" len="med"/>
                      <a:tailEnd type="none" w="med" len="med"/>
                    </a:lnR>
                    <a:lnT>
                      <a:noFill/>
                    </a:lnT>
                    <a:lnB>
                      <a:noFill/>
                    </a:lnB>
                    <a:noFill/>
                  </a:tcPr>
                </a:tc>
                <a:tc>
                  <a:txBody>
                    <a:bodyPr/>
                    <a:lstStyle/>
                    <a:p>
                      <a:pPr algn="ctr" fontAlgn="b">
                        <a:buNone/>
                      </a:pPr>
                      <a:r>
                        <a:rPr lang="es-AR" sz="900" b="0" i="0" u="none" strike="noStrike">
                          <a:solidFill>
                            <a:srgbClr val="000000"/>
                          </a:solidFill>
                          <a:effectLst/>
                          <a:latin typeface="Lucida Bright" panose="02040602050505020304" pitchFamily="18" charset="0"/>
                        </a:rPr>
                        <a:t> </a:t>
                      </a:r>
                    </a:p>
                  </a:txBody>
                  <a:tcPr marL="7655" marR="7655" marT="7655" marB="0" anchor="b">
                    <a:lnL w="6350" cap="flat" cmpd="sng" algn="ctr">
                      <a:solidFill>
                        <a:srgbClr val="000000"/>
                      </a:solidFill>
                      <a:prstDash val="dot"/>
                      <a:round/>
                      <a:headEnd type="none" w="med" len="med"/>
                      <a:tailEnd type="none" w="med" len="med"/>
                    </a:lnL>
                    <a:lnR w="6350" cap="flat" cmpd="sng" algn="ctr">
                      <a:solidFill>
                        <a:srgbClr val="000000"/>
                      </a:solidFill>
                      <a:prstDash val="dot"/>
                      <a:round/>
                      <a:headEnd type="none" w="med" len="med"/>
                      <a:tailEnd type="none" w="med" len="med"/>
                    </a:lnR>
                    <a:lnT>
                      <a:noFill/>
                    </a:lnT>
                    <a:lnB>
                      <a:noFill/>
                    </a:lnB>
                    <a:noFill/>
                  </a:tcPr>
                </a:tc>
                <a:tc>
                  <a:txBody>
                    <a:bodyPr/>
                    <a:lstStyle/>
                    <a:p>
                      <a:pPr algn="ctr" fontAlgn="b">
                        <a:buNone/>
                      </a:pPr>
                      <a:r>
                        <a:rPr lang="es-AR" sz="900" b="0" i="0" u="none" strike="noStrike">
                          <a:solidFill>
                            <a:srgbClr val="000000"/>
                          </a:solidFill>
                          <a:effectLst/>
                          <a:latin typeface="Lucida Bright" panose="02040602050505020304" pitchFamily="18" charset="0"/>
                        </a:rPr>
                        <a:t>0.544***</a:t>
                      </a:r>
                    </a:p>
                  </a:txBody>
                  <a:tcPr marL="7655" marR="7655" marT="7655" marB="0" anchor="b">
                    <a:lnL w="6350" cap="flat" cmpd="sng" algn="ctr">
                      <a:solidFill>
                        <a:srgbClr val="000000"/>
                      </a:solidFill>
                      <a:prstDash val="dot"/>
                      <a:round/>
                      <a:headEnd type="none" w="med" len="med"/>
                      <a:tailEnd type="none" w="med" len="med"/>
                    </a:lnL>
                    <a:lnR w="6350" cap="flat" cmpd="sng" algn="ctr">
                      <a:solidFill>
                        <a:srgbClr val="000000"/>
                      </a:solidFill>
                      <a:prstDash val="solid"/>
                      <a:round/>
                      <a:headEnd type="none" w="med" len="med"/>
                      <a:tailEnd type="none" w="med" len="med"/>
                    </a:lnR>
                    <a:lnT>
                      <a:noFill/>
                    </a:lnT>
                    <a:lnB>
                      <a:noFill/>
                    </a:lnB>
                    <a:solidFill>
                      <a:srgbClr val="E2EFDA"/>
                    </a:solidFill>
                  </a:tcPr>
                </a:tc>
                <a:tc>
                  <a:txBody>
                    <a:bodyPr/>
                    <a:lstStyle/>
                    <a:p>
                      <a:pPr algn="ctr" fontAlgn="b">
                        <a:buNone/>
                      </a:pPr>
                      <a:r>
                        <a:rPr lang="es-AR" sz="900" b="0" i="0" u="none" strike="noStrike">
                          <a:solidFill>
                            <a:srgbClr val="000000"/>
                          </a:solidFill>
                          <a:effectLst/>
                          <a:latin typeface="Lucida Bright" panose="02040602050505020304" pitchFamily="18" charset="0"/>
                        </a:rPr>
                        <a:t> </a:t>
                      </a:r>
                    </a:p>
                  </a:txBody>
                  <a:tcPr marL="7655" marR="7655" marT="7655" marB="0" anchor="b">
                    <a:lnL w="6350" cap="flat" cmpd="sng" algn="ctr">
                      <a:solidFill>
                        <a:srgbClr val="000000"/>
                      </a:solidFill>
                      <a:prstDash val="solid"/>
                      <a:round/>
                      <a:headEnd type="none" w="med" len="med"/>
                      <a:tailEnd type="none" w="med" len="med"/>
                    </a:lnL>
                    <a:lnR w="6350" cap="flat" cmpd="sng" algn="ctr">
                      <a:solidFill>
                        <a:srgbClr val="000000"/>
                      </a:solidFill>
                      <a:prstDash val="dot"/>
                      <a:round/>
                      <a:headEnd type="none" w="med" len="med"/>
                      <a:tailEnd type="none" w="med" len="med"/>
                    </a:lnR>
                    <a:lnT>
                      <a:noFill/>
                    </a:lnT>
                    <a:lnB>
                      <a:noFill/>
                    </a:lnB>
                    <a:noFill/>
                  </a:tcPr>
                </a:tc>
                <a:tc>
                  <a:txBody>
                    <a:bodyPr/>
                    <a:lstStyle/>
                    <a:p>
                      <a:pPr algn="ctr" fontAlgn="b">
                        <a:buNone/>
                      </a:pPr>
                      <a:r>
                        <a:rPr lang="es-AR" sz="900" b="0" i="0" u="none" strike="noStrike">
                          <a:solidFill>
                            <a:srgbClr val="000000"/>
                          </a:solidFill>
                          <a:effectLst/>
                          <a:latin typeface="Lucida Bright" panose="02040602050505020304" pitchFamily="18" charset="0"/>
                        </a:rPr>
                        <a:t> </a:t>
                      </a:r>
                    </a:p>
                  </a:txBody>
                  <a:tcPr marL="7655" marR="7655" marT="7655" marB="0" anchor="b">
                    <a:lnL w="6350" cap="flat" cmpd="sng" algn="ctr">
                      <a:solidFill>
                        <a:srgbClr val="000000"/>
                      </a:solidFill>
                      <a:prstDash val="dot"/>
                      <a:round/>
                      <a:headEnd type="none" w="med" len="med"/>
                      <a:tailEnd type="none" w="med" len="med"/>
                    </a:lnL>
                    <a:lnR w="6350" cap="flat" cmpd="sng" algn="ctr">
                      <a:solidFill>
                        <a:srgbClr val="000000"/>
                      </a:solidFill>
                      <a:prstDash val="dot"/>
                      <a:round/>
                      <a:headEnd type="none" w="med" len="med"/>
                      <a:tailEnd type="none" w="med" len="med"/>
                    </a:lnR>
                    <a:lnT>
                      <a:noFill/>
                    </a:lnT>
                    <a:lnB>
                      <a:noFill/>
                    </a:lnB>
                    <a:noFill/>
                  </a:tcPr>
                </a:tc>
                <a:tc>
                  <a:txBody>
                    <a:bodyPr/>
                    <a:lstStyle/>
                    <a:p>
                      <a:pPr algn="ctr" fontAlgn="b">
                        <a:buNone/>
                      </a:pPr>
                      <a:r>
                        <a:rPr lang="es-AR" sz="900" b="0" i="0" u="none" strike="noStrike">
                          <a:solidFill>
                            <a:srgbClr val="000000"/>
                          </a:solidFill>
                          <a:effectLst/>
                          <a:latin typeface="Lucida Bright" panose="02040602050505020304" pitchFamily="18" charset="0"/>
                        </a:rPr>
                        <a:t>0.546***</a:t>
                      </a:r>
                    </a:p>
                  </a:txBody>
                  <a:tcPr marL="7655" marR="7655" marT="7655" marB="0" anchor="b">
                    <a:lnL w="6350" cap="flat" cmpd="sng" algn="ctr">
                      <a:solidFill>
                        <a:srgbClr val="000000"/>
                      </a:solidFill>
                      <a:prstDash val="dot"/>
                      <a:round/>
                      <a:headEnd type="none" w="med" len="med"/>
                      <a:tailEnd type="none" w="med" len="med"/>
                    </a:lnL>
                    <a:lnR w="6350" cap="flat" cmpd="sng" algn="ctr">
                      <a:solidFill>
                        <a:srgbClr val="000000"/>
                      </a:solidFill>
                      <a:prstDash val="solid"/>
                      <a:round/>
                      <a:headEnd type="none" w="med" len="med"/>
                      <a:tailEnd type="none" w="med" len="med"/>
                    </a:lnR>
                    <a:lnT>
                      <a:noFill/>
                    </a:lnT>
                    <a:lnB>
                      <a:noFill/>
                    </a:lnB>
                    <a:solidFill>
                      <a:srgbClr val="E2EFDA"/>
                    </a:solidFill>
                  </a:tcPr>
                </a:tc>
                <a:tc>
                  <a:txBody>
                    <a:bodyPr/>
                    <a:lstStyle/>
                    <a:p>
                      <a:pPr algn="ctr" fontAlgn="b">
                        <a:buNone/>
                      </a:pPr>
                      <a:r>
                        <a:rPr lang="es-AR" sz="900" b="0" i="0" u="none" strike="noStrike">
                          <a:solidFill>
                            <a:srgbClr val="000000"/>
                          </a:solidFill>
                          <a:effectLst/>
                          <a:latin typeface="Lucida Bright" panose="02040602050505020304" pitchFamily="18" charset="0"/>
                        </a:rPr>
                        <a:t> </a:t>
                      </a:r>
                    </a:p>
                  </a:txBody>
                  <a:tcPr marL="7655" marR="7655" marT="7655" marB="0" anchor="b">
                    <a:lnL w="6350" cap="flat" cmpd="sng" algn="ctr">
                      <a:solidFill>
                        <a:srgbClr val="000000"/>
                      </a:solidFill>
                      <a:prstDash val="solid"/>
                      <a:round/>
                      <a:headEnd type="none" w="med" len="med"/>
                      <a:tailEnd type="none" w="med" len="med"/>
                    </a:lnL>
                    <a:lnR w="6350" cap="flat" cmpd="sng" algn="ctr">
                      <a:solidFill>
                        <a:srgbClr val="000000"/>
                      </a:solidFill>
                      <a:prstDash val="dot"/>
                      <a:round/>
                      <a:headEnd type="none" w="med" len="med"/>
                      <a:tailEnd type="none" w="med" len="med"/>
                    </a:lnR>
                    <a:lnT>
                      <a:noFill/>
                    </a:lnT>
                    <a:lnB>
                      <a:noFill/>
                    </a:lnB>
                    <a:noFill/>
                  </a:tcPr>
                </a:tc>
                <a:tc>
                  <a:txBody>
                    <a:bodyPr/>
                    <a:lstStyle/>
                    <a:p>
                      <a:pPr algn="ctr" fontAlgn="b">
                        <a:buNone/>
                      </a:pPr>
                      <a:r>
                        <a:rPr lang="es-AR" sz="900" b="0" i="0" u="none" strike="noStrike">
                          <a:solidFill>
                            <a:srgbClr val="000000"/>
                          </a:solidFill>
                          <a:effectLst/>
                          <a:latin typeface="Lucida Bright" panose="02040602050505020304" pitchFamily="18" charset="0"/>
                        </a:rPr>
                        <a:t> </a:t>
                      </a:r>
                    </a:p>
                  </a:txBody>
                  <a:tcPr marL="7655" marR="7655" marT="7655" marB="0" anchor="b">
                    <a:lnL w="6350" cap="flat" cmpd="sng" algn="ctr">
                      <a:solidFill>
                        <a:srgbClr val="000000"/>
                      </a:solidFill>
                      <a:prstDash val="dot"/>
                      <a:round/>
                      <a:headEnd type="none" w="med" len="med"/>
                      <a:tailEnd type="none" w="med" len="med"/>
                    </a:lnL>
                    <a:lnR w="6350" cap="flat" cmpd="sng" algn="ctr">
                      <a:solidFill>
                        <a:srgbClr val="000000"/>
                      </a:solidFill>
                      <a:prstDash val="dot"/>
                      <a:round/>
                      <a:headEnd type="none" w="med" len="med"/>
                      <a:tailEnd type="none" w="med" len="med"/>
                    </a:lnR>
                    <a:lnT>
                      <a:noFill/>
                    </a:lnT>
                    <a:lnB>
                      <a:noFill/>
                    </a:lnB>
                    <a:noFill/>
                  </a:tcPr>
                </a:tc>
                <a:tc>
                  <a:txBody>
                    <a:bodyPr/>
                    <a:lstStyle/>
                    <a:p>
                      <a:pPr algn="ctr" fontAlgn="b">
                        <a:buNone/>
                      </a:pPr>
                      <a:r>
                        <a:rPr lang="es-AR" sz="900" b="0" i="0" u="none" strike="noStrike">
                          <a:solidFill>
                            <a:srgbClr val="000000"/>
                          </a:solidFill>
                          <a:effectLst/>
                          <a:latin typeface="Lucida Bright" panose="02040602050505020304" pitchFamily="18" charset="0"/>
                        </a:rPr>
                        <a:t>-0.301***</a:t>
                      </a:r>
                    </a:p>
                  </a:txBody>
                  <a:tcPr marL="7655" marR="7655" marT="7655" marB="0" anchor="b">
                    <a:lnL w="6350" cap="flat" cmpd="sng" algn="ctr">
                      <a:solidFill>
                        <a:srgbClr val="000000"/>
                      </a:solidFill>
                      <a:prstDash val="dot"/>
                      <a:round/>
                      <a:headEnd type="none" w="med" len="med"/>
                      <a:tailEnd type="none" w="med" len="med"/>
                    </a:lnL>
                    <a:lnR w="6350" cap="flat" cmpd="sng" algn="ctr">
                      <a:solidFill>
                        <a:srgbClr val="000000"/>
                      </a:solidFill>
                      <a:prstDash val="solid"/>
                      <a:round/>
                      <a:headEnd type="none" w="med" len="med"/>
                      <a:tailEnd type="none" w="med" len="med"/>
                    </a:lnR>
                    <a:lnT>
                      <a:noFill/>
                    </a:lnT>
                    <a:lnB>
                      <a:noFill/>
                    </a:lnB>
                    <a:solidFill>
                      <a:srgbClr val="E2EFDA"/>
                    </a:solidFill>
                  </a:tcPr>
                </a:tc>
                <a:tc>
                  <a:txBody>
                    <a:bodyPr/>
                    <a:lstStyle/>
                    <a:p>
                      <a:pPr algn="ctr" fontAlgn="b">
                        <a:buNone/>
                      </a:pPr>
                      <a:r>
                        <a:rPr lang="es-AR" sz="900" b="0" i="0" u="none" strike="noStrike">
                          <a:solidFill>
                            <a:srgbClr val="000000"/>
                          </a:solidFill>
                          <a:effectLst/>
                          <a:latin typeface="Lucida Bright" panose="02040602050505020304" pitchFamily="18" charset="0"/>
                        </a:rPr>
                        <a:t> </a:t>
                      </a:r>
                    </a:p>
                  </a:txBody>
                  <a:tcPr marL="7655" marR="7655" marT="7655" marB="0" anchor="b">
                    <a:lnL w="6350" cap="flat" cmpd="sng" algn="ctr">
                      <a:solidFill>
                        <a:srgbClr val="000000"/>
                      </a:solidFill>
                      <a:prstDash val="solid"/>
                      <a:round/>
                      <a:headEnd type="none" w="med" len="med"/>
                      <a:tailEnd type="none" w="med" len="med"/>
                    </a:lnL>
                    <a:lnR w="6350" cap="flat" cmpd="sng" algn="ctr">
                      <a:solidFill>
                        <a:srgbClr val="000000"/>
                      </a:solidFill>
                      <a:prstDash val="dot"/>
                      <a:round/>
                      <a:headEnd type="none" w="med" len="med"/>
                      <a:tailEnd type="none" w="med" len="med"/>
                    </a:lnR>
                    <a:lnT>
                      <a:noFill/>
                    </a:lnT>
                    <a:lnB>
                      <a:noFill/>
                    </a:lnB>
                    <a:noFill/>
                  </a:tcPr>
                </a:tc>
                <a:tc>
                  <a:txBody>
                    <a:bodyPr/>
                    <a:lstStyle/>
                    <a:p>
                      <a:pPr algn="ctr" fontAlgn="b">
                        <a:buNone/>
                      </a:pPr>
                      <a:r>
                        <a:rPr lang="es-AR" sz="900" b="0" i="0" u="none" strike="noStrike">
                          <a:solidFill>
                            <a:srgbClr val="000000"/>
                          </a:solidFill>
                          <a:effectLst/>
                          <a:latin typeface="Lucida Bright" panose="02040602050505020304" pitchFamily="18" charset="0"/>
                        </a:rPr>
                        <a:t> </a:t>
                      </a:r>
                    </a:p>
                  </a:txBody>
                  <a:tcPr marL="7655" marR="7655" marT="7655" marB="0" anchor="b">
                    <a:lnL w="6350" cap="flat" cmpd="sng" algn="ctr">
                      <a:solidFill>
                        <a:srgbClr val="000000"/>
                      </a:solidFill>
                      <a:prstDash val="dot"/>
                      <a:round/>
                      <a:headEnd type="none" w="med" len="med"/>
                      <a:tailEnd type="none" w="med" len="med"/>
                    </a:lnL>
                    <a:lnR w="6350" cap="flat" cmpd="sng" algn="ctr">
                      <a:solidFill>
                        <a:srgbClr val="000000"/>
                      </a:solidFill>
                      <a:prstDash val="dot"/>
                      <a:round/>
                      <a:headEnd type="none" w="med" len="med"/>
                      <a:tailEnd type="none" w="med" len="med"/>
                    </a:lnR>
                    <a:lnT>
                      <a:noFill/>
                    </a:lnT>
                    <a:lnB>
                      <a:noFill/>
                    </a:lnB>
                    <a:noFill/>
                  </a:tcPr>
                </a:tc>
                <a:tc>
                  <a:txBody>
                    <a:bodyPr/>
                    <a:lstStyle/>
                    <a:p>
                      <a:pPr algn="ctr" fontAlgn="b">
                        <a:buNone/>
                      </a:pPr>
                      <a:r>
                        <a:rPr lang="es-AR" sz="900" b="0" i="0" u="none" strike="noStrike">
                          <a:solidFill>
                            <a:srgbClr val="000000"/>
                          </a:solidFill>
                          <a:effectLst/>
                          <a:latin typeface="Lucida Bright" panose="02040602050505020304" pitchFamily="18" charset="0"/>
                        </a:rPr>
                        <a:t>-0.315***</a:t>
                      </a:r>
                    </a:p>
                  </a:txBody>
                  <a:tcPr marL="7655" marR="7655" marT="7655" marB="0" anchor="b">
                    <a:lnL w="6350" cap="flat" cmpd="sng" algn="ctr">
                      <a:solidFill>
                        <a:srgbClr val="000000"/>
                      </a:solidFill>
                      <a:prstDash val="dot"/>
                      <a:round/>
                      <a:headEnd type="none" w="med" len="med"/>
                      <a:tailEnd type="none" w="med" len="med"/>
                    </a:lnL>
                    <a:lnR w="6350" cap="flat" cmpd="sng" algn="ctr">
                      <a:solidFill>
                        <a:srgbClr val="000000"/>
                      </a:solidFill>
                      <a:prstDash val="solid"/>
                      <a:round/>
                      <a:headEnd type="none" w="med" len="med"/>
                      <a:tailEnd type="none" w="med" len="med"/>
                    </a:lnR>
                    <a:lnT>
                      <a:noFill/>
                    </a:lnT>
                    <a:lnB>
                      <a:noFill/>
                    </a:lnB>
                    <a:solidFill>
                      <a:srgbClr val="E2EFDA"/>
                    </a:solidFill>
                  </a:tcPr>
                </a:tc>
                <a:extLst>
                  <a:ext uri="{0D108BD9-81ED-4DB2-BD59-A6C34878D82A}">
                    <a16:rowId xmlns:a16="http://schemas.microsoft.com/office/drawing/2014/main" val="3079546820"/>
                  </a:ext>
                </a:extLst>
              </a:tr>
              <a:tr h="153108">
                <a:tc>
                  <a:txBody>
                    <a:bodyPr/>
                    <a:lstStyle/>
                    <a:p>
                      <a:pPr algn="l" fontAlgn="b">
                        <a:buNone/>
                      </a:pPr>
                      <a:r>
                        <a:rPr lang="es-AR" sz="900" b="0" i="0" u="none" strike="noStrike">
                          <a:solidFill>
                            <a:srgbClr val="000000"/>
                          </a:solidFill>
                          <a:effectLst/>
                          <a:latin typeface="Lucida Bright" panose="02040602050505020304" pitchFamily="18" charset="0"/>
                        </a:rPr>
                        <a:t>log(GEBC)</a:t>
                      </a:r>
                    </a:p>
                  </a:txBody>
                  <a:tcPr marL="7655" marR="7655" marT="7655"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b">
                        <a:buNone/>
                      </a:pPr>
                      <a:r>
                        <a:rPr lang="es-AR" sz="900" b="0" i="0" u="none" strike="noStrike">
                          <a:solidFill>
                            <a:srgbClr val="000000"/>
                          </a:solidFill>
                          <a:effectLst/>
                          <a:latin typeface="Lucida Bright" panose="02040602050505020304" pitchFamily="18" charset="0"/>
                        </a:rPr>
                        <a:t> </a:t>
                      </a:r>
                    </a:p>
                  </a:txBody>
                  <a:tcPr marL="7655" marR="7655" marT="7655" marB="0" anchor="b">
                    <a:lnL w="6350" cap="flat" cmpd="sng" algn="ctr">
                      <a:solidFill>
                        <a:srgbClr val="000000"/>
                      </a:solidFill>
                      <a:prstDash val="solid"/>
                      <a:round/>
                      <a:headEnd type="none" w="med" len="med"/>
                      <a:tailEnd type="none" w="med" len="med"/>
                    </a:lnL>
                    <a:lnR w="6350" cap="flat" cmpd="sng" algn="ctr">
                      <a:solidFill>
                        <a:srgbClr val="000000"/>
                      </a:solidFill>
                      <a:prstDash val="dot"/>
                      <a:round/>
                      <a:headEnd type="none" w="med" len="med"/>
                      <a:tailEnd type="none" w="med" len="med"/>
                    </a:lnR>
                    <a:lnT>
                      <a:noFill/>
                    </a:lnT>
                    <a:lnB>
                      <a:noFill/>
                    </a:lnB>
                    <a:noFill/>
                  </a:tcPr>
                </a:tc>
                <a:tc>
                  <a:txBody>
                    <a:bodyPr/>
                    <a:lstStyle/>
                    <a:p>
                      <a:pPr algn="ctr" fontAlgn="b">
                        <a:buNone/>
                      </a:pPr>
                      <a:r>
                        <a:rPr lang="es-AR" sz="900" b="0" i="0" u="none" strike="noStrike">
                          <a:solidFill>
                            <a:srgbClr val="000000"/>
                          </a:solidFill>
                          <a:effectLst/>
                          <a:latin typeface="Lucida Bright" panose="02040602050505020304" pitchFamily="18" charset="0"/>
                        </a:rPr>
                        <a:t> </a:t>
                      </a:r>
                    </a:p>
                  </a:txBody>
                  <a:tcPr marL="7655" marR="7655" marT="7655" marB="0" anchor="b">
                    <a:lnL w="6350" cap="flat" cmpd="sng" algn="ctr">
                      <a:solidFill>
                        <a:srgbClr val="000000"/>
                      </a:solidFill>
                      <a:prstDash val="dot"/>
                      <a:round/>
                      <a:headEnd type="none" w="med" len="med"/>
                      <a:tailEnd type="none" w="med" len="med"/>
                    </a:lnL>
                    <a:lnR w="6350" cap="flat" cmpd="sng" algn="ctr">
                      <a:solidFill>
                        <a:srgbClr val="000000"/>
                      </a:solidFill>
                      <a:prstDash val="dot"/>
                      <a:round/>
                      <a:headEnd type="none" w="med" len="med"/>
                      <a:tailEnd type="none" w="med" len="med"/>
                    </a:lnR>
                    <a:lnT>
                      <a:noFill/>
                    </a:lnT>
                    <a:lnB>
                      <a:noFill/>
                    </a:lnB>
                    <a:noFill/>
                  </a:tcPr>
                </a:tc>
                <a:tc>
                  <a:txBody>
                    <a:bodyPr/>
                    <a:lstStyle/>
                    <a:p>
                      <a:pPr algn="ctr" fontAlgn="b">
                        <a:buNone/>
                      </a:pPr>
                      <a:r>
                        <a:rPr lang="es-AR" sz="900" b="0" i="0" u="none" strike="noStrike">
                          <a:solidFill>
                            <a:srgbClr val="000000"/>
                          </a:solidFill>
                          <a:effectLst/>
                          <a:latin typeface="Lucida Bright" panose="02040602050505020304" pitchFamily="18" charset="0"/>
                        </a:rPr>
                        <a:t> </a:t>
                      </a:r>
                    </a:p>
                  </a:txBody>
                  <a:tcPr marL="7655" marR="7655" marT="7655" marB="0" anchor="b">
                    <a:lnL w="6350" cap="flat" cmpd="sng" algn="ctr">
                      <a:solidFill>
                        <a:srgbClr val="000000"/>
                      </a:solidFill>
                      <a:prstDash val="dot"/>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b">
                        <a:buNone/>
                      </a:pPr>
                      <a:r>
                        <a:rPr lang="es-AR" sz="900" b="0" i="0" u="none" strike="noStrike">
                          <a:solidFill>
                            <a:srgbClr val="000000"/>
                          </a:solidFill>
                          <a:effectLst/>
                          <a:latin typeface="Lucida Bright" panose="02040602050505020304" pitchFamily="18" charset="0"/>
                        </a:rPr>
                        <a:t>0.075</a:t>
                      </a:r>
                    </a:p>
                  </a:txBody>
                  <a:tcPr marL="7655" marR="7655" marT="7655" marB="0" anchor="b">
                    <a:lnL w="6350" cap="flat" cmpd="sng" algn="ctr">
                      <a:solidFill>
                        <a:srgbClr val="000000"/>
                      </a:solidFill>
                      <a:prstDash val="solid"/>
                      <a:round/>
                      <a:headEnd type="none" w="med" len="med"/>
                      <a:tailEnd type="none" w="med" len="med"/>
                    </a:lnL>
                    <a:lnR w="6350" cap="flat" cmpd="sng" algn="ctr">
                      <a:solidFill>
                        <a:srgbClr val="000000"/>
                      </a:solidFill>
                      <a:prstDash val="dot"/>
                      <a:round/>
                      <a:headEnd type="none" w="med" len="med"/>
                      <a:tailEnd type="none" w="med" len="med"/>
                    </a:lnR>
                    <a:lnT>
                      <a:noFill/>
                    </a:lnT>
                    <a:lnB>
                      <a:noFill/>
                    </a:lnB>
                    <a:noFill/>
                  </a:tcPr>
                </a:tc>
                <a:tc>
                  <a:txBody>
                    <a:bodyPr/>
                    <a:lstStyle/>
                    <a:p>
                      <a:pPr algn="ctr" fontAlgn="b">
                        <a:buNone/>
                      </a:pPr>
                      <a:r>
                        <a:rPr lang="es-AR" sz="900" b="0" i="0" u="none" strike="noStrike">
                          <a:solidFill>
                            <a:srgbClr val="000000"/>
                          </a:solidFill>
                          <a:effectLst/>
                          <a:latin typeface="Lucida Bright" panose="02040602050505020304" pitchFamily="18" charset="0"/>
                        </a:rPr>
                        <a:t>0.456**</a:t>
                      </a:r>
                    </a:p>
                  </a:txBody>
                  <a:tcPr marL="7655" marR="7655" marT="7655" marB="0" anchor="b">
                    <a:lnL w="6350" cap="flat" cmpd="sng" algn="ctr">
                      <a:solidFill>
                        <a:srgbClr val="000000"/>
                      </a:solidFill>
                      <a:prstDash val="dot"/>
                      <a:round/>
                      <a:headEnd type="none" w="med" len="med"/>
                      <a:tailEnd type="none" w="med" len="med"/>
                    </a:lnL>
                    <a:lnR w="6350" cap="flat" cmpd="sng" algn="ctr">
                      <a:solidFill>
                        <a:srgbClr val="000000"/>
                      </a:solidFill>
                      <a:prstDash val="dot"/>
                      <a:round/>
                      <a:headEnd type="none" w="med" len="med"/>
                      <a:tailEnd type="none" w="med" len="med"/>
                    </a:lnR>
                    <a:lnT>
                      <a:noFill/>
                    </a:lnT>
                    <a:lnB>
                      <a:noFill/>
                    </a:lnB>
                    <a:noFill/>
                  </a:tcPr>
                </a:tc>
                <a:tc>
                  <a:txBody>
                    <a:bodyPr/>
                    <a:lstStyle/>
                    <a:p>
                      <a:pPr algn="ctr" fontAlgn="b">
                        <a:buNone/>
                      </a:pPr>
                      <a:r>
                        <a:rPr lang="es-AR" sz="900" b="0" i="0" u="none" strike="noStrike">
                          <a:solidFill>
                            <a:srgbClr val="000000"/>
                          </a:solidFill>
                          <a:effectLst/>
                          <a:latin typeface="Lucida Bright" panose="02040602050505020304" pitchFamily="18" charset="0"/>
                        </a:rPr>
                        <a:t>0.289</a:t>
                      </a:r>
                    </a:p>
                  </a:txBody>
                  <a:tcPr marL="7655" marR="7655" marT="7655" marB="0" anchor="b">
                    <a:lnL w="6350" cap="flat" cmpd="sng" algn="ctr">
                      <a:solidFill>
                        <a:srgbClr val="000000"/>
                      </a:solidFill>
                      <a:prstDash val="dot"/>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b">
                        <a:buNone/>
                      </a:pPr>
                      <a:r>
                        <a:rPr lang="es-AR" sz="900" b="0" i="0" u="none" strike="noStrike">
                          <a:solidFill>
                            <a:srgbClr val="000000"/>
                          </a:solidFill>
                          <a:effectLst/>
                          <a:latin typeface="Lucida Bright" panose="02040602050505020304" pitchFamily="18" charset="0"/>
                        </a:rPr>
                        <a:t> </a:t>
                      </a:r>
                    </a:p>
                  </a:txBody>
                  <a:tcPr marL="7655" marR="7655" marT="7655" marB="0" anchor="b">
                    <a:lnL w="6350" cap="flat" cmpd="sng" algn="ctr">
                      <a:solidFill>
                        <a:srgbClr val="000000"/>
                      </a:solidFill>
                      <a:prstDash val="solid"/>
                      <a:round/>
                      <a:headEnd type="none" w="med" len="med"/>
                      <a:tailEnd type="none" w="med" len="med"/>
                    </a:lnL>
                    <a:lnR w="6350" cap="flat" cmpd="sng" algn="ctr">
                      <a:solidFill>
                        <a:srgbClr val="000000"/>
                      </a:solidFill>
                      <a:prstDash val="dot"/>
                      <a:round/>
                      <a:headEnd type="none" w="med" len="med"/>
                      <a:tailEnd type="none" w="med" len="med"/>
                    </a:lnR>
                    <a:lnT>
                      <a:noFill/>
                    </a:lnT>
                    <a:lnB>
                      <a:noFill/>
                    </a:lnB>
                    <a:noFill/>
                  </a:tcPr>
                </a:tc>
                <a:tc>
                  <a:txBody>
                    <a:bodyPr/>
                    <a:lstStyle/>
                    <a:p>
                      <a:pPr algn="ctr" fontAlgn="b">
                        <a:buNone/>
                      </a:pPr>
                      <a:r>
                        <a:rPr lang="es-AR" sz="900" b="0" i="0" u="none" strike="noStrike">
                          <a:solidFill>
                            <a:srgbClr val="000000"/>
                          </a:solidFill>
                          <a:effectLst/>
                          <a:latin typeface="Lucida Bright" panose="02040602050505020304" pitchFamily="18" charset="0"/>
                        </a:rPr>
                        <a:t> </a:t>
                      </a:r>
                    </a:p>
                  </a:txBody>
                  <a:tcPr marL="7655" marR="7655" marT="7655" marB="0" anchor="b">
                    <a:lnL w="6350" cap="flat" cmpd="sng" algn="ctr">
                      <a:solidFill>
                        <a:srgbClr val="000000"/>
                      </a:solidFill>
                      <a:prstDash val="dot"/>
                      <a:round/>
                      <a:headEnd type="none" w="med" len="med"/>
                      <a:tailEnd type="none" w="med" len="med"/>
                    </a:lnL>
                    <a:lnR w="6350" cap="flat" cmpd="sng" algn="ctr">
                      <a:solidFill>
                        <a:srgbClr val="000000"/>
                      </a:solidFill>
                      <a:prstDash val="dot"/>
                      <a:round/>
                      <a:headEnd type="none" w="med" len="med"/>
                      <a:tailEnd type="none" w="med" len="med"/>
                    </a:lnR>
                    <a:lnT>
                      <a:noFill/>
                    </a:lnT>
                    <a:lnB>
                      <a:noFill/>
                    </a:lnB>
                    <a:noFill/>
                  </a:tcPr>
                </a:tc>
                <a:tc>
                  <a:txBody>
                    <a:bodyPr/>
                    <a:lstStyle/>
                    <a:p>
                      <a:pPr algn="ctr" fontAlgn="b">
                        <a:buNone/>
                      </a:pPr>
                      <a:r>
                        <a:rPr lang="es-AR" sz="900" b="0" i="0" u="none" strike="noStrike">
                          <a:solidFill>
                            <a:srgbClr val="000000"/>
                          </a:solidFill>
                          <a:effectLst/>
                          <a:latin typeface="Lucida Bright" panose="02040602050505020304" pitchFamily="18" charset="0"/>
                        </a:rPr>
                        <a:t> </a:t>
                      </a:r>
                    </a:p>
                  </a:txBody>
                  <a:tcPr marL="7655" marR="7655" marT="7655" marB="0" anchor="b">
                    <a:lnL w="6350" cap="flat" cmpd="sng" algn="ctr">
                      <a:solidFill>
                        <a:srgbClr val="000000"/>
                      </a:solidFill>
                      <a:prstDash val="dot"/>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b">
                        <a:buNone/>
                      </a:pPr>
                      <a:r>
                        <a:rPr lang="es-AR" sz="900" b="0" i="0" u="none" strike="noStrike">
                          <a:solidFill>
                            <a:srgbClr val="000000"/>
                          </a:solidFill>
                          <a:effectLst/>
                          <a:latin typeface="Lucida Bright" panose="02040602050505020304" pitchFamily="18" charset="0"/>
                        </a:rPr>
                        <a:t>0.182**</a:t>
                      </a:r>
                    </a:p>
                  </a:txBody>
                  <a:tcPr marL="7655" marR="7655" marT="7655" marB="0" anchor="b">
                    <a:lnL w="6350" cap="flat" cmpd="sng" algn="ctr">
                      <a:solidFill>
                        <a:srgbClr val="000000"/>
                      </a:solidFill>
                      <a:prstDash val="solid"/>
                      <a:round/>
                      <a:headEnd type="none" w="med" len="med"/>
                      <a:tailEnd type="none" w="med" len="med"/>
                    </a:lnL>
                    <a:lnR w="6350" cap="flat" cmpd="sng" algn="ctr">
                      <a:solidFill>
                        <a:srgbClr val="000000"/>
                      </a:solidFill>
                      <a:prstDash val="dot"/>
                      <a:round/>
                      <a:headEnd type="none" w="med" len="med"/>
                      <a:tailEnd type="none" w="med" len="med"/>
                    </a:lnR>
                    <a:lnT>
                      <a:noFill/>
                    </a:lnT>
                    <a:lnB>
                      <a:noFill/>
                    </a:lnB>
                    <a:noFill/>
                  </a:tcPr>
                </a:tc>
                <a:tc>
                  <a:txBody>
                    <a:bodyPr/>
                    <a:lstStyle/>
                    <a:p>
                      <a:pPr algn="ctr" fontAlgn="b">
                        <a:buNone/>
                      </a:pPr>
                      <a:r>
                        <a:rPr lang="es-AR" sz="900" b="0" i="0" u="none" strike="noStrike">
                          <a:solidFill>
                            <a:srgbClr val="000000"/>
                          </a:solidFill>
                          <a:effectLst/>
                          <a:latin typeface="Lucida Bright" panose="02040602050505020304" pitchFamily="18" charset="0"/>
                        </a:rPr>
                        <a:t>0.596***</a:t>
                      </a:r>
                    </a:p>
                  </a:txBody>
                  <a:tcPr marL="7655" marR="7655" marT="7655" marB="0" anchor="b">
                    <a:lnL w="6350" cap="flat" cmpd="sng" algn="ctr">
                      <a:solidFill>
                        <a:srgbClr val="000000"/>
                      </a:solidFill>
                      <a:prstDash val="dot"/>
                      <a:round/>
                      <a:headEnd type="none" w="med" len="med"/>
                      <a:tailEnd type="none" w="med" len="med"/>
                    </a:lnL>
                    <a:lnR w="6350" cap="flat" cmpd="sng" algn="ctr">
                      <a:solidFill>
                        <a:srgbClr val="000000"/>
                      </a:solidFill>
                      <a:prstDash val="dot"/>
                      <a:round/>
                      <a:headEnd type="none" w="med" len="med"/>
                      <a:tailEnd type="none" w="med" len="med"/>
                    </a:lnR>
                    <a:lnT>
                      <a:noFill/>
                    </a:lnT>
                    <a:lnB>
                      <a:noFill/>
                    </a:lnB>
                    <a:noFill/>
                  </a:tcPr>
                </a:tc>
                <a:tc>
                  <a:txBody>
                    <a:bodyPr/>
                    <a:lstStyle/>
                    <a:p>
                      <a:pPr algn="ctr" fontAlgn="b">
                        <a:buNone/>
                      </a:pPr>
                      <a:r>
                        <a:rPr lang="es-AR" sz="900" b="0" i="0" u="none" strike="noStrike">
                          <a:solidFill>
                            <a:srgbClr val="000000"/>
                          </a:solidFill>
                          <a:effectLst/>
                          <a:latin typeface="Lucida Bright" panose="02040602050505020304" pitchFamily="18" charset="0"/>
                        </a:rPr>
                        <a:t>0.614***</a:t>
                      </a:r>
                    </a:p>
                  </a:txBody>
                  <a:tcPr marL="7655" marR="7655" marT="7655" marB="0" anchor="b">
                    <a:lnL w="6350" cap="flat" cmpd="sng" algn="ctr">
                      <a:solidFill>
                        <a:srgbClr val="000000"/>
                      </a:solidFill>
                      <a:prstDash val="dot"/>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extLst>
                  <a:ext uri="{0D108BD9-81ED-4DB2-BD59-A6C34878D82A}">
                    <a16:rowId xmlns:a16="http://schemas.microsoft.com/office/drawing/2014/main" val="3129658405"/>
                  </a:ext>
                </a:extLst>
              </a:tr>
              <a:tr h="153108">
                <a:tc>
                  <a:txBody>
                    <a:bodyPr/>
                    <a:lstStyle/>
                    <a:p>
                      <a:pPr algn="l" fontAlgn="b">
                        <a:buNone/>
                      </a:pPr>
                      <a:r>
                        <a:rPr lang="es-AR" sz="900" b="0" i="0" u="none" strike="noStrike">
                          <a:solidFill>
                            <a:srgbClr val="000000"/>
                          </a:solidFill>
                          <a:effectLst/>
                          <a:latin typeface="Lucida Bright" panose="02040602050505020304" pitchFamily="18" charset="0"/>
                        </a:rPr>
                        <a:t>log(API)</a:t>
                      </a:r>
                    </a:p>
                  </a:txBody>
                  <a:tcPr marL="7655" marR="7655" marT="7655"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noFill/>
                  </a:tcPr>
                </a:tc>
                <a:tc>
                  <a:txBody>
                    <a:bodyPr/>
                    <a:lstStyle/>
                    <a:p>
                      <a:pPr algn="ctr" fontAlgn="b">
                        <a:buNone/>
                      </a:pPr>
                      <a:r>
                        <a:rPr lang="es-AR" sz="900" b="0" i="0" u="none" strike="noStrike">
                          <a:solidFill>
                            <a:srgbClr val="000000"/>
                          </a:solidFill>
                          <a:effectLst/>
                          <a:latin typeface="Lucida Bright" panose="02040602050505020304" pitchFamily="18" charset="0"/>
                        </a:rPr>
                        <a:t> </a:t>
                      </a:r>
                    </a:p>
                  </a:txBody>
                  <a:tcPr marL="7655" marR="7655" marT="7655" marB="0" anchor="b">
                    <a:lnL w="6350" cap="flat" cmpd="sng" algn="ctr">
                      <a:solidFill>
                        <a:srgbClr val="000000"/>
                      </a:solidFill>
                      <a:prstDash val="solid"/>
                      <a:round/>
                      <a:headEnd type="none" w="med" len="med"/>
                      <a:tailEnd type="none" w="med" len="med"/>
                    </a:lnL>
                    <a:lnR w="6350" cap="flat" cmpd="sng" algn="ctr">
                      <a:solidFill>
                        <a:srgbClr val="000000"/>
                      </a:solidFill>
                      <a:prstDash val="dot"/>
                      <a:round/>
                      <a:headEnd type="none" w="med" len="med"/>
                      <a:tailEnd type="none" w="med" len="med"/>
                    </a:lnR>
                    <a:lnT>
                      <a:noFill/>
                    </a:lnT>
                    <a:lnB w="6350" cap="flat" cmpd="sng" algn="ctr">
                      <a:solidFill>
                        <a:srgbClr val="000000"/>
                      </a:solidFill>
                      <a:prstDash val="solid"/>
                      <a:round/>
                      <a:headEnd type="none" w="med" len="med"/>
                      <a:tailEnd type="none" w="med" len="med"/>
                    </a:lnB>
                    <a:noFill/>
                  </a:tcPr>
                </a:tc>
                <a:tc>
                  <a:txBody>
                    <a:bodyPr/>
                    <a:lstStyle/>
                    <a:p>
                      <a:pPr algn="ctr" fontAlgn="b">
                        <a:buNone/>
                      </a:pPr>
                      <a:r>
                        <a:rPr lang="es-AR" sz="900" b="0" i="0" u="none" strike="noStrike">
                          <a:solidFill>
                            <a:srgbClr val="000000"/>
                          </a:solidFill>
                          <a:effectLst/>
                          <a:latin typeface="Lucida Bright" panose="02040602050505020304" pitchFamily="18" charset="0"/>
                        </a:rPr>
                        <a:t> </a:t>
                      </a:r>
                    </a:p>
                  </a:txBody>
                  <a:tcPr marL="7655" marR="7655" marT="7655" marB="0" anchor="b">
                    <a:lnL w="6350" cap="flat" cmpd="sng" algn="ctr">
                      <a:solidFill>
                        <a:srgbClr val="000000"/>
                      </a:solidFill>
                      <a:prstDash val="dot"/>
                      <a:round/>
                      <a:headEnd type="none" w="med" len="med"/>
                      <a:tailEnd type="none" w="med" len="med"/>
                    </a:lnL>
                    <a:lnR w="6350" cap="flat" cmpd="sng" algn="ctr">
                      <a:solidFill>
                        <a:srgbClr val="000000"/>
                      </a:solidFill>
                      <a:prstDash val="dot"/>
                      <a:round/>
                      <a:headEnd type="none" w="med" len="med"/>
                      <a:tailEnd type="none" w="med" len="med"/>
                    </a:lnR>
                    <a:lnT>
                      <a:noFill/>
                    </a:lnT>
                    <a:lnB w="6350" cap="flat" cmpd="sng" algn="ctr">
                      <a:solidFill>
                        <a:srgbClr val="000000"/>
                      </a:solidFill>
                      <a:prstDash val="solid"/>
                      <a:round/>
                      <a:headEnd type="none" w="med" len="med"/>
                      <a:tailEnd type="none" w="med" len="med"/>
                    </a:lnB>
                    <a:noFill/>
                  </a:tcPr>
                </a:tc>
                <a:tc>
                  <a:txBody>
                    <a:bodyPr/>
                    <a:lstStyle/>
                    <a:p>
                      <a:pPr algn="ctr" fontAlgn="b">
                        <a:buNone/>
                      </a:pPr>
                      <a:r>
                        <a:rPr lang="es-AR" sz="900" b="0" i="0" u="none" strike="noStrike">
                          <a:solidFill>
                            <a:srgbClr val="000000"/>
                          </a:solidFill>
                          <a:effectLst/>
                          <a:latin typeface="Lucida Bright" panose="02040602050505020304" pitchFamily="18" charset="0"/>
                        </a:rPr>
                        <a:t> </a:t>
                      </a:r>
                    </a:p>
                  </a:txBody>
                  <a:tcPr marL="7655" marR="7655" marT="7655" marB="0" anchor="b">
                    <a:lnL w="6350" cap="flat" cmpd="sng" algn="ctr">
                      <a:solidFill>
                        <a:srgbClr val="000000"/>
                      </a:solidFill>
                      <a:prstDash val="dot"/>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noFill/>
                  </a:tcPr>
                </a:tc>
                <a:tc>
                  <a:txBody>
                    <a:bodyPr/>
                    <a:lstStyle/>
                    <a:p>
                      <a:pPr algn="ctr" fontAlgn="b">
                        <a:buNone/>
                      </a:pPr>
                      <a:r>
                        <a:rPr lang="es-AR" sz="900" b="0" i="0" u="none" strike="noStrike">
                          <a:solidFill>
                            <a:srgbClr val="000000"/>
                          </a:solidFill>
                          <a:effectLst/>
                          <a:latin typeface="Lucida Bright" panose="02040602050505020304" pitchFamily="18" charset="0"/>
                        </a:rPr>
                        <a:t> </a:t>
                      </a:r>
                    </a:p>
                  </a:txBody>
                  <a:tcPr marL="7655" marR="7655" marT="7655" marB="0" anchor="b">
                    <a:lnL w="6350" cap="flat" cmpd="sng" algn="ctr">
                      <a:solidFill>
                        <a:srgbClr val="000000"/>
                      </a:solidFill>
                      <a:prstDash val="solid"/>
                      <a:round/>
                      <a:headEnd type="none" w="med" len="med"/>
                      <a:tailEnd type="none" w="med" len="med"/>
                    </a:lnL>
                    <a:lnR w="6350" cap="flat" cmpd="sng" algn="ctr">
                      <a:solidFill>
                        <a:srgbClr val="000000"/>
                      </a:solidFill>
                      <a:prstDash val="dot"/>
                      <a:round/>
                      <a:headEnd type="none" w="med" len="med"/>
                      <a:tailEnd type="none" w="med" len="med"/>
                    </a:lnR>
                    <a:lnT>
                      <a:noFill/>
                    </a:lnT>
                    <a:lnB w="6350" cap="flat" cmpd="sng" algn="ctr">
                      <a:solidFill>
                        <a:srgbClr val="000000"/>
                      </a:solidFill>
                      <a:prstDash val="solid"/>
                      <a:round/>
                      <a:headEnd type="none" w="med" len="med"/>
                      <a:tailEnd type="none" w="med" len="med"/>
                    </a:lnB>
                    <a:noFill/>
                  </a:tcPr>
                </a:tc>
                <a:tc>
                  <a:txBody>
                    <a:bodyPr/>
                    <a:lstStyle/>
                    <a:p>
                      <a:pPr algn="ctr" fontAlgn="b">
                        <a:buNone/>
                      </a:pPr>
                      <a:r>
                        <a:rPr lang="es-AR" sz="900" b="0" i="0" u="none" strike="noStrike">
                          <a:solidFill>
                            <a:srgbClr val="000000"/>
                          </a:solidFill>
                          <a:effectLst/>
                          <a:latin typeface="Lucida Bright" panose="02040602050505020304" pitchFamily="18" charset="0"/>
                        </a:rPr>
                        <a:t> </a:t>
                      </a:r>
                    </a:p>
                  </a:txBody>
                  <a:tcPr marL="7655" marR="7655" marT="7655" marB="0" anchor="b">
                    <a:lnL w="6350" cap="flat" cmpd="sng" algn="ctr">
                      <a:solidFill>
                        <a:srgbClr val="000000"/>
                      </a:solidFill>
                      <a:prstDash val="dot"/>
                      <a:round/>
                      <a:headEnd type="none" w="med" len="med"/>
                      <a:tailEnd type="none" w="med" len="med"/>
                    </a:lnL>
                    <a:lnR w="6350" cap="flat" cmpd="sng" algn="ctr">
                      <a:solidFill>
                        <a:srgbClr val="000000"/>
                      </a:solidFill>
                      <a:prstDash val="dot"/>
                      <a:round/>
                      <a:headEnd type="none" w="med" len="med"/>
                      <a:tailEnd type="none" w="med" len="med"/>
                    </a:lnR>
                    <a:lnT>
                      <a:noFill/>
                    </a:lnT>
                    <a:lnB w="6350" cap="flat" cmpd="sng" algn="ctr">
                      <a:solidFill>
                        <a:srgbClr val="000000"/>
                      </a:solidFill>
                      <a:prstDash val="solid"/>
                      <a:round/>
                      <a:headEnd type="none" w="med" len="med"/>
                      <a:tailEnd type="none" w="med" len="med"/>
                    </a:lnB>
                    <a:noFill/>
                  </a:tcPr>
                </a:tc>
                <a:tc>
                  <a:txBody>
                    <a:bodyPr/>
                    <a:lstStyle/>
                    <a:p>
                      <a:pPr algn="ctr" fontAlgn="b">
                        <a:buNone/>
                      </a:pPr>
                      <a:r>
                        <a:rPr lang="es-AR" sz="900" b="0" i="0" u="none" strike="noStrike">
                          <a:solidFill>
                            <a:srgbClr val="000000"/>
                          </a:solidFill>
                          <a:effectLst/>
                          <a:latin typeface="Lucida Bright" panose="02040602050505020304" pitchFamily="18" charset="0"/>
                        </a:rPr>
                        <a:t> </a:t>
                      </a:r>
                    </a:p>
                  </a:txBody>
                  <a:tcPr marL="7655" marR="7655" marT="7655" marB="0" anchor="b">
                    <a:lnL w="6350" cap="flat" cmpd="sng" algn="ctr">
                      <a:solidFill>
                        <a:srgbClr val="000000"/>
                      </a:solidFill>
                      <a:prstDash val="dot"/>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noFill/>
                  </a:tcPr>
                </a:tc>
                <a:tc>
                  <a:txBody>
                    <a:bodyPr/>
                    <a:lstStyle/>
                    <a:p>
                      <a:pPr algn="ctr" fontAlgn="b">
                        <a:buNone/>
                      </a:pPr>
                      <a:r>
                        <a:rPr lang="es-AR" sz="900" b="0" i="0" u="none" strike="noStrike">
                          <a:solidFill>
                            <a:srgbClr val="000000"/>
                          </a:solidFill>
                          <a:effectLst/>
                          <a:latin typeface="Lucida Bright" panose="02040602050505020304" pitchFamily="18" charset="0"/>
                        </a:rPr>
                        <a:t>1.334***</a:t>
                      </a:r>
                    </a:p>
                  </a:txBody>
                  <a:tcPr marL="7655" marR="7655" marT="7655" marB="0" anchor="b">
                    <a:lnL w="6350" cap="flat" cmpd="sng" algn="ctr">
                      <a:solidFill>
                        <a:srgbClr val="000000"/>
                      </a:solidFill>
                      <a:prstDash val="solid"/>
                      <a:round/>
                      <a:headEnd type="none" w="med" len="med"/>
                      <a:tailEnd type="none" w="med" len="med"/>
                    </a:lnL>
                    <a:lnR w="6350" cap="flat" cmpd="sng" algn="ctr">
                      <a:solidFill>
                        <a:srgbClr val="000000"/>
                      </a:solidFill>
                      <a:prstDash val="dot"/>
                      <a:round/>
                      <a:headEnd type="none" w="med" len="med"/>
                      <a:tailEnd type="none" w="med" len="med"/>
                    </a:lnR>
                    <a:lnT>
                      <a:noFill/>
                    </a:lnT>
                    <a:lnB w="6350" cap="flat" cmpd="sng" algn="ctr">
                      <a:solidFill>
                        <a:srgbClr val="000000"/>
                      </a:solidFill>
                      <a:prstDash val="solid"/>
                      <a:round/>
                      <a:headEnd type="none" w="med" len="med"/>
                      <a:tailEnd type="none" w="med" len="med"/>
                    </a:lnB>
                    <a:noFill/>
                  </a:tcPr>
                </a:tc>
                <a:tc>
                  <a:txBody>
                    <a:bodyPr/>
                    <a:lstStyle/>
                    <a:p>
                      <a:pPr algn="ctr" fontAlgn="b">
                        <a:buNone/>
                      </a:pPr>
                      <a:r>
                        <a:rPr lang="es-AR" sz="900" b="0" i="0" u="none" strike="noStrike">
                          <a:solidFill>
                            <a:srgbClr val="000000"/>
                          </a:solidFill>
                          <a:effectLst/>
                          <a:latin typeface="Lucida Bright" panose="02040602050505020304" pitchFamily="18" charset="0"/>
                        </a:rPr>
                        <a:t>1.731***</a:t>
                      </a:r>
                    </a:p>
                  </a:txBody>
                  <a:tcPr marL="7655" marR="7655" marT="7655" marB="0" anchor="b">
                    <a:lnL w="6350" cap="flat" cmpd="sng" algn="ctr">
                      <a:solidFill>
                        <a:srgbClr val="000000"/>
                      </a:solidFill>
                      <a:prstDash val="dot"/>
                      <a:round/>
                      <a:headEnd type="none" w="med" len="med"/>
                      <a:tailEnd type="none" w="med" len="med"/>
                    </a:lnL>
                    <a:lnR w="6350" cap="flat" cmpd="sng" algn="ctr">
                      <a:solidFill>
                        <a:srgbClr val="000000"/>
                      </a:solidFill>
                      <a:prstDash val="dot"/>
                      <a:round/>
                      <a:headEnd type="none" w="med" len="med"/>
                      <a:tailEnd type="none" w="med" len="med"/>
                    </a:lnR>
                    <a:lnT>
                      <a:noFill/>
                    </a:lnT>
                    <a:lnB w="6350" cap="flat" cmpd="sng" algn="ctr">
                      <a:solidFill>
                        <a:srgbClr val="000000"/>
                      </a:solidFill>
                      <a:prstDash val="solid"/>
                      <a:round/>
                      <a:headEnd type="none" w="med" len="med"/>
                      <a:tailEnd type="none" w="med" len="med"/>
                    </a:lnB>
                    <a:noFill/>
                  </a:tcPr>
                </a:tc>
                <a:tc>
                  <a:txBody>
                    <a:bodyPr/>
                    <a:lstStyle/>
                    <a:p>
                      <a:pPr algn="ctr" fontAlgn="b">
                        <a:buNone/>
                      </a:pPr>
                      <a:r>
                        <a:rPr lang="es-AR" sz="900" b="0" i="0" u="none" strike="noStrike">
                          <a:solidFill>
                            <a:srgbClr val="000000"/>
                          </a:solidFill>
                          <a:effectLst/>
                          <a:latin typeface="Lucida Bright" panose="02040602050505020304" pitchFamily="18" charset="0"/>
                        </a:rPr>
                        <a:t>1.860***</a:t>
                      </a:r>
                    </a:p>
                  </a:txBody>
                  <a:tcPr marL="7655" marR="7655" marT="7655" marB="0" anchor="b">
                    <a:lnL w="6350" cap="flat" cmpd="sng" algn="ctr">
                      <a:solidFill>
                        <a:srgbClr val="000000"/>
                      </a:solidFill>
                      <a:prstDash val="dot"/>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noFill/>
                  </a:tcPr>
                </a:tc>
                <a:tc>
                  <a:txBody>
                    <a:bodyPr/>
                    <a:lstStyle/>
                    <a:p>
                      <a:pPr algn="ctr" fontAlgn="b">
                        <a:buNone/>
                      </a:pPr>
                      <a:r>
                        <a:rPr lang="es-AR" sz="900" b="0" i="0" u="none" strike="noStrike">
                          <a:solidFill>
                            <a:srgbClr val="000000"/>
                          </a:solidFill>
                          <a:effectLst/>
                          <a:latin typeface="Lucida Bright" panose="02040602050505020304" pitchFamily="18" charset="0"/>
                        </a:rPr>
                        <a:t>1.341***</a:t>
                      </a:r>
                    </a:p>
                  </a:txBody>
                  <a:tcPr marL="7655" marR="7655" marT="7655" marB="0" anchor="b">
                    <a:lnL w="6350" cap="flat" cmpd="sng" algn="ctr">
                      <a:solidFill>
                        <a:srgbClr val="000000"/>
                      </a:solidFill>
                      <a:prstDash val="solid"/>
                      <a:round/>
                      <a:headEnd type="none" w="med" len="med"/>
                      <a:tailEnd type="none" w="med" len="med"/>
                    </a:lnL>
                    <a:lnR w="6350" cap="flat" cmpd="sng" algn="ctr">
                      <a:solidFill>
                        <a:srgbClr val="000000"/>
                      </a:solidFill>
                      <a:prstDash val="dot"/>
                      <a:round/>
                      <a:headEnd type="none" w="med" len="med"/>
                      <a:tailEnd type="none" w="med" len="med"/>
                    </a:lnR>
                    <a:lnT>
                      <a:noFill/>
                    </a:lnT>
                    <a:lnB w="6350" cap="flat" cmpd="sng" algn="ctr">
                      <a:solidFill>
                        <a:srgbClr val="000000"/>
                      </a:solidFill>
                      <a:prstDash val="solid"/>
                      <a:round/>
                      <a:headEnd type="none" w="med" len="med"/>
                      <a:tailEnd type="none" w="med" len="med"/>
                    </a:lnB>
                    <a:noFill/>
                  </a:tcPr>
                </a:tc>
                <a:tc>
                  <a:txBody>
                    <a:bodyPr/>
                    <a:lstStyle/>
                    <a:p>
                      <a:pPr algn="ctr" fontAlgn="b">
                        <a:buNone/>
                      </a:pPr>
                      <a:r>
                        <a:rPr lang="es-AR" sz="900" b="0" i="0" u="none" strike="noStrike">
                          <a:solidFill>
                            <a:srgbClr val="000000"/>
                          </a:solidFill>
                          <a:effectLst/>
                          <a:latin typeface="Lucida Bright" panose="02040602050505020304" pitchFamily="18" charset="0"/>
                        </a:rPr>
                        <a:t>1.753***</a:t>
                      </a:r>
                    </a:p>
                  </a:txBody>
                  <a:tcPr marL="7655" marR="7655" marT="7655" marB="0" anchor="b">
                    <a:lnL w="6350" cap="flat" cmpd="sng" algn="ctr">
                      <a:solidFill>
                        <a:srgbClr val="000000"/>
                      </a:solidFill>
                      <a:prstDash val="dot"/>
                      <a:round/>
                      <a:headEnd type="none" w="med" len="med"/>
                      <a:tailEnd type="none" w="med" len="med"/>
                    </a:lnL>
                    <a:lnR w="6350" cap="flat" cmpd="sng" algn="ctr">
                      <a:solidFill>
                        <a:srgbClr val="000000"/>
                      </a:solidFill>
                      <a:prstDash val="dot"/>
                      <a:round/>
                      <a:headEnd type="none" w="med" len="med"/>
                      <a:tailEnd type="none" w="med" len="med"/>
                    </a:lnR>
                    <a:lnT>
                      <a:noFill/>
                    </a:lnT>
                    <a:lnB w="6350" cap="flat" cmpd="sng" algn="ctr">
                      <a:solidFill>
                        <a:srgbClr val="000000"/>
                      </a:solidFill>
                      <a:prstDash val="solid"/>
                      <a:round/>
                      <a:headEnd type="none" w="med" len="med"/>
                      <a:tailEnd type="none" w="med" len="med"/>
                    </a:lnB>
                    <a:noFill/>
                  </a:tcPr>
                </a:tc>
                <a:tc>
                  <a:txBody>
                    <a:bodyPr/>
                    <a:lstStyle/>
                    <a:p>
                      <a:pPr algn="ctr" fontAlgn="b">
                        <a:buNone/>
                      </a:pPr>
                      <a:r>
                        <a:rPr lang="es-AR" sz="900" b="0" i="0" u="none" strike="noStrike">
                          <a:solidFill>
                            <a:srgbClr val="000000"/>
                          </a:solidFill>
                          <a:effectLst/>
                          <a:latin typeface="Lucida Bright" panose="02040602050505020304" pitchFamily="18" charset="0"/>
                        </a:rPr>
                        <a:t>1.899***</a:t>
                      </a:r>
                    </a:p>
                  </a:txBody>
                  <a:tcPr marL="7655" marR="7655" marT="7655" marB="0" anchor="b">
                    <a:lnL w="6350" cap="flat" cmpd="sng" algn="ctr">
                      <a:solidFill>
                        <a:srgbClr val="000000"/>
                      </a:solidFill>
                      <a:prstDash val="dot"/>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3521760440"/>
                  </a:ext>
                </a:extLst>
              </a:tr>
              <a:tr h="153108">
                <a:tc>
                  <a:txBody>
                    <a:bodyPr/>
                    <a:lstStyle/>
                    <a:p>
                      <a:pPr algn="l" fontAlgn="b">
                        <a:buNone/>
                      </a:pPr>
                      <a:r>
                        <a:rPr lang="es-AR" sz="900" b="0" i="0" u="none" strike="noStrike">
                          <a:solidFill>
                            <a:srgbClr val="000000"/>
                          </a:solidFill>
                          <a:effectLst/>
                          <a:latin typeface="Lucida Bright" panose="02040602050505020304" pitchFamily="18" charset="0"/>
                        </a:rPr>
                        <a:t>R² ajustado</a:t>
                      </a:r>
                    </a:p>
                  </a:txBody>
                  <a:tcPr marL="7655" marR="7655" marT="7655"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b">
                        <a:buNone/>
                      </a:pPr>
                      <a:r>
                        <a:rPr lang="es-AR" sz="900" b="0" i="0" u="none" strike="noStrike">
                          <a:solidFill>
                            <a:srgbClr val="000000"/>
                          </a:solidFill>
                          <a:effectLst/>
                          <a:latin typeface="Lucida Bright" panose="02040602050505020304" pitchFamily="18" charset="0"/>
                        </a:rPr>
                        <a:t>0.285</a:t>
                      </a:r>
                    </a:p>
                  </a:txBody>
                  <a:tcPr marL="7655" marR="7655" marT="7655" marB="0" anchor="b">
                    <a:lnL w="6350" cap="flat" cmpd="sng" algn="ctr">
                      <a:solidFill>
                        <a:srgbClr val="000000"/>
                      </a:solidFill>
                      <a:prstDash val="solid"/>
                      <a:round/>
                      <a:headEnd type="none" w="med" len="med"/>
                      <a:tailEnd type="none" w="med" len="med"/>
                    </a:lnL>
                    <a:lnR w="6350" cap="flat" cmpd="sng" algn="ctr">
                      <a:solidFill>
                        <a:srgbClr val="000000"/>
                      </a:solidFill>
                      <a:prstDash val="dot"/>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b">
                        <a:buNone/>
                      </a:pPr>
                      <a:r>
                        <a:rPr lang="es-AR" sz="900" b="0" i="0" u="none" strike="noStrike">
                          <a:solidFill>
                            <a:srgbClr val="000000"/>
                          </a:solidFill>
                          <a:effectLst/>
                          <a:latin typeface="Lucida Bright" panose="02040602050505020304" pitchFamily="18" charset="0"/>
                        </a:rPr>
                        <a:t>0.214</a:t>
                      </a:r>
                    </a:p>
                  </a:txBody>
                  <a:tcPr marL="7655" marR="7655" marT="7655" marB="0" anchor="b">
                    <a:lnL w="6350" cap="flat" cmpd="sng" algn="ctr">
                      <a:solidFill>
                        <a:srgbClr val="000000"/>
                      </a:solidFill>
                      <a:prstDash val="dot"/>
                      <a:round/>
                      <a:headEnd type="none" w="med" len="med"/>
                      <a:tailEnd type="none" w="med" len="med"/>
                    </a:lnL>
                    <a:lnR w="6350" cap="flat" cmpd="sng" algn="ctr">
                      <a:solidFill>
                        <a:srgbClr val="000000"/>
                      </a:solidFill>
                      <a:prstDash val="dot"/>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b">
                        <a:buNone/>
                      </a:pPr>
                      <a:r>
                        <a:rPr lang="es-AR" sz="900" b="0" i="0" u="none" strike="noStrike">
                          <a:solidFill>
                            <a:srgbClr val="000000"/>
                          </a:solidFill>
                          <a:effectLst/>
                          <a:latin typeface="Lucida Bright" panose="02040602050505020304" pitchFamily="18" charset="0"/>
                        </a:rPr>
                        <a:t>0.05</a:t>
                      </a:r>
                    </a:p>
                  </a:txBody>
                  <a:tcPr marL="7655" marR="7655" marT="7655" marB="0" anchor="b">
                    <a:lnL w="6350" cap="flat" cmpd="sng" algn="ctr">
                      <a:solidFill>
                        <a:srgbClr val="000000"/>
                      </a:solidFill>
                      <a:prstDash val="dot"/>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b">
                        <a:buNone/>
                      </a:pPr>
                      <a:r>
                        <a:rPr lang="es-AR" sz="900" b="0" i="0" u="none" strike="noStrike">
                          <a:solidFill>
                            <a:srgbClr val="000000"/>
                          </a:solidFill>
                          <a:effectLst/>
                          <a:latin typeface="Lucida Bright" panose="02040602050505020304" pitchFamily="18" charset="0"/>
                        </a:rPr>
                        <a:t>0.283</a:t>
                      </a:r>
                    </a:p>
                  </a:txBody>
                  <a:tcPr marL="7655" marR="7655" marT="7655" marB="0" anchor="b">
                    <a:lnL w="6350" cap="flat" cmpd="sng" algn="ctr">
                      <a:solidFill>
                        <a:srgbClr val="000000"/>
                      </a:solidFill>
                      <a:prstDash val="solid"/>
                      <a:round/>
                      <a:headEnd type="none" w="med" len="med"/>
                      <a:tailEnd type="none" w="med" len="med"/>
                    </a:lnL>
                    <a:lnR w="6350" cap="flat" cmpd="sng" algn="ctr">
                      <a:solidFill>
                        <a:srgbClr val="000000"/>
                      </a:solidFill>
                      <a:prstDash val="dot"/>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b">
                        <a:buNone/>
                      </a:pPr>
                      <a:r>
                        <a:rPr lang="es-AR" sz="900" b="0" i="0" u="none" strike="noStrike">
                          <a:solidFill>
                            <a:srgbClr val="000000"/>
                          </a:solidFill>
                          <a:effectLst/>
                          <a:latin typeface="Lucida Bright" panose="02040602050505020304" pitchFamily="18" charset="0"/>
                        </a:rPr>
                        <a:t>0.223</a:t>
                      </a:r>
                    </a:p>
                  </a:txBody>
                  <a:tcPr marL="7655" marR="7655" marT="7655" marB="0" anchor="b">
                    <a:lnL w="6350" cap="flat" cmpd="sng" algn="ctr">
                      <a:solidFill>
                        <a:srgbClr val="000000"/>
                      </a:solidFill>
                      <a:prstDash val="dot"/>
                      <a:round/>
                      <a:headEnd type="none" w="med" len="med"/>
                      <a:tailEnd type="none" w="med" len="med"/>
                    </a:lnL>
                    <a:lnR w="6350" cap="flat" cmpd="sng" algn="ctr">
                      <a:solidFill>
                        <a:srgbClr val="000000"/>
                      </a:solidFill>
                      <a:prstDash val="dot"/>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b">
                        <a:buNone/>
                      </a:pPr>
                      <a:r>
                        <a:rPr lang="es-AR" sz="900" b="0" i="0" u="none" strike="noStrike">
                          <a:solidFill>
                            <a:srgbClr val="000000"/>
                          </a:solidFill>
                          <a:effectLst/>
                          <a:latin typeface="Lucida Bright" panose="02040602050505020304" pitchFamily="18" charset="0"/>
                        </a:rPr>
                        <a:t>0.051</a:t>
                      </a:r>
                    </a:p>
                  </a:txBody>
                  <a:tcPr marL="7655" marR="7655" marT="7655" marB="0" anchor="b">
                    <a:lnL w="6350" cap="flat" cmpd="sng" algn="ctr">
                      <a:solidFill>
                        <a:srgbClr val="000000"/>
                      </a:solidFill>
                      <a:prstDash val="dot"/>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b">
                        <a:buNone/>
                      </a:pPr>
                      <a:r>
                        <a:rPr lang="es-AR" sz="900" b="0" i="0" u="none" strike="noStrike">
                          <a:solidFill>
                            <a:srgbClr val="000000"/>
                          </a:solidFill>
                          <a:effectLst/>
                          <a:latin typeface="Lucida Bright" panose="02040602050505020304" pitchFamily="18" charset="0"/>
                        </a:rPr>
                        <a:t>0.751</a:t>
                      </a:r>
                    </a:p>
                  </a:txBody>
                  <a:tcPr marL="7655" marR="7655" marT="7655" marB="0" anchor="b">
                    <a:lnL w="6350" cap="flat" cmpd="sng" algn="ctr">
                      <a:solidFill>
                        <a:srgbClr val="000000"/>
                      </a:solidFill>
                      <a:prstDash val="solid"/>
                      <a:round/>
                      <a:headEnd type="none" w="med" len="med"/>
                      <a:tailEnd type="none" w="med" len="med"/>
                    </a:lnL>
                    <a:lnR w="6350" cap="flat" cmpd="sng" algn="ctr">
                      <a:solidFill>
                        <a:srgbClr val="000000"/>
                      </a:solidFill>
                      <a:prstDash val="dot"/>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b">
                        <a:buNone/>
                      </a:pPr>
                      <a:r>
                        <a:rPr lang="es-AR" sz="900" b="0" i="0" u="none" strike="noStrike">
                          <a:solidFill>
                            <a:srgbClr val="000000"/>
                          </a:solidFill>
                          <a:effectLst/>
                          <a:latin typeface="Lucida Bright" panose="02040602050505020304" pitchFamily="18" charset="0"/>
                        </a:rPr>
                        <a:t>0.564</a:t>
                      </a:r>
                    </a:p>
                  </a:txBody>
                  <a:tcPr marL="7655" marR="7655" marT="7655" marB="0" anchor="b">
                    <a:lnL w="6350" cap="flat" cmpd="sng" algn="ctr">
                      <a:solidFill>
                        <a:srgbClr val="000000"/>
                      </a:solidFill>
                      <a:prstDash val="dot"/>
                      <a:round/>
                      <a:headEnd type="none" w="med" len="med"/>
                      <a:tailEnd type="none" w="med" len="med"/>
                    </a:lnL>
                    <a:lnR w="6350" cap="flat" cmpd="sng" algn="ctr">
                      <a:solidFill>
                        <a:srgbClr val="000000"/>
                      </a:solidFill>
                      <a:prstDash val="dot"/>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b">
                        <a:buNone/>
                      </a:pPr>
                      <a:r>
                        <a:rPr lang="es-AR" sz="900" b="0" i="0" u="none" strike="noStrike">
                          <a:solidFill>
                            <a:srgbClr val="000000"/>
                          </a:solidFill>
                          <a:effectLst/>
                          <a:latin typeface="Lucida Bright" panose="02040602050505020304" pitchFamily="18" charset="0"/>
                        </a:rPr>
                        <a:t>0.577</a:t>
                      </a:r>
                    </a:p>
                  </a:txBody>
                  <a:tcPr marL="7655" marR="7655" marT="7655" marB="0" anchor="b">
                    <a:lnL w="6350" cap="flat" cmpd="sng" algn="ctr">
                      <a:solidFill>
                        <a:srgbClr val="000000"/>
                      </a:solidFill>
                      <a:prstDash val="dot"/>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b">
                        <a:buNone/>
                      </a:pPr>
                      <a:r>
                        <a:rPr lang="es-AR" sz="900" b="0" i="0" u="none" strike="noStrike">
                          <a:solidFill>
                            <a:srgbClr val="000000"/>
                          </a:solidFill>
                          <a:effectLst/>
                          <a:latin typeface="Lucida Bright" panose="02040602050505020304" pitchFamily="18" charset="0"/>
                        </a:rPr>
                        <a:t>0.754</a:t>
                      </a:r>
                    </a:p>
                  </a:txBody>
                  <a:tcPr marL="7655" marR="7655" marT="7655" marB="0" anchor="b">
                    <a:lnL w="6350" cap="flat" cmpd="sng" algn="ctr">
                      <a:solidFill>
                        <a:srgbClr val="000000"/>
                      </a:solidFill>
                      <a:prstDash val="solid"/>
                      <a:round/>
                      <a:headEnd type="none" w="med" len="med"/>
                      <a:tailEnd type="none" w="med" len="med"/>
                    </a:lnL>
                    <a:lnR w="6350" cap="flat" cmpd="sng" algn="ctr">
                      <a:solidFill>
                        <a:srgbClr val="000000"/>
                      </a:solidFill>
                      <a:prstDash val="dot"/>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b">
                        <a:buNone/>
                      </a:pPr>
                      <a:r>
                        <a:rPr lang="es-AR" sz="900" b="0" i="0" u="none" strike="noStrike">
                          <a:solidFill>
                            <a:srgbClr val="000000"/>
                          </a:solidFill>
                          <a:effectLst/>
                          <a:latin typeface="Lucida Bright" panose="02040602050505020304" pitchFamily="18" charset="0"/>
                        </a:rPr>
                        <a:t>0.582</a:t>
                      </a:r>
                    </a:p>
                  </a:txBody>
                  <a:tcPr marL="7655" marR="7655" marT="7655" marB="0" anchor="b">
                    <a:lnL w="6350" cap="flat" cmpd="sng" algn="ctr">
                      <a:solidFill>
                        <a:srgbClr val="000000"/>
                      </a:solidFill>
                      <a:prstDash val="dot"/>
                      <a:round/>
                      <a:headEnd type="none" w="med" len="med"/>
                      <a:tailEnd type="none" w="med" len="med"/>
                    </a:lnL>
                    <a:lnR w="6350" cap="flat" cmpd="sng" algn="ctr">
                      <a:solidFill>
                        <a:srgbClr val="000000"/>
                      </a:solidFill>
                      <a:prstDash val="dot"/>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b">
                        <a:buNone/>
                      </a:pPr>
                      <a:r>
                        <a:rPr lang="es-AR" sz="900" b="0" i="0" u="none" strike="noStrike" dirty="0">
                          <a:solidFill>
                            <a:srgbClr val="000000"/>
                          </a:solidFill>
                          <a:effectLst/>
                          <a:latin typeface="Lucida Bright" panose="02040602050505020304" pitchFamily="18" charset="0"/>
                        </a:rPr>
                        <a:t>0.597</a:t>
                      </a:r>
                    </a:p>
                  </a:txBody>
                  <a:tcPr marL="7655" marR="7655" marT="7655" marB="0" anchor="b">
                    <a:lnL w="6350" cap="flat" cmpd="sng" algn="ctr">
                      <a:solidFill>
                        <a:srgbClr val="000000"/>
                      </a:solidFill>
                      <a:prstDash val="dot"/>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4078340004"/>
                  </a:ext>
                </a:extLst>
              </a:tr>
            </a:tbl>
          </a:graphicData>
        </a:graphic>
      </p:graphicFrame>
      <p:pic>
        <p:nvPicPr>
          <p:cNvPr id="4" name="Imagen 3" descr="Imagen que contiene Texto">
            <a:extLst>
              <a:ext uri="{FF2B5EF4-FFF2-40B4-BE49-F238E27FC236}">
                <a16:creationId xmlns:a16="http://schemas.microsoft.com/office/drawing/2014/main" id="{BE376D7B-405B-7A0B-F452-81ED81F91CFA}"/>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2000" cy="6857143"/>
          </a:xfrm>
          <a:prstGeom prst="rect">
            <a:avLst/>
          </a:prstGeom>
        </p:spPr>
      </p:pic>
      <p:sp>
        <p:nvSpPr>
          <p:cNvPr id="5" name="CuadroTexto 4">
            <a:extLst>
              <a:ext uri="{FF2B5EF4-FFF2-40B4-BE49-F238E27FC236}">
                <a16:creationId xmlns:a16="http://schemas.microsoft.com/office/drawing/2014/main" id="{9FB78A19-FA16-BDCA-65EF-0CA138297D1F}"/>
              </a:ext>
            </a:extLst>
          </p:cNvPr>
          <p:cNvSpPr txBox="1"/>
          <p:nvPr/>
        </p:nvSpPr>
        <p:spPr>
          <a:xfrm>
            <a:off x="612742" y="365125"/>
            <a:ext cx="1772239" cy="523220"/>
          </a:xfrm>
          <a:prstGeom prst="rect">
            <a:avLst/>
          </a:prstGeom>
          <a:noFill/>
        </p:spPr>
        <p:txBody>
          <a:bodyPr wrap="square" rtlCol="0">
            <a:spAutoFit/>
          </a:bodyPr>
          <a:lstStyle/>
          <a:p>
            <a:r>
              <a:rPr lang="es-MX" sz="2800" b="1" dirty="0">
                <a:latin typeface="Lucida Bright" panose="02040602050505020304" pitchFamily="18" charset="0"/>
              </a:rPr>
              <a:t>Ajuste</a:t>
            </a:r>
            <a:endParaRPr lang="es-AR" sz="2800" b="1" dirty="0">
              <a:latin typeface="Lucida Bright" panose="02040602050505020304" pitchFamily="18" charset="0"/>
            </a:endParaRPr>
          </a:p>
        </p:txBody>
      </p:sp>
      <p:graphicFrame>
        <p:nvGraphicFramePr>
          <p:cNvPr id="10" name="Tabla 9">
            <a:extLst>
              <a:ext uri="{FF2B5EF4-FFF2-40B4-BE49-F238E27FC236}">
                <a16:creationId xmlns:a16="http://schemas.microsoft.com/office/drawing/2014/main" id="{74703DB0-8AA2-76C8-8550-70189C00BCEA}"/>
              </a:ext>
            </a:extLst>
          </p:cNvPr>
          <p:cNvGraphicFramePr>
            <a:graphicFrameLocks noGrp="1"/>
          </p:cNvGraphicFramePr>
          <p:nvPr>
            <p:extLst>
              <p:ext uri="{D42A27DB-BD31-4B8C-83A1-F6EECF244321}">
                <p14:modId xmlns:p14="http://schemas.microsoft.com/office/powerpoint/2010/main" val="556271054"/>
              </p:ext>
            </p:extLst>
          </p:nvPr>
        </p:nvGraphicFramePr>
        <p:xfrm>
          <a:off x="516890" y="1605185"/>
          <a:ext cx="10426700" cy="1714500"/>
        </p:xfrm>
        <a:graphic>
          <a:graphicData uri="http://schemas.openxmlformats.org/drawingml/2006/table">
            <a:tbl>
              <a:tblPr/>
              <a:tblGrid>
                <a:gridCol w="1282700">
                  <a:extLst>
                    <a:ext uri="{9D8B030D-6E8A-4147-A177-3AD203B41FA5}">
                      <a16:colId xmlns:a16="http://schemas.microsoft.com/office/drawing/2014/main" val="3289315653"/>
                    </a:ext>
                  </a:extLst>
                </a:gridCol>
                <a:gridCol w="762000">
                  <a:extLst>
                    <a:ext uri="{9D8B030D-6E8A-4147-A177-3AD203B41FA5}">
                      <a16:colId xmlns:a16="http://schemas.microsoft.com/office/drawing/2014/main" val="3623108457"/>
                    </a:ext>
                  </a:extLst>
                </a:gridCol>
                <a:gridCol w="762000">
                  <a:extLst>
                    <a:ext uri="{9D8B030D-6E8A-4147-A177-3AD203B41FA5}">
                      <a16:colId xmlns:a16="http://schemas.microsoft.com/office/drawing/2014/main" val="2051033243"/>
                    </a:ext>
                  </a:extLst>
                </a:gridCol>
                <a:gridCol w="762000">
                  <a:extLst>
                    <a:ext uri="{9D8B030D-6E8A-4147-A177-3AD203B41FA5}">
                      <a16:colId xmlns:a16="http://schemas.microsoft.com/office/drawing/2014/main" val="1977239773"/>
                    </a:ext>
                  </a:extLst>
                </a:gridCol>
                <a:gridCol w="762000">
                  <a:extLst>
                    <a:ext uri="{9D8B030D-6E8A-4147-A177-3AD203B41FA5}">
                      <a16:colId xmlns:a16="http://schemas.microsoft.com/office/drawing/2014/main" val="1459139928"/>
                    </a:ext>
                  </a:extLst>
                </a:gridCol>
                <a:gridCol w="762000">
                  <a:extLst>
                    <a:ext uri="{9D8B030D-6E8A-4147-A177-3AD203B41FA5}">
                      <a16:colId xmlns:a16="http://schemas.microsoft.com/office/drawing/2014/main" val="3092648166"/>
                    </a:ext>
                  </a:extLst>
                </a:gridCol>
                <a:gridCol w="762000">
                  <a:extLst>
                    <a:ext uri="{9D8B030D-6E8A-4147-A177-3AD203B41FA5}">
                      <a16:colId xmlns:a16="http://schemas.microsoft.com/office/drawing/2014/main" val="1151776047"/>
                    </a:ext>
                  </a:extLst>
                </a:gridCol>
                <a:gridCol w="762000">
                  <a:extLst>
                    <a:ext uri="{9D8B030D-6E8A-4147-A177-3AD203B41FA5}">
                      <a16:colId xmlns:a16="http://schemas.microsoft.com/office/drawing/2014/main" val="466327182"/>
                    </a:ext>
                  </a:extLst>
                </a:gridCol>
                <a:gridCol w="762000">
                  <a:extLst>
                    <a:ext uri="{9D8B030D-6E8A-4147-A177-3AD203B41FA5}">
                      <a16:colId xmlns:a16="http://schemas.microsoft.com/office/drawing/2014/main" val="1993708010"/>
                    </a:ext>
                  </a:extLst>
                </a:gridCol>
                <a:gridCol w="762000">
                  <a:extLst>
                    <a:ext uri="{9D8B030D-6E8A-4147-A177-3AD203B41FA5}">
                      <a16:colId xmlns:a16="http://schemas.microsoft.com/office/drawing/2014/main" val="780746246"/>
                    </a:ext>
                  </a:extLst>
                </a:gridCol>
                <a:gridCol w="762000">
                  <a:extLst>
                    <a:ext uri="{9D8B030D-6E8A-4147-A177-3AD203B41FA5}">
                      <a16:colId xmlns:a16="http://schemas.microsoft.com/office/drawing/2014/main" val="1455150734"/>
                    </a:ext>
                  </a:extLst>
                </a:gridCol>
                <a:gridCol w="762000">
                  <a:extLst>
                    <a:ext uri="{9D8B030D-6E8A-4147-A177-3AD203B41FA5}">
                      <a16:colId xmlns:a16="http://schemas.microsoft.com/office/drawing/2014/main" val="40573132"/>
                    </a:ext>
                  </a:extLst>
                </a:gridCol>
                <a:gridCol w="762000">
                  <a:extLst>
                    <a:ext uri="{9D8B030D-6E8A-4147-A177-3AD203B41FA5}">
                      <a16:colId xmlns:a16="http://schemas.microsoft.com/office/drawing/2014/main" val="445293966"/>
                    </a:ext>
                  </a:extLst>
                </a:gridCol>
              </a:tblGrid>
              <a:tr h="190500">
                <a:tc>
                  <a:txBody>
                    <a:bodyPr/>
                    <a:lstStyle/>
                    <a:p>
                      <a:pPr algn="l" fontAlgn="b">
                        <a:buNone/>
                      </a:pPr>
                      <a:r>
                        <a:rPr lang="es-AR" sz="1100" b="0" i="0" u="none" strike="noStrike">
                          <a:solidFill>
                            <a:srgbClr val="000000"/>
                          </a:solidFill>
                          <a:effectLst/>
                          <a:latin typeface="Lucida Bright" panose="02040602050505020304" pitchFamily="18" charset="0"/>
                        </a:rPr>
                        <a:t> </a:t>
                      </a:r>
                    </a:p>
                  </a:txBody>
                  <a:tcPr marL="9525" marR="9525" marT="9525"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solidFill>
                      <a:srgbClr val="FFFFFF"/>
                    </a:solidFill>
                  </a:tcPr>
                </a:tc>
                <a:tc gridSpan="12">
                  <a:txBody>
                    <a:bodyPr/>
                    <a:lstStyle/>
                    <a:p>
                      <a:pPr algn="ctr" fontAlgn="b">
                        <a:buNone/>
                      </a:pPr>
                      <a:r>
                        <a:rPr lang="es-ES" sz="1100" b="1" i="0" u="none" strike="noStrike" dirty="0">
                          <a:solidFill>
                            <a:srgbClr val="FFFFFF"/>
                          </a:solidFill>
                          <a:effectLst/>
                          <a:latin typeface="Lucida Bright" panose="02040602050505020304" pitchFamily="18" charset="0"/>
                        </a:rPr>
                        <a:t>VARIABLE DEPENDIENTE: EXPORTACIONES MOA BRUTAS</a:t>
                      </a:r>
                    </a:p>
                  </a:txBody>
                  <a:tcPr marL="9525" marR="9525" marT="9525"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375623"/>
                    </a:solidFill>
                  </a:tcPr>
                </a:tc>
                <a:tc hMerge="1">
                  <a:txBody>
                    <a:bodyPr/>
                    <a:lstStyle/>
                    <a:p>
                      <a:endParaRPr/>
                    </a:p>
                  </a:txBody>
                  <a:tcPr marL="9525" marR="9525" marT="9525"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375623"/>
                    </a:solidFill>
                  </a:tcPr>
                </a:tc>
                <a:tc hMerge="1">
                  <a:txBody>
                    <a:bodyPr/>
                    <a:lstStyle/>
                    <a:p>
                      <a:endParaRPr/>
                    </a:p>
                  </a:txBody>
                  <a:tcPr marL="9525" marR="9525" marT="9525"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375623"/>
                    </a:solidFill>
                  </a:tcPr>
                </a:tc>
                <a:tc hMerge="1">
                  <a:txBody>
                    <a:bodyPr/>
                    <a:lstStyle/>
                    <a:p>
                      <a:endParaRPr/>
                    </a:p>
                  </a:txBody>
                  <a:tcPr marL="9525" marR="9525" marT="9525"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375623"/>
                    </a:solidFill>
                  </a:tcPr>
                </a:tc>
                <a:tc hMerge="1">
                  <a:txBody>
                    <a:bodyPr/>
                    <a:lstStyle/>
                    <a:p>
                      <a:endParaRPr/>
                    </a:p>
                  </a:txBody>
                  <a:tcPr marL="9525" marR="9525" marT="9525"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375623"/>
                    </a:solidFill>
                  </a:tcPr>
                </a:tc>
                <a:tc hMerge="1">
                  <a:txBody>
                    <a:bodyPr/>
                    <a:lstStyle/>
                    <a:p>
                      <a:endParaRPr/>
                    </a:p>
                  </a:txBody>
                  <a:tcPr marL="9525" marR="9525" marT="9525"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375623"/>
                    </a:solidFill>
                  </a:tcPr>
                </a:tc>
                <a:tc hMerge="1">
                  <a:txBody>
                    <a:bodyPr/>
                    <a:lstStyle/>
                    <a:p>
                      <a:endParaRPr/>
                    </a:p>
                  </a:txBody>
                  <a:tcPr marL="9525" marR="9525" marT="9525"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375623"/>
                    </a:solidFill>
                  </a:tcPr>
                </a:tc>
                <a:tc hMerge="1">
                  <a:txBody>
                    <a:bodyPr/>
                    <a:lstStyle/>
                    <a:p>
                      <a:endParaRPr/>
                    </a:p>
                  </a:txBody>
                  <a:tcPr marL="9525" marR="9525" marT="9525"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375623"/>
                    </a:solidFill>
                  </a:tcPr>
                </a:tc>
                <a:tc hMerge="1">
                  <a:txBody>
                    <a:bodyPr/>
                    <a:lstStyle/>
                    <a:p>
                      <a:endParaRPr/>
                    </a:p>
                  </a:txBody>
                  <a:tcPr marL="9525" marR="9525" marT="9525"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375623"/>
                    </a:solidFill>
                  </a:tcPr>
                </a:tc>
                <a:tc hMerge="1">
                  <a:txBody>
                    <a:bodyPr/>
                    <a:lstStyle/>
                    <a:p>
                      <a:endParaRPr/>
                    </a:p>
                  </a:txBody>
                  <a:tcPr marL="9525" marR="9525" marT="9525"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375623"/>
                    </a:solidFill>
                  </a:tcPr>
                </a:tc>
                <a:tc hMerge="1">
                  <a:txBody>
                    <a:bodyPr/>
                    <a:lstStyle/>
                    <a:p>
                      <a:endParaRPr/>
                    </a:p>
                  </a:txBody>
                  <a:tcPr marL="9525" marR="9525" marT="9525"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375623"/>
                    </a:solidFill>
                  </a:tcPr>
                </a:tc>
                <a:tc hMerge="1">
                  <a:txBody>
                    <a:bodyPr/>
                    <a:lstStyle/>
                    <a:p>
                      <a:endParaRPr dirty="0"/>
                    </a:p>
                  </a:txBody>
                  <a:tcPr marL="9525" marR="9525" marT="9525"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375623"/>
                    </a:solidFill>
                  </a:tcPr>
                </a:tc>
                <a:extLst>
                  <a:ext uri="{0D108BD9-81ED-4DB2-BD59-A6C34878D82A}">
                    <a16:rowId xmlns:a16="http://schemas.microsoft.com/office/drawing/2014/main" val="3483995559"/>
                  </a:ext>
                </a:extLst>
              </a:tr>
              <a:tr h="190500">
                <a:tc>
                  <a:txBody>
                    <a:bodyPr/>
                    <a:lstStyle/>
                    <a:p>
                      <a:pPr algn="l" fontAlgn="b">
                        <a:buNone/>
                      </a:pPr>
                      <a:r>
                        <a:rPr lang="es-AR" sz="1100" b="0" i="0" u="none" strike="noStrike">
                          <a:solidFill>
                            <a:srgbClr val="000000"/>
                          </a:solidFill>
                          <a:effectLst/>
                          <a:latin typeface="Lucida Bright" panose="02040602050505020304" pitchFamily="18" charset="0"/>
                        </a:rPr>
                        <a:t> </a:t>
                      </a:r>
                    </a:p>
                  </a:txBody>
                  <a:tcPr marL="9525" marR="9525" marT="9525"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solidFill>
                      <a:srgbClr val="FFFFFF"/>
                    </a:solidFill>
                  </a:tcPr>
                </a:tc>
                <a:tc gridSpan="3">
                  <a:txBody>
                    <a:bodyPr/>
                    <a:lstStyle/>
                    <a:p>
                      <a:pPr algn="ctr" fontAlgn="b">
                        <a:buNone/>
                      </a:pPr>
                      <a:r>
                        <a:rPr lang="es-AR" sz="1100" b="0" i="0" u="none" strike="noStrike">
                          <a:solidFill>
                            <a:srgbClr val="000000"/>
                          </a:solidFill>
                          <a:effectLst/>
                          <a:latin typeface="Lucida Bright" panose="02040602050505020304" pitchFamily="18" charset="0"/>
                        </a:rPr>
                        <a:t>MODELOS SIMPLES</a:t>
                      </a:r>
                    </a:p>
                  </a:txBody>
                  <a:tcPr marL="9525" marR="9525" marT="9525"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C6E0B4"/>
                    </a:solidFill>
                  </a:tcPr>
                </a:tc>
                <a:tc hMerge="1">
                  <a:txBody>
                    <a:bodyPr/>
                    <a:lstStyle/>
                    <a:p>
                      <a:endParaRPr lang="es-AR"/>
                    </a:p>
                  </a:txBody>
                  <a:tcPr/>
                </a:tc>
                <a:tc hMerge="1">
                  <a:txBody>
                    <a:bodyPr/>
                    <a:lstStyle/>
                    <a:p>
                      <a:endParaRPr lang="es-AR"/>
                    </a:p>
                  </a:txBody>
                  <a:tcPr/>
                </a:tc>
                <a:tc gridSpan="3">
                  <a:txBody>
                    <a:bodyPr/>
                    <a:lstStyle/>
                    <a:p>
                      <a:pPr algn="ctr" fontAlgn="b">
                        <a:buNone/>
                      </a:pPr>
                      <a:r>
                        <a:rPr lang="es-AR" sz="1100" b="0" i="0" u="none" strike="noStrike">
                          <a:solidFill>
                            <a:srgbClr val="000000"/>
                          </a:solidFill>
                          <a:effectLst/>
                          <a:latin typeface="Lucida Bright" panose="02040602050505020304" pitchFamily="18" charset="0"/>
                        </a:rPr>
                        <a:t>INCLUYEN GBEC</a:t>
                      </a:r>
                    </a:p>
                  </a:txBody>
                  <a:tcPr marL="9525" marR="9525" marT="9525"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C6E0B4"/>
                    </a:solidFill>
                  </a:tcPr>
                </a:tc>
                <a:tc hMerge="1">
                  <a:txBody>
                    <a:bodyPr/>
                    <a:lstStyle/>
                    <a:p>
                      <a:endParaRPr lang="es-AR"/>
                    </a:p>
                  </a:txBody>
                  <a:tcPr/>
                </a:tc>
                <a:tc hMerge="1">
                  <a:txBody>
                    <a:bodyPr/>
                    <a:lstStyle/>
                    <a:p>
                      <a:endParaRPr lang="es-AR"/>
                    </a:p>
                  </a:txBody>
                  <a:tcPr/>
                </a:tc>
                <a:tc gridSpan="3">
                  <a:txBody>
                    <a:bodyPr/>
                    <a:lstStyle/>
                    <a:p>
                      <a:pPr algn="ctr" fontAlgn="b">
                        <a:buNone/>
                      </a:pPr>
                      <a:r>
                        <a:rPr lang="es-AR" sz="1100" b="0" i="0" u="none" strike="noStrike">
                          <a:solidFill>
                            <a:srgbClr val="000000"/>
                          </a:solidFill>
                          <a:effectLst/>
                          <a:latin typeface="Lucida Bright" panose="02040602050505020304" pitchFamily="18" charset="0"/>
                        </a:rPr>
                        <a:t>INCLUYEN API</a:t>
                      </a:r>
                    </a:p>
                  </a:txBody>
                  <a:tcPr marL="9525" marR="9525" marT="9525"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C6E0B4"/>
                    </a:solidFill>
                  </a:tcPr>
                </a:tc>
                <a:tc hMerge="1">
                  <a:txBody>
                    <a:bodyPr/>
                    <a:lstStyle/>
                    <a:p>
                      <a:endParaRPr lang="es-AR"/>
                    </a:p>
                  </a:txBody>
                  <a:tcPr/>
                </a:tc>
                <a:tc hMerge="1">
                  <a:txBody>
                    <a:bodyPr/>
                    <a:lstStyle/>
                    <a:p>
                      <a:endParaRPr lang="es-AR"/>
                    </a:p>
                  </a:txBody>
                  <a:tcPr/>
                </a:tc>
                <a:tc gridSpan="3">
                  <a:txBody>
                    <a:bodyPr/>
                    <a:lstStyle/>
                    <a:p>
                      <a:pPr algn="ctr" fontAlgn="b">
                        <a:buNone/>
                      </a:pPr>
                      <a:r>
                        <a:rPr lang="es-AR" sz="1100" b="0" i="0" u="none" strike="noStrike">
                          <a:solidFill>
                            <a:srgbClr val="000000"/>
                          </a:solidFill>
                          <a:effectLst/>
                          <a:latin typeface="Lucida Bright" panose="02040602050505020304" pitchFamily="18" charset="0"/>
                        </a:rPr>
                        <a:t>INCLUTEN API Y GEBC</a:t>
                      </a:r>
                    </a:p>
                  </a:txBody>
                  <a:tcPr marL="9525" marR="9525" marT="9525"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C6E0B4"/>
                    </a:solidFill>
                  </a:tcPr>
                </a:tc>
                <a:tc hMerge="1">
                  <a:txBody>
                    <a:bodyPr/>
                    <a:lstStyle/>
                    <a:p>
                      <a:endParaRPr lang="es-AR"/>
                    </a:p>
                  </a:txBody>
                  <a:tcPr/>
                </a:tc>
                <a:tc hMerge="1">
                  <a:txBody>
                    <a:bodyPr/>
                    <a:lstStyle/>
                    <a:p>
                      <a:endParaRPr lang="es-AR"/>
                    </a:p>
                  </a:txBody>
                  <a:tcPr/>
                </a:tc>
                <a:extLst>
                  <a:ext uri="{0D108BD9-81ED-4DB2-BD59-A6C34878D82A}">
                    <a16:rowId xmlns:a16="http://schemas.microsoft.com/office/drawing/2014/main" val="3565249657"/>
                  </a:ext>
                </a:extLst>
              </a:tr>
              <a:tr h="190500">
                <a:tc>
                  <a:txBody>
                    <a:bodyPr/>
                    <a:lstStyle/>
                    <a:p>
                      <a:pPr algn="ctr" fontAlgn="b">
                        <a:buNone/>
                      </a:pPr>
                      <a:r>
                        <a:rPr lang="es-AR" sz="1100" b="0" i="0" u="none" strike="noStrike">
                          <a:solidFill>
                            <a:srgbClr val="000000"/>
                          </a:solidFill>
                          <a:effectLst/>
                          <a:latin typeface="Lucida Bright" panose="02040602050505020304" pitchFamily="18" charset="0"/>
                        </a:rPr>
                        <a:t>X</a:t>
                      </a:r>
                    </a:p>
                  </a:txBody>
                  <a:tcPr marL="9525" marR="9525" marT="9525"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noFill/>
                  </a:tcPr>
                </a:tc>
                <a:tc>
                  <a:txBody>
                    <a:bodyPr/>
                    <a:lstStyle/>
                    <a:p>
                      <a:pPr algn="ctr" fontAlgn="b">
                        <a:buNone/>
                      </a:pPr>
                      <a:r>
                        <a:rPr lang="es-AR" sz="1100" b="0" i="0" u="none" strike="noStrike">
                          <a:solidFill>
                            <a:srgbClr val="000000"/>
                          </a:solidFill>
                          <a:effectLst/>
                          <a:latin typeface="Lucida Bright" panose="02040602050505020304" pitchFamily="18" charset="0"/>
                        </a:rPr>
                        <a:t>ARG </a:t>
                      </a:r>
                    </a:p>
                  </a:txBody>
                  <a:tcPr marL="9525" marR="9525" marT="9525" marB="0" anchor="b">
                    <a:lnL w="6350" cap="flat" cmpd="sng" algn="ctr">
                      <a:solidFill>
                        <a:srgbClr val="000000"/>
                      </a:solidFill>
                      <a:prstDash val="solid"/>
                      <a:round/>
                      <a:headEnd type="none" w="med" len="med"/>
                      <a:tailEnd type="none" w="med" len="med"/>
                    </a:lnL>
                    <a:lnR w="6350" cap="flat" cmpd="sng" algn="ctr">
                      <a:solidFill>
                        <a:srgbClr val="000000"/>
                      </a:solidFill>
                      <a:prstDash val="dot"/>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b">
                        <a:buNone/>
                      </a:pPr>
                      <a:r>
                        <a:rPr lang="es-AR" sz="1100" b="0" i="0" u="none" strike="noStrike">
                          <a:solidFill>
                            <a:srgbClr val="000000"/>
                          </a:solidFill>
                          <a:effectLst/>
                          <a:latin typeface="Lucida Bright" panose="02040602050505020304" pitchFamily="18" charset="0"/>
                        </a:rPr>
                        <a:t>SFE</a:t>
                      </a:r>
                    </a:p>
                  </a:txBody>
                  <a:tcPr marL="9525" marR="9525" marT="9525" marB="0" anchor="b">
                    <a:lnL w="6350" cap="flat" cmpd="sng" algn="ctr">
                      <a:solidFill>
                        <a:srgbClr val="000000"/>
                      </a:solidFill>
                      <a:prstDash val="dot"/>
                      <a:round/>
                      <a:headEnd type="none" w="med" len="med"/>
                      <a:tailEnd type="none" w="med" len="med"/>
                    </a:lnL>
                    <a:lnR w="6350" cap="flat" cmpd="sng" algn="ctr">
                      <a:solidFill>
                        <a:srgbClr val="000000"/>
                      </a:solidFill>
                      <a:prstDash val="dot"/>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b">
                        <a:buNone/>
                      </a:pPr>
                      <a:r>
                        <a:rPr lang="es-AR" sz="1100" b="0" i="0" u="none" strike="noStrike">
                          <a:solidFill>
                            <a:srgbClr val="000000"/>
                          </a:solidFill>
                          <a:effectLst/>
                          <a:latin typeface="Lucida Bright" panose="02040602050505020304" pitchFamily="18" charset="0"/>
                        </a:rPr>
                        <a:t>SFE</a:t>
                      </a:r>
                    </a:p>
                  </a:txBody>
                  <a:tcPr marL="9525" marR="9525" marT="9525" marB="0" anchor="b">
                    <a:lnL w="6350" cap="flat" cmpd="sng" algn="ctr">
                      <a:solidFill>
                        <a:srgbClr val="000000"/>
                      </a:solidFill>
                      <a:prstDash val="dot"/>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b">
                        <a:buNone/>
                      </a:pPr>
                      <a:r>
                        <a:rPr lang="es-AR" sz="1100" b="0" i="0" u="none" strike="noStrike">
                          <a:solidFill>
                            <a:srgbClr val="000000"/>
                          </a:solidFill>
                          <a:effectLst/>
                          <a:latin typeface="Lucida Bright" panose="02040602050505020304" pitchFamily="18" charset="0"/>
                        </a:rPr>
                        <a:t>ARG </a:t>
                      </a:r>
                    </a:p>
                  </a:txBody>
                  <a:tcPr marL="9525" marR="9525" marT="9525" marB="0" anchor="b">
                    <a:lnL w="6350" cap="flat" cmpd="sng" algn="ctr">
                      <a:solidFill>
                        <a:srgbClr val="000000"/>
                      </a:solidFill>
                      <a:prstDash val="solid"/>
                      <a:round/>
                      <a:headEnd type="none" w="med" len="med"/>
                      <a:tailEnd type="none" w="med" len="med"/>
                    </a:lnL>
                    <a:lnR w="6350" cap="flat" cmpd="sng" algn="ctr">
                      <a:solidFill>
                        <a:srgbClr val="000000"/>
                      </a:solidFill>
                      <a:prstDash val="dot"/>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b">
                        <a:buNone/>
                      </a:pPr>
                      <a:r>
                        <a:rPr lang="es-AR" sz="1100" b="0" i="0" u="none" strike="noStrike">
                          <a:solidFill>
                            <a:srgbClr val="000000"/>
                          </a:solidFill>
                          <a:effectLst/>
                          <a:latin typeface="Lucida Bright" panose="02040602050505020304" pitchFamily="18" charset="0"/>
                        </a:rPr>
                        <a:t>SFE</a:t>
                      </a:r>
                    </a:p>
                  </a:txBody>
                  <a:tcPr marL="9525" marR="9525" marT="9525" marB="0" anchor="b">
                    <a:lnL w="6350" cap="flat" cmpd="sng" algn="ctr">
                      <a:solidFill>
                        <a:srgbClr val="000000"/>
                      </a:solidFill>
                      <a:prstDash val="dot"/>
                      <a:round/>
                      <a:headEnd type="none" w="med" len="med"/>
                      <a:tailEnd type="none" w="med" len="med"/>
                    </a:lnL>
                    <a:lnR w="6350" cap="flat" cmpd="sng" algn="ctr">
                      <a:solidFill>
                        <a:srgbClr val="000000"/>
                      </a:solidFill>
                      <a:prstDash val="dot"/>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b">
                        <a:buNone/>
                      </a:pPr>
                      <a:r>
                        <a:rPr lang="es-AR" sz="1100" b="0" i="0" u="none" strike="noStrike">
                          <a:solidFill>
                            <a:srgbClr val="000000"/>
                          </a:solidFill>
                          <a:effectLst/>
                          <a:latin typeface="Lucida Bright" panose="02040602050505020304" pitchFamily="18" charset="0"/>
                        </a:rPr>
                        <a:t>SFE</a:t>
                      </a:r>
                    </a:p>
                  </a:txBody>
                  <a:tcPr marL="9525" marR="9525" marT="9525" marB="0" anchor="b">
                    <a:lnL w="6350" cap="flat" cmpd="sng" algn="ctr">
                      <a:solidFill>
                        <a:srgbClr val="000000"/>
                      </a:solidFill>
                      <a:prstDash val="dot"/>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b">
                        <a:buNone/>
                      </a:pPr>
                      <a:r>
                        <a:rPr lang="es-AR" sz="1100" b="0" i="0" u="none" strike="noStrike">
                          <a:solidFill>
                            <a:srgbClr val="000000"/>
                          </a:solidFill>
                          <a:effectLst/>
                          <a:latin typeface="Lucida Bright" panose="02040602050505020304" pitchFamily="18" charset="0"/>
                        </a:rPr>
                        <a:t>ARG </a:t>
                      </a:r>
                    </a:p>
                  </a:txBody>
                  <a:tcPr marL="9525" marR="9525" marT="9525" marB="0" anchor="b">
                    <a:lnL w="6350" cap="flat" cmpd="sng" algn="ctr">
                      <a:solidFill>
                        <a:srgbClr val="000000"/>
                      </a:solidFill>
                      <a:prstDash val="solid"/>
                      <a:round/>
                      <a:headEnd type="none" w="med" len="med"/>
                      <a:tailEnd type="none" w="med" len="med"/>
                    </a:lnL>
                    <a:lnR w="6350" cap="flat" cmpd="sng" algn="ctr">
                      <a:solidFill>
                        <a:srgbClr val="000000"/>
                      </a:solidFill>
                      <a:prstDash val="dot"/>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b">
                        <a:buNone/>
                      </a:pPr>
                      <a:r>
                        <a:rPr lang="es-AR" sz="1100" b="0" i="0" u="none" strike="noStrike">
                          <a:solidFill>
                            <a:srgbClr val="000000"/>
                          </a:solidFill>
                          <a:effectLst/>
                          <a:latin typeface="Lucida Bright" panose="02040602050505020304" pitchFamily="18" charset="0"/>
                        </a:rPr>
                        <a:t>SFE</a:t>
                      </a:r>
                    </a:p>
                  </a:txBody>
                  <a:tcPr marL="9525" marR="9525" marT="9525" marB="0" anchor="b">
                    <a:lnL w="6350" cap="flat" cmpd="sng" algn="ctr">
                      <a:solidFill>
                        <a:srgbClr val="000000"/>
                      </a:solidFill>
                      <a:prstDash val="dot"/>
                      <a:round/>
                      <a:headEnd type="none" w="med" len="med"/>
                      <a:tailEnd type="none" w="med" len="med"/>
                    </a:lnL>
                    <a:lnR w="6350" cap="flat" cmpd="sng" algn="ctr">
                      <a:solidFill>
                        <a:srgbClr val="000000"/>
                      </a:solidFill>
                      <a:prstDash val="dot"/>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b">
                        <a:buNone/>
                      </a:pPr>
                      <a:r>
                        <a:rPr lang="es-AR" sz="1100" b="0" i="0" u="none" strike="noStrike">
                          <a:solidFill>
                            <a:srgbClr val="000000"/>
                          </a:solidFill>
                          <a:effectLst/>
                          <a:latin typeface="Lucida Bright" panose="02040602050505020304" pitchFamily="18" charset="0"/>
                        </a:rPr>
                        <a:t>SFE</a:t>
                      </a:r>
                    </a:p>
                  </a:txBody>
                  <a:tcPr marL="9525" marR="9525" marT="9525" marB="0" anchor="b">
                    <a:lnL w="6350" cap="flat" cmpd="sng" algn="ctr">
                      <a:solidFill>
                        <a:srgbClr val="000000"/>
                      </a:solidFill>
                      <a:prstDash val="dot"/>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b">
                        <a:buNone/>
                      </a:pPr>
                      <a:r>
                        <a:rPr lang="es-AR" sz="1100" b="0" i="0" u="none" strike="noStrike">
                          <a:solidFill>
                            <a:srgbClr val="000000"/>
                          </a:solidFill>
                          <a:effectLst/>
                          <a:latin typeface="Lucida Bright" panose="02040602050505020304" pitchFamily="18" charset="0"/>
                        </a:rPr>
                        <a:t>ARG </a:t>
                      </a:r>
                    </a:p>
                  </a:txBody>
                  <a:tcPr marL="9525" marR="9525" marT="9525" marB="0" anchor="b">
                    <a:lnL w="6350" cap="flat" cmpd="sng" algn="ctr">
                      <a:solidFill>
                        <a:srgbClr val="000000"/>
                      </a:solidFill>
                      <a:prstDash val="solid"/>
                      <a:round/>
                      <a:headEnd type="none" w="med" len="med"/>
                      <a:tailEnd type="none" w="med" len="med"/>
                    </a:lnL>
                    <a:lnR w="6350" cap="flat" cmpd="sng" algn="ctr">
                      <a:solidFill>
                        <a:srgbClr val="000000"/>
                      </a:solidFill>
                      <a:prstDash val="dot"/>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b">
                        <a:buNone/>
                      </a:pPr>
                      <a:r>
                        <a:rPr lang="es-AR" sz="1100" b="0" i="0" u="none" strike="noStrike">
                          <a:solidFill>
                            <a:srgbClr val="000000"/>
                          </a:solidFill>
                          <a:effectLst/>
                          <a:latin typeface="Lucida Bright" panose="02040602050505020304" pitchFamily="18" charset="0"/>
                        </a:rPr>
                        <a:t>SFE</a:t>
                      </a:r>
                    </a:p>
                  </a:txBody>
                  <a:tcPr marL="9525" marR="9525" marT="9525" marB="0" anchor="b">
                    <a:lnL w="6350" cap="flat" cmpd="sng" algn="ctr">
                      <a:solidFill>
                        <a:srgbClr val="000000"/>
                      </a:solidFill>
                      <a:prstDash val="dot"/>
                      <a:round/>
                      <a:headEnd type="none" w="med" len="med"/>
                      <a:tailEnd type="none" w="med" len="med"/>
                    </a:lnL>
                    <a:lnR w="6350" cap="flat" cmpd="sng" algn="ctr">
                      <a:solidFill>
                        <a:srgbClr val="000000"/>
                      </a:solidFill>
                      <a:prstDash val="dot"/>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b">
                        <a:buNone/>
                      </a:pPr>
                      <a:r>
                        <a:rPr lang="es-AR" sz="1100" b="0" i="0" u="none" strike="noStrike">
                          <a:solidFill>
                            <a:srgbClr val="000000"/>
                          </a:solidFill>
                          <a:effectLst/>
                          <a:latin typeface="Lucida Bright" panose="02040602050505020304" pitchFamily="18" charset="0"/>
                        </a:rPr>
                        <a:t>SFE</a:t>
                      </a:r>
                    </a:p>
                  </a:txBody>
                  <a:tcPr marL="9525" marR="9525" marT="9525" marB="0" anchor="b">
                    <a:lnL w="6350" cap="flat" cmpd="sng" algn="ctr">
                      <a:solidFill>
                        <a:srgbClr val="000000"/>
                      </a:solidFill>
                      <a:prstDash val="dot"/>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2963028843"/>
                  </a:ext>
                </a:extLst>
              </a:tr>
              <a:tr h="190500">
                <a:tc>
                  <a:txBody>
                    <a:bodyPr/>
                    <a:lstStyle/>
                    <a:p>
                      <a:pPr algn="l" fontAlgn="b">
                        <a:buNone/>
                      </a:pPr>
                      <a:r>
                        <a:rPr lang="es-AR" sz="1100" b="0" i="0" u="none" strike="noStrike">
                          <a:solidFill>
                            <a:srgbClr val="000000"/>
                          </a:solidFill>
                          <a:effectLst/>
                          <a:latin typeface="Lucida Bright" panose="02040602050505020304" pitchFamily="18" charset="0"/>
                        </a:rPr>
                        <a:t>(Intercept)</a:t>
                      </a:r>
                    </a:p>
                  </a:txBody>
                  <a:tcPr marL="9525" marR="9525" marT="9525"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b">
                        <a:buNone/>
                      </a:pPr>
                      <a:r>
                        <a:rPr lang="es-AR" sz="1100" b="0" i="0" u="none" strike="noStrike">
                          <a:solidFill>
                            <a:srgbClr val="000000"/>
                          </a:solidFill>
                          <a:effectLst/>
                          <a:latin typeface="Lucida Bright" panose="02040602050505020304" pitchFamily="18" charset="0"/>
                        </a:rPr>
                        <a:t>12.607***</a:t>
                      </a:r>
                    </a:p>
                  </a:txBody>
                  <a:tcPr marL="9525" marR="9525" marT="9525" marB="0" anchor="b">
                    <a:lnL w="6350" cap="flat" cmpd="sng" algn="ctr">
                      <a:solidFill>
                        <a:srgbClr val="000000"/>
                      </a:solidFill>
                      <a:prstDash val="solid"/>
                      <a:round/>
                      <a:headEnd type="none" w="med" len="med"/>
                      <a:tailEnd type="none" w="med" len="med"/>
                    </a:lnL>
                    <a:lnR w="6350" cap="flat" cmpd="sng" algn="ctr">
                      <a:solidFill>
                        <a:srgbClr val="000000"/>
                      </a:solidFill>
                      <a:prstDash val="dot"/>
                      <a:round/>
                      <a:headEnd type="none" w="med" len="med"/>
                      <a:tailEnd type="none" w="med" len="med"/>
                    </a:lnR>
                    <a:lnT w="6350" cap="flat" cmpd="sng" algn="ctr">
                      <a:solidFill>
                        <a:srgbClr val="000000"/>
                      </a:solidFill>
                      <a:prstDash val="solid"/>
                      <a:round/>
                      <a:headEnd type="none" w="med" len="med"/>
                      <a:tailEnd type="none" w="med" len="med"/>
                    </a:lnT>
                    <a:lnB>
                      <a:noFill/>
                    </a:lnB>
                    <a:noFill/>
                  </a:tcPr>
                </a:tc>
                <a:tc>
                  <a:txBody>
                    <a:bodyPr/>
                    <a:lstStyle/>
                    <a:p>
                      <a:pPr algn="ctr" fontAlgn="b">
                        <a:buNone/>
                      </a:pPr>
                      <a:r>
                        <a:rPr lang="es-AR" sz="1100" b="0" i="0" u="none" strike="noStrike">
                          <a:solidFill>
                            <a:srgbClr val="000000"/>
                          </a:solidFill>
                          <a:effectLst/>
                          <a:latin typeface="Lucida Bright" panose="02040602050505020304" pitchFamily="18" charset="0"/>
                        </a:rPr>
                        <a:t>11.243***</a:t>
                      </a:r>
                    </a:p>
                  </a:txBody>
                  <a:tcPr marL="9525" marR="9525" marT="9525" marB="0" anchor="b">
                    <a:lnL w="6350" cap="flat" cmpd="sng" algn="ctr">
                      <a:solidFill>
                        <a:srgbClr val="000000"/>
                      </a:solidFill>
                      <a:prstDash val="dot"/>
                      <a:round/>
                      <a:headEnd type="none" w="med" len="med"/>
                      <a:tailEnd type="none" w="med" len="med"/>
                    </a:lnL>
                    <a:lnR w="6350" cap="flat" cmpd="sng" algn="ctr">
                      <a:solidFill>
                        <a:srgbClr val="000000"/>
                      </a:solidFill>
                      <a:prstDash val="dot"/>
                      <a:round/>
                      <a:headEnd type="none" w="med" len="med"/>
                      <a:tailEnd type="none" w="med" len="med"/>
                    </a:lnR>
                    <a:lnT w="6350" cap="flat" cmpd="sng" algn="ctr">
                      <a:solidFill>
                        <a:srgbClr val="000000"/>
                      </a:solidFill>
                      <a:prstDash val="solid"/>
                      <a:round/>
                      <a:headEnd type="none" w="med" len="med"/>
                      <a:tailEnd type="none" w="med" len="med"/>
                    </a:lnT>
                    <a:lnB>
                      <a:noFill/>
                    </a:lnB>
                    <a:noFill/>
                  </a:tcPr>
                </a:tc>
                <a:tc>
                  <a:txBody>
                    <a:bodyPr/>
                    <a:lstStyle/>
                    <a:p>
                      <a:pPr algn="ctr" fontAlgn="b">
                        <a:buNone/>
                      </a:pPr>
                      <a:r>
                        <a:rPr lang="es-AR" sz="1100" b="0" i="0" u="none" strike="noStrike">
                          <a:solidFill>
                            <a:srgbClr val="000000"/>
                          </a:solidFill>
                          <a:effectLst/>
                          <a:latin typeface="Lucida Bright" panose="02040602050505020304" pitchFamily="18" charset="0"/>
                        </a:rPr>
                        <a:t>2.401***</a:t>
                      </a:r>
                    </a:p>
                  </a:txBody>
                  <a:tcPr marL="9525" marR="9525" marT="9525" marB="0" anchor="b">
                    <a:lnL w="6350" cap="flat" cmpd="sng" algn="ctr">
                      <a:solidFill>
                        <a:srgbClr val="000000"/>
                      </a:solidFill>
                      <a:prstDash val="dot"/>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noFill/>
                  </a:tcPr>
                </a:tc>
                <a:tc>
                  <a:txBody>
                    <a:bodyPr/>
                    <a:lstStyle/>
                    <a:p>
                      <a:pPr algn="ctr" fontAlgn="b">
                        <a:buNone/>
                      </a:pPr>
                      <a:r>
                        <a:rPr lang="es-AR" sz="1100" b="0" i="0" u="none" strike="noStrike">
                          <a:solidFill>
                            <a:srgbClr val="000000"/>
                          </a:solidFill>
                          <a:effectLst/>
                          <a:latin typeface="Lucida Bright" panose="02040602050505020304" pitchFamily="18" charset="0"/>
                        </a:rPr>
                        <a:t>13.120***</a:t>
                      </a:r>
                    </a:p>
                  </a:txBody>
                  <a:tcPr marL="9525" marR="9525" marT="9525" marB="0" anchor="b">
                    <a:lnL w="6350" cap="flat" cmpd="sng" algn="ctr">
                      <a:solidFill>
                        <a:srgbClr val="000000"/>
                      </a:solidFill>
                      <a:prstDash val="solid"/>
                      <a:round/>
                      <a:headEnd type="none" w="med" len="med"/>
                      <a:tailEnd type="none" w="med" len="med"/>
                    </a:lnL>
                    <a:lnR w="6350" cap="flat" cmpd="sng" algn="ctr">
                      <a:solidFill>
                        <a:srgbClr val="000000"/>
                      </a:solidFill>
                      <a:prstDash val="dot"/>
                      <a:round/>
                      <a:headEnd type="none" w="med" len="med"/>
                      <a:tailEnd type="none" w="med" len="med"/>
                    </a:lnR>
                    <a:lnT w="6350" cap="flat" cmpd="sng" algn="ctr">
                      <a:solidFill>
                        <a:srgbClr val="000000"/>
                      </a:solidFill>
                      <a:prstDash val="solid"/>
                      <a:round/>
                      <a:headEnd type="none" w="med" len="med"/>
                      <a:tailEnd type="none" w="med" len="med"/>
                    </a:lnT>
                    <a:lnB>
                      <a:noFill/>
                    </a:lnB>
                    <a:noFill/>
                  </a:tcPr>
                </a:tc>
                <a:tc>
                  <a:txBody>
                    <a:bodyPr/>
                    <a:lstStyle/>
                    <a:p>
                      <a:pPr algn="ctr" fontAlgn="b">
                        <a:buNone/>
                      </a:pPr>
                      <a:r>
                        <a:rPr lang="es-AR" sz="1100" b="0" i="0" u="none" strike="noStrike">
                          <a:solidFill>
                            <a:srgbClr val="000000"/>
                          </a:solidFill>
                          <a:effectLst/>
                          <a:latin typeface="Lucida Bright" panose="02040602050505020304" pitchFamily="18" charset="0"/>
                        </a:rPr>
                        <a:t>11.782***</a:t>
                      </a:r>
                    </a:p>
                  </a:txBody>
                  <a:tcPr marL="9525" marR="9525" marT="9525" marB="0" anchor="b">
                    <a:lnL w="6350" cap="flat" cmpd="sng" algn="ctr">
                      <a:solidFill>
                        <a:srgbClr val="000000"/>
                      </a:solidFill>
                      <a:prstDash val="dot"/>
                      <a:round/>
                      <a:headEnd type="none" w="med" len="med"/>
                      <a:tailEnd type="none" w="med" len="med"/>
                    </a:lnL>
                    <a:lnR w="6350" cap="flat" cmpd="sng" algn="ctr">
                      <a:solidFill>
                        <a:srgbClr val="000000"/>
                      </a:solidFill>
                      <a:prstDash val="dot"/>
                      <a:round/>
                      <a:headEnd type="none" w="med" len="med"/>
                      <a:tailEnd type="none" w="med" len="med"/>
                    </a:lnR>
                    <a:lnT w="6350" cap="flat" cmpd="sng" algn="ctr">
                      <a:solidFill>
                        <a:srgbClr val="000000"/>
                      </a:solidFill>
                      <a:prstDash val="solid"/>
                      <a:round/>
                      <a:headEnd type="none" w="med" len="med"/>
                      <a:tailEnd type="none" w="med" len="med"/>
                    </a:lnT>
                    <a:lnB>
                      <a:noFill/>
                    </a:lnB>
                    <a:noFill/>
                  </a:tcPr>
                </a:tc>
                <a:tc>
                  <a:txBody>
                    <a:bodyPr/>
                    <a:lstStyle/>
                    <a:p>
                      <a:pPr algn="ctr" fontAlgn="b">
                        <a:buNone/>
                      </a:pPr>
                      <a:r>
                        <a:rPr lang="es-AR" sz="1100" b="0" i="0" u="none" strike="noStrike">
                          <a:solidFill>
                            <a:srgbClr val="000000"/>
                          </a:solidFill>
                          <a:effectLst/>
                          <a:latin typeface="Lucida Bright" panose="02040602050505020304" pitchFamily="18" charset="0"/>
                        </a:rPr>
                        <a:t>3.578***</a:t>
                      </a:r>
                    </a:p>
                  </a:txBody>
                  <a:tcPr marL="9525" marR="9525" marT="9525" marB="0" anchor="b">
                    <a:lnL w="6350" cap="flat" cmpd="sng" algn="ctr">
                      <a:solidFill>
                        <a:srgbClr val="000000"/>
                      </a:solidFill>
                      <a:prstDash val="dot"/>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noFill/>
                  </a:tcPr>
                </a:tc>
                <a:tc>
                  <a:txBody>
                    <a:bodyPr/>
                    <a:lstStyle/>
                    <a:p>
                      <a:pPr algn="ctr" fontAlgn="b">
                        <a:buNone/>
                      </a:pPr>
                      <a:r>
                        <a:rPr lang="es-AR" sz="1100" b="0" i="0" u="none" strike="noStrike">
                          <a:solidFill>
                            <a:srgbClr val="000000"/>
                          </a:solidFill>
                          <a:effectLst/>
                          <a:latin typeface="Lucida Bright" panose="02040602050505020304" pitchFamily="18" charset="0"/>
                        </a:rPr>
                        <a:t>3.341***</a:t>
                      </a:r>
                    </a:p>
                  </a:txBody>
                  <a:tcPr marL="9525" marR="9525" marT="9525" marB="0" anchor="b">
                    <a:lnL w="6350" cap="flat" cmpd="sng" algn="ctr">
                      <a:solidFill>
                        <a:srgbClr val="000000"/>
                      </a:solidFill>
                      <a:prstDash val="solid"/>
                      <a:round/>
                      <a:headEnd type="none" w="med" len="med"/>
                      <a:tailEnd type="none" w="med" len="med"/>
                    </a:lnL>
                    <a:lnR w="6350" cap="flat" cmpd="sng" algn="ctr">
                      <a:solidFill>
                        <a:srgbClr val="000000"/>
                      </a:solidFill>
                      <a:prstDash val="dot"/>
                      <a:round/>
                      <a:headEnd type="none" w="med" len="med"/>
                      <a:tailEnd type="none" w="med" len="med"/>
                    </a:lnR>
                    <a:lnT w="6350" cap="flat" cmpd="sng" algn="ctr">
                      <a:solidFill>
                        <a:srgbClr val="000000"/>
                      </a:solidFill>
                      <a:prstDash val="solid"/>
                      <a:round/>
                      <a:headEnd type="none" w="med" len="med"/>
                      <a:tailEnd type="none" w="med" len="med"/>
                    </a:lnT>
                    <a:lnB>
                      <a:noFill/>
                    </a:lnB>
                    <a:noFill/>
                  </a:tcPr>
                </a:tc>
                <a:tc>
                  <a:txBody>
                    <a:bodyPr/>
                    <a:lstStyle/>
                    <a:p>
                      <a:pPr algn="ctr" fontAlgn="b">
                        <a:buNone/>
                      </a:pPr>
                      <a:r>
                        <a:rPr lang="es-AR" sz="1100" b="0" i="0" u="none" strike="noStrike">
                          <a:solidFill>
                            <a:srgbClr val="000000"/>
                          </a:solidFill>
                          <a:effectLst/>
                          <a:latin typeface="Lucida Bright" panose="02040602050505020304" pitchFamily="18" charset="0"/>
                        </a:rPr>
                        <a:t>1.862***</a:t>
                      </a:r>
                    </a:p>
                  </a:txBody>
                  <a:tcPr marL="9525" marR="9525" marT="9525" marB="0" anchor="b">
                    <a:lnL w="6350" cap="flat" cmpd="sng" algn="ctr">
                      <a:solidFill>
                        <a:srgbClr val="000000"/>
                      </a:solidFill>
                      <a:prstDash val="dot"/>
                      <a:round/>
                      <a:headEnd type="none" w="med" len="med"/>
                      <a:tailEnd type="none" w="med" len="med"/>
                    </a:lnL>
                    <a:lnR w="6350" cap="flat" cmpd="sng" algn="ctr">
                      <a:solidFill>
                        <a:srgbClr val="000000"/>
                      </a:solidFill>
                      <a:prstDash val="dot"/>
                      <a:round/>
                      <a:headEnd type="none" w="med" len="med"/>
                      <a:tailEnd type="none" w="med" len="med"/>
                    </a:lnR>
                    <a:lnT w="6350" cap="flat" cmpd="sng" algn="ctr">
                      <a:solidFill>
                        <a:srgbClr val="000000"/>
                      </a:solidFill>
                      <a:prstDash val="solid"/>
                      <a:round/>
                      <a:headEnd type="none" w="med" len="med"/>
                      <a:tailEnd type="none" w="med" len="med"/>
                    </a:lnT>
                    <a:lnB>
                      <a:noFill/>
                    </a:lnB>
                    <a:noFill/>
                  </a:tcPr>
                </a:tc>
                <a:tc>
                  <a:txBody>
                    <a:bodyPr/>
                    <a:lstStyle/>
                    <a:p>
                      <a:pPr algn="ctr" fontAlgn="b">
                        <a:buNone/>
                      </a:pPr>
                      <a:r>
                        <a:rPr lang="es-AR" sz="1100" b="0" i="0" u="none" strike="noStrike">
                          <a:solidFill>
                            <a:srgbClr val="000000"/>
                          </a:solidFill>
                          <a:effectLst/>
                          <a:latin typeface="Lucida Bright" panose="02040602050505020304" pitchFamily="18" charset="0"/>
                        </a:rPr>
                        <a:t>0.088</a:t>
                      </a:r>
                    </a:p>
                  </a:txBody>
                  <a:tcPr marL="9525" marR="9525" marT="9525" marB="0" anchor="b">
                    <a:lnL w="6350" cap="flat" cmpd="sng" algn="ctr">
                      <a:solidFill>
                        <a:srgbClr val="000000"/>
                      </a:solidFill>
                      <a:prstDash val="dot"/>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noFill/>
                  </a:tcPr>
                </a:tc>
                <a:tc>
                  <a:txBody>
                    <a:bodyPr/>
                    <a:lstStyle/>
                    <a:p>
                      <a:pPr algn="ctr" fontAlgn="b">
                        <a:buNone/>
                      </a:pPr>
                      <a:r>
                        <a:rPr lang="es-AR" sz="1100" b="0" i="0" u="none" strike="noStrike">
                          <a:solidFill>
                            <a:srgbClr val="000000"/>
                          </a:solidFill>
                          <a:effectLst/>
                          <a:latin typeface="Lucida Bright" panose="02040602050505020304" pitchFamily="18" charset="0"/>
                        </a:rPr>
                        <a:t>3.441***</a:t>
                      </a:r>
                    </a:p>
                  </a:txBody>
                  <a:tcPr marL="9525" marR="9525" marT="9525" marB="0" anchor="b">
                    <a:lnL w="6350" cap="flat" cmpd="sng" algn="ctr">
                      <a:solidFill>
                        <a:srgbClr val="000000"/>
                      </a:solidFill>
                      <a:prstDash val="solid"/>
                      <a:round/>
                      <a:headEnd type="none" w="med" len="med"/>
                      <a:tailEnd type="none" w="med" len="med"/>
                    </a:lnL>
                    <a:lnR w="6350" cap="flat" cmpd="sng" algn="ctr">
                      <a:solidFill>
                        <a:srgbClr val="000000"/>
                      </a:solidFill>
                      <a:prstDash val="dot"/>
                      <a:round/>
                      <a:headEnd type="none" w="med" len="med"/>
                      <a:tailEnd type="none" w="med" len="med"/>
                    </a:lnR>
                    <a:lnT w="6350" cap="flat" cmpd="sng" algn="ctr">
                      <a:solidFill>
                        <a:srgbClr val="000000"/>
                      </a:solidFill>
                      <a:prstDash val="solid"/>
                      <a:round/>
                      <a:headEnd type="none" w="med" len="med"/>
                      <a:tailEnd type="none" w="med" len="med"/>
                    </a:lnT>
                    <a:lnB>
                      <a:noFill/>
                    </a:lnB>
                    <a:noFill/>
                  </a:tcPr>
                </a:tc>
                <a:tc>
                  <a:txBody>
                    <a:bodyPr/>
                    <a:lstStyle/>
                    <a:p>
                      <a:pPr algn="ctr" fontAlgn="b">
                        <a:buNone/>
                      </a:pPr>
                      <a:r>
                        <a:rPr lang="es-AR" sz="1100" b="0" i="0" u="none" strike="noStrike">
                          <a:solidFill>
                            <a:srgbClr val="000000"/>
                          </a:solidFill>
                          <a:effectLst/>
                          <a:latin typeface="Lucida Bright" panose="02040602050505020304" pitchFamily="18" charset="0"/>
                        </a:rPr>
                        <a:t>1.984***</a:t>
                      </a:r>
                    </a:p>
                  </a:txBody>
                  <a:tcPr marL="9525" marR="9525" marT="9525" marB="0" anchor="b">
                    <a:lnL w="6350" cap="flat" cmpd="sng" algn="ctr">
                      <a:solidFill>
                        <a:srgbClr val="000000"/>
                      </a:solidFill>
                      <a:prstDash val="dot"/>
                      <a:round/>
                      <a:headEnd type="none" w="med" len="med"/>
                      <a:tailEnd type="none" w="med" len="med"/>
                    </a:lnL>
                    <a:lnR w="6350" cap="flat" cmpd="sng" algn="ctr">
                      <a:solidFill>
                        <a:srgbClr val="000000"/>
                      </a:solidFill>
                      <a:prstDash val="dot"/>
                      <a:round/>
                      <a:headEnd type="none" w="med" len="med"/>
                      <a:tailEnd type="none" w="med" len="med"/>
                    </a:lnR>
                    <a:lnT w="6350" cap="flat" cmpd="sng" algn="ctr">
                      <a:solidFill>
                        <a:srgbClr val="000000"/>
                      </a:solidFill>
                      <a:prstDash val="solid"/>
                      <a:round/>
                      <a:headEnd type="none" w="med" len="med"/>
                      <a:tailEnd type="none" w="med" len="med"/>
                    </a:lnT>
                    <a:lnB>
                      <a:noFill/>
                    </a:lnB>
                    <a:noFill/>
                  </a:tcPr>
                </a:tc>
                <a:tc>
                  <a:txBody>
                    <a:bodyPr/>
                    <a:lstStyle/>
                    <a:p>
                      <a:pPr algn="ctr" fontAlgn="b">
                        <a:buNone/>
                      </a:pPr>
                      <a:r>
                        <a:rPr lang="es-AR" sz="1100" b="0" i="0" u="none" strike="noStrike">
                          <a:solidFill>
                            <a:srgbClr val="000000"/>
                          </a:solidFill>
                          <a:effectLst/>
                          <a:latin typeface="Lucida Bright" panose="02040602050505020304" pitchFamily="18" charset="0"/>
                        </a:rPr>
                        <a:t>0.297</a:t>
                      </a:r>
                    </a:p>
                  </a:txBody>
                  <a:tcPr marL="9525" marR="9525" marT="9525" marB="0" anchor="b">
                    <a:lnL w="6350" cap="flat" cmpd="sng" algn="ctr">
                      <a:solidFill>
                        <a:srgbClr val="000000"/>
                      </a:solidFill>
                      <a:prstDash val="dot"/>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noFill/>
                  </a:tcPr>
                </a:tc>
                <a:extLst>
                  <a:ext uri="{0D108BD9-81ED-4DB2-BD59-A6C34878D82A}">
                    <a16:rowId xmlns:a16="http://schemas.microsoft.com/office/drawing/2014/main" val="785172722"/>
                  </a:ext>
                </a:extLst>
              </a:tr>
              <a:tr h="190500">
                <a:tc>
                  <a:txBody>
                    <a:bodyPr/>
                    <a:lstStyle/>
                    <a:p>
                      <a:pPr algn="l" fontAlgn="b">
                        <a:buNone/>
                      </a:pPr>
                      <a:r>
                        <a:rPr lang="es-AR" sz="1100" b="0" i="0" u="none" strike="noStrike">
                          <a:solidFill>
                            <a:srgbClr val="000000"/>
                          </a:solidFill>
                          <a:effectLst/>
                          <a:latin typeface="Lucida Bright" panose="02040602050505020304" pitchFamily="18" charset="0"/>
                        </a:rPr>
                        <a:t>log(ITCRM_ARG)</a:t>
                      </a:r>
                    </a:p>
                  </a:txBody>
                  <a:tcPr marL="9525" marR="9525" marT="9525"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b">
                        <a:buNone/>
                      </a:pPr>
                      <a:r>
                        <a:rPr lang="es-AR" sz="1100" b="0" i="0" u="none" strike="noStrike">
                          <a:solidFill>
                            <a:srgbClr val="000000"/>
                          </a:solidFill>
                          <a:effectLst/>
                          <a:latin typeface="Lucida Bright" panose="02040602050505020304" pitchFamily="18" charset="0"/>
                        </a:rPr>
                        <a:t>-1.077***</a:t>
                      </a:r>
                    </a:p>
                  </a:txBody>
                  <a:tcPr marL="9525" marR="9525" marT="9525" marB="0" anchor="b">
                    <a:lnL w="6350" cap="flat" cmpd="sng" algn="ctr">
                      <a:solidFill>
                        <a:srgbClr val="000000"/>
                      </a:solidFill>
                      <a:prstDash val="solid"/>
                      <a:round/>
                      <a:headEnd type="none" w="med" len="med"/>
                      <a:tailEnd type="none" w="med" len="med"/>
                    </a:lnL>
                    <a:lnR w="6350" cap="flat" cmpd="sng" algn="ctr">
                      <a:solidFill>
                        <a:srgbClr val="000000"/>
                      </a:solidFill>
                      <a:prstDash val="dot"/>
                      <a:round/>
                      <a:headEnd type="none" w="med" len="med"/>
                      <a:tailEnd type="none" w="med" len="med"/>
                    </a:lnR>
                    <a:lnT>
                      <a:noFill/>
                    </a:lnT>
                    <a:lnB>
                      <a:noFill/>
                    </a:lnB>
                    <a:solidFill>
                      <a:srgbClr val="E2EFDA"/>
                    </a:solidFill>
                  </a:tcPr>
                </a:tc>
                <a:tc>
                  <a:txBody>
                    <a:bodyPr/>
                    <a:lstStyle/>
                    <a:p>
                      <a:pPr algn="ctr" fontAlgn="b">
                        <a:buNone/>
                      </a:pPr>
                      <a:r>
                        <a:rPr lang="es-AR" sz="1100" b="0" i="0" u="none" strike="noStrike">
                          <a:solidFill>
                            <a:srgbClr val="000000"/>
                          </a:solidFill>
                          <a:effectLst/>
                          <a:latin typeface="Lucida Bright" panose="02040602050505020304" pitchFamily="18" charset="0"/>
                        </a:rPr>
                        <a:t>-0.968***</a:t>
                      </a:r>
                    </a:p>
                  </a:txBody>
                  <a:tcPr marL="9525" marR="9525" marT="9525" marB="0" anchor="b">
                    <a:lnL w="6350" cap="flat" cmpd="sng" algn="ctr">
                      <a:solidFill>
                        <a:srgbClr val="000000"/>
                      </a:solidFill>
                      <a:prstDash val="dot"/>
                      <a:round/>
                      <a:headEnd type="none" w="med" len="med"/>
                      <a:tailEnd type="none" w="med" len="med"/>
                    </a:lnL>
                    <a:lnR w="6350" cap="flat" cmpd="sng" algn="ctr">
                      <a:solidFill>
                        <a:srgbClr val="000000"/>
                      </a:solidFill>
                      <a:prstDash val="dot"/>
                      <a:round/>
                      <a:headEnd type="none" w="med" len="med"/>
                      <a:tailEnd type="none" w="med" len="med"/>
                    </a:lnR>
                    <a:lnT>
                      <a:noFill/>
                    </a:lnT>
                    <a:lnB>
                      <a:noFill/>
                    </a:lnB>
                    <a:solidFill>
                      <a:srgbClr val="E2EFDA"/>
                    </a:solidFill>
                  </a:tcPr>
                </a:tc>
                <a:tc>
                  <a:txBody>
                    <a:bodyPr/>
                    <a:lstStyle/>
                    <a:p>
                      <a:pPr algn="ctr" fontAlgn="b">
                        <a:buNone/>
                      </a:pPr>
                      <a:r>
                        <a:rPr lang="es-AR" sz="1100" b="0" i="0" u="none" strike="noStrike">
                          <a:solidFill>
                            <a:srgbClr val="000000"/>
                          </a:solidFill>
                          <a:effectLst/>
                          <a:latin typeface="Lucida Bright" panose="02040602050505020304" pitchFamily="18" charset="0"/>
                        </a:rPr>
                        <a:t> </a:t>
                      </a:r>
                    </a:p>
                  </a:txBody>
                  <a:tcPr marL="9525" marR="9525" marT="9525" marB="0" anchor="b">
                    <a:lnL w="6350" cap="flat" cmpd="sng" algn="ctr">
                      <a:solidFill>
                        <a:srgbClr val="000000"/>
                      </a:solidFill>
                      <a:prstDash val="dot"/>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b">
                        <a:buNone/>
                      </a:pPr>
                      <a:r>
                        <a:rPr lang="es-AR" sz="1100" b="0" i="0" u="none" strike="noStrike">
                          <a:solidFill>
                            <a:srgbClr val="000000"/>
                          </a:solidFill>
                          <a:effectLst/>
                          <a:latin typeface="Lucida Bright" panose="02040602050505020304" pitchFamily="18" charset="0"/>
                        </a:rPr>
                        <a:t>-1.071***</a:t>
                      </a:r>
                    </a:p>
                  </a:txBody>
                  <a:tcPr marL="9525" marR="9525" marT="9525" marB="0" anchor="b">
                    <a:lnL w="6350" cap="flat" cmpd="sng" algn="ctr">
                      <a:solidFill>
                        <a:srgbClr val="000000"/>
                      </a:solidFill>
                      <a:prstDash val="solid"/>
                      <a:round/>
                      <a:headEnd type="none" w="med" len="med"/>
                      <a:tailEnd type="none" w="med" len="med"/>
                    </a:lnL>
                    <a:lnR w="6350" cap="flat" cmpd="sng" algn="ctr">
                      <a:solidFill>
                        <a:srgbClr val="000000"/>
                      </a:solidFill>
                      <a:prstDash val="dot"/>
                      <a:round/>
                      <a:headEnd type="none" w="med" len="med"/>
                      <a:tailEnd type="none" w="med" len="med"/>
                    </a:lnR>
                    <a:lnT>
                      <a:noFill/>
                    </a:lnT>
                    <a:lnB>
                      <a:noFill/>
                    </a:lnB>
                    <a:solidFill>
                      <a:srgbClr val="E2EFDA"/>
                    </a:solidFill>
                  </a:tcPr>
                </a:tc>
                <a:tc>
                  <a:txBody>
                    <a:bodyPr/>
                    <a:lstStyle/>
                    <a:p>
                      <a:pPr algn="ctr" fontAlgn="b">
                        <a:buNone/>
                      </a:pPr>
                      <a:r>
                        <a:rPr lang="es-AR" sz="1100" b="0" i="0" u="none" strike="noStrike">
                          <a:solidFill>
                            <a:srgbClr val="000000"/>
                          </a:solidFill>
                          <a:effectLst/>
                          <a:latin typeface="Lucida Bright" panose="02040602050505020304" pitchFamily="18" charset="0"/>
                        </a:rPr>
                        <a:t>-0.961***</a:t>
                      </a:r>
                    </a:p>
                  </a:txBody>
                  <a:tcPr marL="9525" marR="9525" marT="9525" marB="0" anchor="b">
                    <a:lnL w="6350" cap="flat" cmpd="sng" algn="ctr">
                      <a:solidFill>
                        <a:srgbClr val="000000"/>
                      </a:solidFill>
                      <a:prstDash val="dot"/>
                      <a:round/>
                      <a:headEnd type="none" w="med" len="med"/>
                      <a:tailEnd type="none" w="med" len="med"/>
                    </a:lnL>
                    <a:lnR w="6350" cap="flat" cmpd="sng" algn="ctr">
                      <a:solidFill>
                        <a:srgbClr val="000000"/>
                      </a:solidFill>
                      <a:prstDash val="dot"/>
                      <a:round/>
                      <a:headEnd type="none" w="med" len="med"/>
                      <a:tailEnd type="none" w="med" len="med"/>
                    </a:lnR>
                    <a:lnT>
                      <a:noFill/>
                    </a:lnT>
                    <a:lnB>
                      <a:noFill/>
                    </a:lnB>
                    <a:solidFill>
                      <a:srgbClr val="E2EFDA"/>
                    </a:solidFill>
                  </a:tcPr>
                </a:tc>
                <a:tc>
                  <a:txBody>
                    <a:bodyPr/>
                    <a:lstStyle/>
                    <a:p>
                      <a:pPr algn="ctr" fontAlgn="b">
                        <a:buNone/>
                      </a:pPr>
                      <a:r>
                        <a:rPr lang="es-AR" sz="1100" b="0" i="0" u="none" strike="noStrike">
                          <a:solidFill>
                            <a:srgbClr val="000000"/>
                          </a:solidFill>
                          <a:effectLst/>
                          <a:latin typeface="Lucida Bright" panose="02040602050505020304" pitchFamily="18" charset="0"/>
                        </a:rPr>
                        <a:t> </a:t>
                      </a:r>
                    </a:p>
                  </a:txBody>
                  <a:tcPr marL="9525" marR="9525" marT="9525" marB="0" anchor="b">
                    <a:lnL w="6350" cap="flat" cmpd="sng" algn="ctr">
                      <a:solidFill>
                        <a:srgbClr val="000000"/>
                      </a:solidFill>
                      <a:prstDash val="dot"/>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b">
                        <a:buNone/>
                      </a:pPr>
                      <a:r>
                        <a:rPr lang="es-AR" sz="1100" b="0" i="0" u="none" strike="noStrike">
                          <a:solidFill>
                            <a:srgbClr val="000000"/>
                          </a:solidFill>
                          <a:effectLst/>
                          <a:latin typeface="Lucida Bright" panose="02040602050505020304" pitchFamily="18" charset="0"/>
                        </a:rPr>
                        <a:t>-0.270***</a:t>
                      </a:r>
                    </a:p>
                  </a:txBody>
                  <a:tcPr marL="9525" marR="9525" marT="9525" marB="0" anchor="b">
                    <a:lnL w="6350" cap="flat" cmpd="sng" algn="ctr">
                      <a:solidFill>
                        <a:srgbClr val="000000"/>
                      </a:solidFill>
                      <a:prstDash val="solid"/>
                      <a:round/>
                      <a:headEnd type="none" w="med" len="med"/>
                      <a:tailEnd type="none" w="med" len="med"/>
                    </a:lnL>
                    <a:lnR w="6350" cap="flat" cmpd="sng" algn="ctr">
                      <a:solidFill>
                        <a:srgbClr val="000000"/>
                      </a:solidFill>
                      <a:prstDash val="dot"/>
                      <a:round/>
                      <a:headEnd type="none" w="med" len="med"/>
                      <a:tailEnd type="none" w="med" len="med"/>
                    </a:lnR>
                    <a:lnT>
                      <a:noFill/>
                    </a:lnT>
                    <a:lnB>
                      <a:noFill/>
                    </a:lnB>
                    <a:solidFill>
                      <a:srgbClr val="E2EFDA"/>
                    </a:solidFill>
                  </a:tcPr>
                </a:tc>
                <a:tc>
                  <a:txBody>
                    <a:bodyPr/>
                    <a:lstStyle/>
                    <a:p>
                      <a:pPr algn="ctr" fontAlgn="b">
                        <a:buNone/>
                      </a:pPr>
                      <a:r>
                        <a:rPr lang="es-AR" sz="1100" b="0" i="0" u="none" strike="noStrike">
                          <a:solidFill>
                            <a:srgbClr val="000000"/>
                          </a:solidFill>
                          <a:effectLst/>
                          <a:latin typeface="Lucida Bright" panose="02040602050505020304" pitchFamily="18" charset="0"/>
                        </a:rPr>
                        <a:t>-0.151**</a:t>
                      </a:r>
                    </a:p>
                  </a:txBody>
                  <a:tcPr marL="9525" marR="9525" marT="9525" marB="0" anchor="b">
                    <a:lnL w="6350" cap="flat" cmpd="sng" algn="ctr">
                      <a:solidFill>
                        <a:srgbClr val="000000"/>
                      </a:solidFill>
                      <a:prstDash val="dot"/>
                      <a:round/>
                      <a:headEnd type="none" w="med" len="med"/>
                      <a:tailEnd type="none" w="med" len="med"/>
                    </a:lnL>
                    <a:lnR w="6350" cap="flat" cmpd="sng" algn="ctr">
                      <a:solidFill>
                        <a:srgbClr val="000000"/>
                      </a:solidFill>
                      <a:prstDash val="dot"/>
                      <a:round/>
                      <a:headEnd type="none" w="med" len="med"/>
                      <a:tailEnd type="none" w="med" len="med"/>
                    </a:lnR>
                    <a:lnT>
                      <a:noFill/>
                    </a:lnT>
                    <a:lnB>
                      <a:noFill/>
                    </a:lnB>
                    <a:solidFill>
                      <a:srgbClr val="E2EFDA"/>
                    </a:solidFill>
                  </a:tcPr>
                </a:tc>
                <a:tc>
                  <a:txBody>
                    <a:bodyPr/>
                    <a:lstStyle/>
                    <a:p>
                      <a:pPr algn="ctr" fontAlgn="b">
                        <a:buNone/>
                      </a:pPr>
                      <a:r>
                        <a:rPr lang="es-AR" sz="1100" b="0" i="0" u="none" strike="noStrike">
                          <a:solidFill>
                            <a:srgbClr val="000000"/>
                          </a:solidFill>
                          <a:effectLst/>
                          <a:latin typeface="Lucida Bright" panose="02040602050505020304" pitchFamily="18" charset="0"/>
                        </a:rPr>
                        <a:t> </a:t>
                      </a:r>
                    </a:p>
                  </a:txBody>
                  <a:tcPr marL="9525" marR="9525" marT="9525" marB="0" anchor="b">
                    <a:lnL w="6350" cap="flat" cmpd="sng" algn="ctr">
                      <a:solidFill>
                        <a:srgbClr val="000000"/>
                      </a:solidFill>
                      <a:prstDash val="dot"/>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b">
                        <a:buNone/>
                      </a:pPr>
                      <a:r>
                        <a:rPr lang="es-AR" sz="1100" b="0" i="0" u="none" strike="noStrike">
                          <a:solidFill>
                            <a:srgbClr val="000000"/>
                          </a:solidFill>
                          <a:effectLst/>
                          <a:latin typeface="Lucida Bright" panose="02040602050505020304" pitchFamily="18" charset="0"/>
                        </a:rPr>
                        <a:t>-0.269***</a:t>
                      </a:r>
                    </a:p>
                  </a:txBody>
                  <a:tcPr marL="9525" marR="9525" marT="9525" marB="0" anchor="b">
                    <a:lnL w="6350" cap="flat" cmpd="sng" algn="ctr">
                      <a:solidFill>
                        <a:srgbClr val="000000"/>
                      </a:solidFill>
                      <a:prstDash val="solid"/>
                      <a:round/>
                      <a:headEnd type="none" w="med" len="med"/>
                      <a:tailEnd type="none" w="med" len="med"/>
                    </a:lnL>
                    <a:lnR w="6350" cap="flat" cmpd="sng" algn="ctr">
                      <a:solidFill>
                        <a:srgbClr val="000000"/>
                      </a:solidFill>
                      <a:prstDash val="dot"/>
                      <a:round/>
                      <a:headEnd type="none" w="med" len="med"/>
                      <a:tailEnd type="none" w="med" len="med"/>
                    </a:lnR>
                    <a:lnT>
                      <a:noFill/>
                    </a:lnT>
                    <a:lnB>
                      <a:noFill/>
                    </a:lnB>
                    <a:solidFill>
                      <a:srgbClr val="E2EFDA"/>
                    </a:solidFill>
                  </a:tcPr>
                </a:tc>
                <a:tc>
                  <a:txBody>
                    <a:bodyPr/>
                    <a:lstStyle/>
                    <a:p>
                      <a:pPr algn="ctr" fontAlgn="b">
                        <a:buNone/>
                      </a:pPr>
                      <a:r>
                        <a:rPr lang="es-AR" sz="1100" b="0" i="0" u="none" strike="noStrike">
                          <a:solidFill>
                            <a:srgbClr val="000000"/>
                          </a:solidFill>
                          <a:effectLst/>
                          <a:latin typeface="Lucida Bright" panose="02040602050505020304" pitchFamily="18" charset="0"/>
                        </a:rPr>
                        <a:t>-0.150**</a:t>
                      </a:r>
                    </a:p>
                  </a:txBody>
                  <a:tcPr marL="9525" marR="9525" marT="9525" marB="0" anchor="b">
                    <a:lnL w="6350" cap="flat" cmpd="sng" algn="ctr">
                      <a:solidFill>
                        <a:srgbClr val="000000"/>
                      </a:solidFill>
                      <a:prstDash val="dot"/>
                      <a:round/>
                      <a:headEnd type="none" w="med" len="med"/>
                      <a:tailEnd type="none" w="med" len="med"/>
                    </a:lnL>
                    <a:lnR w="6350" cap="flat" cmpd="sng" algn="ctr">
                      <a:solidFill>
                        <a:srgbClr val="000000"/>
                      </a:solidFill>
                      <a:prstDash val="dot"/>
                      <a:round/>
                      <a:headEnd type="none" w="med" len="med"/>
                      <a:tailEnd type="none" w="med" len="med"/>
                    </a:lnR>
                    <a:lnT>
                      <a:noFill/>
                    </a:lnT>
                    <a:lnB>
                      <a:noFill/>
                    </a:lnB>
                    <a:solidFill>
                      <a:srgbClr val="E2EFDA"/>
                    </a:solidFill>
                  </a:tcPr>
                </a:tc>
                <a:tc>
                  <a:txBody>
                    <a:bodyPr/>
                    <a:lstStyle/>
                    <a:p>
                      <a:pPr algn="ctr" fontAlgn="b">
                        <a:buNone/>
                      </a:pPr>
                      <a:r>
                        <a:rPr lang="es-AR" sz="1100" b="0" i="0" u="none" strike="noStrike">
                          <a:solidFill>
                            <a:srgbClr val="000000"/>
                          </a:solidFill>
                          <a:effectLst/>
                          <a:latin typeface="Lucida Bright" panose="02040602050505020304" pitchFamily="18" charset="0"/>
                        </a:rPr>
                        <a:t> </a:t>
                      </a:r>
                    </a:p>
                  </a:txBody>
                  <a:tcPr marL="9525" marR="9525" marT="9525" marB="0" anchor="b">
                    <a:lnL w="6350" cap="flat" cmpd="sng" algn="ctr">
                      <a:solidFill>
                        <a:srgbClr val="000000"/>
                      </a:solidFill>
                      <a:prstDash val="dot"/>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extLst>
                  <a:ext uri="{0D108BD9-81ED-4DB2-BD59-A6C34878D82A}">
                    <a16:rowId xmlns:a16="http://schemas.microsoft.com/office/drawing/2014/main" val="2144008506"/>
                  </a:ext>
                </a:extLst>
              </a:tr>
              <a:tr h="190500">
                <a:tc>
                  <a:txBody>
                    <a:bodyPr/>
                    <a:lstStyle/>
                    <a:p>
                      <a:pPr algn="l" fontAlgn="b">
                        <a:buNone/>
                      </a:pPr>
                      <a:r>
                        <a:rPr lang="es-AR" sz="1100" b="0" i="0" u="none" strike="noStrike">
                          <a:solidFill>
                            <a:srgbClr val="000000"/>
                          </a:solidFill>
                          <a:effectLst/>
                          <a:latin typeface="Lucida Bright" panose="02040602050505020304" pitchFamily="18" charset="0"/>
                        </a:rPr>
                        <a:t>log(ITCRM_SFE)</a:t>
                      </a:r>
                    </a:p>
                  </a:txBody>
                  <a:tcPr marL="9525" marR="9525" marT="9525"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b">
                        <a:buNone/>
                      </a:pPr>
                      <a:r>
                        <a:rPr lang="es-AR" sz="1100" b="0" i="0" u="none" strike="noStrike">
                          <a:solidFill>
                            <a:srgbClr val="000000"/>
                          </a:solidFill>
                          <a:effectLst/>
                          <a:latin typeface="Lucida Bright" panose="02040602050505020304" pitchFamily="18" charset="0"/>
                        </a:rPr>
                        <a:t> </a:t>
                      </a:r>
                    </a:p>
                  </a:txBody>
                  <a:tcPr marL="9525" marR="9525" marT="9525" marB="0" anchor="b">
                    <a:lnL w="6350" cap="flat" cmpd="sng" algn="ctr">
                      <a:solidFill>
                        <a:srgbClr val="000000"/>
                      </a:solidFill>
                      <a:prstDash val="solid"/>
                      <a:round/>
                      <a:headEnd type="none" w="med" len="med"/>
                      <a:tailEnd type="none" w="med" len="med"/>
                    </a:lnL>
                    <a:lnR w="6350" cap="flat" cmpd="sng" algn="ctr">
                      <a:solidFill>
                        <a:srgbClr val="000000"/>
                      </a:solidFill>
                      <a:prstDash val="dot"/>
                      <a:round/>
                      <a:headEnd type="none" w="med" len="med"/>
                      <a:tailEnd type="none" w="med" len="med"/>
                    </a:lnR>
                    <a:lnT>
                      <a:noFill/>
                    </a:lnT>
                    <a:lnB>
                      <a:noFill/>
                    </a:lnB>
                    <a:noFill/>
                  </a:tcPr>
                </a:tc>
                <a:tc>
                  <a:txBody>
                    <a:bodyPr/>
                    <a:lstStyle/>
                    <a:p>
                      <a:pPr algn="ctr" fontAlgn="b">
                        <a:buNone/>
                      </a:pPr>
                      <a:r>
                        <a:rPr lang="es-AR" sz="1100" b="0" i="0" u="none" strike="noStrike">
                          <a:solidFill>
                            <a:srgbClr val="000000"/>
                          </a:solidFill>
                          <a:effectLst/>
                          <a:latin typeface="Lucida Bright" panose="02040602050505020304" pitchFamily="18" charset="0"/>
                        </a:rPr>
                        <a:t> </a:t>
                      </a:r>
                    </a:p>
                  </a:txBody>
                  <a:tcPr marL="9525" marR="9525" marT="9525" marB="0" anchor="b">
                    <a:lnL w="6350" cap="flat" cmpd="sng" algn="ctr">
                      <a:solidFill>
                        <a:srgbClr val="000000"/>
                      </a:solidFill>
                      <a:prstDash val="dot"/>
                      <a:round/>
                      <a:headEnd type="none" w="med" len="med"/>
                      <a:tailEnd type="none" w="med" len="med"/>
                    </a:lnL>
                    <a:lnR w="6350" cap="flat" cmpd="sng" algn="ctr">
                      <a:solidFill>
                        <a:srgbClr val="000000"/>
                      </a:solidFill>
                      <a:prstDash val="dot"/>
                      <a:round/>
                      <a:headEnd type="none" w="med" len="med"/>
                      <a:tailEnd type="none" w="med" len="med"/>
                    </a:lnR>
                    <a:lnT>
                      <a:noFill/>
                    </a:lnT>
                    <a:lnB>
                      <a:noFill/>
                    </a:lnB>
                    <a:noFill/>
                  </a:tcPr>
                </a:tc>
                <a:tc>
                  <a:txBody>
                    <a:bodyPr/>
                    <a:lstStyle/>
                    <a:p>
                      <a:pPr algn="ctr" fontAlgn="b">
                        <a:buNone/>
                      </a:pPr>
                      <a:r>
                        <a:rPr lang="es-AR" sz="1100" b="0" i="0" u="none" strike="noStrike">
                          <a:solidFill>
                            <a:srgbClr val="000000"/>
                          </a:solidFill>
                          <a:effectLst/>
                          <a:latin typeface="Lucida Bright" panose="02040602050505020304" pitchFamily="18" charset="0"/>
                        </a:rPr>
                        <a:t>0.736***</a:t>
                      </a:r>
                    </a:p>
                  </a:txBody>
                  <a:tcPr marL="9525" marR="9525" marT="9525" marB="0" anchor="b">
                    <a:lnL w="6350" cap="flat" cmpd="sng" algn="ctr">
                      <a:solidFill>
                        <a:srgbClr val="000000"/>
                      </a:solidFill>
                      <a:prstDash val="dot"/>
                      <a:round/>
                      <a:headEnd type="none" w="med" len="med"/>
                      <a:tailEnd type="none" w="med" len="med"/>
                    </a:lnL>
                    <a:lnR w="6350" cap="flat" cmpd="sng" algn="ctr">
                      <a:solidFill>
                        <a:srgbClr val="000000"/>
                      </a:solidFill>
                      <a:prstDash val="solid"/>
                      <a:round/>
                      <a:headEnd type="none" w="med" len="med"/>
                      <a:tailEnd type="none" w="med" len="med"/>
                    </a:lnR>
                    <a:lnT>
                      <a:noFill/>
                    </a:lnT>
                    <a:lnB>
                      <a:noFill/>
                    </a:lnB>
                    <a:solidFill>
                      <a:srgbClr val="E2EFDA"/>
                    </a:solidFill>
                  </a:tcPr>
                </a:tc>
                <a:tc>
                  <a:txBody>
                    <a:bodyPr/>
                    <a:lstStyle/>
                    <a:p>
                      <a:pPr algn="ctr" fontAlgn="b">
                        <a:buNone/>
                      </a:pPr>
                      <a:r>
                        <a:rPr lang="es-AR" sz="1100" b="0" i="0" u="none" strike="noStrike">
                          <a:solidFill>
                            <a:srgbClr val="000000"/>
                          </a:solidFill>
                          <a:effectLst/>
                          <a:latin typeface="Lucida Bright" panose="02040602050505020304" pitchFamily="18" charset="0"/>
                        </a:rPr>
                        <a:t> </a:t>
                      </a:r>
                    </a:p>
                  </a:txBody>
                  <a:tcPr marL="9525" marR="9525" marT="9525" marB="0" anchor="b">
                    <a:lnL w="6350" cap="flat" cmpd="sng" algn="ctr">
                      <a:solidFill>
                        <a:srgbClr val="000000"/>
                      </a:solidFill>
                      <a:prstDash val="solid"/>
                      <a:round/>
                      <a:headEnd type="none" w="med" len="med"/>
                      <a:tailEnd type="none" w="med" len="med"/>
                    </a:lnL>
                    <a:lnR w="6350" cap="flat" cmpd="sng" algn="ctr">
                      <a:solidFill>
                        <a:srgbClr val="000000"/>
                      </a:solidFill>
                      <a:prstDash val="dot"/>
                      <a:round/>
                      <a:headEnd type="none" w="med" len="med"/>
                      <a:tailEnd type="none" w="med" len="med"/>
                    </a:lnR>
                    <a:lnT>
                      <a:noFill/>
                    </a:lnT>
                    <a:lnB>
                      <a:noFill/>
                    </a:lnB>
                    <a:noFill/>
                  </a:tcPr>
                </a:tc>
                <a:tc>
                  <a:txBody>
                    <a:bodyPr/>
                    <a:lstStyle/>
                    <a:p>
                      <a:pPr algn="ctr" fontAlgn="b">
                        <a:buNone/>
                      </a:pPr>
                      <a:r>
                        <a:rPr lang="es-AR" sz="1100" b="0" i="0" u="none" strike="noStrike">
                          <a:solidFill>
                            <a:srgbClr val="000000"/>
                          </a:solidFill>
                          <a:effectLst/>
                          <a:latin typeface="Lucida Bright" panose="02040602050505020304" pitchFamily="18" charset="0"/>
                        </a:rPr>
                        <a:t> </a:t>
                      </a:r>
                    </a:p>
                  </a:txBody>
                  <a:tcPr marL="9525" marR="9525" marT="9525" marB="0" anchor="b">
                    <a:lnL w="6350" cap="flat" cmpd="sng" algn="ctr">
                      <a:solidFill>
                        <a:srgbClr val="000000"/>
                      </a:solidFill>
                      <a:prstDash val="dot"/>
                      <a:round/>
                      <a:headEnd type="none" w="med" len="med"/>
                      <a:tailEnd type="none" w="med" len="med"/>
                    </a:lnL>
                    <a:lnR w="6350" cap="flat" cmpd="sng" algn="ctr">
                      <a:solidFill>
                        <a:srgbClr val="000000"/>
                      </a:solidFill>
                      <a:prstDash val="dot"/>
                      <a:round/>
                      <a:headEnd type="none" w="med" len="med"/>
                      <a:tailEnd type="none" w="med" len="med"/>
                    </a:lnR>
                    <a:lnT>
                      <a:noFill/>
                    </a:lnT>
                    <a:lnB>
                      <a:noFill/>
                    </a:lnB>
                    <a:noFill/>
                  </a:tcPr>
                </a:tc>
                <a:tc>
                  <a:txBody>
                    <a:bodyPr/>
                    <a:lstStyle/>
                    <a:p>
                      <a:pPr algn="ctr" fontAlgn="b">
                        <a:buNone/>
                      </a:pPr>
                      <a:r>
                        <a:rPr lang="es-AR" sz="1100" b="0" i="0" u="none" strike="noStrike">
                          <a:solidFill>
                            <a:srgbClr val="000000"/>
                          </a:solidFill>
                          <a:effectLst/>
                          <a:latin typeface="Lucida Bright" panose="02040602050505020304" pitchFamily="18" charset="0"/>
                        </a:rPr>
                        <a:t>0.734***</a:t>
                      </a:r>
                    </a:p>
                  </a:txBody>
                  <a:tcPr marL="9525" marR="9525" marT="9525" marB="0" anchor="b">
                    <a:lnL w="6350" cap="flat" cmpd="sng" algn="ctr">
                      <a:solidFill>
                        <a:srgbClr val="000000"/>
                      </a:solidFill>
                      <a:prstDash val="dot"/>
                      <a:round/>
                      <a:headEnd type="none" w="med" len="med"/>
                      <a:tailEnd type="none" w="med" len="med"/>
                    </a:lnL>
                    <a:lnR w="6350" cap="flat" cmpd="sng" algn="ctr">
                      <a:solidFill>
                        <a:srgbClr val="000000"/>
                      </a:solidFill>
                      <a:prstDash val="solid"/>
                      <a:round/>
                      <a:headEnd type="none" w="med" len="med"/>
                      <a:tailEnd type="none" w="med" len="med"/>
                    </a:lnR>
                    <a:lnT>
                      <a:noFill/>
                    </a:lnT>
                    <a:lnB>
                      <a:noFill/>
                    </a:lnB>
                    <a:solidFill>
                      <a:srgbClr val="E2EFDA"/>
                    </a:solidFill>
                  </a:tcPr>
                </a:tc>
                <a:tc>
                  <a:txBody>
                    <a:bodyPr/>
                    <a:lstStyle/>
                    <a:p>
                      <a:pPr algn="ctr" fontAlgn="b">
                        <a:buNone/>
                      </a:pPr>
                      <a:r>
                        <a:rPr lang="es-AR" sz="1100" b="0" i="0" u="none" strike="noStrike">
                          <a:solidFill>
                            <a:srgbClr val="000000"/>
                          </a:solidFill>
                          <a:effectLst/>
                          <a:latin typeface="Lucida Bright" panose="02040602050505020304" pitchFamily="18" charset="0"/>
                        </a:rPr>
                        <a:t> </a:t>
                      </a:r>
                    </a:p>
                  </a:txBody>
                  <a:tcPr marL="9525" marR="9525" marT="9525" marB="0" anchor="b">
                    <a:lnL w="6350" cap="flat" cmpd="sng" algn="ctr">
                      <a:solidFill>
                        <a:srgbClr val="000000"/>
                      </a:solidFill>
                      <a:prstDash val="solid"/>
                      <a:round/>
                      <a:headEnd type="none" w="med" len="med"/>
                      <a:tailEnd type="none" w="med" len="med"/>
                    </a:lnL>
                    <a:lnR w="6350" cap="flat" cmpd="sng" algn="ctr">
                      <a:solidFill>
                        <a:srgbClr val="000000"/>
                      </a:solidFill>
                      <a:prstDash val="dot"/>
                      <a:round/>
                      <a:headEnd type="none" w="med" len="med"/>
                      <a:tailEnd type="none" w="med" len="med"/>
                    </a:lnR>
                    <a:lnT>
                      <a:noFill/>
                    </a:lnT>
                    <a:lnB>
                      <a:noFill/>
                    </a:lnB>
                    <a:noFill/>
                  </a:tcPr>
                </a:tc>
                <a:tc>
                  <a:txBody>
                    <a:bodyPr/>
                    <a:lstStyle/>
                    <a:p>
                      <a:pPr algn="ctr" fontAlgn="b">
                        <a:buNone/>
                      </a:pPr>
                      <a:r>
                        <a:rPr lang="es-AR" sz="1100" b="0" i="0" u="none" strike="noStrike">
                          <a:solidFill>
                            <a:srgbClr val="000000"/>
                          </a:solidFill>
                          <a:effectLst/>
                          <a:latin typeface="Lucida Bright" panose="02040602050505020304" pitchFamily="18" charset="0"/>
                        </a:rPr>
                        <a:t> </a:t>
                      </a:r>
                    </a:p>
                  </a:txBody>
                  <a:tcPr marL="9525" marR="9525" marT="9525" marB="0" anchor="b">
                    <a:lnL w="6350" cap="flat" cmpd="sng" algn="ctr">
                      <a:solidFill>
                        <a:srgbClr val="000000"/>
                      </a:solidFill>
                      <a:prstDash val="dot"/>
                      <a:round/>
                      <a:headEnd type="none" w="med" len="med"/>
                      <a:tailEnd type="none" w="med" len="med"/>
                    </a:lnL>
                    <a:lnR w="6350" cap="flat" cmpd="sng" algn="ctr">
                      <a:solidFill>
                        <a:srgbClr val="000000"/>
                      </a:solidFill>
                      <a:prstDash val="dot"/>
                      <a:round/>
                      <a:headEnd type="none" w="med" len="med"/>
                      <a:tailEnd type="none" w="med" len="med"/>
                    </a:lnR>
                    <a:lnT>
                      <a:noFill/>
                    </a:lnT>
                    <a:lnB>
                      <a:noFill/>
                    </a:lnB>
                    <a:noFill/>
                  </a:tcPr>
                </a:tc>
                <a:tc>
                  <a:txBody>
                    <a:bodyPr/>
                    <a:lstStyle/>
                    <a:p>
                      <a:pPr algn="ctr" fontAlgn="b">
                        <a:buNone/>
                      </a:pPr>
                      <a:r>
                        <a:rPr lang="es-AR" sz="1100" b="0" i="0" u="none" strike="noStrike">
                          <a:solidFill>
                            <a:srgbClr val="000000"/>
                          </a:solidFill>
                          <a:effectLst/>
                          <a:latin typeface="Lucida Bright" panose="02040602050505020304" pitchFamily="18" charset="0"/>
                        </a:rPr>
                        <a:t>0.176***</a:t>
                      </a:r>
                    </a:p>
                  </a:txBody>
                  <a:tcPr marL="9525" marR="9525" marT="9525" marB="0" anchor="b">
                    <a:lnL w="6350" cap="flat" cmpd="sng" algn="ctr">
                      <a:solidFill>
                        <a:srgbClr val="000000"/>
                      </a:solidFill>
                      <a:prstDash val="dot"/>
                      <a:round/>
                      <a:headEnd type="none" w="med" len="med"/>
                      <a:tailEnd type="none" w="med" len="med"/>
                    </a:lnL>
                    <a:lnR w="6350" cap="flat" cmpd="sng" algn="ctr">
                      <a:solidFill>
                        <a:srgbClr val="000000"/>
                      </a:solidFill>
                      <a:prstDash val="solid"/>
                      <a:round/>
                      <a:headEnd type="none" w="med" len="med"/>
                      <a:tailEnd type="none" w="med" len="med"/>
                    </a:lnR>
                    <a:lnT>
                      <a:noFill/>
                    </a:lnT>
                    <a:lnB>
                      <a:noFill/>
                    </a:lnB>
                    <a:solidFill>
                      <a:srgbClr val="E2EFDA"/>
                    </a:solidFill>
                  </a:tcPr>
                </a:tc>
                <a:tc>
                  <a:txBody>
                    <a:bodyPr/>
                    <a:lstStyle/>
                    <a:p>
                      <a:pPr algn="ctr" fontAlgn="b">
                        <a:buNone/>
                      </a:pPr>
                      <a:r>
                        <a:rPr lang="es-AR" sz="1100" b="0" i="0" u="none" strike="noStrike">
                          <a:solidFill>
                            <a:srgbClr val="000000"/>
                          </a:solidFill>
                          <a:effectLst/>
                          <a:latin typeface="Lucida Bright" panose="02040602050505020304" pitchFamily="18" charset="0"/>
                        </a:rPr>
                        <a:t> </a:t>
                      </a:r>
                    </a:p>
                  </a:txBody>
                  <a:tcPr marL="9525" marR="9525" marT="9525" marB="0" anchor="b">
                    <a:lnL w="6350" cap="flat" cmpd="sng" algn="ctr">
                      <a:solidFill>
                        <a:srgbClr val="000000"/>
                      </a:solidFill>
                      <a:prstDash val="solid"/>
                      <a:round/>
                      <a:headEnd type="none" w="med" len="med"/>
                      <a:tailEnd type="none" w="med" len="med"/>
                    </a:lnL>
                    <a:lnR w="6350" cap="flat" cmpd="sng" algn="ctr">
                      <a:solidFill>
                        <a:srgbClr val="000000"/>
                      </a:solidFill>
                      <a:prstDash val="dot"/>
                      <a:round/>
                      <a:headEnd type="none" w="med" len="med"/>
                      <a:tailEnd type="none" w="med" len="med"/>
                    </a:lnR>
                    <a:lnT>
                      <a:noFill/>
                    </a:lnT>
                    <a:lnB>
                      <a:noFill/>
                    </a:lnB>
                    <a:noFill/>
                  </a:tcPr>
                </a:tc>
                <a:tc>
                  <a:txBody>
                    <a:bodyPr/>
                    <a:lstStyle/>
                    <a:p>
                      <a:pPr algn="ctr" fontAlgn="b">
                        <a:buNone/>
                      </a:pPr>
                      <a:r>
                        <a:rPr lang="es-AR" sz="1100" b="0" i="0" u="none" strike="noStrike">
                          <a:solidFill>
                            <a:srgbClr val="000000"/>
                          </a:solidFill>
                          <a:effectLst/>
                          <a:latin typeface="Lucida Bright" panose="02040602050505020304" pitchFamily="18" charset="0"/>
                        </a:rPr>
                        <a:t> </a:t>
                      </a:r>
                    </a:p>
                  </a:txBody>
                  <a:tcPr marL="9525" marR="9525" marT="9525" marB="0" anchor="b">
                    <a:lnL w="6350" cap="flat" cmpd="sng" algn="ctr">
                      <a:solidFill>
                        <a:srgbClr val="000000"/>
                      </a:solidFill>
                      <a:prstDash val="dot"/>
                      <a:round/>
                      <a:headEnd type="none" w="med" len="med"/>
                      <a:tailEnd type="none" w="med" len="med"/>
                    </a:lnL>
                    <a:lnR w="6350" cap="flat" cmpd="sng" algn="ctr">
                      <a:solidFill>
                        <a:srgbClr val="000000"/>
                      </a:solidFill>
                      <a:prstDash val="dot"/>
                      <a:round/>
                      <a:headEnd type="none" w="med" len="med"/>
                      <a:tailEnd type="none" w="med" len="med"/>
                    </a:lnR>
                    <a:lnT>
                      <a:noFill/>
                    </a:lnT>
                    <a:lnB>
                      <a:noFill/>
                    </a:lnB>
                    <a:noFill/>
                  </a:tcPr>
                </a:tc>
                <a:tc>
                  <a:txBody>
                    <a:bodyPr/>
                    <a:lstStyle/>
                    <a:p>
                      <a:pPr algn="ctr" fontAlgn="b">
                        <a:buNone/>
                      </a:pPr>
                      <a:r>
                        <a:rPr lang="es-AR" sz="1100" b="0" i="0" u="none" strike="noStrike">
                          <a:solidFill>
                            <a:srgbClr val="000000"/>
                          </a:solidFill>
                          <a:effectLst/>
                          <a:latin typeface="Lucida Bright" panose="02040602050505020304" pitchFamily="18" charset="0"/>
                        </a:rPr>
                        <a:t>0.177***</a:t>
                      </a:r>
                    </a:p>
                  </a:txBody>
                  <a:tcPr marL="9525" marR="9525" marT="9525" marB="0" anchor="b">
                    <a:lnL w="6350" cap="flat" cmpd="sng" algn="ctr">
                      <a:solidFill>
                        <a:srgbClr val="000000"/>
                      </a:solidFill>
                      <a:prstDash val="dot"/>
                      <a:round/>
                      <a:headEnd type="none" w="med" len="med"/>
                      <a:tailEnd type="none" w="med" len="med"/>
                    </a:lnL>
                    <a:lnR w="6350" cap="flat" cmpd="sng" algn="ctr">
                      <a:solidFill>
                        <a:srgbClr val="000000"/>
                      </a:solidFill>
                      <a:prstDash val="solid"/>
                      <a:round/>
                      <a:headEnd type="none" w="med" len="med"/>
                      <a:tailEnd type="none" w="med" len="med"/>
                    </a:lnR>
                    <a:lnT>
                      <a:noFill/>
                    </a:lnT>
                    <a:lnB>
                      <a:noFill/>
                    </a:lnB>
                    <a:solidFill>
                      <a:srgbClr val="E2EFDA"/>
                    </a:solidFill>
                  </a:tcPr>
                </a:tc>
                <a:extLst>
                  <a:ext uri="{0D108BD9-81ED-4DB2-BD59-A6C34878D82A}">
                    <a16:rowId xmlns:a16="http://schemas.microsoft.com/office/drawing/2014/main" val="3986889106"/>
                  </a:ext>
                </a:extLst>
              </a:tr>
              <a:tr h="190500">
                <a:tc>
                  <a:txBody>
                    <a:bodyPr/>
                    <a:lstStyle/>
                    <a:p>
                      <a:pPr algn="l" fontAlgn="b">
                        <a:buNone/>
                      </a:pPr>
                      <a:r>
                        <a:rPr lang="es-AR" sz="1100" b="0" i="0" u="none" strike="noStrike">
                          <a:solidFill>
                            <a:srgbClr val="000000"/>
                          </a:solidFill>
                          <a:effectLst/>
                          <a:latin typeface="Lucida Bright" panose="02040602050505020304" pitchFamily="18" charset="0"/>
                        </a:rPr>
                        <a:t>log(GEBC)</a:t>
                      </a:r>
                    </a:p>
                  </a:txBody>
                  <a:tcPr marL="9525" marR="9525" marT="9525"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b">
                        <a:buNone/>
                      </a:pPr>
                      <a:r>
                        <a:rPr lang="es-AR" sz="1100" b="0" i="0" u="none" strike="noStrike">
                          <a:solidFill>
                            <a:srgbClr val="000000"/>
                          </a:solidFill>
                          <a:effectLst/>
                          <a:latin typeface="Lucida Bright" panose="02040602050505020304" pitchFamily="18" charset="0"/>
                        </a:rPr>
                        <a:t> </a:t>
                      </a:r>
                    </a:p>
                  </a:txBody>
                  <a:tcPr marL="9525" marR="9525" marT="9525" marB="0" anchor="b">
                    <a:lnL w="6350" cap="flat" cmpd="sng" algn="ctr">
                      <a:solidFill>
                        <a:srgbClr val="000000"/>
                      </a:solidFill>
                      <a:prstDash val="solid"/>
                      <a:round/>
                      <a:headEnd type="none" w="med" len="med"/>
                      <a:tailEnd type="none" w="med" len="med"/>
                    </a:lnL>
                    <a:lnR w="6350" cap="flat" cmpd="sng" algn="ctr">
                      <a:solidFill>
                        <a:srgbClr val="000000"/>
                      </a:solidFill>
                      <a:prstDash val="dot"/>
                      <a:round/>
                      <a:headEnd type="none" w="med" len="med"/>
                      <a:tailEnd type="none" w="med" len="med"/>
                    </a:lnR>
                    <a:lnT>
                      <a:noFill/>
                    </a:lnT>
                    <a:lnB>
                      <a:noFill/>
                    </a:lnB>
                    <a:noFill/>
                  </a:tcPr>
                </a:tc>
                <a:tc>
                  <a:txBody>
                    <a:bodyPr/>
                    <a:lstStyle/>
                    <a:p>
                      <a:pPr algn="ctr" fontAlgn="b">
                        <a:buNone/>
                      </a:pPr>
                      <a:r>
                        <a:rPr lang="es-AR" sz="1100" b="0" i="0" u="none" strike="noStrike">
                          <a:solidFill>
                            <a:srgbClr val="000000"/>
                          </a:solidFill>
                          <a:effectLst/>
                          <a:latin typeface="Lucida Bright" panose="02040602050505020304" pitchFamily="18" charset="0"/>
                        </a:rPr>
                        <a:t> </a:t>
                      </a:r>
                    </a:p>
                  </a:txBody>
                  <a:tcPr marL="9525" marR="9525" marT="9525" marB="0" anchor="b">
                    <a:lnL w="6350" cap="flat" cmpd="sng" algn="ctr">
                      <a:solidFill>
                        <a:srgbClr val="000000"/>
                      </a:solidFill>
                      <a:prstDash val="dot"/>
                      <a:round/>
                      <a:headEnd type="none" w="med" len="med"/>
                      <a:tailEnd type="none" w="med" len="med"/>
                    </a:lnL>
                    <a:lnR w="6350" cap="flat" cmpd="sng" algn="ctr">
                      <a:solidFill>
                        <a:srgbClr val="000000"/>
                      </a:solidFill>
                      <a:prstDash val="dot"/>
                      <a:round/>
                      <a:headEnd type="none" w="med" len="med"/>
                      <a:tailEnd type="none" w="med" len="med"/>
                    </a:lnR>
                    <a:lnT>
                      <a:noFill/>
                    </a:lnT>
                    <a:lnB>
                      <a:noFill/>
                    </a:lnB>
                    <a:noFill/>
                  </a:tcPr>
                </a:tc>
                <a:tc>
                  <a:txBody>
                    <a:bodyPr/>
                    <a:lstStyle/>
                    <a:p>
                      <a:pPr algn="ctr" fontAlgn="b">
                        <a:buNone/>
                      </a:pPr>
                      <a:r>
                        <a:rPr lang="es-AR" sz="1100" b="0" i="0" u="none" strike="noStrike">
                          <a:solidFill>
                            <a:srgbClr val="000000"/>
                          </a:solidFill>
                          <a:effectLst/>
                          <a:latin typeface="Lucida Bright" panose="02040602050505020304" pitchFamily="18" charset="0"/>
                        </a:rPr>
                        <a:t> </a:t>
                      </a:r>
                    </a:p>
                  </a:txBody>
                  <a:tcPr marL="9525" marR="9525" marT="9525" marB="0" anchor="b">
                    <a:lnL w="6350" cap="flat" cmpd="sng" algn="ctr">
                      <a:solidFill>
                        <a:srgbClr val="000000"/>
                      </a:solidFill>
                      <a:prstDash val="dot"/>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b">
                        <a:buNone/>
                      </a:pPr>
                      <a:r>
                        <a:rPr lang="es-AR" sz="1100" b="0" i="0" u="none" strike="noStrike">
                          <a:solidFill>
                            <a:srgbClr val="000000"/>
                          </a:solidFill>
                          <a:effectLst/>
                          <a:latin typeface="Lucida Bright" panose="02040602050505020304" pitchFamily="18" charset="0"/>
                        </a:rPr>
                        <a:t>-0.118</a:t>
                      </a:r>
                    </a:p>
                  </a:txBody>
                  <a:tcPr marL="9525" marR="9525" marT="9525" marB="0" anchor="b">
                    <a:lnL w="6350" cap="flat" cmpd="sng" algn="ctr">
                      <a:solidFill>
                        <a:srgbClr val="000000"/>
                      </a:solidFill>
                      <a:prstDash val="solid"/>
                      <a:round/>
                      <a:headEnd type="none" w="med" len="med"/>
                      <a:tailEnd type="none" w="med" len="med"/>
                    </a:lnL>
                    <a:lnR w="6350" cap="flat" cmpd="sng" algn="ctr">
                      <a:solidFill>
                        <a:srgbClr val="000000"/>
                      </a:solidFill>
                      <a:prstDash val="dot"/>
                      <a:round/>
                      <a:headEnd type="none" w="med" len="med"/>
                      <a:tailEnd type="none" w="med" len="med"/>
                    </a:lnR>
                    <a:lnT>
                      <a:noFill/>
                    </a:lnT>
                    <a:lnB>
                      <a:noFill/>
                    </a:lnB>
                    <a:noFill/>
                  </a:tcPr>
                </a:tc>
                <a:tc>
                  <a:txBody>
                    <a:bodyPr/>
                    <a:lstStyle/>
                    <a:p>
                      <a:pPr algn="ctr" fontAlgn="b">
                        <a:buNone/>
                      </a:pPr>
                      <a:r>
                        <a:rPr lang="es-AR" sz="1100" b="0" i="0" u="none" strike="noStrike">
                          <a:solidFill>
                            <a:srgbClr val="000000"/>
                          </a:solidFill>
                          <a:effectLst/>
                          <a:latin typeface="Lucida Bright" panose="02040602050505020304" pitchFamily="18" charset="0"/>
                        </a:rPr>
                        <a:t>-0.124</a:t>
                      </a:r>
                    </a:p>
                  </a:txBody>
                  <a:tcPr marL="9525" marR="9525" marT="9525" marB="0" anchor="b">
                    <a:lnL w="6350" cap="flat" cmpd="sng" algn="ctr">
                      <a:solidFill>
                        <a:srgbClr val="000000"/>
                      </a:solidFill>
                      <a:prstDash val="dot"/>
                      <a:round/>
                      <a:headEnd type="none" w="med" len="med"/>
                      <a:tailEnd type="none" w="med" len="med"/>
                    </a:lnL>
                    <a:lnR w="6350" cap="flat" cmpd="sng" algn="ctr">
                      <a:solidFill>
                        <a:srgbClr val="000000"/>
                      </a:solidFill>
                      <a:prstDash val="dot"/>
                      <a:round/>
                      <a:headEnd type="none" w="med" len="med"/>
                      <a:tailEnd type="none" w="med" len="med"/>
                    </a:lnR>
                    <a:lnT>
                      <a:noFill/>
                    </a:lnT>
                    <a:lnB>
                      <a:noFill/>
                    </a:lnB>
                    <a:noFill/>
                  </a:tcPr>
                </a:tc>
                <a:tc>
                  <a:txBody>
                    <a:bodyPr/>
                    <a:lstStyle/>
                    <a:p>
                      <a:pPr algn="ctr" fontAlgn="b">
                        <a:buNone/>
                      </a:pPr>
                      <a:r>
                        <a:rPr lang="es-AR" sz="1100" b="0" i="0" u="none" strike="noStrike">
                          <a:solidFill>
                            <a:srgbClr val="000000"/>
                          </a:solidFill>
                          <a:effectLst/>
                          <a:latin typeface="Lucida Bright" panose="02040602050505020304" pitchFamily="18" charset="0"/>
                        </a:rPr>
                        <a:t>-0.254</a:t>
                      </a:r>
                    </a:p>
                  </a:txBody>
                  <a:tcPr marL="9525" marR="9525" marT="9525" marB="0" anchor="b">
                    <a:lnL w="6350" cap="flat" cmpd="sng" algn="ctr">
                      <a:solidFill>
                        <a:srgbClr val="000000"/>
                      </a:solidFill>
                      <a:prstDash val="dot"/>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b">
                        <a:buNone/>
                      </a:pPr>
                      <a:r>
                        <a:rPr lang="es-AR" sz="1100" b="0" i="0" u="none" strike="noStrike">
                          <a:solidFill>
                            <a:srgbClr val="000000"/>
                          </a:solidFill>
                          <a:effectLst/>
                          <a:latin typeface="Lucida Bright" panose="02040602050505020304" pitchFamily="18" charset="0"/>
                        </a:rPr>
                        <a:t> </a:t>
                      </a:r>
                    </a:p>
                  </a:txBody>
                  <a:tcPr marL="9525" marR="9525" marT="9525" marB="0" anchor="b">
                    <a:lnL w="6350" cap="flat" cmpd="sng" algn="ctr">
                      <a:solidFill>
                        <a:srgbClr val="000000"/>
                      </a:solidFill>
                      <a:prstDash val="solid"/>
                      <a:round/>
                      <a:headEnd type="none" w="med" len="med"/>
                      <a:tailEnd type="none" w="med" len="med"/>
                    </a:lnL>
                    <a:lnR w="6350" cap="flat" cmpd="sng" algn="ctr">
                      <a:solidFill>
                        <a:srgbClr val="000000"/>
                      </a:solidFill>
                      <a:prstDash val="dot"/>
                      <a:round/>
                      <a:headEnd type="none" w="med" len="med"/>
                      <a:tailEnd type="none" w="med" len="med"/>
                    </a:lnR>
                    <a:lnT>
                      <a:noFill/>
                    </a:lnT>
                    <a:lnB>
                      <a:noFill/>
                    </a:lnB>
                    <a:noFill/>
                  </a:tcPr>
                </a:tc>
                <a:tc>
                  <a:txBody>
                    <a:bodyPr/>
                    <a:lstStyle/>
                    <a:p>
                      <a:pPr algn="ctr" fontAlgn="b">
                        <a:buNone/>
                      </a:pPr>
                      <a:r>
                        <a:rPr lang="es-AR" sz="1100" b="0" i="0" u="none" strike="noStrike">
                          <a:solidFill>
                            <a:srgbClr val="000000"/>
                          </a:solidFill>
                          <a:effectLst/>
                          <a:latin typeface="Lucida Bright" panose="02040602050505020304" pitchFamily="18" charset="0"/>
                        </a:rPr>
                        <a:t> </a:t>
                      </a:r>
                    </a:p>
                  </a:txBody>
                  <a:tcPr marL="9525" marR="9525" marT="9525" marB="0" anchor="b">
                    <a:lnL w="6350" cap="flat" cmpd="sng" algn="ctr">
                      <a:solidFill>
                        <a:srgbClr val="000000"/>
                      </a:solidFill>
                      <a:prstDash val="dot"/>
                      <a:round/>
                      <a:headEnd type="none" w="med" len="med"/>
                      <a:tailEnd type="none" w="med" len="med"/>
                    </a:lnL>
                    <a:lnR w="6350" cap="flat" cmpd="sng" algn="ctr">
                      <a:solidFill>
                        <a:srgbClr val="000000"/>
                      </a:solidFill>
                      <a:prstDash val="dot"/>
                      <a:round/>
                      <a:headEnd type="none" w="med" len="med"/>
                      <a:tailEnd type="none" w="med" len="med"/>
                    </a:lnR>
                    <a:lnT>
                      <a:noFill/>
                    </a:lnT>
                    <a:lnB>
                      <a:noFill/>
                    </a:lnB>
                    <a:noFill/>
                  </a:tcPr>
                </a:tc>
                <a:tc>
                  <a:txBody>
                    <a:bodyPr/>
                    <a:lstStyle/>
                    <a:p>
                      <a:pPr algn="ctr" fontAlgn="b">
                        <a:buNone/>
                      </a:pPr>
                      <a:r>
                        <a:rPr lang="es-AR" sz="1100" b="0" i="0" u="none" strike="noStrike">
                          <a:solidFill>
                            <a:srgbClr val="000000"/>
                          </a:solidFill>
                          <a:effectLst/>
                          <a:latin typeface="Lucida Bright" panose="02040602050505020304" pitchFamily="18" charset="0"/>
                        </a:rPr>
                        <a:t> </a:t>
                      </a:r>
                    </a:p>
                  </a:txBody>
                  <a:tcPr marL="9525" marR="9525" marT="9525" marB="0" anchor="b">
                    <a:lnL w="6350" cap="flat" cmpd="sng" algn="ctr">
                      <a:solidFill>
                        <a:srgbClr val="000000"/>
                      </a:solidFill>
                      <a:prstDash val="dot"/>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b">
                        <a:buNone/>
                      </a:pPr>
                      <a:r>
                        <a:rPr lang="es-AR" sz="1100" b="0" i="0" u="none" strike="noStrike">
                          <a:solidFill>
                            <a:srgbClr val="000000"/>
                          </a:solidFill>
                          <a:effectLst/>
                          <a:latin typeface="Lucida Bright" panose="02040602050505020304" pitchFamily="18" charset="0"/>
                        </a:rPr>
                        <a:t>-0.021</a:t>
                      </a:r>
                    </a:p>
                  </a:txBody>
                  <a:tcPr marL="9525" marR="9525" marT="9525" marB="0" anchor="b">
                    <a:lnL w="6350" cap="flat" cmpd="sng" algn="ctr">
                      <a:solidFill>
                        <a:srgbClr val="000000"/>
                      </a:solidFill>
                      <a:prstDash val="solid"/>
                      <a:round/>
                      <a:headEnd type="none" w="med" len="med"/>
                      <a:tailEnd type="none" w="med" len="med"/>
                    </a:lnL>
                    <a:lnR w="6350" cap="flat" cmpd="sng" algn="ctr">
                      <a:solidFill>
                        <a:srgbClr val="000000"/>
                      </a:solidFill>
                      <a:prstDash val="dot"/>
                      <a:round/>
                      <a:headEnd type="none" w="med" len="med"/>
                      <a:tailEnd type="none" w="med" len="med"/>
                    </a:lnR>
                    <a:lnT>
                      <a:noFill/>
                    </a:lnT>
                    <a:lnB>
                      <a:noFill/>
                    </a:lnB>
                    <a:noFill/>
                  </a:tcPr>
                </a:tc>
                <a:tc>
                  <a:txBody>
                    <a:bodyPr/>
                    <a:lstStyle/>
                    <a:p>
                      <a:pPr algn="ctr" fontAlgn="b">
                        <a:buNone/>
                      </a:pPr>
                      <a:r>
                        <a:rPr lang="es-AR" sz="1100" b="0" i="0" u="none" strike="noStrike">
                          <a:solidFill>
                            <a:srgbClr val="000000"/>
                          </a:solidFill>
                          <a:effectLst/>
                          <a:latin typeface="Lucida Bright" panose="02040602050505020304" pitchFamily="18" charset="0"/>
                        </a:rPr>
                        <a:t>-0.026</a:t>
                      </a:r>
                    </a:p>
                  </a:txBody>
                  <a:tcPr marL="9525" marR="9525" marT="9525" marB="0" anchor="b">
                    <a:lnL w="6350" cap="flat" cmpd="sng" algn="ctr">
                      <a:solidFill>
                        <a:srgbClr val="000000"/>
                      </a:solidFill>
                      <a:prstDash val="dot"/>
                      <a:round/>
                      <a:headEnd type="none" w="med" len="med"/>
                      <a:tailEnd type="none" w="med" len="med"/>
                    </a:lnL>
                    <a:lnR w="6350" cap="flat" cmpd="sng" algn="ctr">
                      <a:solidFill>
                        <a:srgbClr val="000000"/>
                      </a:solidFill>
                      <a:prstDash val="dot"/>
                      <a:round/>
                      <a:headEnd type="none" w="med" len="med"/>
                      <a:tailEnd type="none" w="med" len="med"/>
                    </a:lnR>
                    <a:lnT>
                      <a:noFill/>
                    </a:lnT>
                    <a:lnB>
                      <a:noFill/>
                    </a:lnB>
                    <a:noFill/>
                  </a:tcPr>
                </a:tc>
                <a:tc>
                  <a:txBody>
                    <a:bodyPr/>
                    <a:lstStyle/>
                    <a:p>
                      <a:pPr algn="ctr" fontAlgn="b">
                        <a:buNone/>
                      </a:pPr>
                      <a:r>
                        <a:rPr lang="es-AR" sz="1100" b="0" i="0" u="none" strike="noStrike">
                          <a:solidFill>
                            <a:srgbClr val="000000"/>
                          </a:solidFill>
                          <a:effectLst/>
                          <a:latin typeface="Lucida Bright" panose="02040602050505020304" pitchFamily="18" charset="0"/>
                        </a:rPr>
                        <a:t>-0.044</a:t>
                      </a:r>
                    </a:p>
                  </a:txBody>
                  <a:tcPr marL="9525" marR="9525" marT="9525" marB="0" anchor="b">
                    <a:lnL w="6350" cap="flat" cmpd="sng" algn="ctr">
                      <a:solidFill>
                        <a:srgbClr val="000000"/>
                      </a:solidFill>
                      <a:prstDash val="dot"/>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extLst>
                  <a:ext uri="{0D108BD9-81ED-4DB2-BD59-A6C34878D82A}">
                    <a16:rowId xmlns:a16="http://schemas.microsoft.com/office/drawing/2014/main" val="4101866069"/>
                  </a:ext>
                </a:extLst>
              </a:tr>
              <a:tr h="190500">
                <a:tc>
                  <a:txBody>
                    <a:bodyPr/>
                    <a:lstStyle/>
                    <a:p>
                      <a:pPr algn="l" fontAlgn="b">
                        <a:buNone/>
                      </a:pPr>
                      <a:r>
                        <a:rPr lang="es-AR" sz="1100" b="0" i="0" u="none" strike="noStrike">
                          <a:solidFill>
                            <a:srgbClr val="000000"/>
                          </a:solidFill>
                          <a:effectLst/>
                          <a:latin typeface="Lucida Bright" panose="02040602050505020304" pitchFamily="18" charset="0"/>
                        </a:rPr>
                        <a:t>log(API)</a:t>
                      </a:r>
                    </a:p>
                  </a:txBody>
                  <a:tcPr marL="9525" marR="9525" marT="9525"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noFill/>
                  </a:tcPr>
                </a:tc>
                <a:tc>
                  <a:txBody>
                    <a:bodyPr/>
                    <a:lstStyle/>
                    <a:p>
                      <a:pPr algn="ctr" fontAlgn="b">
                        <a:buNone/>
                      </a:pPr>
                      <a:r>
                        <a:rPr lang="es-AR" sz="1100" b="0" i="0" u="none" strike="noStrike">
                          <a:solidFill>
                            <a:srgbClr val="000000"/>
                          </a:solidFill>
                          <a:effectLst/>
                          <a:latin typeface="Lucida Bright" panose="02040602050505020304" pitchFamily="18" charset="0"/>
                        </a:rPr>
                        <a:t> </a:t>
                      </a:r>
                    </a:p>
                  </a:txBody>
                  <a:tcPr marL="9525" marR="9525" marT="9525" marB="0" anchor="b">
                    <a:lnL w="6350" cap="flat" cmpd="sng" algn="ctr">
                      <a:solidFill>
                        <a:srgbClr val="000000"/>
                      </a:solidFill>
                      <a:prstDash val="solid"/>
                      <a:round/>
                      <a:headEnd type="none" w="med" len="med"/>
                      <a:tailEnd type="none" w="med" len="med"/>
                    </a:lnL>
                    <a:lnR w="6350" cap="flat" cmpd="sng" algn="ctr">
                      <a:solidFill>
                        <a:srgbClr val="000000"/>
                      </a:solidFill>
                      <a:prstDash val="dot"/>
                      <a:round/>
                      <a:headEnd type="none" w="med" len="med"/>
                      <a:tailEnd type="none" w="med" len="med"/>
                    </a:lnR>
                    <a:lnT>
                      <a:noFill/>
                    </a:lnT>
                    <a:lnB w="6350" cap="flat" cmpd="sng" algn="ctr">
                      <a:solidFill>
                        <a:srgbClr val="000000"/>
                      </a:solidFill>
                      <a:prstDash val="solid"/>
                      <a:round/>
                      <a:headEnd type="none" w="med" len="med"/>
                      <a:tailEnd type="none" w="med" len="med"/>
                    </a:lnB>
                    <a:noFill/>
                  </a:tcPr>
                </a:tc>
                <a:tc>
                  <a:txBody>
                    <a:bodyPr/>
                    <a:lstStyle/>
                    <a:p>
                      <a:pPr algn="ctr" fontAlgn="b">
                        <a:buNone/>
                      </a:pPr>
                      <a:r>
                        <a:rPr lang="es-AR" sz="1100" b="0" i="0" u="none" strike="noStrike">
                          <a:solidFill>
                            <a:srgbClr val="000000"/>
                          </a:solidFill>
                          <a:effectLst/>
                          <a:latin typeface="Lucida Bright" panose="02040602050505020304" pitchFamily="18" charset="0"/>
                        </a:rPr>
                        <a:t> </a:t>
                      </a:r>
                    </a:p>
                  </a:txBody>
                  <a:tcPr marL="9525" marR="9525" marT="9525" marB="0" anchor="b">
                    <a:lnL w="6350" cap="flat" cmpd="sng" algn="ctr">
                      <a:solidFill>
                        <a:srgbClr val="000000"/>
                      </a:solidFill>
                      <a:prstDash val="dot"/>
                      <a:round/>
                      <a:headEnd type="none" w="med" len="med"/>
                      <a:tailEnd type="none" w="med" len="med"/>
                    </a:lnL>
                    <a:lnR w="6350" cap="flat" cmpd="sng" algn="ctr">
                      <a:solidFill>
                        <a:srgbClr val="000000"/>
                      </a:solidFill>
                      <a:prstDash val="dot"/>
                      <a:round/>
                      <a:headEnd type="none" w="med" len="med"/>
                      <a:tailEnd type="none" w="med" len="med"/>
                    </a:lnR>
                    <a:lnT>
                      <a:noFill/>
                    </a:lnT>
                    <a:lnB w="6350" cap="flat" cmpd="sng" algn="ctr">
                      <a:solidFill>
                        <a:srgbClr val="000000"/>
                      </a:solidFill>
                      <a:prstDash val="solid"/>
                      <a:round/>
                      <a:headEnd type="none" w="med" len="med"/>
                      <a:tailEnd type="none" w="med" len="med"/>
                    </a:lnB>
                    <a:noFill/>
                  </a:tcPr>
                </a:tc>
                <a:tc>
                  <a:txBody>
                    <a:bodyPr/>
                    <a:lstStyle/>
                    <a:p>
                      <a:pPr algn="ctr" fontAlgn="b">
                        <a:buNone/>
                      </a:pPr>
                      <a:r>
                        <a:rPr lang="es-AR" sz="1100" b="0" i="0" u="none" strike="noStrike">
                          <a:solidFill>
                            <a:srgbClr val="000000"/>
                          </a:solidFill>
                          <a:effectLst/>
                          <a:latin typeface="Lucida Bright" panose="02040602050505020304" pitchFamily="18" charset="0"/>
                        </a:rPr>
                        <a:t> </a:t>
                      </a:r>
                    </a:p>
                  </a:txBody>
                  <a:tcPr marL="9525" marR="9525" marT="9525" marB="0" anchor="b">
                    <a:lnL w="6350" cap="flat" cmpd="sng" algn="ctr">
                      <a:solidFill>
                        <a:srgbClr val="000000"/>
                      </a:solidFill>
                      <a:prstDash val="dot"/>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noFill/>
                  </a:tcPr>
                </a:tc>
                <a:tc>
                  <a:txBody>
                    <a:bodyPr/>
                    <a:lstStyle/>
                    <a:p>
                      <a:pPr algn="ctr" fontAlgn="b">
                        <a:buNone/>
                      </a:pPr>
                      <a:r>
                        <a:rPr lang="es-AR" sz="1100" b="0" i="0" u="none" strike="noStrike">
                          <a:solidFill>
                            <a:srgbClr val="000000"/>
                          </a:solidFill>
                          <a:effectLst/>
                          <a:latin typeface="Lucida Bright" panose="02040602050505020304" pitchFamily="18" charset="0"/>
                        </a:rPr>
                        <a:t> </a:t>
                      </a:r>
                    </a:p>
                  </a:txBody>
                  <a:tcPr marL="9525" marR="9525" marT="9525" marB="0" anchor="b">
                    <a:lnL w="6350" cap="flat" cmpd="sng" algn="ctr">
                      <a:solidFill>
                        <a:srgbClr val="000000"/>
                      </a:solidFill>
                      <a:prstDash val="solid"/>
                      <a:round/>
                      <a:headEnd type="none" w="med" len="med"/>
                      <a:tailEnd type="none" w="med" len="med"/>
                    </a:lnL>
                    <a:lnR w="6350" cap="flat" cmpd="sng" algn="ctr">
                      <a:solidFill>
                        <a:srgbClr val="000000"/>
                      </a:solidFill>
                      <a:prstDash val="dot"/>
                      <a:round/>
                      <a:headEnd type="none" w="med" len="med"/>
                      <a:tailEnd type="none" w="med" len="med"/>
                    </a:lnR>
                    <a:lnT>
                      <a:noFill/>
                    </a:lnT>
                    <a:lnB w="6350" cap="flat" cmpd="sng" algn="ctr">
                      <a:solidFill>
                        <a:srgbClr val="000000"/>
                      </a:solidFill>
                      <a:prstDash val="solid"/>
                      <a:round/>
                      <a:headEnd type="none" w="med" len="med"/>
                      <a:tailEnd type="none" w="med" len="med"/>
                    </a:lnB>
                    <a:noFill/>
                  </a:tcPr>
                </a:tc>
                <a:tc>
                  <a:txBody>
                    <a:bodyPr/>
                    <a:lstStyle/>
                    <a:p>
                      <a:pPr algn="ctr" fontAlgn="b">
                        <a:buNone/>
                      </a:pPr>
                      <a:r>
                        <a:rPr lang="es-AR" sz="1100" b="0" i="0" u="none" strike="noStrike">
                          <a:solidFill>
                            <a:srgbClr val="000000"/>
                          </a:solidFill>
                          <a:effectLst/>
                          <a:latin typeface="Lucida Bright" panose="02040602050505020304" pitchFamily="18" charset="0"/>
                        </a:rPr>
                        <a:t> </a:t>
                      </a:r>
                    </a:p>
                  </a:txBody>
                  <a:tcPr marL="9525" marR="9525" marT="9525" marB="0" anchor="b">
                    <a:lnL w="6350" cap="flat" cmpd="sng" algn="ctr">
                      <a:solidFill>
                        <a:srgbClr val="000000"/>
                      </a:solidFill>
                      <a:prstDash val="dot"/>
                      <a:round/>
                      <a:headEnd type="none" w="med" len="med"/>
                      <a:tailEnd type="none" w="med" len="med"/>
                    </a:lnL>
                    <a:lnR w="6350" cap="flat" cmpd="sng" algn="ctr">
                      <a:solidFill>
                        <a:srgbClr val="000000"/>
                      </a:solidFill>
                      <a:prstDash val="dot"/>
                      <a:round/>
                      <a:headEnd type="none" w="med" len="med"/>
                      <a:tailEnd type="none" w="med" len="med"/>
                    </a:lnR>
                    <a:lnT>
                      <a:noFill/>
                    </a:lnT>
                    <a:lnB w="6350" cap="flat" cmpd="sng" algn="ctr">
                      <a:solidFill>
                        <a:srgbClr val="000000"/>
                      </a:solidFill>
                      <a:prstDash val="solid"/>
                      <a:round/>
                      <a:headEnd type="none" w="med" len="med"/>
                      <a:tailEnd type="none" w="med" len="med"/>
                    </a:lnB>
                    <a:noFill/>
                  </a:tcPr>
                </a:tc>
                <a:tc>
                  <a:txBody>
                    <a:bodyPr/>
                    <a:lstStyle/>
                    <a:p>
                      <a:pPr algn="ctr" fontAlgn="b">
                        <a:buNone/>
                      </a:pPr>
                      <a:r>
                        <a:rPr lang="es-AR" sz="1100" b="0" i="0" u="none" strike="noStrike">
                          <a:solidFill>
                            <a:srgbClr val="000000"/>
                          </a:solidFill>
                          <a:effectLst/>
                          <a:latin typeface="Lucida Bright" panose="02040602050505020304" pitchFamily="18" charset="0"/>
                        </a:rPr>
                        <a:t> </a:t>
                      </a:r>
                    </a:p>
                  </a:txBody>
                  <a:tcPr marL="9525" marR="9525" marT="9525" marB="0" anchor="b">
                    <a:lnL w="6350" cap="flat" cmpd="sng" algn="ctr">
                      <a:solidFill>
                        <a:srgbClr val="000000"/>
                      </a:solidFill>
                      <a:prstDash val="dot"/>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noFill/>
                  </a:tcPr>
                </a:tc>
                <a:tc>
                  <a:txBody>
                    <a:bodyPr/>
                    <a:lstStyle/>
                    <a:p>
                      <a:pPr algn="ctr" fontAlgn="b">
                        <a:buNone/>
                      </a:pPr>
                      <a:r>
                        <a:rPr lang="es-AR" sz="1100" b="0" i="0" u="none" strike="noStrike">
                          <a:solidFill>
                            <a:srgbClr val="000000"/>
                          </a:solidFill>
                          <a:effectLst/>
                          <a:latin typeface="Lucida Bright" panose="02040602050505020304" pitchFamily="18" charset="0"/>
                        </a:rPr>
                        <a:t>1.207***</a:t>
                      </a:r>
                    </a:p>
                  </a:txBody>
                  <a:tcPr marL="9525" marR="9525" marT="9525" marB="0" anchor="b">
                    <a:lnL w="6350" cap="flat" cmpd="sng" algn="ctr">
                      <a:solidFill>
                        <a:srgbClr val="000000"/>
                      </a:solidFill>
                      <a:prstDash val="solid"/>
                      <a:round/>
                      <a:headEnd type="none" w="med" len="med"/>
                      <a:tailEnd type="none" w="med" len="med"/>
                    </a:lnL>
                    <a:lnR w="6350" cap="flat" cmpd="sng" algn="ctr">
                      <a:solidFill>
                        <a:srgbClr val="000000"/>
                      </a:solidFill>
                      <a:prstDash val="dot"/>
                      <a:round/>
                      <a:headEnd type="none" w="med" len="med"/>
                      <a:tailEnd type="none" w="med" len="med"/>
                    </a:lnR>
                    <a:lnT>
                      <a:noFill/>
                    </a:lnT>
                    <a:lnB w="6350" cap="flat" cmpd="sng" algn="ctr">
                      <a:solidFill>
                        <a:srgbClr val="000000"/>
                      </a:solidFill>
                      <a:prstDash val="solid"/>
                      <a:round/>
                      <a:headEnd type="none" w="med" len="med"/>
                      <a:tailEnd type="none" w="med" len="med"/>
                    </a:lnB>
                    <a:noFill/>
                  </a:tcPr>
                </a:tc>
                <a:tc>
                  <a:txBody>
                    <a:bodyPr/>
                    <a:lstStyle/>
                    <a:p>
                      <a:pPr algn="ctr" fontAlgn="b">
                        <a:buNone/>
                      </a:pPr>
                      <a:r>
                        <a:rPr lang="es-AR" sz="1100" b="0" i="0" u="none" strike="noStrike">
                          <a:solidFill>
                            <a:srgbClr val="000000"/>
                          </a:solidFill>
                          <a:effectLst/>
                          <a:latin typeface="Lucida Bright" panose="02040602050505020304" pitchFamily="18" charset="0"/>
                        </a:rPr>
                        <a:t>1.222***</a:t>
                      </a:r>
                    </a:p>
                  </a:txBody>
                  <a:tcPr marL="9525" marR="9525" marT="9525" marB="0" anchor="b">
                    <a:lnL w="6350" cap="flat" cmpd="sng" algn="ctr">
                      <a:solidFill>
                        <a:srgbClr val="000000"/>
                      </a:solidFill>
                      <a:prstDash val="dot"/>
                      <a:round/>
                      <a:headEnd type="none" w="med" len="med"/>
                      <a:tailEnd type="none" w="med" len="med"/>
                    </a:lnL>
                    <a:lnR w="6350" cap="flat" cmpd="sng" algn="ctr">
                      <a:solidFill>
                        <a:srgbClr val="000000"/>
                      </a:solidFill>
                      <a:prstDash val="dot"/>
                      <a:round/>
                      <a:headEnd type="none" w="med" len="med"/>
                      <a:tailEnd type="none" w="med" len="med"/>
                    </a:lnR>
                    <a:lnT>
                      <a:noFill/>
                    </a:lnT>
                    <a:lnB w="6350" cap="flat" cmpd="sng" algn="ctr">
                      <a:solidFill>
                        <a:srgbClr val="000000"/>
                      </a:solidFill>
                      <a:prstDash val="solid"/>
                      <a:round/>
                      <a:headEnd type="none" w="med" len="med"/>
                      <a:tailEnd type="none" w="med" len="med"/>
                    </a:lnB>
                    <a:noFill/>
                  </a:tcPr>
                </a:tc>
                <a:tc>
                  <a:txBody>
                    <a:bodyPr/>
                    <a:lstStyle/>
                    <a:p>
                      <a:pPr algn="ctr" fontAlgn="b">
                        <a:buNone/>
                      </a:pPr>
                      <a:r>
                        <a:rPr lang="es-AR" sz="1100" b="0" i="0" u="none" strike="noStrike">
                          <a:solidFill>
                            <a:srgbClr val="000000"/>
                          </a:solidFill>
                          <a:effectLst/>
                          <a:latin typeface="Lucida Bright" panose="02040602050505020304" pitchFamily="18" charset="0"/>
                        </a:rPr>
                        <a:t>1.232***</a:t>
                      </a:r>
                    </a:p>
                  </a:txBody>
                  <a:tcPr marL="9525" marR="9525" marT="9525" marB="0" anchor="b">
                    <a:lnL w="6350" cap="flat" cmpd="sng" algn="ctr">
                      <a:solidFill>
                        <a:srgbClr val="000000"/>
                      </a:solidFill>
                      <a:prstDash val="dot"/>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noFill/>
                  </a:tcPr>
                </a:tc>
                <a:tc>
                  <a:txBody>
                    <a:bodyPr/>
                    <a:lstStyle/>
                    <a:p>
                      <a:pPr algn="ctr" fontAlgn="b">
                        <a:buNone/>
                      </a:pPr>
                      <a:r>
                        <a:rPr lang="es-AR" sz="1100" b="0" i="0" u="none" strike="noStrike">
                          <a:solidFill>
                            <a:srgbClr val="000000"/>
                          </a:solidFill>
                          <a:effectLst/>
                          <a:latin typeface="Lucida Bright" panose="02040602050505020304" pitchFamily="18" charset="0"/>
                        </a:rPr>
                        <a:t>1.206***</a:t>
                      </a:r>
                    </a:p>
                  </a:txBody>
                  <a:tcPr marL="9525" marR="9525" marT="9525" marB="0" anchor="b">
                    <a:lnL w="6350" cap="flat" cmpd="sng" algn="ctr">
                      <a:solidFill>
                        <a:srgbClr val="000000"/>
                      </a:solidFill>
                      <a:prstDash val="solid"/>
                      <a:round/>
                      <a:headEnd type="none" w="med" len="med"/>
                      <a:tailEnd type="none" w="med" len="med"/>
                    </a:lnL>
                    <a:lnR w="6350" cap="flat" cmpd="sng" algn="ctr">
                      <a:solidFill>
                        <a:srgbClr val="000000"/>
                      </a:solidFill>
                      <a:prstDash val="dot"/>
                      <a:round/>
                      <a:headEnd type="none" w="med" len="med"/>
                      <a:tailEnd type="none" w="med" len="med"/>
                    </a:lnR>
                    <a:lnT>
                      <a:noFill/>
                    </a:lnT>
                    <a:lnB w="6350" cap="flat" cmpd="sng" algn="ctr">
                      <a:solidFill>
                        <a:srgbClr val="000000"/>
                      </a:solidFill>
                      <a:prstDash val="solid"/>
                      <a:round/>
                      <a:headEnd type="none" w="med" len="med"/>
                      <a:tailEnd type="none" w="med" len="med"/>
                    </a:lnB>
                    <a:noFill/>
                  </a:tcPr>
                </a:tc>
                <a:tc>
                  <a:txBody>
                    <a:bodyPr/>
                    <a:lstStyle/>
                    <a:p>
                      <a:pPr algn="ctr" fontAlgn="b">
                        <a:buNone/>
                      </a:pPr>
                      <a:r>
                        <a:rPr lang="es-AR" sz="1100" b="0" i="0" u="none" strike="noStrike">
                          <a:solidFill>
                            <a:srgbClr val="000000"/>
                          </a:solidFill>
                          <a:effectLst/>
                          <a:latin typeface="Lucida Bright" panose="02040602050505020304" pitchFamily="18" charset="0"/>
                        </a:rPr>
                        <a:t>1.221***</a:t>
                      </a:r>
                    </a:p>
                  </a:txBody>
                  <a:tcPr marL="9525" marR="9525" marT="9525" marB="0" anchor="b">
                    <a:lnL w="6350" cap="flat" cmpd="sng" algn="ctr">
                      <a:solidFill>
                        <a:srgbClr val="000000"/>
                      </a:solidFill>
                      <a:prstDash val="dot"/>
                      <a:round/>
                      <a:headEnd type="none" w="med" len="med"/>
                      <a:tailEnd type="none" w="med" len="med"/>
                    </a:lnL>
                    <a:lnR w="6350" cap="flat" cmpd="sng" algn="ctr">
                      <a:solidFill>
                        <a:srgbClr val="000000"/>
                      </a:solidFill>
                      <a:prstDash val="dot"/>
                      <a:round/>
                      <a:headEnd type="none" w="med" len="med"/>
                      <a:tailEnd type="none" w="med" len="med"/>
                    </a:lnR>
                    <a:lnT>
                      <a:noFill/>
                    </a:lnT>
                    <a:lnB w="6350" cap="flat" cmpd="sng" algn="ctr">
                      <a:solidFill>
                        <a:srgbClr val="000000"/>
                      </a:solidFill>
                      <a:prstDash val="solid"/>
                      <a:round/>
                      <a:headEnd type="none" w="med" len="med"/>
                      <a:tailEnd type="none" w="med" len="med"/>
                    </a:lnB>
                    <a:noFill/>
                  </a:tcPr>
                </a:tc>
                <a:tc>
                  <a:txBody>
                    <a:bodyPr/>
                    <a:lstStyle/>
                    <a:p>
                      <a:pPr algn="ctr" fontAlgn="b">
                        <a:buNone/>
                      </a:pPr>
                      <a:r>
                        <a:rPr lang="es-AR" sz="1100" b="0" i="0" u="none" strike="noStrike">
                          <a:solidFill>
                            <a:srgbClr val="000000"/>
                          </a:solidFill>
                          <a:effectLst/>
                          <a:latin typeface="Lucida Bright" panose="02040602050505020304" pitchFamily="18" charset="0"/>
                        </a:rPr>
                        <a:t>1.229***</a:t>
                      </a:r>
                    </a:p>
                  </a:txBody>
                  <a:tcPr marL="9525" marR="9525" marT="9525" marB="0" anchor="b">
                    <a:lnL w="6350" cap="flat" cmpd="sng" algn="ctr">
                      <a:solidFill>
                        <a:srgbClr val="000000"/>
                      </a:solidFill>
                      <a:prstDash val="dot"/>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1366530627"/>
                  </a:ext>
                </a:extLst>
              </a:tr>
              <a:tr h="190500">
                <a:tc>
                  <a:txBody>
                    <a:bodyPr/>
                    <a:lstStyle/>
                    <a:p>
                      <a:pPr algn="l" fontAlgn="b">
                        <a:buNone/>
                      </a:pPr>
                      <a:r>
                        <a:rPr lang="es-AR" sz="1100" b="0" i="0" u="none" strike="noStrike">
                          <a:solidFill>
                            <a:srgbClr val="000000"/>
                          </a:solidFill>
                          <a:effectLst/>
                          <a:latin typeface="Lucida Bright" panose="02040602050505020304" pitchFamily="18" charset="0"/>
                        </a:rPr>
                        <a:t>R² ajustado</a:t>
                      </a:r>
                    </a:p>
                  </a:txBody>
                  <a:tcPr marL="9525" marR="9525" marT="9525"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b">
                        <a:buNone/>
                      </a:pPr>
                      <a:r>
                        <a:rPr lang="es-AR" sz="1100" b="1" i="0" u="none" strike="noStrike" dirty="0">
                          <a:solidFill>
                            <a:srgbClr val="000000"/>
                          </a:solidFill>
                          <a:effectLst/>
                          <a:latin typeface="Lucida Bright" panose="02040602050505020304" pitchFamily="18" charset="0"/>
                        </a:rPr>
                        <a:t>0.418</a:t>
                      </a:r>
                    </a:p>
                  </a:txBody>
                  <a:tcPr marL="9525" marR="9525" marT="9525" marB="0" anchor="b">
                    <a:lnL w="6350" cap="flat" cmpd="sng" algn="ctr">
                      <a:solidFill>
                        <a:srgbClr val="000000"/>
                      </a:solidFill>
                      <a:prstDash val="solid"/>
                      <a:round/>
                      <a:headEnd type="none" w="med" len="med"/>
                      <a:tailEnd type="none" w="med" len="med"/>
                    </a:lnL>
                    <a:lnR w="6350" cap="flat" cmpd="sng" algn="ctr">
                      <a:solidFill>
                        <a:srgbClr val="000000"/>
                      </a:solidFill>
                      <a:prstDash val="dot"/>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b">
                        <a:buNone/>
                      </a:pPr>
                      <a:r>
                        <a:rPr lang="es-AR" sz="1100" b="1" i="0" u="none" strike="noStrike" dirty="0">
                          <a:solidFill>
                            <a:srgbClr val="000000"/>
                          </a:solidFill>
                          <a:effectLst/>
                          <a:latin typeface="Lucida Bright" panose="02040602050505020304" pitchFamily="18" charset="0"/>
                        </a:rPr>
                        <a:t>0.315</a:t>
                      </a:r>
                    </a:p>
                  </a:txBody>
                  <a:tcPr marL="9525" marR="9525" marT="9525" marB="0" anchor="b">
                    <a:lnL w="6350" cap="flat" cmpd="sng" algn="ctr">
                      <a:solidFill>
                        <a:srgbClr val="000000"/>
                      </a:solidFill>
                      <a:prstDash val="dot"/>
                      <a:round/>
                      <a:headEnd type="none" w="med" len="med"/>
                      <a:tailEnd type="none" w="med" len="med"/>
                    </a:lnL>
                    <a:lnR w="6350" cap="flat" cmpd="sng" algn="ctr">
                      <a:solidFill>
                        <a:srgbClr val="000000"/>
                      </a:solidFill>
                      <a:prstDash val="dot"/>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b">
                        <a:buNone/>
                      </a:pPr>
                      <a:r>
                        <a:rPr lang="es-AR" sz="1100" b="1" i="0" u="none" strike="noStrike" dirty="0">
                          <a:solidFill>
                            <a:srgbClr val="000000"/>
                          </a:solidFill>
                          <a:effectLst/>
                          <a:latin typeface="Lucida Bright" panose="02040602050505020304" pitchFamily="18" charset="0"/>
                        </a:rPr>
                        <a:t>0.202</a:t>
                      </a:r>
                    </a:p>
                  </a:txBody>
                  <a:tcPr marL="9525" marR="9525" marT="9525" marB="0" anchor="b">
                    <a:lnL w="6350" cap="flat" cmpd="sng" algn="ctr">
                      <a:solidFill>
                        <a:srgbClr val="000000"/>
                      </a:solidFill>
                      <a:prstDash val="dot"/>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b">
                        <a:buNone/>
                      </a:pPr>
                      <a:r>
                        <a:rPr lang="es-AR" sz="1100" b="1" i="0" u="none" strike="noStrike" dirty="0">
                          <a:solidFill>
                            <a:srgbClr val="000000"/>
                          </a:solidFill>
                          <a:effectLst/>
                          <a:latin typeface="Lucida Bright" panose="02040602050505020304" pitchFamily="18" charset="0"/>
                        </a:rPr>
                        <a:t>0.417</a:t>
                      </a:r>
                    </a:p>
                  </a:txBody>
                  <a:tcPr marL="9525" marR="9525" marT="9525" marB="0" anchor="b">
                    <a:lnL w="6350" cap="flat" cmpd="sng" algn="ctr">
                      <a:solidFill>
                        <a:srgbClr val="000000"/>
                      </a:solidFill>
                      <a:prstDash val="solid"/>
                      <a:round/>
                      <a:headEnd type="none" w="med" len="med"/>
                      <a:tailEnd type="none" w="med" len="med"/>
                    </a:lnL>
                    <a:lnR w="6350" cap="flat" cmpd="sng" algn="ctr">
                      <a:solidFill>
                        <a:srgbClr val="000000"/>
                      </a:solidFill>
                      <a:prstDash val="dot"/>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b">
                        <a:buNone/>
                      </a:pPr>
                      <a:r>
                        <a:rPr lang="es-AR" sz="1100" b="1" i="0" u="none" strike="noStrike" dirty="0">
                          <a:solidFill>
                            <a:srgbClr val="000000"/>
                          </a:solidFill>
                          <a:effectLst/>
                          <a:latin typeface="Lucida Bright" panose="02040602050505020304" pitchFamily="18" charset="0"/>
                        </a:rPr>
                        <a:t>0.314</a:t>
                      </a:r>
                    </a:p>
                  </a:txBody>
                  <a:tcPr marL="9525" marR="9525" marT="9525" marB="0" anchor="b">
                    <a:lnL w="6350" cap="flat" cmpd="sng" algn="ctr">
                      <a:solidFill>
                        <a:srgbClr val="000000"/>
                      </a:solidFill>
                      <a:prstDash val="dot"/>
                      <a:round/>
                      <a:headEnd type="none" w="med" len="med"/>
                      <a:tailEnd type="none" w="med" len="med"/>
                    </a:lnL>
                    <a:lnR w="6350" cap="flat" cmpd="sng" algn="ctr">
                      <a:solidFill>
                        <a:srgbClr val="000000"/>
                      </a:solidFill>
                      <a:prstDash val="dot"/>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b">
                        <a:buNone/>
                      </a:pPr>
                      <a:r>
                        <a:rPr lang="es-AR" sz="1100" b="1" i="0" u="none" strike="noStrike" dirty="0">
                          <a:solidFill>
                            <a:srgbClr val="000000"/>
                          </a:solidFill>
                          <a:effectLst/>
                          <a:latin typeface="Lucida Bright" panose="02040602050505020304" pitchFamily="18" charset="0"/>
                        </a:rPr>
                        <a:t>0.206</a:t>
                      </a:r>
                    </a:p>
                  </a:txBody>
                  <a:tcPr marL="9525" marR="9525" marT="9525" marB="0" anchor="b">
                    <a:lnL w="6350" cap="flat" cmpd="sng" algn="ctr">
                      <a:solidFill>
                        <a:srgbClr val="000000"/>
                      </a:solidFill>
                      <a:prstDash val="dot"/>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b">
                        <a:buNone/>
                      </a:pPr>
                      <a:r>
                        <a:rPr lang="es-AR" sz="1100" b="1" i="0" u="none" strike="noStrike">
                          <a:solidFill>
                            <a:srgbClr val="000000"/>
                          </a:solidFill>
                          <a:effectLst/>
                          <a:latin typeface="Lucida Bright" panose="02040602050505020304" pitchFamily="18" charset="0"/>
                        </a:rPr>
                        <a:t>0.798</a:t>
                      </a:r>
                    </a:p>
                  </a:txBody>
                  <a:tcPr marL="9525" marR="9525" marT="9525" marB="0" anchor="b">
                    <a:lnL w="6350" cap="flat" cmpd="sng" algn="ctr">
                      <a:solidFill>
                        <a:srgbClr val="000000"/>
                      </a:solidFill>
                      <a:prstDash val="solid"/>
                      <a:round/>
                      <a:headEnd type="none" w="med" len="med"/>
                      <a:tailEnd type="none" w="med" len="med"/>
                    </a:lnL>
                    <a:lnR w="6350" cap="flat" cmpd="sng" algn="ctr">
                      <a:solidFill>
                        <a:srgbClr val="000000"/>
                      </a:solidFill>
                      <a:prstDash val="dot"/>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b">
                        <a:buNone/>
                      </a:pPr>
                      <a:r>
                        <a:rPr lang="es-AR" sz="1100" b="1" i="0" u="none" strike="noStrike" dirty="0">
                          <a:solidFill>
                            <a:srgbClr val="000000"/>
                          </a:solidFill>
                          <a:effectLst/>
                          <a:latin typeface="Lucida Bright" panose="02040602050505020304" pitchFamily="18" charset="0"/>
                        </a:rPr>
                        <a:t>0.679</a:t>
                      </a:r>
                    </a:p>
                  </a:txBody>
                  <a:tcPr marL="9525" marR="9525" marT="9525" marB="0" anchor="b">
                    <a:lnL w="6350" cap="flat" cmpd="sng" algn="ctr">
                      <a:solidFill>
                        <a:srgbClr val="000000"/>
                      </a:solidFill>
                      <a:prstDash val="dot"/>
                      <a:round/>
                      <a:headEnd type="none" w="med" len="med"/>
                      <a:tailEnd type="none" w="med" len="med"/>
                    </a:lnL>
                    <a:lnR w="6350" cap="flat" cmpd="sng" algn="ctr">
                      <a:solidFill>
                        <a:srgbClr val="000000"/>
                      </a:solidFill>
                      <a:prstDash val="dot"/>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b">
                        <a:buNone/>
                      </a:pPr>
                      <a:r>
                        <a:rPr lang="es-AR" sz="1100" b="1" i="0" u="none" strike="noStrike" dirty="0">
                          <a:solidFill>
                            <a:srgbClr val="000000"/>
                          </a:solidFill>
                          <a:effectLst/>
                          <a:latin typeface="Lucida Bright" panose="02040602050505020304" pitchFamily="18" charset="0"/>
                        </a:rPr>
                        <a:t>0.684</a:t>
                      </a:r>
                    </a:p>
                  </a:txBody>
                  <a:tcPr marL="9525" marR="9525" marT="9525" marB="0" anchor="b">
                    <a:lnL w="6350" cap="flat" cmpd="sng" algn="ctr">
                      <a:solidFill>
                        <a:srgbClr val="000000"/>
                      </a:solidFill>
                      <a:prstDash val="dot"/>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b">
                        <a:buNone/>
                      </a:pPr>
                      <a:r>
                        <a:rPr lang="es-AR" sz="1100" b="1" i="0" u="none" strike="noStrike" dirty="0">
                          <a:solidFill>
                            <a:srgbClr val="000000"/>
                          </a:solidFill>
                          <a:effectLst/>
                          <a:latin typeface="Lucida Bright" panose="02040602050505020304" pitchFamily="18" charset="0"/>
                        </a:rPr>
                        <a:t>0.798</a:t>
                      </a:r>
                    </a:p>
                  </a:txBody>
                  <a:tcPr marL="9525" marR="9525" marT="9525" marB="0" anchor="b">
                    <a:lnL w="6350" cap="flat" cmpd="sng" algn="ctr">
                      <a:solidFill>
                        <a:srgbClr val="000000"/>
                      </a:solidFill>
                      <a:prstDash val="solid"/>
                      <a:round/>
                      <a:headEnd type="none" w="med" len="med"/>
                      <a:tailEnd type="none" w="med" len="med"/>
                    </a:lnL>
                    <a:lnR w="6350" cap="flat" cmpd="sng" algn="ctr">
                      <a:solidFill>
                        <a:srgbClr val="000000"/>
                      </a:solidFill>
                      <a:prstDash val="dot"/>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b">
                        <a:buNone/>
                      </a:pPr>
                      <a:r>
                        <a:rPr lang="es-AR" sz="1100" b="1" i="0" u="none" strike="noStrike" dirty="0">
                          <a:solidFill>
                            <a:srgbClr val="000000"/>
                          </a:solidFill>
                          <a:effectLst/>
                          <a:latin typeface="Lucida Bright" panose="02040602050505020304" pitchFamily="18" charset="0"/>
                        </a:rPr>
                        <a:t>0.678</a:t>
                      </a:r>
                    </a:p>
                  </a:txBody>
                  <a:tcPr marL="9525" marR="9525" marT="9525" marB="0" anchor="b">
                    <a:lnL w="6350" cap="flat" cmpd="sng" algn="ctr">
                      <a:solidFill>
                        <a:srgbClr val="000000"/>
                      </a:solidFill>
                      <a:prstDash val="dot"/>
                      <a:round/>
                      <a:headEnd type="none" w="med" len="med"/>
                      <a:tailEnd type="none" w="med" len="med"/>
                    </a:lnL>
                    <a:lnR w="6350" cap="flat" cmpd="sng" algn="ctr">
                      <a:solidFill>
                        <a:srgbClr val="000000"/>
                      </a:solidFill>
                      <a:prstDash val="dot"/>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b">
                        <a:buNone/>
                      </a:pPr>
                      <a:r>
                        <a:rPr lang="es-AR" sz="1100" b="1" i="0" u="none" strike="noStrike" dirty="0">
                          <a:solidFill>
                            <a:srgbClr val="000000"/>
                          </a:solidFill>
                          <a:effectLst/>
                          <a:latin typeface="Lucida Bright" panose="02040602050505020304" pitchFamily="18" charset="0"/>
                        </a:rPr>
                        <a:t>0.683</a:t>
                      </a:r>
                    </a:p>
                  </a:txBody>
                  <a:tcPr marL="9525" marR="9525" marT="9525" marB="0" anchor="b">
                    <a:lnL w="6350" cap="flat" cmpd="sng" algn="ctr">
                      <a:solidFill>
                        <a:srgbClr val="000000"/>
                      </a:solidFill>
                      <a:prstDash val="dot"/>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4159242393"/>
                  </a:ext>
                </a:extLst>
              </a:tr>
            </a:tbl>
          </a:graphicData>
        </a:graphic>
      </p:graphicFrame>
      <p:graphicFrame>
        <p:nvGraphicFramePr>
          <p:cNvPr id="12" name="Tabla 11">
            <a:extLst>
              <a:ext uri="{FF2B5EF4-FFF2-40B4-BE49-F238E27FC236}">
                <a16:creationId xmlns:a16="http://schemas.microsoft.com/office/drawing/2014/main" id="{2A444AA9-C7A5-0DFA-7356-F6751F0761E8}"/>
              </a:ext>
            </a:extLst>
          </p:cNvPr>
          <p:cNvGraphicFramePr>
            <a:graphicFrameLocks noGrp="1"/>
          </p:cNvGraphicFramePr>
          <p:nvPr>
            <p:extLst>
              <p:ext uri="{D42A27DB-BD31-4B8C-83A1-F6EECF244321}">
                <p14:modId xmlns:p14="http://schemas.microsoft.com/office/powerpoint/2010/main" val="2906223"/>
              </p:ext>
            </p:extLst>
          </p:nvPr>
        </p:nvGraphicFramePr>
        <p:xfrm>
          <a:off x="516890" y="3744111"/>
          <a:ext cx="10426700" cy="1714500"/>
        </p:xfrm>
        <a:graphic>
          <a:graphicData uri="http://schemas.openxmlformats.org/drawingml/2006/table">
            <a:tbl>
              <a:tblPr/>
              <a:tblGrid>
                <a:gridCol w="1282700">
                  <a:extLst>
                    <a:ext uri="{9D8B030D-6E8A-4147-A177-3AD203B41FA5}">
                      <a16:colId xmlns:a16="http://schemas.microsoft.com/office/drawing/2014/main" val="3418669931"/>
                    </a:ext>
                  </a:extLst>
                </a:gridCol>
                <a:gridCol w="762000">
                  <a:extLst>
                    <a:ext uri="{9D8B030D-6E8A-4147-A177-3AD203B41FA5}">
                      <a16:colId xmlns:a16="http://schemas.microsoft.com/office/drawing/2014/main" val="713511186"/>
                    </a:ext>
                  </a:extLst>
                </a:gridCol>
                <a:gridCol w="762000">
                  <a:extLst>
                    <a:ext uri="{9D8B030D-6E8A-4147-A177-3AD203B41FA5}">
                      <a16:colId xmlns:a16="http://schemas.microsoft.com/office/drawing/2014/main" val="3058253623"/>
                    </a:ext>
                  </a:extLst>
                </a:gridCol>
                <a:gridCol w="762000">
                  <a:extLst>
                    <a:ext uri="{9D8B030D-6E8A-4147-A177-3AD203B41FA5}">
                      <a16:colId xmlns:a16="http://schemas.microsoft.com/office/drawing/2014/main" val="4074939472"/>
                    </a:ext>
                  </a:extLst>
                </a:gridCol>
                <a:gridCol w="762000">
                  <a:extLst>
                    <a:ext uri="{9D8B030D-6E8A-4147-A177-3AD203B41FA5}">
                      <a16:colId xmlns:a16="http://schemas.microsoft.com/office/drawing/2014/main" val="2095697644"/>
                    </a:ext>
                  </a:extLst>
                </a:gridCol>
                <a:gridCol w="762000">
                  <a:extLst>
                    <a:ext uri="{9D8B030D-6E8A-4147-A177-3AD203B41FA5}">
                      <a16:colId xmlns:a16="http://schemas.microsoft.com/office/drawing/2014/main" val="1486237283"/>
                    </a:ext>
                  </a:extLst>
                </a:gridCol>
                <a:gridCol w="762000">
                  <a:extLst>
                    <a:ext uri="{9D8B030D-6E8A-4147-A177-3AD203B41FA5}">
                      <a16:colId xmlns:a16="http://schemas.microsoft.com/office/drawing/2014/main" val="3333153416"/>
                    </a:ext>
                  </a:extLst>
                </a:gridCol>
                <a:gridCol w="762000">
                  <a:extLst>
                    <a:ext uri="{9D8B030D-6E8A-4147-A177-3AD203B41FA5}">
                      <a16:colId xmlns:a16="http://schemas.microsoft.com/office/drawing/2014/main" val="4089136074"/>
                    </a:ext>
                  </a:extLst>
                </a:gridCol>
                <a:gridCol w="762000">
                  <a:extLst>
                    <a:ext uri="{9D8B030D-6E8A-4147-A177-3AD203B41FA5}">
                      <a16:colId xmlns:a16="http://schemas.microsoft.com/office/drawing/2014/main" val="4123229875"/>
                    </a:ext>
                  </a:extLst>
                </a:gridCol>
                <a:gridCol w="762000">
                  <a:extLst>
                    <a:ext uri="{9D8B030D-6E8A-4147-A177-3AD203B41FA5}">
                      <a16:colId xmlns:a16="http://schemas.microsoft.com/office/drawing/2014/main" val="2859548515"/>
                    </a:ext>
                  </a:extLst>
                </a:gridCol>
                <a:gridCol w="762000">
                  <a:extLst>
                    <a:ext uri="{9D8B030D-6E8A-4147-A177-3AD203B41FA5}">
                      <a16:colId xmlns:a16="http://schemas.microsoft.com/office/drawing/2014/main" val="2634185509"/>
                    </a:ext>
                  </a:extLst>
                </a:gridCol>
                <a:gridCol w="762000">
                  <a:extLst>
                    <a:ext uri="{9D8B030D-6E8A-4147-A177-3AD203B41FA5}">
                      <a16:colId xmlns:a16="http://schemas.microsoft.com/office/drawing/2014/main" val="1432328042"/>
                    </a:ext>
                  </a:extLst>
                </a:gridCol>
                <a:gridCol w="762000">
                  <a:extLst>
                    <a:ext uri="{9D8B030D-6E8A-4147-A177-3AD203B41FA5}">
                      <a16:colId xmlns:a16="http://schemas.microsoft.com/office/drawing/2014/main" val="3677943445"/>
                    </a:ext>
                  </a:extLst>
                </a:gridCol>
              </a:tblGrid>
              <a:tr h="190500">
                <a:tc>
                  <a:txBody>
                    <a:bodyPr/>
                    <a:lstStyle/>
                    <a:p>
                      <a:pPr algn="l" fontAlgn="b">
                        <a:buNone/>
                      </a:pPr>
                      <a:r>
                        <a:rPr lang="es-AR" sz="1100" b="0" i="0" u="none" strike="noStrike">
                          <a:solidFill>
                            <a:srgbClr val="000000"/>
                          </a:solidFill>
                          <a:effectLst/>
                          <a:latin typeface="Lucida Bright" panose="02040602050505020304" pitchFamily="18" charset="0"/>
                        </a:rPr>
                        <a:t> </a:t>
                      </a:r>
                    </a:p>
                  </a:txBody>
                  <a:tcPr marL="9525" marR="9525" marT="9525"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solidFill>
                      <a:srgbClr val="FFFFFF"/>
                    </a:solidFill>
                  </a:tcPr>
                </a:tc>
                <a:tc gridSpan="12">
                  <a:txBody>
                    <a:bodyPr/>
                    <a:lstStyle/>
                    <a:p>
                      <a:pPr algn="ctr" fontAlgn="b">
                        <a:buNone/>
                      </a:pPr>
                      <a:r>
                        <a:rPr lang="es-ES" sz="1100" b="1" i="0" u="none" strike="noStrike" dirty="0">
                          <a:solidFill>
                            <a:srgbClr val="FFFFFF"/>
                          </a:solidFill>
                          <a:effectLst/>
                          <a:latin typeface="Lucida Bright" panose="02040602050505020304" pitchFamily="18" charset="0"/>
                        </a:rPr>
                        <a:t>VARIABLE DEPENDIENTE: EXPORTACIONES MOI BRUTAS</a:t>
                      </a:r>
                    </a:p>
                  </a:txBody>
                  <a:tcPr marL="9525" marR="9525" marT="9525"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375623"/>
                    </a:solidFill>
                  </a:tcPr>
                </a:tc>
                <a:tc hMerge="1">
                  <a:txBody>
                    <a:bodyPr/>
                    <a:lstStyle/>
                    <a:p>
                      <a:endParaRPr/>
                    </a:p>
                  </a:txBody>
                  <a:tcPr marL="9525" marR="9525" marT="9525"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375623"/>
                    </a:solidFill>
                  </a:tcPr>
                </a:tc>
                <a:tc hMerge="1">
                  <a:txBody>
                    <a:bodyPr/>
                    <a:lstStyle/>
                    <a:p>
                      <a:endParaRPr/>
                    </a:p>
                  </a:txBody>
                  <a:tcPr marL="9525" marR="9525" marT="9525"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375623"/>
                    </a:solidFill>
                  </a:tcPr>
                </a:tc>
                <a:tc hMerge="1">
                  <a:txBody>
                    <a:bodyPr/>
                    <a:lstStyle/>
                    <a:p>
                      <a:endParaRPr/>
                    </a:p>
                  </a:txBody>
                  <a:tcPr marL="9525" marR="9525" marT="9525"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375623"/>
                    </a:solidFill>
                  </a:tcPr>
                </a:tc>
                <a:tc hMerge="1">
                  <a:txBody>
                    <a:bodyPr/>
                    <a:lstStyle/>
                    <a:p>
                      <a:endParaRPr/>
                    </a:p>
                  </a:txBody>
                  <a:tcPr marL="9525" marR="9525" marT="9525"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375623"/>
                    </a:solidFill>
                  </a:tcPr>
                </a:tc>
                <a:tc hMerge="1">
                  <a:txBody>
                    <a:bodyPr/>
                    <a:lstStyle/>
                    <a:p>
                      <a:endParaRPr/>
                    </a:p>
                  </a:txBody>
                  <a:tcPr marL="9525" marR="9525" marT="9525"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375623"/>
                    </a:solidFill>
                  </a:tcPr>
                </a:tc>
                <a:tc hMerge="1">
                  <a:txBody>
                    <a:bodyPr/>
                    <a:lstStyle/>
                    <a:p>
                      <a:endParaRPr/>
                    </a:p>
                  </a:txBody>
                  <a:tcPr marL="9525" marR="9525" marT="9525"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375623"/>
                    </a:solidFill>
                  </a:tcPr>
                </a:tc>
                <a:tc hMerge="1">
                  <a:txBody>
                    <a:bodyPr/>
                    <a:lstStyle/>
                    <a:p>
                      <a:endParaRPr/>
                    </a:p>
                  </a:txBody>
                  <a:tcPr marL="9525" marR="9525" marT="9525"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375623"/>
                    </a:solidFill>
                  </a:tcPr>
                </a:tc>
                <a:tc hMerge="1">
                  <a:txBody>
                    <a:bodyPr/>
                    <a:lstStyle/>
                    <a:p>
                      <a:endParaRPr/>
                    </a:p>
                  </a:txBody>
                  <a:tcPr marL="9525" marR="9525" marT="9525"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375623"/>
                    </a:solidFill>
                  </a:tcPr>
                </a:tc>
                <a:tc hMerge="1">
                  <a:txBody>
                    <a:bodyPr/>
                    <a:lstStyle/>
                    <a:p>
                      <a:endParaRPr/>
                    </a:p>
                  </a:txBody>
                  <a:tcPr marL="9525" marR="9525" marT="9525"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375623"/>
                    </a:solidFill>
                  </a:tcPr>
                </a:tc>
                <a:tc hMerge="1">
                  <a:txBody>
                    <a:bodyPr/>
                    <a:lstStyle/>
                    <a:p>
                      <a:endParaRPr/>
                    </a:p>
                  </a:txBody>
                  <a:tcPr marL="9525" marR="9525" marT="9525"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375623"/>
                    </a:solidFill>
                  </a:tcPr>
                </a:tc>
                <a:tc hMerge="1">
                  <a:txBody>
                    <a:bodyPr/>
                    <a:lstStyle/>
                    <a:p>
                      <a:endParaRPr dirty="0"/>
                    </a:p>
                  </a:txBody>
                  <a:tcPr marL="9525" marR="9525" marT="9525"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375623"/>
                    </a:solidFill>
                  </a:tcPr>
                </a:tc>
                <a:extLst>
                  <a:ext uri="{0D108BD9-81ED-4DB2-BD59-A6C34878D82A}">
                    <a16:rowId xmlns:a16="http://schemas.microsoft.com/office/drawing/2014/main" val="4191323926"/>
                  </a:ext>
                </a:extLst>
              </a:tr>
              <a:tr h="190500">
                <a:tc>
                  <a:txBody>
                    <a:bodyPr/>
                    <a:lstStyle/>
                    <a:p>
                      <a:pPr algn="l" fontAlgn="b">
                        <a:buNone/>
                      </a:pPr>
                      <a:r>
                        <a:rPr lang="es-AR" sz="1100" b="0" i="0" u="none" strike="noStrike">
                          <a:solidFill>
                            <a:srgbClr val="000000"/>
                          </a:solidFill>
                          <a:effectLst/>
                          <a:latin typeface="Lucida Bright" panose="02040602050505020304" pitchFamily="18" charset="0"/>
                        </a:rPr>
                        <a:t> </a:t>
                      </a:r>
                    </a:p>
                  </a:txBody>
                  <a:tcPr marL="9525" marR="9525" marT="9525"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solidFill>
                      <a:srgbClr val="FFFFFF"/>
                    </a:solidFill>
                  </a:tcPr>
                </a:tc>
                <a:tc gridSpan="3">
                  <a:txBody>
                    <a:bodyPr/>
                    <a:lstStyle/>
                    <a:p>
                      <a:pPr algn="ctr" fontAlgn="b">
                        <a:buNone/>
                      </a:pPr>
                      <a:r>
                        <a:rPr lang="es-AR" sz="1100" b="0" i="0" u="none" strike="noStrike">
                          <a:solidFill>
                            <a:srgbClr val="000000"/>
                          </a:solidFill>
                          <a:effectLst/>
                          <a:latin typeface="Lucida Bright" panose="02040602050505020304" pitchFamily="18" charset="0"/>
                        </a:rPr>
                        <a:t>MODELOS SIMPLES</a:t>
                      </a:r>
                    </a:p>
                  </a:txBody>
                  <a:tcPr marL="9525" marR="9525" marT="9525"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C6E0B4"/>
                    </a:solidFill>
                  </a:tcPr>
                </a:tc>
                <a:tc hMerge="1">
                  <a:txBody>
                    <a:bodyPr/>
                    <a:lstStyle/>
                    <a:p>
                      <a:endParaRPr lang="es-AR"/>
                    </a:p>
                  </a:txBody>
                  <a:tcPr/>
                </a:tc>
                <a:tc hMerge="1">
                  <a:txBody>
                    <a:bodyPr/>
                    <a:lstStyle/>
                    <a:p>
                      <a:endParaRPr lang="es-AR"/>
                    </a:p>
                  </a:txBody>
                  <a:tcPr/>
                </a:tc>
                <a:tc gridSpan="3">
                  <a:txBody>
                    <a:bodyPr/>
                    <a:lstStyle/>
                    <a:p>
                      <a:pPr algn="ctr" fontAlgn="b">
                        <a:buNone/>
                      </a:pPr>
                      <a:r>
                        <a:rPr lang="es-AR" sz="1100" b="0" i="0" u="none" strike="noStrike">
                          <a:solidFill>
                            <a:srgbClr val="000000"/>
                          </a:solidFill>
                          <a:effectLst/>
                          <a:latin typeface="Lucida Bright" panose="02040602050505020304" pitchFamily="18" charset="0"/>
                        </a:rPr>
                        <a:t>INCLUYEN GBEC</a:t>
                      </a:r>
                    </a:p>
                  </a:txBody>
                  <a:tcPr marL="9525" marR="9525" marT="9525"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C6E0B4"/>
                    </a:solidFill>
                  </a:tcPr>
                </a:tc>
                <a:tc hMerge="1">
                  <a:txBody>
                    <a:bodyPr/>
                    <a:lstStyle/>
                    <a:p>
                      <a:endParaRPr lang="es-AR"/>
                    </a:p>
                  </a:txBody>
                  <a:tcPr/>
                </a:tc>
                <a:tc hMerge="1">
                  <a:txBody>
                    <a:bodyPr/>
                    <a:lstStyle/>
                    <a:p>
                      <a:endParaRPr lang="es-AR"/>
                    </a:p>
                  </a:txBody>
                  <a:tcPr/>
                </a:tc>
                <a:tc gridSpan="3">
                  <a:txBody>
                    <a:bodyPr/>
                    <a:lstStyle/>
                    <a:p>
                      <a:pPr algn="ctr" fontAlgn="b">
                        <a:buNone/>
                      </a:pPr>
                      <a:r>
                        <a:rPr lang="es-AR" sz="1100" b="0" i="0" u="none" strike="noStrike">
                          <a:solidFill>
                            <a:srgbClr val="000000"/>
                          </a:solidFill>
                          <a:effectLst/>
                          <a:latin typeface="Lucida Bright" panose="02040602050505020304" pitchFamily="18" charset="0"/>
                        </a:rPr>
                        <a:t>INCLUYEN API</a:t>
                      </a:r>
                    </a:p>
                  </a:txBody>
                  <a:tcPr marL="9525" marR="9525" marT="9525"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C6E0B4"/>
                    </a:solidFill>
                  </a:tcPr>
                </a:tc>
                <a:tc hMerge="1">
                  <a:txBody>
                    <a:bodyPr/>
                    <a:lstStyle/>
                    <a:p>
                      <a:endParaRPr lang="es-AR"/>
                    </a:p>
                  </a:txBody>
                  <a:tcPr/>
                </a:tc>
                <a:tc hMerge="1">
                  <a:txBody>
                    <a:bodyPr/>
                    <a:lstStyle/>
                    <a:p>
                      <a:endParaRPr lang="es-AR"/>
                    </a:p>
                  </a:txBody>
                  <a:tcPr/>
                </a:tc>
                <a:tc gridSpan="3">
                  <a:txBody>
                    <a:bodyPr/>
                    <a:lstStyle/>
                    <a:p>
                      <a:pPr algn="ctr" fontAlgn="b">
                        <a:buNone/>
                      </a:pPr>
                      <a:r>
                        <a:rPr lang="es-AR" sz="1100" b="0" i="0" u="none" strike="noStrike">
                          <a:solidFill>
                            <a:srgbClr val="000000"/>
                          </a:solidFill>
                          <a:effectLst/>
                          <a:latin typeface="Lucida Bright" panose="02040602050505020304" pitchFamily="18" charset="0"/>
                        </a:rPr>
                        <a:t>INCLUTEN API Y GEBC</a:t>
                      </a:r>
                    </a:p>
                  </a:txBody>
                  <a:tcPr marL="9525" marR="9525" marT="9525"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C6E0B4"/>
                    </a:solidFill>
                  </a:tcPr>
                </a:tc>
                <a:tc hMerge="1">
                  <a:txBody>
                    <a:bodyPr/>
                    <a:lstStyle/>
                    <a:p>
                      <a:endParaRPr lang="es-AR"/>
                    </a:p>
                  </a:txBody>
                  <a:tcPr/>
                </a:tc>
                <a:tc hMerge="1">
                  <a:txBody>
                    <a:bodyPr/>
                    <a:lstStyle/>
                    <a:p>
                      <a:endParaRPr lang="es-AR"/>
                    </a:p>
                  </a:txBody>
                  <a:tcPr/>
                </a:tc>
                <a:extLst>
                  <a:ext uri="{0D108BD9-81ED-4DB2-BD59-A6C34878D82A}">
                    <a16:rowId xmlns:a16="http://schemas.microsoft.com/office/drawing/2014/main" val="3523569670"/>
                  </a:ext>
                </a:extLst>
              </a:tr>
              <a:tr h="190500">
                <a:tc>
                  <a:txBody>
                    <a:bodyPr/>
                    <a:lstStyle/>
                    <a:p>
                      <a:pPr algn="ctr" fontAlgn="b">
                        <a:buNone/>
                      </a:pPr>
                      <a:r>
                        <a:rPr lang="es-AR" sz="1100" b="0" i="0" u="none" strike="noStrike">
                          <a:solidFill>
                            <a:srgbClr val="000000"/>
                          </a:solidFill>
                          <a:effectLst/>
                          <a:latin typeface="Lucida Bright" panose="02040602050505020304" pitchFamily="18" charset="0"/>
                        </a:rPr>
                        <a:t>X</a:t>
                      </a:r>
                    </a:p>
                  </a:txBody>
                  <a:tcPr marL="9525" marR="9525" marT="9525"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noFill/>
                  </a:tcPr>
                </a:tc>
                <a:tc>
                  <a:txBody>
                    <a:bodyPr/>
                    <a:lstStyle/>
                    <a:p>
                      <a:pPr algn="ctr" fontAlgn="b">
                        <a:buNone/>
                      </a:pPr>
                      <a:r>
                        <a:rPr lang="es-AR" sz="1100" b="0" i="0" u="none" strike="noStrike">
                          <a:solidFill>
                            <a:srgbClr val="000000"/>
                          </a:solidFill>
                          <a:effectLst/>
                          <a:latin typeface="Lucida Bright" panose="02040602050505020304" pitchFamily="18" charset="0"/>
                        </a:rPr>
                        <a:t>ARG </a:t>
                      </a:r>
                    </a:p>
                  </a:txBody>
                  <a:tcPr marL="9525" marR="9525" marT="9525" marB="0" anchor="b">
                    <a:lnL w="6350" cap="flat" cmpd="sng" algn="ctr">
                      <a:solidFill>
                        <a:srgbClr val="000000"/>
                      </a:solidFill>
                      <a:prstDash val="solid"/>
                      <a:round/>
                      <a:headEnd type="none" w="med" len="med"/>
                      <a:tailEnd type="none" w="med" len="med"/>
                    </a:lnL>
                    <a:lnR w="6350" cap="flat" cmpd="sng" algn="ctr">
                      <a:solidFill>
                        <a:srgbClr val="000000"/>
                      </a:solidFill>
                      <a:prstDash val="dot"/>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b">
                        <a:buNone/>
                      </a:pPr>
                      <a:r>
                        <a:rPr lang="es-AR" sz="1100" b="0" i="0" u="none" strike="noStrike">
                          <a:solidFill>
                            <a:srgbClr val="000000"/>
                          </a:solidFill>
                          <a:effectLst/>
                          <a:latin typeface="Lucida Bright" panose="02040602050505020304" pitchFamily="18" charset="0"/>
                        </a:rPr>
                        <a:t>SFE</a:t>
                      </a:r>
                    </a:p>
                  </a:txBody>
                  <a:tcPr marL="9525" marR="9525" marT="9525" marB="0" anchor="b">
                    <a:lnL w="6350" cap="flat" cmpd="sng" algn="ctr">
                      <a:solidFill>
                        <a:srgbClr val="000000"/>
                      </a:solidFill>
                      <a:prstDash val="dot"/>
                      <a:round/>
                      <a:headEnd type="none" w="med" len="med"/>
                      <a:tailEnd type="none" w="med" len="med"/>
                    </a:lnL>
                    <a:lnR w="6350" cap="flat" cmpd="sng" algn="ctr">
                      <a:solidFill>
                        <a:srgbClr val="000000"/>
                      </a:solidFill>
                      <a:prstDash val="dot"/>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b">
                        <a:buNone/>
                      </a:pPr>
                      <a:r>
                        <a:rPr lang="es-AR" sz="1100" b="0" i="0" u="none" strike="noStrike">
                          <a:solidFill>
                            <a:srgbClr val="000000"/>
                          </a:solidFill>
                          <a:effectLst/>
                          <a:latin typeface="Lucida Bright" panose="02040602050505020304" pitchFamily="18" charset="0"/>
                        </a:rPr>
                        <a:t>SFE</a:t>
                      </a:r>
                    </a:p>
                  </a:txBody>
                  <a:tcPr marL="9525" marR="9525" marT="9525" marB="0" anchor="b">
                    <a:lnL w="6350" cap="flat" cmpd="sng" algn="ctr">
                      <a:solidFill>
                        <a:srgbClr val="000000"/>
                      </a:solidFill>
                      <a:prstDash val="dot"/>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b">
                        <a:buNone/>
                      </a:pPr>
                      <a:r>
                        <a:rPr lang="es-AR" sz="1100" b="0" i="0" u="none" strike="noStrike">
                          <a:solidFill>
                            <a:srgbClr val="000000"/>
                          </a:solidFill>
                          <a:effectLst/>
                          <a:latin typeface="Lucida Bright" panose="02040602050505020304" pitchFamily="18" charset="0"/>
                        </a:rPr>
                        <a:t>ARG </a:t>
                      </a:r>
                    </a:p>
                  </a:txBody>
                  <a:tcPr marL="9525" marR="9525" marT="9525" marB="0" anchor="b">
                    <a:lnL w="6350" cap="flat" cmpd="sng" algn="ctr">
                      <a:solidFill>
                        <a:srgbClr val="000000"/>
                      </a:solidFill>
                      <a:prstDash val="solid"/>
                      <a:round/>
                      <a:headEnd type="none" w="med" len="med"/>
                      <a:tailEnd type="none" w="med" len="med"/>
                    </a:lnL>
                    <a:lnR w="6350" cap="flat" cmpd="sng" algn="ctr">
                      <a:solidFill>
                        <a:srgbClr val="000000"/>
                      </a:solidFill>
                      <a:prstDash val="dot"/>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b">
                        <a:buNone/>
                      </a:pPr>
                      <a:r>
                        <a:rPr lang="es-AR" sz="1100" b="0" i="0" u="none" strike="noStrike">
                          <a:solidFill>
                            <a:srgbClr val="000000"/>
                          </a:solidFill>
                          <a:effectLst/>
                          <a:latin typeface="Lucida Bright" panose="02040602050505020304" pitchFamily="18" charset="0"/>
                        </a:rPr>
                        <a:t>SFE</a:t>
                      </a:r>
                    </a:p>
                  </a:txBody>
                  <a:tcPr marL="9525" marR="9525" marT="9525" marB="0" anchor="b">
                    <a:lnL w="6350" cap="flat" cmpd="sng" algn="ctr">
                      <a:solidFill>
                        <a:srgbClr val="000000"/>
                      </a:solidFill>
                      <a:prstDash val="dot"/>
                      <a:round/>
                      <a:headEnd type="none" w="med" len="med"/>
                      <a:tailEnd type="none" w="med" len="med"/>
                    </a:lnL>
                    <a:lnR w="6350" cap="flat" cmpd="sng" algn="ctr">
                      <a:solidFill>
                        <a:srgbClr val="000000"/>
                      </a:solidFill>
                      <a:prstDash val="dot"/>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b">
                        <a:buNone/>
                      </a:pPr>
                      <a:r>
                        <a:rPr lang="es-AR" sz="1100" b="0" i="0" u="none" strike="noStrike">
                          <a:solidFill>
                            <a:srgbClr val="000000"/>
                          </a:solidFill>
                          <a:effectLst/>
                          <a:latin typeface="Lucida Bright" panose="02040602050505020304" pitchFamily="18" charset="0"/>
                        </a:rPr>
                        <a:t>SFE</a:t>
                      </a:r>
                    </a:p>
                  </a:txBody>
                  <a:tcPr marL="9525" marR="9525" marT="9525" marB="0" anchor="b">
                    <a:lnL w="6350" cap="flat" cmpd="sng" algn="ctr">
                      <a:solidFill>
                        <a:srgbClr val="000000"/>
                      </a:solidFill>
                      <a:prstDash val="dot"/>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b">
                        <a:buNone/>
                      </a:pPr>
                      <a:r>
                        <a:rPr lang="es-AR" sz="1100" b="0" i="0" u="none" strike="noStrike">
                          <a:solidFill>
                            <a:srgbClr val="000000"/>
                          </a:solidFill>
                          <a:effectLst/>
                          <a:latin typeface="Lucida Bright" panose="02040602050505020304" pitchFamily="18" charset="0"/>
                        </a:rPr>
                        <a:t>ARG </a:t>
                      </a:r>
                    </a:p>
                  </a:txBody>
                  <a:tcPr marL="9525" marR="9525" marT="9525" marB="0" anchor="b">
                    <a:lnL w="6350" cap="flat" cmpd="sng" algn="ctr">
                      <a:solidFill>
                        <a:srgbClr val="000000"/>
                      </a:solidFill>
                      <a:prstDash val="solid"/>
                      <a:round/>
                      <a:headEnd type="none" w="med" len="med"/>
                      <a:tailEnd type="none" w="med" len="med"/>
                    </a:lnL>
                    <a:lnR w="6350" cap="flat" cmpd="sng" algn="ctr">
                      <a:solidFill>
                        <a:srgbClr val="000000"/>
                      </a:solidFill>
                      <a:prstDash val="dot"/>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b">
                        <a:buNone/>
                      </a:pPr>
                      <a:r>
                        <a:rPr lang="es-AR" sz="1100" b="0" i="0" u="none" strike="noStrike">
                          <a:solidFill>
                            <a:srgbClr val="000000"/>
                          </a:solidFill>
                          <a:effectLst/>
                          <a:latin typeface="Lucida Bright" panose="02040602050505020304" pitchFamily="18" charset="0"/>
                        </a:rPr>
                        <a:t>SFE</a:t>
                      </a:r>
                    </a:p>
                  </a:txBody>
                  <a:tcPr marL="9525" marR="9525" marT="9525" marB="0" anchor="b">
                    <a:lnL w="6350" cap="flat" cmpd="sng" algn="ctr">
                      <a:solidFill>
                        <a:srgbClr val="000000"/>
                      </a:solidFill>
                      <a:prstDash val="dot"/>
                      <a:round/>
                      <a:headEnd type="none" w="med" len="med"/>
                      <a:tailEnd type="none" w="med" len="med"/>
                    </a:lnL>
                    <a:lnR w="6350" cap="flat" cmpd="sng" algn="ctr">
                      <a:solidFill>
                        <a:srgbClr val="000000"/>
                      </a:solidFill>
                      <a:prstDash val="dot"/>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b">
                        <a:buNone/>
                      </a:pPr>
                      <a:r>
                        <a:rPr lang="es-AR" sz="1100" b="0" i="0" u="none" strike="noStrike">
                          <a:solidFill>
                            <a:srgbClr val="000000"/>
                          </a:solidFill>
                          <a:effectLst/>
                          <a:latin typeface="Lucida Bright" panose="02040602050505020304" pitchFamily="18" charset="0"/>
                        </a:rPr>
                        <a:t>SFE</a:t>
                      </a:r>
                    </a:p>
                  </a:txBody>
                  <a:tcPr marL="9525" marR="9525" marT="9525" marB="0" anchor="b">
                    <a:lnL w="6350" cap="flat" cmpd="sng" algn="ctr">
                      <a:solidFill>
                        <a:srgbClr val="000000"/>
                      </a:solidFill>
                      <a:prstDash val="dot"/>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b">
                        <a:buNone/>
                      </a:pPr>
                      <a:r>
                        <a:rPr lang="es-AR" sz="1100" b="0" i="0" u="none" strike="noStrike">
                          <a:solidFill>
                            <a:srgbClr val="000000"/>
                          </a:solidFill>
                          <a:effectLst/>
                          <a:latin typeface="Lucida Bright" panose="02040602050505020304" pitchFamily="18" charset="0"/>
                        </a:rPr>
                        <a:t>ARG </a:t>
                      </a:r>
                    </a:p>
                  </a:txBody>
                  <a:tcPr marL="9525" marR="9525" marT="9525" marB="0" anchor="b">
                    <a:lnL w="6350" cap="flat" cmpd="sng" algn="ctr">
                      <a:solidFill>
                        <a:srgbClr val="000000"/>
                      </a:solidFill>
                      <a:prstDash val="solid"/>
                      <a:round/>
                      <a:headEnd type="none" w="med" len="med"/>
                      <a:tailEnd type="none" w="med" len="med"/>
                    </a:lnL>
                    <a:lnR w="6350" cap="flat" cmpd="sng" algn="ctr">
                      <a:solidFill>
                        <a:srgbClr val="000000"/>
                      </a:solidFill>
                      <a:prstDash val="dot"/>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b">
                        <a:buNone/>
                      </a:pPr>
                      <a:r>
                        <a:rPr lang="es-AR" sz="1100" b="0" i="0" u="none" strike="noStrike">
                          <a:solidFill>
                            <a:srgbClr val="000000"/>
                          </a:solidFill>
                          <a:effectLst/>
                          <a:latin typeface="Lucida Bright" panose="02040602050505020304" pitchFamily="18" charset="0"/>
                        </a:rPr>
                        <a:t>SFE</a:t>
                      </a:r>
                    </a:p>
                  </a:txBody>
                  <a:tcPr marL="9525" marR="9525" marT="9525" marB="0" anchor="b">
                    <a:lnL w="6350" cap="flat" cmpd="sng" algn="ctr">
                      <a:solidFill>
                        <a:srgbClr val="000000"/>
                      </a:solidFill>
                      <a:prstDash val="dot"/>
                      <a:round/>
                      <a:headEnd type="none" w="med" len="med"/>
                      <a:tailEnd type="none" w="med" len="med"/>
                    </a:lnL>
                    <a:lnR w="6350" cap="flat" cmpd="sng" algn="ctr">
                      <a:solidFill>
                        <a:srgbClr val="000000"/>
                      </a:solidFill>
                      <a:prstDash val="dot"/>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b">
                        <a:buNone/>
                      </a:pPr>
                      <a:r>
                        <a:rPr lang="es-AR" sz="1100" b="0" i="0" u="none" strike="noStrike">
                          <a:solidFill>
                            <a:srgbClr val="000000"/>
                          </a:solidFill>
                          <a:effectLst/>
                          <a:latin typeface="Lucida Bright" panose="02040602050505020304" pitchFamily="18" charset="0"/>
                        </a:rPr>
                        <a:t>SFE</a:t>
                      </a:r>
                    </a:p>
                  </a:txBody>
                  <a:tcPr marL="9525" marR="9525" marT="9525" marB="0" anchor="b">
                    <a:lnL w="6350" cap="flat" cmpd="sng" algn="ctr">
                      <a:solidFill>
                        <a:srgbClr val="000000"/>
                      </a:solidFill>
                      <a:prstDash val="dot"/>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147307722"/>
                  </a:ext>
                </a:extLst>
              </a:tr>
              <a:tr h="190500">
                <a:tc>
                  <a:txBody>
                    <a:bodyPr/>
                    <a:lstStyle/>
                    <a:p>
                      <a:pPr algn="l" fontAlgn="b">
                        <a:buNone/>
                      </a:pPr>
                      <a:r>
                        <a:rPr lang="es-AR" sz="1100" b="0" i="0" u="none" strike="noStrike">
                          <a:solidFill>
                            <a:srgbClr val="000000"/>
                          </a:solidFill>
                          <a:effectLst/>
                          <a:latin typeface="Lucida Bright" panose="02040602050505020304" pitchFamily="18" charset="0"/>
                        </a:rPr>
                        <a:t>(Intercept)</a:t>
                      </a:r>
                    </a:p>
                  </a:txBody>
                  <a:tcPr marL="9525" marR="9525" marT="9525"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b">
                        <a:buNone/>
                      </a:pPr>
                      <a:r>
                        <a:rPr lang="es-AR" sz="1100" b="0" i="0" u="none" strike="noStrike">
                          <a:solidFill>
                            <a:srgbClr val="000000"/>
                          </a:solidFill>
                          <a:effectLst/>
                          <a:latin typeface="Lucida Bright" panose="02040602050505020304" pitchFamily="18" charset="0"/>
                        </a:rPr>
                        <a:t>11.543***</a:t>
                      </a:r>
                    </a:p>
                  </a:txBody>
                  <a:tcPr marL="9525" marR="9525" marT="9525" marB="0" anchor="b">
                    <a:lnL w="6350" cap="flat" cmpd="sng" algn="ctr">
                      <a:solidFill>
                        <a:srgbClr val="000000"/>
                      </a:solidFill>
                      <a:prstDash val="solid"/>
                      <a:round/>
                      <a:headEnd type="none" w="med" len="med"/>
                      <a:tailEnd type="none" w="med" len="med"/>
                    </a:lnL>
                    <a:lnR w="6350" cap="flat" cmpd="sng" algn="ctr">
                      <a:solidFill>
                        <a:srgbClr val="000000"/>
                      </a:solidFill>
                      <a:prstDash val="dot"/>
                      <a:round/>
                      <a:headEnd type="none" w="med" len="med"/>
                      <a:tailEnd type="none" w="med" len="med"/>
                    </a:lnR>
                    <a:lnT w="6350" cap="flat" cmpd="sng" algn="ctr">
                      <a:solidFill>
                        <a:srgbClr val="000000"/>
                      </a:solidFill>
                      <a:prstDash val="solid"/>
                      <a:round/>
                      <a:headEnd type="none" w="med" len="med"/>
                      <a:tailEnd type="none" w="med" len="med"/>
                    </a:lnT>
                    <a:lnB>
                      <a:noFill/>
                    </a:lnB>
                    <a:noFill/>
                  </a:tcPr>
                </a:tc>
                <a:tc>
                  <a:txBody>
                    <a:bodyPr/>
                    <a:lstStyle/>
                    <a:p>
                      <a:pPr algn="ctr" fontAlgn="b">
                        <a:buNone/>
                      </a:pPr>
                      <a:r>
                        <a:rPr lang="es-AR" sz="1100" b="0" i="0" u="none" strike="noStrike">
                          <a:solidFill>
                            <a:srgbClr val="000000"/>
                          </a:solidFill>
                          <a:effectLst/>
                          <a:latin typeface="Lucida Bright" panose="02040602050505020304" pitchFamily="18" charset="0"/>
                        </a:rPr>
                        <a:t>10.484***</a:t>
                      </a:r>
                    </a:p>
                  </a:txBody>
                  <a:tcPr marL="9525" marR="9525" marT="9525" marB="0" anchor="b">
                    <a:lnL w="6350" cap="flat" cmpd="sng" algn="ctr">
                      <a:solidFill>
                        <a:srgbClr val="000000"/>
                      </a:solidFill>
                      <a:prstDash val="dot"/>
                      <a:round/>
                      <a:headEnd type="none" w="med" len="med"/>
                      <a:tailEnd type="none" w="med" len="med"/>
                    </a:lnL>
                    <a:lnR w="6350" cap="flat" cmpd="sng" algn="ctr">
                      <a:solidFill>
                        <a:srgbClr val="000000"/>
                      </a:solidFill>
                      <a:prstDash val="dot"/>
                      <a:round/>
                      <a:headEnd type="none" w="med" len="med"/>
                      <a:tailEnd type="none" w="med" len="med"/>
                    </a:lnR>
                    <a:lnT w="6350" cap="flat" cmpd="sng" algn="ctr">
                      <a:solidFill>
                        <a:srgbClr val="000000"/>
                      </a:solidFill>
                      <a:prstDash val="solid"/>
                      <a:round/>
                      <a:headEnd type="none" w="med" len="med"/>
                      <a:tailEnd type="none" w="med" len="med"/>
                    </a:lnT>
                    <a:lnB>
                      <a:noFill/>
                    </a:lnB>
                    <a:noFill/>
                  </a:tcPr>
                </a:tc>
                <a:tc>
                  <a:txBody>
                    <a:bodyPr/>
                    <a:lstStyle/>
                    <a:p>
                      <a:pPr algn="ctr" fontAlgn="b">
                        <a:buNone/>
                      </a:pPr>
                      <a:r>
                        <a:rPr lang="es-AR" sz="1100" b="0" i="0" u="none" strike="noStrike">
                          <a:solidFill>
                            <a:srgbClr val="000000"/>
                          </a:solidFill>
                          <a:effectLst/>
                          <a:latin typeface="Lucida Bright" panose="02040602050505020304" pitchFamily="18" charset="0"/>
                        </a:rPr>
                        <a:t>1.838**</a:t>
                      </a:r>
                    </a:p>
                  </a:txBody>
                  <a:tcPr marL="9525" marR="9525" marT="9525" marB="0" anchor="b">
                    <a:lnL w="6350" cap="flat" cmpd="sng" algn="ctr">
                      <a:solidFill>
                        <a:srgbClr val="000000"/>
                      </a:solidFill>
                      <a:prstDash val="dot"/>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noFill/>
                  </a:tcPr>
                </a:tc>
                <a:tc>
                  <a:txBody>
                    <a:bodyPr/>
                    <a:lstStyle/>
                    <a:p>
                      <a:pPr algn="ctr" fontAlgn="b">
                        <a:buNone/>
                      </a:pPr>
                      <a:r>
                        <a:rPr lang="es-AR" sz="1100" b="0" i="0" u="none" strike="noStrike">
                          <a:solidFill>
                            <a:srgbClr val="000000"/>
                          </a:solidFill>
                          <a:effectLst/>
                          <a:latin typeface="Lucida Bright" panose="02040602050505020304" pitchFamily="18" charset="0"/>
                        </a:rPr>
                        <a:t>11.215***</a:t>
                      </a:r>
                    </a:p>
                  </a:txBody>
                  <a:tcPr marL="9525" marR="9525" marT="9525" marB="0" anchor="b">
                    <a:lnL w="6350" cap="flat" cmpd="sng" algn="ctr">
                      <a:solidFill>
                        <a:srgbClr val="000000"/>
                      </a:solidFill>
                      <a:prstDash val="solid"/>
                      <a:round/>
                      <a:headEnd type="none" w="med" len="med"/>
                      <a:tailEnd type="none" w="med" len="med"/>
                    </a:lnL>
                    <a:lnR w="6350" cap="flat" cmpd="sng" algn="ctr">
                      <a:solidFill>
                        <a:srgbClr val="000000"/>
                      </a:solidFill>
                      <a:prstDash val="dot"/>
                      <a:round/>
                      <a:headEnd type="none" w="med" len="med"/>
                      <a:tailEnd type="none" w="med" len="med"/>
                    </a:lnR>
                    <a:lnT w="6350" cap="flat" cmpd="sng" algn="ctr">
                      <a:solidFill>
                        <a:srgbClr val="000000"/>
                      </a:solidFill>
                      <a:prstDash val="solid"/>
                      <a:round/>
                      <a:headEnd type="none" w="med" len="med"/>
                      <a:tailEnd type="none" w="med" len="med"/>
                    </a:lnT>
                    <a:lnB>
                      <a:noFill/>
                    </a:lnB>
                    <a:noFill/>
                  </a:tcPr>
                </a:tc>
                <a:tc>
                  <a:txBody>
                    <a:bodyPr/>
                    <a:lstStyle/>
                    <a:p>
                      <a:pPr algn="ctr" fontAlgn="b">
                        <a:buNone/>
                      </a:pPr>
                      <a:r>
                        <a:rPr lang="es-AR" sz="1100" b="0" i="0" u="none" strike="noStrike">
                          <a:solidFill>
                            <a:srgbClr val="000000"/>
                          </a:solidFill>
                          <a:effectLst/>
                          <a:latin typeface="Lucida Bright" panose="02040602050505020304" pitchFamily="18" charset="0"/>
                        </a:rPr>
                        <a:t>8.497***</a:t>
                      </a:r>
                    </a:p>
                  </a:txBody>
                  <a:tcPr marL="9525" marR="9525" marT="9525" marB="0" anchor="b">
                    <a:lnL w="6350" cap="flat" cmpd="sng" algn="ctr">
                      <a:solidFill>
                        <a:srgbClr val="000000"/>
                      </a:solidFill>
                      <a:prstDash val="dot"/>
                      <a:round/>
                      <a:headEnd type="none" w="med" len="med"/>
                      <a:tailEnd type="none" w="med" len="med"/>
                    </a:lnL>
                    <a:lnR w="6350" cap="flat" cmpd="sng" algn="ctr">
                      <a:solidFill>
                        <a:srgbClr val="000000"/>
                      </a:solidFill>
                      <a:prstDash val="dot"/>
                      <a:round/>
                      <a:headEnd type="none" w="med" len="med"/>
                      <a:tailEnd type="none" w="med" len="med"/>
                    </a:lnR>
                    <a:lnT w="6350" cap="flat" cmpd="sng" algn="ctr">
                      <a:solidFill>
                        <a:srgbClr val="000000"/>
                      </a:solidFill>
                      <a:prstDash val="solid"/>
                      <a:round/>
                      <a:headEnd type="none" w="med" len="med"/>
                      <a:tailEnd type="none" w="med" len="med"/>
                    </a:lnT>
                    <a:lnB>
                      <a:noFill/>
                    </a:lnB>
                    <a:noFill/>
                  </a:tcPr>
                </a:tc>
                <a:tc>
                  <a:txBody>
                    <a:bodyPr/>
                    <a:lstStyle/>
                    <a:p>
                      <a:pPr algn="ctr" fontAlgn="b">
                        <a:buNone/>
                      </a:pPr>
                      <a:r>
                        <a:rPr lang="es-AR" sz="1100" b="0" i="0" u="none" strike="noStrike">
                          <a:solidFill>
                            <a:srgbClr val="000000"/>
                          </a:solidFill>
                          <a:effectLst/>
                          <a:latin typeface="Lucida Bright" panose="02040602050505020304" pitchFamily="18" charset="0"/>
                        </a:rPr>
                        <a:t>0.496</a:t>
                      </a:r>
                    </a:p>
                  </a:txBody>
                  <a:tcPr marL="9525" marR="9525" marT="9525" marB="0" anchor="b">
                    <a:lnL w="6350" cap="flat" cmpd="sng" algn="ctr">
                      <a:solidFill>
                        <a:srgbClr val="000000"/>
                      </a:solidFill>
                      <a:prstDash val="dot"/>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noFill/>
                  </a:tcPr>
                </a:tc>
                <a:tc>
                  <a:txBody>
                    <a:bodyPr/>
                    <a:lstStyle/>
                    <a:p>
                      <a:pPr algn="ctr" fontAlgn="b">
                        <a:buNone/>
                      </a:pPr>
                      <a:r>
                        <a:rPr lang="es-AR" sz="1100" b="0" i="0" u="none" strike="noStrike">
                          <a:solidFill>
                            <a:srgbClr val="000000"/>
                          </a:solidFill>
                          <a:effectLst/>
                          <a:latin typeface="Lucida Bright" panose="02040602050505020304" pitchFamily="18" charset="0"/>
                        </a:rPr>
                        <a:t>1.299**</a:t>
                      </a:r>
                    </a:p>
                  </a:txBody>
                  <a:tcPr marL="9525" marR="9525" marT="9525" marB="0" anchor="b">
                    <a:lnL w="6350" cap="flat" cmpd="sng" algn="ctr">
                      <a:solidFill>
                        <a:srgbClr val="000000"/>
                      </a:solidFill>
                      <a:prstDash val="solid"/>
                      <a:round/>
                      <a:headEnd type="none" w="med" len="med"/>
                      <a:tailEnd type="none" w="med" len="med"/>
                    </a:lnL>
                    <a:lnR w="6350" cap="flat" cmpd="sng" algn="ctr">
                      <a:solidFill>
                        <a:srgbClr val="000000"/>
                      </a:solidFill>
                      <a:prstDash val="dot"/>
                      <a:round/>
                      <a:headEnd type="none" w="med" len="med"/>
                      <a:tailEnd type="none" w="med" len="med"/>
                    </a:lnR>
                    <a:lnT w="6350" cap="flat" cmpd="sng" algn="ctr">
                      <a:solidFill>
                        <a:srgbClr val="000000"/>
                      </a:solidFill>
                      <a:prstDash val="solid"/>
                      <a:round/>
                      <a:headEnd type="none" w="med" len="med"/>
                      <a:tailEnd type="none" w="med" len="med"/>
                    </a:lnT>
                    <a:lnB>
                      <a:noFill/>
                    </a:lnB>
                    <a:noFill/>
                  </a:tcPr>
                </a:tc>
                <a:tc>
                  <a:txBody>
                    <a:bodyPr/>
                    <a:lstStyle/>
                    <a:p>
                      <a:pPr algn="ctr" fontAlgn="b">
                        <a:buNone/>
                      </a:pPr>
                      <a:r>
                        <a:rPr lang="es-AR" sz="1100" b="0" i="0" u="none" strike="noStrike">
                          <a:solidFill>
                            <a:srgbClr val="000000"/>
                          </a:solidFill>
                          <a:effectLst/>
                          <a:latin typeface="Lucida Bright" panose="02040602050505020304" pitchFamily="18" charset="0"/>
                        </a:rPr>
                        <a:t>-2.803***</a:t>
                      </a:r>
                    </a:p>
                  </a:txBody>
                  <a:tcPr marL="9525" marR="9525" marT="9525" marB="0" anchor="b">
                    <a:lnL w="6350" cap="flat" cmpd="sng" algn="ctr">
                      <a:solidFill>
                        <a:srgbClr val="000000"/>
                      </a:solidFill>
                      <a:prstDash val="dot"/>
                      <a:round/>
                      <a:headEnd type="none" w="med" len="med"/>
                      <a:tailEnd type="none" w="med" len="med"/>
                    </a:lnL>
                    <a:lnR w="6350" cap="flat" cmpd="sng" algn="ctr">
                      <a:solidFill>
                        <a:srgbClr val="000000"/>
                      </a:solidFill>
                      <a:prstDash val="dot"/>
                      <a:round/>
                      <a:headEnd type="none" w="med" len="med"/>
                      <a:tailEnd type="none" w="med" len="med"/>
                    </a:lnR>
                    <a:lnT w="6350" cap="flat" cmpd="sng" algn="ctr">
                      <a:solidFill>
                        <a:srgbClr val="000000"/>
                      </a:solidFill>
                      <a:prstDash val="solid"/>
                      <a:round/>
                      <a:headEnd type="none" w="med" len="med"/>
                      <a:tailEnd type="none" w="med" len="med"/>
                    </a:lnT>
                    <a:lnB>
                      <a:noFill/>
                    </a:lnB>
                    <a:noFill/>
                  </a:tcPr>
                </a:tc>
                <a:tc>
                  <a:txBody>
                    <a:bodyPr/>
                    <a:lstStyle/>
                    <a:p>
                      <a:pPr algn="ctr" fontAlgn="b">
                        <a:buNone/>
                      </a:pPr>
                      <a:r>
                        <a:rPr lang="es-AR" sz="1100" b="0" i="0" u="none" strike="noStrike">
                          <a:solidFill>
                            <a:srgbClr val="000000"/>
                          </a:solidFill>
                          <a:effectLst/>
                          <a:latin typeface="Lucida Bright" panose="02040602050505020304" pitchFamily="18" charset="0"/>
                        </a:rPr>
                        <a:t>-1.656***</a:t>
                      </a:r>
                    </a:p>
                  </a:txBody>
                  <a:tcPr marL="9525" marR="9525" marT="9525" marB="0" anchor="b">
                    <a:lnL w="6350" cap="flat" cmpd="sng" algn="ctr">
                      <a:solidFill>
                        <a:srgbClr val="000000"/>
                      </a:solidFill>
                      <a:prstDash val="dot"/>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noFill/>
                  </a:tcPr>
                </a:tc>
                <a:tc>
                  <a:txBody>
                    <a:bodyPr/>
                    <a:lstStyle/>
                    <a:p>
                      <a:pPr algn="ctr" fontAlgn="b">
                        <a:buNone/>
                      </a:pPr>
                      <a:r>
                        <a:rPr lang="es-AR" sz="1100" b="0" i="0" u="none" strike="noStrike">
                          <a:solidFill>
                            <a:srgbClr val="000000"/>
                          </a:solidFill>
                          <a:effectLst/>
                          <a:latin typeface="Lucida Bright" panose="02040602050505020304" pitchFamily="18" charset="0"/>
                        </a:rPr>
                        <a:t>0.453</a:t>
                      </a:r>
                    </a:p>
                  </a:txBody>
                  <a:tcPr marL="9525" marR="9525" marT="9525" marB="0" anchor="b">
                    <a:lnL w="6350" cap="flat" cmpd="sng" algn="ctr">
                      <a:solidFill>
                        <a:srgbClr val="000000"/>
                      </a:solidFill>
                      <a:prstDash val="solid"/>
                      <a:round/>
                      <a:headEnd type="none" w="med" len="med"/>
                      <a:tailEnd type="none" w="med" len="med"/>
                    </a:lnL>
                    <a:lnR w="6350" cap="flat" cmpd="sng" algn="ctr">
                      <a:solidFill>
                        <a:srgbClr val="000000"/>
                      </a:solidFill>
                      <a:prstDash val="dot"/>
                      <a:round/>
                      <a:headEnd type="none" w="med" len="med"/>
                      <a:tailEnd type="none" w="med" len="med"/>
                    </a:lnR>
                    <a:lnT w="6350" cap="flat" cmpd="sng" algn="ctr">
                      <a:solidFill>
                        <a:srgbClr val="000000"/>
                      </a:solidFill>
                      <a:prstDash val="solid"/>
                      <a:round/>
                      <a:headEnd type="none" w="med" len="med"/>
                      <a:tailEnd type="none" w="med" len="med"/>
                    </a:lnT>
                    <a:lnB>
                      <a:noFill/>
                    </a:lnB>
                    <a:noFill/>
                  </a:tcPr>
                </a:tc>
                <a:tc>
                  <a:txBody>
                    <a:bodyPr/>
                    <a:lstStyle/>
                    <a:p>
                      <a:pPr algn="ctr" fontAlgn="b">
                        <a:buNone/>
                      </a:pPr>
                      <a:r>
                        <a:rPr lang="es-AR" sz="1100" b="0" i="0" u="none" strike="noStrike">
                          <a:solidFill>
                            <a:srgbClr val="000000"/>
                          </a:solidFill>
                          <a:effectLst/>
                          <a:latin typeface="Lucida Bright" panose="02040602050505020304" pitchFamily="18" charset="0"/>
                        </a:rPr>
                        <a:t>-5.571***</a:t>
                      </a:r>
                    </a:p>
                  </a:txBody>
                  <a:tcPr marL="9525" marR="9525" marT="9525" marB="0" anchor="b">
                    <a:lnL w="6350" cap="flat" cmpd="sng" algn="ctr">
                      <a:solidFill>
                        <a:srgbClr val="000000"/>
                      </a:solidFill>
                      <a:prstDash val="dot"/>
                      <a:round/>
                      <a:headEnd type="none" w="med" len="med"/>
                      <a:tailEnd type="none" w="med" len="med"/>
                    </a:lnL>
                    <a:lnR w="6350" cap="flat" cmpd="sng" algn="ctr">
                      <a:solidFill>
                        <a:srgbClr val="000000"/>
                      </a:solidFill>
                      <a:prstDash val="dot"/>
                      <a:round/>
                      <a:headEnd type="none" w="med" len="med"/>
                      <a:tailEnd type="none" w="med" len="med"/>
                    </a:lnR>
                    <a:lnT w="6350" cap="flat" cmpd="sng" algn="ctr">
                      <a:solidFill>
                        <a:srgbClr val="000000"/>
                      </a:solidFill>
                      <a:prstDash val="solid"/>
                      <a:round/>
                      <a:headEnd type="none" w="med" len="med"/>
                      <a:tailEnd type="none" w="med" len="med"/>
                    </a:lnT>
                    <a:lnB>
                      <a:noFill/>
                    </a:lnB>
                    <a:noFill/>
                  </a:tcPr>
                </a:tc>
                <a:tc>
                  <a:txBody>
                    <a:bodyPr/>
                    <a:lstStyle/>
                    <a:p>
                      <a:pPr algn="ctr" fontAlgn="b">
                        <a:buNone/>
                      </a:pPr>
                      <a:r>
                        <a:rPr lang="es-AR" sz="1100" b="0" i="0" u="none" strike="noStrike">
                          <a:solidFill>
                            <a:srgbClr val="000000"/>
                          </a:solidFill>
                          <a:effectLst/>
                          <a:latin typeface="Lucida Bright" panose="02040602050505020304" pitchFamily="18" charset="0"/>
                        </a:rPr>
                        <a:t>-4.573***</a:t>
                      </a:r>
                    </a:p>
                  </a:txBody>
                  <a:tcPr marL="9525" marR="9525" marT="9525" marB="0" anchor="b">
                    <a:lnL w="6350" cap="flat" cmpd="sng" algn="ctr">
                      <a:solidFill>
                        <a:srgbClr val="000000"/>
                      </a:solidFill>
                      <a:prstDash val="dot"/>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noFill/>
                  </a:tcPr>
                </a:tc>
                <a:extLst>
                  <a:ext uri="{0D108BD9-81ED-4DB2-BD59-A6C34878D82A}">
                    <a16:rowId xmlns:a16="http://schemas.microsoft.com/office/drawing/2014/main" val="3733208553"/>
                  </a:ext>
                </a:extLst>
              </a:tr>
              <a:tr h="190500">
                <a:tc>
                  <a:txBody>
                    <a:bodyPr/>
                    <a:lstStyle/>
                    <a:p>
                      <a:pPr algn="l" fontAlgn="b">
                        <a:buNone/>
                      </a:pPr>
                      <a:r>
                        <a:rPr lang="es-AR" sz="1100" b="0" i="0" u="none" strike="noStrike">
                          <a:solidFill>
                            <a:srgbClr val="000000"/>
                          </a:solidFill>
                          <a:effectLst/>
                          <a:latin typeface="Lucida Bright" panose="02040602050505020304" pitchFamily="18" charset="0"/>
                        </a:rPr>
                        <a:t>log(ITCRM_ARG)</a:t>
                      </a:r>
                    </a:p>
                  </a:txBody>
                  <a:tcPr marL="9525" marR="9525" marT="9525"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b">
                        <a:buNone/>
                      </a:pPr>
                      <a:r>
                        <a:rPr lang="es-AR" sz="1100" b="0" i="0" u="none" strike="noStrike">
                          <a:solidFill>
                            <a:srgbClr val="000000"/>
                          </a:solidFill>
                          <a:effectLst/>
                          <a:latin typeface="Lucida Bright" panose="02040602050505020304" pitchFamily="18" charset="0"/>
                        </a:rPr>
                        <a:t>-0.889***</a:t>
                      </a:r>
                    </a:p>
                  </a:txBody>
                  <a:tcPr marL="9525" marR="9525" marT="9525" marB="0" anchor="b">
                    <a:lnL w="6350" cap="flat" cmpd="sng" algn="ctr">
                      <a:solidFill>
                        <a:srgbClr val="000000"/>
                      </a:solidFill>
                      <a:prstDash val="solid"/>
                      <a:round/>
                      <a:headEnd type="none" w="med" len="med"/>
                      <a:tailEnd type="none" w="med" len="med"/>
                    </a:lnL>
                    <a:lnR w="6350" cap="flat" cmpd="sng" algn="ctr">
                      <a:solidFill>
                        <a:srgbClr val="000000"/>
                      </a:solidFill>
                      <a:prstDash val="dot"/>
                      <a:round/>
                      <a:headEnd type="none" w="med" len="med"/>
                      <a:tailEnd type="none" w="med" len="med"/>
                    </a:lnR>
                    <a:lnT>
                      <a:noFill/>
                    </a:lnT>
                    <a:lnB>
                      <a:noFill/>
                    </a:lnB>
                    <a:solidFill>
                      <a:srgbClr val="E2EFDA"/>
                    </a:solidFill>
                  </a:tcPr>
                </a:tc>
                <a:tc>
                  <a:txBody>
                    <a:bodyPr/>
                    <a:lstStyle/>
                    <a:p>
                      <a:pPr algn="ctr" fontAlgn="b">
                        <a:buNone/>
                      </a:pPr>
                      <a:r>
                        <a:rPr lang="es-AR" sz="1100" b="0" i="0" u="none" strike="noStrike">
                          <a:solidFill>
                            <a:srgbClr val="000000"/>
                          </a:solidFill>
                          <a:effectLst/>
                          <a:latin typeface="Lucida Bright" panose="02040602050505020304" pitchFamily="18" charset="0"/>
                        </a:rPr>
                        <a:t>-1.156***</a:t>
                      </a:r>
                    </a:p>
                  </a:txBody>
                  <a:tcPr marL="9525" marR="9525" marT="9525" marB="0" anchor="b">
                    <a:lnL w="6350" cap="flat" cmpd="sng" algn="ctr">
                      <a:solidFill>
                        <a:srgbClr val="000000"/>
                      </a:solidFill>
                      <a:prstDash val="dot"/>
                      <a:round/>
                      <a:headEnd type="none" w="med" len="med"/>
                      <a:tailEnd type="none" w="med" len="med"/>
                    </a:lnL>
                    <a:lnR w="6350" cap="flat" cmpd="sng" algn="ctr">
                      <a:solidFill>
                        <a:srgbClr val="000000"/>
                      </a:solidFill>
                      <a:prstDash val="dot"/>
                      <a:round/>
                      <a:headEnd type="none" w="med" len="med"/>
                      <a:tailEnd type="none" w="med" len="med"/>
                    </a:lnR>
                    <a:lnT>
                      <a:noFill/>
                    </a:lnT>
                    <a:lnB>
                      <a:noFill/>
                    </a:lnB>
                    <a:solidFill>
                      <a:srgbClr val="E2EFDA"/>
                    </a:solidFill>
                  </a:tcPr>
                </a:tc>
                <a:tc>
                  <a:txBody>
                    <a:bodyPr/>
                    <a:lstStyle/>
                    <a:p>
                      <a:pPr algn="ctr" fontAlgn="b">
                        <a:buNone/>
                      </a:pPr>
                      <a:r>
                        <a:rPr lang="es-AR" sz="1100" b="0" i="0" u="none" strike="noStrike">
                          <a:solidFill>
                            <a:srgbClr val="000000"/>
                          </a:solidFill>
                          <a:effectLst/>
                          <a:latin typeface="Lucida Bright" panose="02040602050505020304" pitchFamily="18" charset="0"/>
                        </a:rPr>
                        <a:t> </a:t>
                      </a:r>
                    </a:p>
                  </a:txBody>
                  <a:tcPr marL="9525" marR="9525" marT="9525" marB="0" anchor="b">
                    <a:lnL w="6350" cap="flat" cmpd="sng" algn="ctr">
                      <a:solidFill>
                        <a:srgbClr val="000000"/>
                      </a:solidFill>
                      <a:prstDash val="dot"/>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b">
                        <a:buNone/>
                      </a:pPr>
                      <a:r>
                        <a:rPr lang="es-AR" sz="1100" b="0" i="0" u="none" strike="noStrike">
                          <a:solidFill>
                            <a:srgbClr val="000000"/>
                          </a:solidFill>
                          <a:effectLst/>
                          <a:latin typeface="Lucida Bright" panose="02040602050505020304" pitchFamily="18" charset="0"/>
                        </a:rPr>
                        <a:t>-0.893***</a:t>
                      </a:r>
                    </a:p>
                  </a:txBody>
                  <a:tcPr marL="9525" marR="9525" marT="9525" marB="0" anchor="b">
                    <a:lnL w="6350" cap="flat" cmpd="sng" algn="ctr">
                      <a:solidFill>
                        <a:srgbClr val="000000"/>
                      </a:solidFill>
                      <a:prstDash val="solid"/>
                      <a:round/>
                      <a:headEnd type="none" w="med" len="med"/>
                      <a:tailEnd type="none" w="med" len="med"/>
                    </a:lnL>
                    <a:lnR w="6350" cap="flat" cmpd="sng" algn="ctr">
                      <a:solidFill>
                        <a:srgbClr val="000000"/>
                      </a:solidFill>
                      <a:prstDash val="dot"/>
                      <a:round/>
                      <a:headEnd type="none" w="med" len="med"/>
                      <a:tailEnd type="none" w="med" len="med"/>
                    </a:lnR>
                    <a:lnT>
                      <a:noFill/>
                    </a:lnT>
                    <a:lnB>
                      <a:noFill/>
                    </a:lnB>
                    <a:solidFill>
                      <a:srgbClr val="E2EFDA"/>
                    </a:solidFill>
                  </a:tcPr>
                </a:tc>
                <a:tc>
                  <a:txBody>
                    <a:bodyPr/>
                    <a:lstStyle/>
                    <a:p>
                      <a:pPr algn="ctr" fontAlgn="b">
                        <a:buNone/>
                      </a:pPr>
                      <a:r>
                        <a:rPr lang="es-AR" sz="1100" b="0" i="0" u="none" strike="noStrike">
                          <a:solidFill>
                            <a:srgbClr val="000000"/>
                          </a:solidFill>
                          <a:effectLst/>
                          <a:latin typeface="Lucida Bright" panose="02040602050505020304" pitchFamily="18" charset="0"/>
                        </a:rPr>
                        <a:t>-1.179***</a:t>
                      </a:r>
                    </a:p>
                  </a:txBody>
                  <a:tcPr marL="9525" marR="9525" marT="9525" marB="0" anchor="b">
                    <a:lnL w="6350" cap="flat" cmpd="sng" algn="ctr">
                      <a:solidFill>
                        <a:srgbClr val="000000"/>
                      </a:solidFill>
                      <a:prstDash val="dot"/>
                      <a:round/>
                      <a:headEnd type="none" w="med" len="med"/>
                      <a:tailEnd type="none" w="med" len="med"/>
                    </a:lnL>
                    <a:lnR w="6350" cap="flat" cmpd="sng" algn="ctr">
                      <a:solidFill>
                        <a:srgbClr val="000000"/>
                      </a:solidFill>
                      <a:prstDash val="dot"/>
                      <a:round/>
                      <a:headEnd type="none" w="med" len="med"/>
                      <a:tailEnd type="none" w="med" len="med"/>
                    </a:lnR>
                    <a:lnT>
                      <a:noFill/>
                    </a:lnT>
                    <a:lnB>
                      <a:noFill/>
                    </a:lnB>
                    <a:solidFill>
                      <a:srgbClr val="E2EFDA"/>
                    </a:solidFill>
                  </a:tcPr>
                </a:tc>
                <a:tc>
                  <a:txBody>
                    <a:bodyPr/>
                    <a:lstStyle/>
                    <a:p>
                      <a:pPr algn="ctr" fontAlgn="b">
                        <a:buNone/>
                      </a:pPr>
                      <a:r>
                        <a:rPr lang="es-AR" sz="1100" b="0" i="0" u="none" strike="noStrike">
                          <a:solidFill>
                            <a:srgbClr val="000000"/>
                          </a:solidFill>
                          <a:effectLst/>
                          <a:latin typeface="Lucida Bright" panose="02040602050505020304" pitchFamily="18" charset="0"/>
                        </a:rPr>
                        <a:t> </a:t>
                      </a:r>
                    </a:p>
                  </a:txBody>
                  <a:tcPr marL="9525" marR="9525" marT="9525" marB="0" anchor="b">
                    <a:lnL w="6350" cap="flat" cmpd="sng" algn="ctr">
                      <a:solidFill>
                        <a:srgbClr val="000000"/>
                      </a:solidFill>
                      <a:prstDash val="dot"/>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b">
                        <a:buNone/>
                      </a:pPr>
                      <a:r>
                        <a:rPr lang="es-AR" sz="1100" b="0" i="0" u="none" strike="noStrike">
                          <a:solidFill>
                            <a:srgbClr val="000000"/>
                          </a:solidFill>
                          <a:effectLst/>
                          <a:latin typeface="Lucida Bright" panose="02040602050505020304" pitchFamily="18" charset="0"/>
                        </a:rPr>
                        <a:t>0.003</a:t>
                      </a:r>
                    </a:p>
                  </a:txBody>
                  <a:tcPr marL="9525" marR="9525" marT="9525" marB="0" anchor="b">
                    <a:lnL w="6350" cap="flat" cmpd="sng" algn="ctr">
                      <a:solidFill>
                        <a:srgbClr val="000000"/>
                      </a:solidFill>
                      <a:prstDash val="solid"/>
                      <a:round/>
                      <a:headEnd type="none" w="med" len="med"/>
                      <a:tailEnd type="none" w="med" len="med"/>
                    </a:lnL>
                    <a:lnR w="6350" cap="flat" cmpd="sng" algn="ctr">
                      <a:solidFill>
                        <a:srgbClr val="000000"/>
                      </a:solidFill>
                      <a:prstDash val="dot"/>
                      <a:round/>
                      <a:headEnd type="none" w="med" len="med"/>
                      <a:tailEnd type="none" w="med" len="med"/>
                    </a:lnR>
                    <a:lnT>
                      <a:noFill/>
                    </a:lnT>
                    <a:lnB>
                      <a:noFill/>
                    </a:lnB>
                    <a:solidFill>
                      <a:srgbClr val="E2EFDA"/>
                    </a:solidFill>
                  </a:tcPr>
                </a:tc>
                <a:tc>
                  <a:txBody>
                    <a:bodyPr/>
                    <a:lstStyle/>
                    <a:p>
                      <a:pPr algn="ctr" fontAlgn="b">
                        <a:buNone/>
                      </a:pPr>
                      <a:r>
                        <a:rPr lang="es-AR" sz="1100" b="0" i="0" u="none" strike="noStrike">
                          <a:solidFill>
                            <a:srgbClr val="000000"/>
                          </a:solidFill>
                          <a:effectLst/>
                          <a:latin typeface="Lucida Bright" panose="02040602050505020304" pitchFamily="18" charset="0"/>
                        </a:rPr>
                        <a:t>0.001</a:t>
                      </a:r>
                    </a:p>
                  </a:txBody>
                  <a:tcPr marL="9525" marR="9525" marT="9525" marB="0" anchor="b">
                    <a:lnL w="6350" cap="flat" cmpd="sng" algn="ctr">
                      <a:solidFill>
                        <a:srgbClr val="000000"/>
                      </a:solidFill>
                      <a:prstDash val="dot"/>
                      <a:round/>
                      <a:headEnd type="none" w="med" len="med"/>
                      <a:tailEnd type="none" w="med" len="med"/>
                    </a:lnL>
                    <a:lnR w="6350" cap="flat" cmpd="sng" algn="ctr">
                      <a:solidFill>
                        <a:srgbClr val="000000"/>
                      </a:solidFill>
                      <a:prstDash val="dot"/>
                      <a:round/>
                      <a:headEnd type="none" w="med" len="med"/>
                      <a:tailEnd type="none" w="med" len="med"/>
                    </a:lnR>
                    <a:lnT>
                      <a:noFill/>
                    </a:lnT>
                    <a:lnB>
                      <a:noFill/>
                    </a:lnB>
                    <a:solidFill>
                      <a:srgbClr val="E2EFDA"/>
                    </a:solidFill>
                  </a:tcPr>
                </a:tc>
                <a:tc>
                  <a:txBody>
                    <a:bodyPr/>
                    <a:lstStyle/>
                    <a:p>
                      <a:pPr algn="ctr" fontAlgn="b">
                        <a:buNone/>
                      </a:pPr>
                      <a:r>
                        <a:rPr lang="es-AR" sz="1100" b="0" i="0" u="none" strike="noStrike">
                          <a:solidFill>
                            <a:srgbClr val="000000"/>
                          </a:solidFill>
                          <a:effectLst/>
                          <a:latin typeface="Lucida Bright" panose="02040602050505020304" pitchFamily="18" charset="0"/>
                        </a:rPr>
                        <a:t> </a:t>
                      </a:r>
                    </a:p>
                  </a:txBody>
                  <a:tcPr marL="9525" marR="9525" marT="9525" marB="0" anchor="b">
                    <a:lnL w="6350" cap="flat" cmpd="sng" algn="ctr">
                      <a:solidFill>
                        <a:srgbClr val="000000"/>
                      </a:solidFill>
                      <a:prstDash val="dot"/>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b">
                        <a:buNone/>
                      </a:pPr>
                      <a:r>
                        <a:rPr lang="es-AR" sz="1100" b="0" i="0" u="none" strike="noStrike">
                          <a:solidFill>
                            <a:srgbClr val="000000"/>
                          </a:solidFill>
                          <a:effectLst/>
                          <a:latin typeface="Lucida Bright" panose="02040602050505020304" pitchFamily="18" charset="0"/>
                        </a:rPr>
                        <a:t>-0.002</a:t>
                      </a:r>
                    </a:p>
                  </a:txBody>
                  <a:tcPr marL="9525" marR="9525" marT="9525" marB="0" anchor="b">
                    <a:lnL w="6350" cap="flat" cmpd="sng" algn="ctr">
                      <a:solidFill>
                        <a:srgbClr val="000000"/>
                      </a:solidFill>
                      <a:prstDash val="solid"/>
                      <a:round/>
                      <a:headEnd type="none" w="med" len="med"/>
                      <a:tailEnd type="none" w="med" len="med"/>
                    </a:lnL>
                    <a:lnR w="6350" cap="flat" cmpd="sng" algn="ctr">
                      <a:solidFill>
                        <a:srgbClr val="000000"/>
                      </a:solidFill>
                      <a:prstDash val="dot"/>
                      <a:round/>
                      <a:headEnd type="none" w="med" len="med"/>
                      <a:tailEnd type="none" w="med" len="med"/>
                    </a:lnR>
                    <a:lnT>
                      <a:noFill/>
                    </a:lnT>
                    <a:lnB>
                      <a:noFill/>
                    </a:lnB>
                    <a:solidFill>
                      <a:srgbClr val="E2EFDA"/>
                    </a:solidFill>
                  </a:tcPr>
                </a:tc>
                <a:tc>
                  <a:txBody>
                    <a:bodyPr/>
                    <a:lstStyle/>
                    <a:p>
                      <a:pPr algn="ctr" fontAlgn="b">
                        <a:buNone/>
                      </a:pPr>
                      <a:r>
                        <a:rPr lang="es-AR" sz="1100" b="0" i="0" u="none" strike="noStrike">
                          <a:solidFill>
                            <a:srgbClr val="000000"/>
                          </a:solidFill>
                          <a:effectLst/>
                          <a:latin typeface="Lucida Bright" panose="02040602050505020304" pitchFamily="18" charset="0"/>
                        </a:rPr>
                        <a:t>-0.014</a:t>
                      </a:r>
                    </a:p>
                  </a:txBody>
                  <a:tcPr marL="9525" marR="9525" marT="9525" marB="0" anchor="b">
                    <a:lnL w="6350" cap="flat" cmpd="sng" algn="ctr">
                      <a:solidFill>
                        <a:srgbClr val="000000"/>
                      </a:solidFill>
                      <a:prstDash val="dot"/>
                      <a:round/>
                      <a:headEnd type="none" w="med" len="med"/>
                      <a:tailEnd type="none" w="med" len="med"/>
                    </a:lnL>
                    <a:lnR w="6350" cap="flat" cmpd="sng" algn="ctr">
                      <a:solidFill>
                        <a:srgbClr val="000000"/>
                      </a:solidFill>
                      <a:prstDash val="dot"/>
                      <a:round/>
                      <a:headEnd type="none" w="med" len="med"/>
                      <a:tailEnd type="none" w="med" len="med"/>
                    </a:lnR>
                    <a:lnT>
                      <a:noFill/>
                    </a:lnT>
                    <a:lnB>
                      <a:noFill/>
                    </a:lnB>
                    <a:solidFill>
                      <a:srgbClr val="E2EFDA"/>
                    </a:solidFill>
                  </a:tcPr>
                </a:tc>
                <a:tc>
                  <a:txBody>
                    <a:bodyPr/>
                    <a:lstStyle/>
                    <a:p>
                      <a:pPr algn="ctr" fontAlgn="b">
                        <a:buNone/>
                      </a:pPr>
                      <a:r>
                        <a:rPr lang="es-AR" sz="1100" b="0" i="0" u="none" strike="noStrike">
                          <a:solidFill>
                            <a:srgbClr val="000000"/>
                          </a:solidFill>
                          <a:effectLst/>
                          <a:latin typeface="Lucida Bright" panose="02040602050505020304" pitchFamily="18" charset="0"/>
                        </a:rPr>
                        <a:t> </a:t>
                      </a:r>
                    </a:p>
                  </a:txBody>
                  <a:tcPr marL="9525" marR="9525" marT="9525" marB="0" anchor="b">
                    <a:lnL w="6350" cap="flat" cmpd="sng" algn="ctr">
                      <a:solidFill>
                        <a:srgbClr val="000000"/>
                      </a:solidFill>
                      <a:prstDash val="dot"/>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extLst>
                  <a:ext uri="{0D108BD9-81ED-4DB2-BD59-A6C34878D82A}">
                    <a16:rowId xmlns:a16="http://schemas.microsoft.com/office/drawing/2014/main" val="848658965"/>
                  </a:ext>
                </a:extLst>
              </a:tr>
              <a:tr h="190500">
                <a:tc>
                  <a:txBody>
                    <a:bodyPr/>
                    <a:lstStyle/>
                    <a:p>
                      <a:pPr algn="l" fontAlgn="b">
                        <a:buNone/>
                      </a:pPr>
                      <a:r>
                        <a:rPr lang="es-AR" sz="1100" b="0" i="0" u="none" strike="noStrike">
                          <a:solidFill>
                            <a:srgbClr val="000000"/>
                          </a:solidFill>
                          <a:effectLst/>
                          <a:latin typeface="Lucida Bright" panose="02040602050505020304" pitchFamily="18" charset="0"/>
                        </a:rPr>
                        <a:t>log(ITCRM_SFE)</a:t>
                      </a:r>
                    </a:p>
                  </a:txBody>
                  <a:tcPr marL="9525" marR="9525" marT="9525"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b">
                        <a:buNone/>
                      </a:pPr>
                      <a:r>
                        <a:rPr lang="es-AR" sz="1100" b="0" i="0" u="none" strike="noStrike">
                          <a:solidFill>
                            <a:srgbClr val="000000"/>
                          </a:solidFill>
                          <a:effectLst/>
                          <a:latin typeface="Lucida Bright" panose="02040602050505020304" pitchFamily="18" charset="0"/>
                        </a:rPr>
                        <a:t> </a:t>
                      </a:r>
                    </a:p>
                  </a:txBody>
                  <a:tcPr marL="9525" marR="9525" marT="9525" marB="0" anchor="b">
                    <a:lnL w="6350" cap="flat" cmpd="sng" algn="ctr">
                      <a:solidFill>
                        <a:srgbClr val="000000"/>
                      </a:solidFill>
                      <a:prstDash val="solid"/>
                      <a:round/>
                      <a:headEnd type="none" w="med" len="med"/>
                      <a:tailEnd type="none" w="med" len="med"/>
                    </a:lnL>
                    <a:lnR w="6350" cap="flat" cmpd="sng" algn="ctr">
                      <a:solidFill>
                        <a:srgbClr val="000000"/>
                      </a:solidFill>
                      <a:prstDash val="dot"/>
                      <a:round/>
                      <a:headEnd type="none" w="med" len="med"/>
                      <a:tailEnd type="none" w="med" len="med"/>
                    </a:lnR>
                    <a:lnT>
                      <a:noFill/>
                    </a:lnT>
                    <a:lnB>
                      <a:noFill/>
                    </a:lnB>
                    <a:noFill/>
                  </a:tcPr>
                </a:tc>
                <a:tc>
                  <a:txBody>
                    <a:bodyPr/>
                    <a:lstStyle/>
                    <a:p>
                      <a:pPr algn="ctr" fontAlgn="b">
                        <a:buNone/>
                      </a:pPr>
                      <a:r>
                        <a:rPr lang="es-AR" sz="1100" b="0" i="0" u="none" strike="noStrike">
                          <a:solidFill>
                            <a:srgbClr val="000000"/>
                          </a:solidFill>
                          <a:effectLst/>
                          <a:latin typeface="Lucida Bright" panose="02040602050505020304" pitchFamily="18" charset="0"/>
                        </a:rPr>
                        <a:t> </a:t>
                      </a:r>
                    </a:p>
                  </a:txBody>
                  <a:tcPr marL="9525" marR="9525" marT="9525" marB="0" anchor="b">
                    <a:lnL w="6350" cap="flat" cmpd="sng" algn="ctr">
                      <a:solidFill>
                        <a:srgbClr val="000000"/>
                      </a:solidFill>
                      <a:prstDash val="dot"/>
                      <a:round/>
                      <a:headEnd type="none" w="med" len="med"/>
                      <a:tailEnd type="none" w="med" len="med"/>
                    </a:lnL>
                    <a:lnR w="6350" cap="flat" cmpd="sng" algn="ctr">
                      <a:solidFill>
                        <a:srgbClr val="000000"/>
                      </a:solidFill>
                      <a:prstDash val="dot"/>
                      <a:round/>
                      <a:headEnd type="none" w="med" len="med"/>
                      <a:tailEnd type="none" w="med" len="med"/>
                    </a:lnR>
                    <a:lnT>
                      <a:noFill/>
                    </a:lnT>
                    <a:lnB>
                      <a:noFill/>
                    </a:lnB>
                    <a:noFill/>
                  </a:tcPr>
                </a:tc>
                <a:tc>
                  <a:txBody>
                    <a:bodyPr/>
                    <a:lstStyle/>
                    <a:p>
                      <a:pPr algn="ctr" fontAlgn="b">
                        <a:buNone/>
                      </a:pPr>
                      <a:r>
                        <a:rPr lang="es-AR" sz="1100" b="0" i="0" u="none" strike="noStrike">
                          <a:solidFill>
                            <a:srgbClr val="000000"/>
                          </a:solidFill>
                          <a:effectLst/>
                          <a:latin typeface="Lucida Bright" panose="02040602050505020304" pitchFamily="18" charset="0"/>
                        </a:rPr>
                        <a:t>0.544***</a:t>
                      </a:r>
                    </a:p>
                  </a:txBody>
                  <a:tcPr marL="9525" marR="9525" marT="9525" marB="0" anchor="b">
                    <a:lnL w="6350" cap="flat" cmpd="sng" algn="ctr">
                      <a:solidFill>
                        <a:srgbClr val="000000"/>
                      </a:solidFill>
                      <a:prstDash val="dot"/>
                      <a:round/>
                      <a:headEnd type="none" w="med" len="med"/>
                      <a:tailEnd type="none" w="med" len="med"/>
                    </a:lnL>
                    <a:lnR w="6350" cap="flat" cmpd="sng" algn="ctr">
                      <a:solidFill>
                        <a:srgbClr val="000000"/>
                      </a:solidFill>
                      <a:prstDash val="solid"/>
                      <a:round/>
                      <a:headEnd type="none" w="med" len="med"/>
                      <a:tailEnd type="none" w="med" len="med"/>
                    </a:lnR>
                    <a:lnT>
                      <a:noFill/>
                    </a:lnT>
                    <a:lnB>
                      <a:noFill/>
                    </a:lnB>
                    <a:solidFill>
                      <a:srgbClr val="E2EFDA"/>
                    </a:solidFill>
                  </a:tcPr>
                </a:tc>
                <a:tc>
                  <a:txBody>
                    <a:bodyPr/>
                    <a:lstStyle/>
                    <a:p>
                      <a:pPr algn="ctr" fontAlgn="b">
                        <a:buNone/>
                      </a:pPr>
                      <a:r>
                        <a:rPr lang="es-AR" sz="1100" b="0" i="0" u="none" strike="noStrike">
                          <a:solidFill>
                            <a:srgbClr val="000000"/>
                          </a:solidFill>
                          <a:effectLst/>
                          <a:latin typeface="Lucida Bright" panose="02040602050505020304" pitchFamily="18" charset="0"/>
                        </a:rPr>
                        <a:t> </a:t>
                      </a:r>
                    </a:p>
                  </a:txBody>
                  <a:tcPr marL="9525" marR="9525" marT="9525" marB="0" anchor="b">
                    <a:lnL w="6350" cap="flat" cmpd="sng" algn="ctr">
                      <a:solidFill>
                        <a:srgbClr val="000000"/>
                      </a:solidFill>
                      <a:prstDash val="solid"/>
                      <a:round/>
                      <a:headEnd type="none" w="med" len="med"/>
                      <a:tailEnd type="none" w="med" len="med"/>
                    </a:lnL>
                    <a:lnR w="6350" cap="flat" cmpd="sng" algn="ctr">
                      <a:solidFill>
                        <a:srgbClr val="000000"/>
                      </a:solidFill>
                      <a:prstDash val="dot"/>
                      <a:round/>
                      <a:headEnd type="none" w="med" len="med"/>
                      <a:tailEnd type="none" w="med" len="med"/>
                    </a:lnR>
                    <a:lnT>
                      <a:noFill/>
                    </a:lnT>
                    <a:lnB>
                      <a:noFill/>
                    </a:lnB>
                    <a:noFill/>
                  </a:tcPr>
                </a:tc>
                <a:tc>
                  <a:txBody>
                    <a:bodyPr/>
                    <a:lstStyle/>
                    <a:p>
                      <a:pPr algn="ctr" fontAlgn="b">
                        <a:buNone/>
                      </a:pPr>
                      <a:r>
                        <a:rPr lang="es-AR" sz="1100" b="0" i="0" u="none" strike="noStrike">
                          <a:solidFill>
                            <a:srgbClr val="000000"/>
                          </a:solidFill>
                          <a:effectLst/>
                          <a:latin typeface="Lucida Bright" panose="02040602050505020304" pitchFamily="18" charset="0"/>
                        </a:rPr>
                        <a:t> </a:t>
                      </a:r>
                    </a:p>
                  </a:txBody>
                  <a:tcPr marL="9525" marR="9525" marT="9525" marB="0" anchor="b">
                    <a:lnL w="6350" cap="flat" cmpd="sng" algn="ctr">
                      <a:solidFill>
                        <a:srgbClr val="000000"/>
                      </a:solidFill>
                      <a:prstDash val="dot"/>
                      <a:round/>
                      <a:headEnd type="none" w="med" len="med"/>
                      <a:tailEnd type="none" w="med" len="med"/>
                    </a:lnL>
                    <a:lnR w="6350" cap="flat" cmpd="sng" algn="ctr">
                      <a:solidFill>
                        <a:srgbClr val="000000"/>
                      </a:solidFill>
                      <a:prstDash val="dot"/>
                      <a:round/>
                      <a:headEnd type="none" w="med" len="med"/>
                      <a:tailEnd type="none" w="med" len="med"/>
                    </a:lnR>
                    <a:lnT>
                      <a:noFill/>
                    </a:lnT>
                    <a:lnB>
                      <a:noFill/>
                    </a:lnB>
                    <a:noFill/>
                  </a:tcPr>
                </a:tc>
                <a:tc>
                  <a:txBody>
                    <a:bodyPr/>
                    <a:lstStyle/>
                    <a:p>
                      <a:pPr algn="ctr" fontAlgn="b">
                        <a:buNone/>
                      </a:pPr>
                      <a:r>
                        <a:rPr lang="es-AR" sz="1100" b="0" i="0" u="none" strike="noStrike">
                          <a:solidFill>
                            <a:srgbClr val="000000"/>
                          </a:solidFill>
                          <a:effectLst/>
                          <a:latin typeface="Lucida Bright" panose="02040602050505020304" pitchFamily="18" charset="0"/>
                        </a:rPr>
                        <a:t>0.546***</a:t>
                      </a:r>
                    </a:p>
                  </a:txBody>
                  <a:tcPr marL="9525" marR="9525" marT="9525" marB="0" anchor="b">
                    <a:lnL w="6350" cap="flat" cmpd="sng" algn="ctr">
                      <a:solidFill>
                        <a:srgbClr val="000000"/>
                      </a:solidFill>
                      <a:prstDash val="dot"/>
                      <a:round/>
                      <a:headEnd type="none" w="med" len="med"/>
                      <a:tailEnd type="none" w="med" len="med"/>
                    </a:lnL>
                    <a:lnR w="6350" cap="flat" cmpd="sng" algn="ctr">
                      <a:solidFill>
                        <a:srgbClr val="000000"/>
                      </a:solidFill>
                      <a:prstDash val="solid"/>
                      <a:round/>
                      <a:headEnd type="none" w="med" len="med"/>
                      <a:tailEnd type="none" w="med" len="med"/>
                    </a:lnR>
                    <a:lnT>
                      <a:noFill/>
                    </a:lnT>
                    <a:lnB>
                      <a:noFill/>
                    </a:lnB>
                    <a:solidFill>
                      <a:srgbClr val="E2EFDA"/>
                    </a:solidFill>
                  </a:tcPr>
                </a:tc>
                <a:tc>
                  <a:txBody>
                    <a:bodyPr/>
                    <a:lstStyle/>
                    <a:p>
                      <a:pPr algn="ctr" fontAlgn="b">
                        <a:buNone/>
                      </a:pPr>
                      <a:r>
                        <a:rPr lang="es-AR" sz="1100" b="0" i="0" u="none" strike="noStrike">
                          <a:solidFill>
                            <a:srgbClr val="000000"/>
                          </a:solidFill>
                          <a:effectLst/>
                          <a:latin typeface="Lucida Bright" panose="02040602050505020304" pitchFamily="18" charset="0"/>
                        </a:rPr>
                        <a:t> </a:t>
                      </a:r>
                    </a:p>
                  </a:txBody>
                  <a:tcPr marL="9525" marR="9525" marT="9525" marB="0" anchor="b">
                    <a:lnL w="6350" cap="flat" cmpd="sng" algn="ctr">
                      <a:solidFill>
                        <a:srgbClr val="000000"/>
                      </a:solidFill>
                      <a:prstDash val="solid"/>
                      <a:round/>
                      <a:headEnd type="none" w="med" len="med"/>
                      <a:tailEnd type="none" w="med" len="med"/>
                    </a:lnL>
                    <a:lnR w="6350" cap="flat" cmpd="sng" algn="ctr">
                      <a:solidFill>
                        <a:srgbClr val="000000"/>
                      </a:solidFill>
                      <a:prstDash val="dot"/>
                      <a:round/>
                      <a:headEnd type="none" w="med" len="med"/>
                      <a:tailEnd type="none" w="med" len="med"/>
                    </a:lnR>
                    <a:lnT>
                      <a:noFill/>
                    </a:lnT>
                    <a:lnB>
                      <a:noFill/>
                    </a:lnB>
                    <a:noFill/>
                  </a:tcPr>
                </a:tc>
                <a:tc>
                  <a:txBody>
                    <a:bodyPr/>
                    <a:lstStyle/>
                    <a:p>
                      <a:pPr algn="ctr" fontAlgn="b">
                        <a:buNone/>
                      </a:pPr>
                      <a:r>
                        <a:rPr lang="es-AR" sz="1100" b="0" i="0" u="none" strike="noStrike">
                          <a:solidFill>
                            <a:srgbClr val="000000"/>
                          </a:solidFill>
                          <a:effectLst/>
                          <a:latin typeface="Lucida Bright" panose="02040602050505020304" pitchFamily="18" charset="0"/>
                        </a:rPr>
                        <a:t> </a:t>
                      </a:r>
                    </a:p>
                  </a:txBody>
                  <a:tcPr marL="9525" marR="9525" marT="9525" marB="0" anchor="b">
                    <a:lnL w="6350" cap="flat" cmpd="sng" algn="ctr">
                      <a:solidFill>
                        <a:srgbClr val="000000"/>
                      </a:solidFill>
                      <a:prstDash val="dot"/>
                      <a:round/>
                      <a:headEnd type="none" w="med" len="med"/>
                      <a:tailEnd type="none" w="med" len="med"/>
                    </a:lnL>
                    <a:lnR w="6350" cap="flat" cmpd="sng" algn="ctr">
                      <a:solidFill>
                        <a:srgbClr val="000000"/>
                      </a:solidFill>
                      <a:prstDash val="dot"/>
                      <a:round/>
                      <a:headEnd type="none" w="med" len="med"/>
                      <a:tailEnd type="none" w="med" len="med"/>
                    </a:lnR>
                    <a:lnT>
                      <a:noFill/>
                    </a:lnT>
                    <a:lnB>
                      <a:noFill/>
                    </a:lnB>
                    <a:noFill/>
                  </a:tcPr>
                </a:tc>
                <a:tc>
                  <a:txBody>
                    <a:bodyPr/>
                    <a:lstStyle/>
                    <a:p>
                      <a:pPr algn="ctr" fontAlgn="b">
                        <a:buNone/>
                      </a:pPr>
                      <a:r>
                        <a:rPr lang="es-AR" sz="1100" b="0" i="0" u="none" strike="noStrike">
                          <a:solidFill>
                            <a:srgbClr val="000000"/>
                          </a:solidFill>
                          <a:effectLst/>
                          <a:latin typeface="Lucida Bright" panose="02040602050505020304" pitchFamily="18" charset="0"/>
                        </a:rPr>
                        <a:t>-0.301***</a:t>
                      </a:r>
                    </a:p>
                  </a:txBody>
                  <a:tcPr marL="9525" marR="9525" marT="9525" marB="0" anchor="b">
                    <a:lnL w="6350" cap="flat" cmpd="sng" algn="ctr">
                      <a:solidFill>
                        <a:srgbClr val="000000"/>
                      </a:solidFill>
                      <a:prstDash val="dot"/>
                      <a:round/>
                      <a:headEnd type="none" w="med" len="med"/>
                      <a:tailEnd type="none" w="med" len="med"/>
                    </a:lnL>
                    <a:lnR w="6350" cap="flat" cmpd="sng" algn="ctr">
                      <a:solidFill>
                        <a:srgbClr val="000000"/>
                      </a:solidFill>
                      <a:prstDash val="solid"/>
                      <a:round/>
                      <a:headEnd type="none" w="med" len="med"/>
                      <a:tailEnd type="none" w="med" len="med"/>
                    </a:lnR>
                    <a:lnT>
                      <a:noFill/>
                    </a:lnT>
                    <a:lnB>
                      <a:noFill/>
                    </a:lnB>
                    <a:solidFill>
                      <a:srgbClr val="E2EFDA"/>
                    </a:solidFill>
                  </a:tcPr>
                </a:tc>
                <a:tc>
                  <a:txBody>
                    <a:bodyPr/>
                    <a:lstStyle/>
                    <a:p>
                      <a:pPr algn="ctr" fontAlgn="b">
                        <a:buNone/>
                      </a:pPr>
                      <a:r>
                        <a:rPr lang="es-AR" sz="1100" b="0" i="0" u="none" strike="noStrike">
                          <a:solidFill>
                            <a:srgbClr val="000000"/>
                          </a:solidFill>
                          <a:effectLst/>
                          <a:latin typeface="Lucida Bright" panose="02040602050505020304" pitchFamily="18" charset="0"/>
                        </a:rPr>
                        <a:t> </a:t>
                      </a:r>
                    </a:p>
                  </a:txBody>
                  <a:tcPr marL="9525" marR="9525" marT="9525" marB="0" anchor="b">
                    <a:lnL w="6350" cap="flat" cmpd="sng" algn="ctr">
                      <a:solidFill>
                        <a:srgbClr val="000000"/>
                      </a:solidFill>
                      <a:prstDash val="solid"/>
                      <a:round/>
                      <a:headEnd type="none" w="med" len="med"/>
                      <a:tailEnd type="none" w="med" len="med"/>
                    </a:lnL>
                    <a:lnR w="6350" cap="flat" cmpd="sng" algn="ctr">
                      <a:solidFill>
                        <a:srgbClr val="000000"/>
                      </a:solidFill>
                      <a:prstDash val="dot"/>
                      <a:round/>
                      <a:headEnd type="none" w="med" len="med"/>
                      <a:tailEnd type="none" w="med" len="med"/>
                    </a:lnR>
                    <a:lnT>
                      <a:noFill/>
                    </a:lnT>
                    <a:lnB>
                      <a:noFill/>
                    </a:lnB>
                    <a:noFill/>
                  </a:tcPr>
                </a:tc>
                <a:tc>
                  <a:txBody>
                    <a:bodyPr/>
                    <a:lstStyle/>
                    <a:p>
                      <a:pPr algn="ctr" fontAlgn="b">
                        <a:buNone/>
                      </a:pPr>
                      <a:r>
                        <a:rPr lang="es-AR" sz="1100" b="0" i="0" u="none" strike="noStrike">
                          <a:solidFill>
                            <a:srgbClr val="000000"/>
                          </a:solidFill>
                          <a:effectLst/>
                          <a:latin typeface="Lucida Bright" panose="02040602050505020304" pitchFamily="18" charset="0"/>
                        </a:rPr>
                        <a:t> </a:t>
                      </a:r>
                    </a:p>
                  </a:txBody>
                  <a:tcPr marL="9525" marR="9525" marT="9525" marB="0" anchor="b">
                    <a:lnL w="6350" cap="flat" cmpd="sng" algn="ctr">
                      <a:solidFill>
                        <a:srgbClr val="000000"/>
                      </a:solidFill>
                      <a:prstDash val="dot"/>
                      <a:round/>
                      <a:headEnd type="none" w="med" len="med"/>
                      <a:tailEnd type="none" w="med" len="med"/>
                    </a:lnL>
                    <a:lnR w="6350" cap="flat" cmpd="sng" algn="ctr">
                      <a:solidFill>
                        <a:srgbClr val="000000"/>
                      </a:solidFill>
                      <a:prstDash val="dot"/>
                      <a:round/>
                      <a:headEnd type="none" w="med" len="med"/>
                      <a:tailEnd type="none" w="med" len="med"/>
                    </a:lnR>
                    <a:lnT>
                      <a:noFill/>
                    </a:lnT>
                    <a:lnB>
                      <a:noFill/>
                    </a:lnB>
                    <a:noFill/>
                  </a:tcPr>
                </a:tc>
                <a:tc>
                  <a:txBody>
                    <a:bodyPr/>
                    <a:lstStyle/>
                    <a:p>
                      <a:pPr algn="ctr" fontAlgn="b">
                        <a:buNone/>
                      </a:pPr>
                      <a:r>
                        <a:rPr lang="es-AR" sz="1100" b="0" i="0" u="none" strike="noStrike">
                          <a:solidFill>
                            <a:srgbClr val="000000"/>
                          </a:solidFill>
                          <a:effectLst/>
                          <a:latin typeface="Lucida Bright" panose="02040602050505020304" pitchFamily="18" charset="0"/>
                        </a:rPr>
                        <a:t>-0.315***</a:t>
                      </a:r>
                    </a:p>
                  </a:txBody>
                  <a:tcPr marL="9525" marR="9525" marT="9525" marB="0" anchor="b">
                    <a:lnL w="6350" cap="flat" cmpd="sng" algn="ctr">
                      <a:solidFill>
                        <a:srgbClr val="000000"/>
                      </a:solidFill>
                      <a:prstDash val="dot"/>
                      <a:round/>
                      <a:headEnd type="none" w="med" len="med"/>
                      <a:tailEnd type="none" w="med" len="med"/>
                    </a:lnL>
                    <a:lnR w="6350" cap="flat" cmpd="sng" algn="ctr">
                      <a:solidFill>
                        <a:srgbClr val="000000"/>
                      </a:solidFill>
                      <a:prstDash val="solid"/>
                      <a:round/>
                      <a:headEnd type="none" w="med" len="med"/>
                      <a:tailEnd type="none" w="med" len="med"/>
                    </a:lnR>
                    <a:lnT>
                      <a:noFill/>
                    </a:lnT>
                    <a:lnB>
                      <a:noFill/>
                    </a:lnB>
                    <a:solidFill>
                      <a:srgbClr val="E2EFDA"/>
                    </a:solidFill>
                  </a:tcPr>
                </a:tc>
                <a:extLst>
                  <a:ext uri="{0D108BD9-81ED-4DB2-BD59-A6C34878D82A}">
                    <a16:rowId xmlns:a16="http://schemas.microsoft.com/office/drawing/2014/main" val="326510533"/>
                  </a:ext>
                </a:extLst>
              </a:tr>
              <a:tr h="190500">
                <a:tc>
                  <a:txBody>
                    <a:bodyPr/>
                    <a:lstStyle/>
                    <a:p>
                      <a:pPr algn="l" fontAlgn="b">
                        <a:buNone/>
                      </a:pPr>
                      <a:r>
                        <a:rPr lang="es-AR" sz="1100" b="0" i="0" u="none" strike="noStrike">
                          <a:solidFill>
                            <a:srgbClr val="000000"/>
                          </a:solidFill>
                          <a:effectLst/>
                          <a:latin typeface="Lucida Bright" panose="02040602050505020304" pitchFamily="18" charset="0"/>
                        </a:rPr>
                        <a:t>log(GEBC)</a:t>
                      </a:r>
                    </a:p>
                  </a:txBody>
                  <a:tcPr marL="9525" marR="9525" marT="9525"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b">
                        <a:buNone/>
                      </a:pPr>
                      <a:r>
                        <a:rPr lang="es-AR" sz="1100" b="0" i="0" u="none" strike="noStrike">
                          <a:solidFill>
                            <a:srgbClr val="000000"/>
                          </a:solidFill>
                          <a:effectLst/>
                          <a:latin typeface="Lucida Bright" panose="02040602050505020304" pitchFamily="18" charset="0"/>
                        </a:rPr>
                        <a:t> </a:t>
                      </a:r>
                    </a:p>
                  </a:txBody>
                  <a:tcPr marL="9525" marR="9525" marT="9525" marB="0" anchor="b">
                    <a:lnL w="6350" cap="flat" cmpd="sng" algn="ctr">
                      <a:solidFill>
                        <a:srgbClr val="000000"/>
                      </a:solidFill>
                      <a:prstDash val="solid"/>
                      <a:round/>
                      <a:headEnd type="none" w="med" len="med"/>
                      <a:tailEnd type="none" w="med" len="med"/>
                    </a:lnL>
                    <a:lnR w="6350" cap="flat" cmpd="sng" algn="ctr">
                      <a:solidFill>
                        <a:srgbClr val="000000"/>
                      </a:solidFill>
                      <a:prstDash val="dot"/>
                      <a:round/>
                      <a:headEnd type="none" w="med" len="med"/>
                      <a:tailEnd type="none" w="med" len="med"/>
                    </a:lnR>
                    <a:lnT>
                      <a:noFill/>
                    </a:lnT>
                    <a:lnB>
                      <a:noFill/>
                    </a:lnB>
                    <a:noFill/>
                  </a:tcPr>
                </a:tc>
                <a:tc>
                  <a:txBody>
                    <a:bodyPr/>
                    <a:lstStyle/>
                    <a:p>
                      <a:pPr algn="ctr" fontAlgn="b">
                        <a:buNone/>
                      </a:pPr>
                      <a:r>
                        <a:rPr lang="es-AR" sz="1100" b="0" i="0" u="none" strike="noStrike">
                          <a:solidFill>
                            <a:srgbClr val="000000"/>
                          </a:solidFill>
                          <a:effectLst/>
                          <a:latin typeface="Lucida Bright" panose="02040602050505020304" pitchFamily="18" charset="0"/>
                        </a:rPr>
                        <a:t> </a:t>
                      </a:r>
                    </a:p>
                  </a:txBody>
                  <a:tcPr marL="9525" marR="9525" marT="9525" marB="0" anchor="b">
                    <a:lnL w="6350" cap="flat" cmpd="sng" algn="ctr">
                      <a:solidFill>
                        <a:srgbClr val="000000"/>
                      </a:solidFill>
                      <a:prstDash val="dot"/>
                      <a:round/>
                      <a:headEnd type="none" w="med" len="med"/>
                      <a:tailEnd type="none" w="med" len="med"/>
                    </a:lnL>
                    <a:lnR w="6350" cap="flat" cmpd="sng" algn="ctr">
                      <a:solidFill>
                        <a:srgbClr val="000000"/>
                      </a:solidFill>
                      <a:prstDash val="dot"/>
                      <a:round/>
                      <a:headEnd type="none" w="med" len="med"/>
                      <a:tailEnd type="none" w="med" len="med"/>
                    </a:lnR>
                    <a:lnT>
                      <a:noFill/>
                    </a:lnT>
                    <a:lnB>
                      <a:noFill/>
                    </a:lnB>
                    <a:noFill/>
                  </a:tcPr>
                </a:tc>
                <a:tc>
                  <a:txBody>
                    <a:bodyPr/>
                    <a:lstStyle/>
                    <a:p>
                      <a:pPr algn="ctr" fontAlgn="b">
                        <a:buNone/>
                      </a:pPr>
                      <a:r>
                        <a:rPr lang="es-AR" sz="1100" b="0" i="0" u="none" strike="noStrike">
                          <a:solidFill>
                            <a:srgbClr val="000000"/>
                          </a:solidFill>
                          <a:effectLst/>
                          <a:latin typeface="Lucida Bright" panose="02040602050505020304" pitchFamily="18" charset="0"/>
                        </a:rPr>
                        <a:t> </a:t>
                      </a:r>
                    </a:p>
                  </a:txBody>
                  <a:tcPr marL="9525" marR="9525" marT="9525" marB="0" anchor="b">
                    <a:lnL w="6350" cap="flat" cmpd="sng" algn="ctr">
                      <a:solidFill>
                        <a:srgbClr val="000000"/>
                      </a:solidFill>
                      <a:prstDash val="dot"/>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b">
                        <a:buNone/>
                      </a:pPr>
                      <a:r>
                        <a:rPr lang="es-AR" sz="1100" b="0" i="0" u="none" strike="noStrike">
                          <a:solidFill>
                            <a:srgbClr val="000000"/>
                          </a:solidFill>
                          <a:effectLst/>
                          <a:latin typeface="Lucida Bright" panose="02040602050505020304" pitchFamily="18" charset="0"/>
                        </a:rPr>
                        <a:t>0.075</a:t>
                      </a:r>
                    </a:p>
                  </a:txBody>
                  <a:tcPr marL="9525" marR="9525" marT="9525" marB="0" anchor="b">
                    <a:lnL w="6350" cap="flat" cmpd="sng" algn="ctr">
                      <a:solidFill>
                        <a:srgbClr val="000000"/>
                      </a:solidFill>
                      <a:prstDash val="solid"/>
                      <a:round/>
                      <a:headEnd type="none" w="med" len="med"/>
                      <a:tailEnd type="none" w="med" len="med"/>
                    </a:lnL>
                    <a:lnR w="6350" cap="flat" cmpd="sng" algn="ctr">
                      <a:solidFill>
                        <a:srgbClr val="000000"/>
                      </a:solidFill>
                      <a:prstDash val="dot"/>
                      <a:round/>
                      <a:headEnd type="none" w="med" len="med"/>
                      <a:tailEnd type="none" w="med" len="med"/>
                    </a:lnR>
                    <a:lnT>
                      <a:noFill/>
                    </a:lnT>
                    <a:lnB>
                      <a:noFill/>
                    </a:lnB>
                    <a:noFill/>
                  </a:tcPr>
                </a:tc>
                <a:tc>
                  <a:txBody>
                    <a:bodyPr/>
                    <a:lstStyle/>
                    <a:p>
                      <a:pPr algn="ctr" fontAlgn="b">
                        <a:buNone/>
                      </a:pPr>
                      <a:r>
                        <a:rPr lang="es-AR" sz="1100" b="0" i="0" u="none" strike="noStrike">
                          <a:solidFill>
                            <a:srgbClr val="000000"/>
                          </a:solidFill>
                          <a:effectLst/>
                          <a:latin typeface="Lucida Bright" panose="02040602050505020304" pitchFamily="18" charset="0"/>
                        </a:rPr>
                        <a:t>0.456**</a:t>
                      </a:r>
                    </a:p>
                  </a:txBody>
                  <a:tcPr marL="9525" marR="9525" marT="9525" marB="0" anchor="b">
                    <a:lnL w="6350" cap="flat" cmpd="sng" algn="ctr">
                      <a:solidFill>
                        <a:srgbClr val="000000"/>
                      </a:solidFill>
                      <a:prstDash val="dot"/>
                      <a:round/>
                      <a:headEnd type="none" w="med" len="med"/>
                      <a:tailEnd type="none" w="med" len="med"/>
                    </a:lnL>
                    <a:lnR w="6350" cap="flat" cmpd="sng" algn="ctr">
                      <a:solidFill>
                        <a:srgbClr val="000000"/>
                      </a:solidFill>
                      <a:prstDash val="dot"/>
                      <a:round/>
                      <a:headEnd type="none" w="med" len="med"/>
                      <a:tailEnd type="none" w="med" len="med"/>
                    </a:lnR>
                    <a:lnT>
                      <a:noFill/>
                    </a:lnT>
                    <a:lnB>
                      <a:noFill/>
                    </a:lnB>
                    <a:noFill/>
                  </a:tcPr>
                </a:tc>
                <a:tc>
                  <a:txBody>
                    <a:bodyPr/>
                    <a:lstStyle/>
                    <a:p>
                      <a:pPr algn="ctr" fontAlgn="b">
                        <a:buNone/>
                      </a:pPr>
                      <a:r>
                        <a:rPr lang="es-AR" sz="1100" b="0" i="0" u="none" strike="noStrike">
                          <a:solidFill>
                            <a:srgbClr val="000000"/>
                          </a:solidFill>
                          <a:effectLst/>
                          <a:latin typeface="Lucida Bright" panose="02040602050505020304" pitchFamily="18" charset="0"/>
                        </a:rPr>
                        <a:t>0.289</a:t>
                      </a:r>
                    </a:p>
                  </a:txBody>
                  <a:tcPr marL="9525" marR="9525" marT="9525" marB="0" anchor="b">
                    <a:lnL w="6350" cap="flat" cmpd="sng" algn="ctr">
                      <a:solidFill>
                        <a:srgbClr val="000000"/>
                      </a:solidFill>
                      <a:prstDash val="dot"/>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b">
                        <a:buNone/>
                      </a:pPr>
                      <a:r>
                        <a:rPr lang="es-AR" sz="1100" b="0" i="0" u="none" strike="noStrike">
                          <a:solidFill>
                            <a:srgbClr val="000000"/>
                          </a:solidFill>
                          <a:effectLst/>
                          <a:latin typeface="Lucida Bright" panose="02040602050505020304" pitchFamily="18" charset="0"/>
                        </a:rPr>
                        <a:t> </a:t>
                      </a:r>
                    </a:p>
                  </a:txBody>
                  <a:tcPr marL="9525" marR="9525" marT="9525" marB="0" anchor="b">
                    <a:lnL w="6350" cap="flat" cmpd="sng" algn="ctr">
                      <a:solidFill>
                        <a:srgbClr val="000000"/>
                      </a:solidFill>
                      <a:prstDash val="solid"/>
                      <a:round/>
                      <a:headEnd type="none" w="med" len="med"/>
                      <a:tailEnd type="none" w="med" len="med"/>
                    </a:lnL>
                    <a:lnR w="6350" cap="flat" cmpd="sng" algn="ctr">
                      <a:solidFill>
                        <a:srgbClr val="000000"/>
                      </a:solidFill>
                      <a:prstDash val="dot"/>
                      <a:round/>
                      <a:headEnd type="none" w="med" len="med"/>
                      <a:tailEnd type="none" w="med" len="med"/>
                    </a:lnR>
                    <a:lnT>
                      <a:noFill/>
                    </a:lnT>
                    <a:lnB>
                      <a:noFill/>
                    </a:lnB>
                    <a:noFill/>
                  </a:tcPr>
                </a:tc>
                <a:tc>
                  <a:txBody>
                    <a:bodyPr/>
                    <a:lstStyle/>
                    <a:p>
                      <a:pPr algn="ctr" fontAlgn="b">
                        <a:buNone/>
                      </a:pPr>
                      <a:r>
                        <a:rPr lang="es-AR" sz="1100" b="0" i="0" u="none" strike="noStrike">
                          <a:solidFill>
                            <a:srgbClr val="000000"/>
                          </a:solidFill>
                          <a:effectLst/>
                          <a:latin typeface="Lucida Bright" panose="02040602050505020304" pitchFamily="18" charset="0"/>
                        </a:rPr>
                        <a:t> </a:t>
                      </a:r>
                    </a:p>
                  </a:txBody>
                  <a:tcPr marL="9525" marR="9525" marT="9525" marB="0" anchor="b">
                    <a:lnL w="6350" cap="flat" cmpd="sng" algn="ctr">
                      <a:solidFill>
                        <a:srgbClr val="000000"/>
                      </a:solidFill>
                      <a:prstDash val="dot"/>
                      <a:round/>
                      <a:headEnd type="none" w="med" len="med"/>
                      <a:tailEnd type="none" w="med" len="med"/>
                    </a:lnL>
                    <a:lnR w="6350" cap="flat" cmpd="sng" algn="ctr">
                      <a:solidFill>
                        <a:srgbClr val="000000"/>
                      </a:solidFill>
                      <a:prstDash val="dot"/>
                      <a:round/>
                      <a:headEnd type="none" w="med" len="med"/>
                      <a:tailEnd type="none" w="med" len="med"/>
                    </a:lnR>
                    <a:lnT>
                      <a:noFill/>
                    </a:lnT>
                    <a:lnB>
                      <a:noFill/>
                    </a:lnB>
                    <a:noFill/>
                  </a:tcPr>
                </a:tc>
                <a:tc>
                  <a:txBody>
                    <a:bodyPr/>
                    <a:lstStyle/>
                    <a:p>
                      <a:pPr algn="ctr" fontAlgn="b">
                        <a:buNone/>
                      </a:pPr>
                      <a:r>
                        <a:rPr lang="es-AR" sz="1100" b="0" i="0" u="none" strike="noStrike">
                          <a:solidFill>
                            <a:srgbClr val="000000"/>
                          </a:solidFill>
                          <a:effectLst/>
                          <a:latin typeface="Lucida Bright" panose="02040602050505020304" pitchFamily="18" charset="0"/>
                        </a:rPr>
                        <a:t> </a:t>
                      </a:r>
                    </a:p>
                  </a:txBody>
                  <a:tcPr marL="9525" marR="9525" marT="9525" marB="0" anchor="b">
                    <a:lnL w="6350" cap="flat" cmpd="sng" algn="ctr">
                      <a:solidFill>
                        <a:srgbClr val="000000"/>
                      </a:solidFill>
                      <a:prstDash val="dot"/>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b">
                        <a:buNone/>
                      </a:pPr>
                      <a:r>
                        <a:rPr lang="es-AR" sz="1100" b="0" i="0" u="none" strike="noStrike">
                          <a:solidFill>
                            <a:srgbClr val="000000"/>
                          </a:solidFill>
                          <a:effectLst/>
                          <a:latin typeface="Lucida Bright" panose="02040602050505020304" pitchFamily="18" charset="0"/>
                        </a:rPr>
                        <a:t>0.182**</a:t>
                      </a:r>
                    </a:p>
                  </a:txBody>
                  <a:tcPr marL="9525" marR="9525" marT="9525" marB="0" anchor="b">
                    <a:lnL w="6350" cap="flat" cmpd="sng" algn="ctr">
                      <a:solidFill>
                        <a:srgbClr val="000000"/>
                      </a:solidFill>
                      <a:prstDash val="solid"/>
                      <a:round/>
                      <a:headEnd type="none" w="med" len="med"/>
                      <a:tailEnd type="none" w="med" len="med"/>
                    </a:lnL>
                    <a:lnR w="6350" cap="flat" cmpd="sng" algn="ctr">
                      <a:solidFill>
                        <a:srgbClr val="000000"/>
                      </a:solidFill>
                      <a:prstDash val="dot"/>
                      <a:round/>
                      <a:headEnd type="none" w="med" len="med"/>
                      <a:tailEnd type="none" w="med" len="med"/>
                    </a:lnR>
                    <a:lnT>
                      <a:noFill/>
                    </a:lnT>
                    <a:lnB>
                      <a:noFill/>
                    </a:lnB>
                    <a:noFill/>
                  </a:tcPr>
                </a:tc>
                <a:tc>
                  <a:txBody>
                    <a:bodyPr/>
                    <a:lstStyle/>
                    <a:p>
                      <a:pPr algn="ctr" fontAlgn="b">
                        <a:buNone/>
                      </a:pPr>
                      <a:r>
                        <a:rPr lang="es-AR" sz="1100" b="0" i="0" u="none" strike="noStrike">
                          <a:solidFill>
                            <a:srgbClr val="000000"/>
                          </a:solidFill>
                          <a:effectLst/>
                          <a:latin typeface="Lucida Bright" panose="02040602050505020304" pitchFamily="18" charset="0"/>
                        </a:rPr>
                        <a:t>0.596***</a:t>
                      </a:r>
                    </a:p>
                  </a:txBody>
                  <a:tcPr marL="9525" marR="9525" marT="9525" marB="0" anchor="b">
                    <a:lnL w="6350" cap="flat" cmpd="sng" algn="ctr">
                      <a:solidFill>
                        <a:srgbClr val="000000"/>
                      </a:solidFill>
                      <a:prstDash val="dot"/>
                      <a:round/>
                      <a:headEnd type="none" w="med" len="med"/>
                      <a:tailEnd type="none" w="med" len="med"/>
                    </a:lnL>
                    <a:lnR w="6350" cap="flat" cmpd="sng" algn="ctr">
                      <a:solidFill>
                        <a:srgbClr val="000000"/>
                      </a:solidFill>
                      <a:prstDash val="dot"/>
                      <a:round/>
                      <a:headEnd type="none" w="med" len="med"/>
                      <a:tailEnd type="none" w="med" len="med"/>
                    </a:lnR>
                    <a:lnT>
                      <a:noFill/>
                    </a:lnT>
                    <a:lnB>
                      <a:noFill/>
                    </a:lnB>
                    <a:noFill/>
                  </a:tcPr>
                </a:tc>
                <a:tc>
                  <a:txBody>
                    <a:bodyPr/>
                    <a:lstStyle/>
                    <a:p>
                      <a:pPr algn="ctr" fontAlgn="b">
                        <a:buNone/>
                      </a:pPr>
                      <a:r>
                        <a:rPr lang="es-AR" sz="1100" b="0" i="0" u="none" strike="noStrike">
                          <a:solidFill>
                            <a:srgbClr val="000000"/>
                          </a:solidFill>
                          <a:effectLst/>
                          <a:latin typeface="Lucida Bright" panose="02040602050505020304" pitchFamily="18" charset="0"/>
                        </a:rPr>
                        <a:t>0.614***</a:t>
                      </a:r>
                    </a:p>
                  </a:txBody>
                  <a:tcPr marL="9525" marR="9525" marT="9525" marB="0" anchor="b">
                    <a:lnL w="6350" cap="flat" cmpd="sng" algn="ctr">
                      <a:solidFill>
                        <a:srgbClr val="000000"/>
                      </a:solidFill>
                      <a:prstDash val="dot"/>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extLst>
                  <a:ext uri="{0D108BD9-81ED-4DB2-BD59-A6C34878D82A}">
                    <a16:rowId xmlns:a16="http://schemas.microsoft.com/office/drawing/2014/main" val="1471527175"/>
                  </a:ext>
                </a:extLst>
              </a:tr>
              <a:tr h="190500">
                <a:tc>
                  <a:txBody>
                    <a:bodyPr/>
                    <a:lstStyle/>
                    <a:p>
                      <a:pPr algn="l" fontAlgn="b">
                        <a:buNone/>
                      </a:pPr>
                      <a:r>
                        <a:rPr lang="es-AR" sz="1100" b="0" i="0" u="none" strike="noStrike">
                          <a:solidFill>
                            <a:srgbClr val="000000"/>
                          </a:solidFill>
                          <a:effectLst/>
                          <a:latin typeface="Lucida Bright" panose="02040602050505020304" pitchFamily="18" charset="0"/>
                        </a:rPr>
                        <a:t>log(API)</a:t>
                      </a:r>
                    </a:p>
                  </a:txBody>
                  <a:tcPr marL="9525" marR="9525" marT="9525"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noFill/>
                  </a:tcPr>
                </a:tc>
                <a:tc>
                  <a:txBody>
                    <a:bodyPr/>
                    <a:lstStyle/>
                    <a:p>
                      <a:pPr algn="ctr" fontAlgn="b">
                        <a:buNone/>
                      </a:pPr>
                      <a:r>
                        <a:rPr lang="es-AR" sz="1100" b="0" i="0" u="none" strike="noStrike">
                          <a:solidFill>
                            <a:srgbClr val="000000"/>
                          </a:solidFill>
                          <a:effectLst/>
                          <a:latin typeface="Lucida Bright" panose="02040602050505020304" pitchFamily="18" charset="0"/>
                        </a:rPr>
                        <a:t> </a:t>
                      </a:r>
                    </a:p>
                  </a:txBody>
                  <a:tcPr marL="9525" marR="9525" marT="9525" marB="0" anchor="b">
                    <a:lnL w="6350" cap="flat" cmpd="sng" algn="ctr">
                      <a:solidFill>
                        <a:srgbClr val="000000"/>
                      </a:solidFill>
                      <a:prstDash val="solid"/>
                      <a:round/>
                      <a:headEnd type="none" w="med" len="med"/>
                      <a:tailEnd type="none" w="med" len="med"/>
                    </a:lnL>
                    <a:lnR w="6350" cap="flat" cmpd="sng" algn="ctr">
                      <a:solidFill>
                        <a:srgbClr val="000000"/>
                      </a:solidFill>
                      <a:prstDash val="dot"/>
                      <a:round/>
                      <a:headEnd type="none" w="med" len="med"/>
                      <a:tailEnd type="none" w="med" len="med"/>
                    </a:lnR>
                    <a:lnT>
                      <a:noFill/>
                    </a:lnT>
                    <a:lnB w="6350" cap="flat" cmpd="sng" algn="ctr">
                      <a:solidFill>
                        <a:srgbClr val="000000"/>
                      </a:solidFill>
                      <a:prstDash val="solid"/>
                      <a:round/>
                      <a:headEnd type="none" w="med" len="med"/>
                      <a:tailEnd type="none" w="med" len="med"/>
                    </a:lnB>
                    <a:noFill/>
                  </a:tcPr>
                </a:tc>
                <a:tc>
                  <a:txBody>
                    <a:bodyPr/>
                    <a:lstStyle/>
                    <a:p>
                      <a:pPr algn="ctr" fontAlgn="b">
                        <a:buNone/>
                      </a:pPr>
                      <a:r>
                        <a:rPr lang="es-AR" sz="1100" b="0" i="0" u="none" strike="noStrike">
                          <a:solidFill>
                            <a:srgbClr val="000000"/>
                          </a:solidFill>
                          <a:effectLst/>
                          <a:latin typeface="Lucida Bright" panose="02040602050505020304" pitchFamily="18" charset="0"/>
                        </a:rPr>
                        <a:t> </a:t>
                      </a:r>
                    </a:p>
                  </a:txBody>
                  <a:tcPr marL="9525" marR="9525" marT="9525" marB="0" anchor="b">
                    <a:lnL w="6350" cap="flat" cmpd="sng" algn="ctr">
                      <a:solidFill>
                        <a:srgbClr val="000000"/>
                      </a:solidFill>
                      <a:prstDash val="dot"/>
                      <a:round/>
                      <a:headEnd type="none" w="med" len="med"/>
                      <a:tailEnd type="none" w="med" len="med"/>
                    </a:lnL>
                    <a:lnR w="6350" cap="flat" cmpd="sng" algn="ctr">
                      <a:solidFill>
                        <a:srgbClr val="000000"/>
                      </a:solidFill>
                      <a:prstDash val="dot"/>
                      <a:round/>
                      <a:headEnd type="none" w="med" len="med"/>
                      <a:tailEnd type="none" w="med" len="med"/>
                    </a:lnR>
                    <a:lnT>
                      <a:noFill/>
                    </a:lnT>
                    <a:lnB w="6350" cap="flat" cmpd="sng" algn="ctr">
                      <a:solidFill>
                        <a:srgbClr val="000000"/>
                      </a:solidFill>
                      <a:prstDash val="solid"/>
                      <a:round/>
                      <a:headEnd type="none" w="med" len="med"/>
                      <a:tailEnd type="none" w="med" len="med"/>
                    </a:lnB>
                    <a:noFill/>
                  </a:tcPr>
                </a:tc>
                <a:tc>
                  <a:txBody>
                    <a:bodyPr/>
                    <a:lstStyle/>
                    <a:p>
                      <a:pPr algn="ctr" fontAlgn="b">
                        <a:buNone/>
                      </a:pPr>
                      <a:r>
                        <a:rPr lang="es-AR" sz="1100" b="0" i="0" u="none" strike="noStrike">
                          <a:solidFill>
                            <a:srgbClr val="000000"/>
                          </a:solidFill>
                          <a:effectLst/>
                          <a:latin typeface="Lucida Bright" panose="02040602050505020304" pitchFamily="18" charset="0"/>
                        </a:rPr>
                        <a:t> </a:t>
                      </a:r>
                    </a:p>
                  </a:txBody>
                  <a:tcPr marL="9525" marR="9525" marT="9525" marB="0" anchor="b">
                    <a:lnL w="6350" cap="flat" cmpd="sng" algn="ctr">
                      <a:solidFill>
                        <a:srgbClr val="000000"/>
                      </a:solidFill>
                      <a:prstDash val="dot"/>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noFill/>
                  </a:tcPr>
                </a:tc>
                <a:tc>
                  <a:txBody>
                    <a:bodyPr/>
                    <a:lstStyle/>
                    <a:p>
                      <a:pPr algn="ctr" fontAlgn="b">
                        <a:buNone/>
                      </a:pPr>
                      <a:r>
                        <a:rPr lang="es-AR" sz="1100" b="0" i="0" u="none" strike="noStrike">
                          <a:solidFill>
                            <a:srgbClr val="000000"/>
                          </a:solidFill>
                          <a:effectLst/>
                          <a:latin typeface="Lucida Bright" panose="02040602050505020304" pitchFamily="18" charset="0"/>
                        </a:rPr>
                        <a:t> </a:t>
                      </a:r>
                    </a:p>
                  </a:txBody>
                  <a:tcPr marL="9525" marR="9525" marT="9525" marB="0" anchor="b">
                    <a:lnL w="6350" cap="flat" cmpd="sng" algn="ctr">
                      <a:solidFill>
                        <a:srgbClr val="000000"/>
                      </a:solidFill>
                      <a:prstDash val="solid"/>
                      <a:round/>
                      <a:headEnd type="none" w="med" len="med"/>
                      <a:tailEnd type="none" w="med" len="med"/>
                    </a:lnL>
                    <a:lnR w="6350" cap="flat" cmpd="sng" algn="ctr">
                      <a:solidFill>
                        <a:srgbClr val="000000"/>
                      </a:solidFill>
                      <a:prstDash val="dot"/>
                      <a:round/>
                      <a:headEnd type="none" w="med" len="med"/>
                      <a:tailEnd type="none" w="med" len="med"/>
                    </a:lnR>
                    <a:lnT>
                      <a:noFill/>
                    </a:lnT>
                    <a:lnB w="6350" cap="flat" cmpd="sng" algn="ctr">
                      <a:solidFill>
                        <a:srgbClr val="000000"/>
                      </a:solidFill>
                      <a:prstDash val="solid"/>
                      <a:round/>
                      <a:headEnd type="none" w="med" len="med"/>
                      <a:tailEnd type="none" w="med" len="med"/>
                    </a:lnB>
                    <a:noFill/>
                  </a:tcPr>
                </a:tc>
                <a:tc>
                  <a:txBody>
                    <a:bodyPr/>
                    <a:lstStyle/>
                    <a:p>
                      <a:pPr algn="ctr" fontAlgn="b">
                        <a:buNone/>
                      </a:pPr>
                      <a:r>
                        <a:rPr lang="es-AR" sz="1100" b="0" i="0" u="none" strike="noStrike">
                          <a:solidFill>
                            <a:srgbClr val="000000"/>
                          </a:solidFill>
                          <a:effectLst/>
                          <a:latin typeface="Lucida Bright" panose="02040602050505020304" pitchFamily="18" charset="0"/>
                        </a:rPr>
                        <a:t> </a:t>
                      </a:r>
                    </a:p>
                  </a:txBody>
                  <a:tcPr marL="9525" marR="9525" marT="9525" marB="0" anchor="b">
                    <a:lnL w="6350" cap="flat" cmpd="sng" algn="ctr">
                      <a:solidFill>
                        <a:srgbClr val="000000"/>
                      </a:solidFill>
                      <a:prstDash val="dot"/>
                      <a:round/>
                      <a:headEnd type="none" w="med" len="med"/>
                      <a:tailEnd type="none" w="med" len="med"/>
                    </a:lnL>
                    <a:lnR w="6350" cap="flat" cmpd="sng" algn="ctr">
                      <a:solidFill>
                        <a:srgbClr val="000000"/>
                      </a:solidFill>
                      <a:prstDash val="dot"/>
                      <a:round/>
                      <a:headEnd type="none" w="med" len="med"/>
                      <a:tailEnd type="none" w="med" len="med"/>
                    </a:lnR>
                    <a:lnT>
                      <a:noFill/>
                    </a:lnT>
                    <a:lnB w="6350" cap="flat" cmpd="sng" algn="ctr">
                      <a:solidFill>
                        <a:srgbClr val="000000"/>
                      </a:solidFill>
                      <a:prstDash val="solid"/>
                      <a:round/>
                      <a:headEnd type="none" w="med" len="med"/>
                      <a:tailEnd type="none" w="med" len="med"/>
                    </a:lnB>
                    <a:noFill/>
                  </a:tcPr>
                </a:tc>
                <a:tc>
                  <a:txBody>
                    <a:bodyPr/>
                    <a:lstStyle/>
                    <a:p>
                      <a:pPr algn="ctr" fontAlgn="b">
                        <a:buNone/>
                      </a:pPr>
                      <a:r>
                        <a:rPr lang="es-AR" sz="1100" b="0" i="0" u="none" strike="noStrike">
                          <a:solidFill>
                            <a:srgbClr val="000000"/>
                          </a:solidFill>
                          <a:effectLst/>
                          <a:latin typeface="Lucida Bright" panose="02040602050505020304" pitchFamily="18" charset="0"/>
                        </a:rPr>
                        <a:t> </a:t>
                      </a:r>
                    </a:p>
                  </a:txBody>
                  <a:tcPr marL="9525" marR="9525" marT="9525" marB="0" anchor="b">
                    <a:lnL w="6350" cap="flat" cmpd="sng" algn="ctr">
                      <a:solidFill>
                        <a:srgbClr val="000000"/>
                      </a:solidFill>
                      <a:prstDash val="dot"/>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noFill/>
                  </a:tcPr>
                </a:tc>
                <a:tc>
                  <a:txBody>
                    <a:bodyPr/>
                    <a:lstStyle/>
                    <a:p>
                      <a:pPr algn="ctr" fontAlgn="b">
                        <a:buNone/>
                      </a:pPr>
                      <a:r>
                        <a:rPr lang="es-AR" sz="1100" b="0" i="0" u="none" strike="noStrike">
                          <a:solidFill>
                            <a:srgbClr val="000000"/>
                          </a:solidFill>
                          <a:effectLst/>
                          <a:latin typeface="Lucida Bright" panose="02040602050505020304" pitchFamily="18" charset="0"/>
                        </a:rPr>
                        <a:t>1.334***</a:t>
                      </a:r>
                    </a:p>
                  </a:txBody>
                  <a:tcPr marL="9525" marR="9525" marT="9525" marB="0" anchor="b">
                    <a:lnL w="6350" cap="flat" cmpd="sng" algn="ctr">
                      <a:solidFill>
                        <a:srgbClr val="000000"/>
                      </a:solidFill>
                      <a:prstDash val="solid"/>
                      <a:round/>
                      <a:headEnd type="none" w="med" len="med"/>
                      <a:tailEnd type="none" w="med" len="med"/>
                    </a:lnL>
                    <a:lnR w="6350" cap="flat" cmpd="sng" algn="ctr">
                      <a:solidFill>
                        <a:srgbClr val="000000"/>
                      </a:solidFill>
                      <a:prstDash val="dot"/>
                      <a:round/>
                      <a:headEnd type="none" w="med" len="med"/>
                      <a:tailEnd type="none" w="med" len="med"/>
                    </a:lnR>
                    <a:lnT>
                      <a:noFill/>
                    </a:lnT>
                    <a:lnB w="6350" cap="flat" cmpd="sng" algn="ctr">
                      <a:solidFill>
                        <a:srgbClr val="000000"/>
                      </a:solidFill>
                      <a:prstDash val="solid"/>
                      <a:round/>
                      <a:headEnd type="none" w="med" len="med"/>
                      <a:tailEnd type="none" w="med" len="med"/>
                    </a:lnB>
                    <a:noFill/>
                  </a:tcPr>
                </a:tc>
                <a:tc>
                  <a:txBody>
                    <a:bodyPr/>
                    <a:lstStyle/>
                    <a:p>
                      <a:pPr algn="ctr" fontAlgn="b">
                        <a:buNone/>
                      </a:pPr>
                      <a:r>
                        <a:rPr lang="es-AR" sz="1100" b="0" i="0" u="none" strike="noStrike">
                          <a:solidFill>
                            <a:srgbClr val="000000"/>
                          </a:solidFill>
                          <a:effectLst/>
                          <a:latin typeface="Lucida Bright" panose="02040602050505020304" pitchFamily="18" charset="0"/>
                        </a:rPr>
                        <a:t>1.731***</a:t>
                      </a:r>
                    </a:p>
                  </a:txBody>
                  <a:tcPr marL="9525" marR="9525" marT="9525" marB="0" anchor="b">
                    <a:lnL w="6350" cap="flat" cmpd="sng" algn="ctr">
                      <a:solidFill>
                        <a:srgbClr val="000000"/>
                      </a:solidFill>
                      <a:prstDash val="dot"/>
                      <a:round/>
                      <a:headEnd type="none" w="med" len="med"/>
                      <a:tailEnd type="none" w="med" len="med"/>
                    </a:lnL>
                    <a:lnR w="6350" cap="flat" cmpd="sng" algn="ctr">
                      <a:solidFill>
                        <a:srgbClr val="000000"/>
                      </a:solidFill>
                      <a:prstDash val="dot"/>
                      <a:round/>
                      <a:headEnd type="none" w="med" len="med"/>
                      <a:tailEnd type="none" w="med" len="med"/>
                    </a:lnR>
                    <a:lnT>
                      <a:noFill/>
                    </a:lnT>
                    <a:lnB w="6350" cap="flat" cmpd="sng" algn="ctr">
                      <a:solidFill>
                        <a:srgbClr val="000000"/>
                      </a:solidFill>
                      <a:prstDash val="solid"/>
                      <a:round/>
                      <a:headEnd type="none" w="med" len="med"/>
                      <a:tailEnd type="none" w="med" len="med"/>
                    </a:lnB>
                    <a:noFill/>
                  </a:tcPr>
                </a:tc>
                <a:tc>
                  <a:txBody>
                    <a:bodyPr/>
                    <a:lstStyle/>
                    <a:p>
                      <a:pPr algn="ctr" fontAlgn="b">
                        <a:buNone/>
                      </a:pPr>
                      <a:r>
                        <a:rPr lang="es-AR" sz="1100" b="0" i="0" u="none" strike="noStrike">
                          <a:solidFill>
                            <a:srgbClr val="000000"/>
                          </a:solidFill>
                          <a:effectLst/>
                          <a:latin typeface="Lucida Bright" panose="02040602050505020304" pitchFamily="18" charset="0"/>
                        </a:rPr>
                        <a:t>1.860***</a:t>
                      </a:r>
                    </a:p>
                  </a:txBody>
                  <a:tcPr marL="9525" marR="9525" marT="9525" marB="0" anchor="b">
                    <a:lnL w="6350" cap="flat" cmpd="sng" algn="ctr">
                      <a:solidFill>
                        <a:srgbClr val="000000"/>
                      </a:solidFill>
                      <a:prstDash val="dot"/>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noFill/>
                  </a:tcPr>
                </a:tc>
                <a:tc>
                  <a:txBody>
                    <a:bodyPr/>
                    <a:lstStyle/>
                    <a:p>
                      <a:pPr algn="ctr" fontAlgn="b">
                        <a:buNone/>
                      </a:pPr>
                      <a:r>
                        <a:rPr lang="es-AR" sz="1100" b="0" i="0" u="none" strike="noStrike">
                          <a:solidFill>
                            <a:srgbClr val="000000"/>
                          </a:solidFill>
                          <a:effectLst/>
                          <a:latin typeface="Lucida Bright" panose="02040602050505020304" pitchFamily="18" charset="0"/>
                        </a:rPr>
                        <a:t>1.341***</a:t>
                      </a:r>
                    </a:p>
                  </a:txBody>
                  <a:tcPr marL="9525" marR="9525" marT="9525" marB="0" anchor="b">
                    <a:lnL w="6350" cap="flat" cmpd="sng" algn="ctr">
                      <a:solidFill>
                        <a:srgbClr val="000000"/>
                      </a:solidFill>
                      <a:prstDash val="solid"/>
                      <a:round/>
                      <a:headEnd type="none" w="med" len="med"/>
                      <a:tailEnd type="none" w="med" len="med"/>
                    </a:lnL>
                    <a:lnR w="6350" cap="flat" cmpd="sng" algn="ctr">
                      <a:solidFill>
                        <a:srgbClr val="000000"/>
                      </a:solidFill>
                      <a:prstDash val="dot"/>
                      <a:round/>
                      <a:headEnd type="none" w="med" len="med"/>
                      <a:tailEnd type="none" w="med" len="med"/>
                    </a:lnR>
                    <a:lnT>
                      <a:noFill/>
                    </a:lnT>
                    <a:lnB w="6350" cap="flat" cmpd="sng" algn="ctr">
                      <a:solidFill>
                        <a:srgbClr val="000000"/>
                      </a:solidFill>
                      <a:prstDash val="solid"/>
                      <a:round/>
                      <a:headEnd type="none" w="med" len="med"/>
                      <a:tailEnd type="none" w="med" len="med"/>
                    </a:lnB>
                    <a:noFill/>
                  </a:tcPr>
                </a:tc>
                <a:tc>
                  <a:txBody>
                    <a:bodyPr/>
                    <a:lstStyle/>
                    <a:p>
                      <a:pPr algn="ctr" fontAlgn="b">
                        <a:buNone/>
                      </a:pPr>
                      <a:r>
                        <a:rPr lang="es-AR" sz="1100" b="0" i="0" u="none" strike="noStrike">
                          <a:solidFill>
                            <a:srgbClr val="000000"/>
                          </a:solidFill>
                          <a:effectLst/>
                          <a:latin typeface="Lucida Bright" panose="02040602050505020304" pitchFamily="18" charset="0"/>
                        </a:rPr>
                        <a:t>1.753***</a:t>
                      </a:r>
                    </a:p>
                  </a:txBody>
                  <a:tcPr marL="9525" marR="9525" marT="9525" marB="0" anchor="b">
                    <a:lnL w="6350" cap="flat" cmpd="sng" algn="ctr">
                      <a:solidFill>
                        <a:srgbClr val="000000"/>
                      </a:solidFill>
                      <a:prstDash val="dot"/>
                      <a:round/>
                      <a:headEnd type="none" w="med" len="med"/>
                      <a:tailEnd type="none" w="med" len="med"/>
                    </a:lnL>
                    <a:lnR w="6350" cap="flat" cmpd="sng" algn="ctr">
                      <a:solidFill>
                        <a:srgbClr val="000000"/>
                      </a:solidFill>
                      <a:prstDash val="dot"/>
                      <a:round/>
                      <a:headEnd type="none" w="med" len="med"/>
                      <a:tailEnd type="none" w="med" len="med"/>
                    </a:lnR>
                    <a:lnT>
                      <a:noFill/>
                    </a:lnT>
                    <a:lnB w="6350" cap="flat" cmpd="sng" algn="ctr">
                      <a:solidFill>
                        <a:srgbClr val="000000"/>
                      </a:solidFill>
                      <a:prstDash val="solid"/>
                      <a:round/>
                      <a:headEnd type="none" w="med" len="med"/>
                      <a:tailEnd type="none" w="med" len="med"/>
                    </a:lnB>
                    <a:noFill/>
                  </a:tcPr>
                </a:tc>
                <a:tc>
                  <a:txBody>
                    <a:bodyPr/>
                    <a:lstStyle/>
                    <a:p>
                      <a:pPr algn="ctr" fontAlgn="b">
                        <a:buNone/>
                      </a:pPr>
                      <a:r>
                        <a:rPr lang="es-AR" sz="1100" b="0" i="0" u="none" strike="noStrike">
                          <a:solidFill>
                            <a:srgbClr val="000000"/>
                          </a:solidFill>
                          <a:effectLst/>
                          <a:latin typeface="Lucida Bright" panose="02040602050505020304" pitchFamily="18" charset="0"/>
                        </a:rPr>
                        <a:t>1.899***</a:t>
                      </a:r>
                    </a:p>
                  </a:txBody>
                  <a:tcPr marL="9525" marR="9525" marT="9525" marB="0" anchor="b">
                    <a:lnL w="6350" cap="flat" cmpd="sng" algn="ctr">
                      <a:solidFill>
                        <a:srgbClr val="000000"/>
                      </a:solidFill>
                      <a:prstDash val="dot"/>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2164507171"/>
                  </a:ext>
                </a:extLst>
              </a:tr>
              <a:tr h="190500">
                <a:tc>
                  <a:txBody>
                    <a:bodyPr/>
                    <a:lstStyle/>
                    <a:p>
                      <a:pPr algn="l" fontAlgn="b">
                        <a:buNone/>
                      </a:pPr>
                      <a:r>
                        <a:rPr lang="es-AR" sz="1100" b="0" i="0" u="none" strike="noStrike">
                          <a:solidFill>
                            <a:srgbClr val="000000"/>
                          </a:solidFill>
                          <a:effectLst/>
                          <a:latin typeface="Lucida Bright" panose="02040602050505020304" pitchFamily="18" charset="0"/>
                        </a:rPr>
                        <a:t>R² ajustado</a:t>
                      </a:r>
                    </a:p>
                  </a:txBody>
                  <a:tcPr marL="9525" marR="9525" marT="9525"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b">
                        <a:buNone/>
                      </a:pPr>
                      <a:r>
                        <a:rPr lang="es-AR" sz="1100" b="1" i="0" u="none" strike="noStrike" dirty="0">
                          <a:solidFill>
                            <a:srgbClr val="000000"/>
                          </a:solidFill>
                          <a:effectLst/>
                          <a:latin typeface="Lucida Bright" panose="02040602050505020304" pitchFamily="18" charset="0"/>
                        </a:rPr>
                        <a:t>0.285</a:t>
                      </a:r>
                    </a:p>
                  </a:txBody>
                  <a:tcPr marL="9525" marR="9525" marT="9525" marB="0" anchor="b">
                    <a:lnL w="6350" cap="flat" cmpd="sng" algn="ctr">
                      <a:solidFill>
                        <a:srgbClr val="000000"/>
                      </a:solidFill>
                      <a:prstDash val="solid"/>
                      <a:round/>
                      <a:headEnd type="none" w="med" len="med"/>
                      <a:tailEnd type="none" w="med" len="med"/>
                    </a:lnL>
                    <a:lnR w="6350" cap="flat" cmpd="sng" algn="ctr">
                      <a:solidFill>
                        <a:srgbClr val="000000"/>
                      </a:solidFill>
                      <a:prstDash val="dot"/>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b">
                        <a:buNone/>
                      </a:pPr>
                      <a:r>
                        <a:rPr lang="es-AR" sz="1100" b="1" i="0" u="none" strike="noStrike">
                          <a:solidFill>
                            <a:srgbClr val="000000"/>
                          </a:solidFill>
                          <a:effectLst/>
                          <a:latin typeface="Lucida Bright" panose="02040602050505020304" pitchFamily="18" charset="0"/>
                        </a:rPr>
                        <a:t>0.214</a:t>
                      </a:r>
                    </a:p>
                  </a:txBody>
                  <a:tcPr marL="9525" marR="9525" marT="9525" marB="0" anchor="b">
                    <a:lnL w="6350" cap="flat" cmpd="sng" algn="ctr">
                      <a:solidFill>
                        <a:srgbClr val="000000"/>
                      </a:solidFill>
                      <a:prstDash val="dot"/>
                      <a:round/>
                      <a:headEnd type="none" w="med" len="med"/>
                      <a:tailEnd type="none" w="med" len="med"/>
                    </a:lnL>
                    <a:lnR w="6350" cap="flat" cmpd="sng" algn="ctr">
                      <a:solidFill>
                        <a:srgbClr val="000000"/>
                      </a:solidFill>
                      <a:prstDash val="dot"/>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b">
                        <a:buNone/>
                      </a:pPr>
                      <a:r>
                        <a:rPr lang="es-AR" sz="1100" b="1" i="0" u="none" strike="noStrike">
                          <a:solidFill>
                            <a:srgbClr val="000000"/>
                          </a:solidFill>
                          <a:effectLst/>
                          <a:latin typeface="Lucida Bright" panose="02040602050505020304" pitchFamily="18" charset="0"/>
                        </a:rPr>
                        <a:t>0.05</a:t>
                      </a:r>
                    </a:p>
                  </a:txBody>
                  <a:tcPr marL="9525" marR="9525" marT="9525" marB="0" anchor="b">
                    <a:lnL w="6350" cap="flat" cmpd="sng" algn="ctr">
                      <a:solidFill>
                        <a:srgbClr val="000000"/>
                      </a:solidFill>
                      <a:prstDash val="dot"/>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b">
                        <a:buNone/>
                      </a:pPr>
                      <a:r>
                        <a:rPr lang="es-AR" sz="1100" b="1" i="0" u="none" strike="noStrike">
                          <a:solidFill>
                            <a:srgbClr val="000000"/>
                          </a:solidFill>
                          <a:effectLst/>
                          <a:latin typeface="Lucida Bright" panose="02040602050505020304" pitchFamily="18" charset="0"/>
                        </a:rPr>
                        <a:t>0.283</a:t>
                      </a:r>
                    </a:p>
                  </a:txBody>
                  <a:tcPr marL="9525" marR="9525" marT="9525" marB="0" anchor="b">
                    <a:lnL w="6350" cap="flat" cmpd="sng" algn="ctr">
                      <a:solidFill>
                        <a:srgbClr val="000000"/>
                      </a:solidFill>
                      <a:prstDash val="solid"/>
                      <a:round/>
                      <a:headEnd type="none" w="med" len="med"/>
                      <a:tailEnd type="none" w="med" len="med"/>
                    </a:lnL>
                    <a:lnR w="6350" cap="flat" cmpd="sng" algn="ctr">
                      <a:solidFill>
                        <a:srgbClr val="000000"/>
                      </a:solidFill>
                      <a:prstDash val="dot"/>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b">
                        <a:buNone/>
                      </a:pPr>
                      <a:r>
                        <a:rPr lang="es-AR" sz="1100" b="1" i="0" u="none" strike="noStrike">
                          <a:solidFill>
                            <a:srgbClr val="000000"/>
                          </a:solidFill>
                          <a:effectLst/>
                          <a:latin typeface="Lucida Bright" panose="02040602050505020304" pitchFamily="18" charset="0"/>
                        </a:rPr>
                        <a:t>0.223</a:t>
                      </a:r>
                    </a:p>
                  </a:txBody>
                  <a:tcPr marL="9525" marR="9525" marT="9525" marB="0" anchor="b">
                    <a:lnL w="6350" cap="flat" cmpd="sng" algn="ctr">
                      <a:solidFill>
                        <a:srgbClr val="000000"/>
                      </a:solidFill>
                      <a:prstDash val="dot"/>
                      <a:round/>
                      <a:headEnd type="none" w="med" len="med"/>
                      <a:tailEnd type="none" w="med" len="med"/>
                    </a:lnL>
                    <a:lnR w="6350" cap="flat" cmpd="sng" algn="ctr">
                      <a:solidFill>
                        <a:srgbClr val="000000"/>
                      </a:solidFill>
                      <a:prstDash val="dot"/>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b">
                        <a:buNone/>
                      </a:pPr>
                      <a:r>
                        <a:rPr lang="es-AR" sz="1100" b="1" i="0" u="none" strike="noStrike">
                          <a:solidFill>
                            <a:srgbClr val="000000"/>
                          </a:solidFill>
                          <a:effectLst/>
                          <a:latin typeface="Lucida Bright" panose="02040602050505020304" pitchFamily="18" charset="0"/>
                        </a:rPr>
                        <a:t>0.051</a:t>
                      </a:r>
                    </a:p>
                  </a:txBody>
                  <a:tcPr marL="9525" marR="9525" marT="9525" marB="0" anchor="b">
                    <a:lnL w="6350" cap="flat" cmpd="sng" algn="ctr">
                      <a:solidFill>
                        <a:srgbClr val="000000"/>
                      </a:solidFill>
                      <a:prstDash val="dot"/>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b">
                        <a:buNone/>
                      </a:pPr>
                      <a:r>
                        <a:rPr lang="es-AR" sz="1100" b="1" i="0" u="none" strike="noStrike">
                          <a:solidFill>
                            <a:srgbClr val="000000"/>
                          </a:solidFill>
                          <a:effectLst/>
                          <a:latin typeface="Lucida Bright" panose="02040602050505020304" pitchFamily="18" charset="0"/>
                        </a:rPr>
                        <a:t>0.751</a:t>
                      </a:r>
                    </a:p>
                  </a:txBody>
                  <a:tcPr marL="9525" marR="9525" marT="9525" marB="0" anchor="b">
                    <a:lnL w="6350" cap="flat" cmpd="sng" algn="ctr">
                      <a:solidFill>
                        <a:srgbClr val="000000"/>
                      </a:solidFill>
                      <a:prstDash val="solid"/>
                      <a:round/>
                      <a:headEnd type="none" w="med" len="med"/>
                      <a:tailEnd type="none" w="med" len="med"/>
                    </a:lnL>
                    <a:lnR w="6350" cap="flat" cmpd="sng" algn="ctr">
                      <a:solidFill>
                        <a:srgbClr val="000000"/>
                      </a:solidFill>
                      <a:prstDash val="dot"/>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b">
                        <a:buNone/>
                      </a:pPr>
                      <a:r>
                        <a:rPr lang="es-AR" sz="1100" b="1" i="0" u="none" strike="noStrike">
                          <a:solidFill>
                            <a:srgbClr val="000000"/>
                          </a:solidFill>
                          <a:effectLst/>
                          <a:latin typeface="Lucida Bright" panose="02040602050505020304" pitchFamily="18" charset="0"/>
                        </a:rPr>
                        <a:t>0.564</a:t>
                      </a:r>
                    </a:p>
                  </a:txBody>
                  <a:tcPr marL="9525" marR="9525" marT="9525" marB="0" anchor="b">
                    <a:lnL w="6350" cap="flat" cmpd="sng" algn="ctr">
                      <a:solidFill>
                        <a:srgbClr val="000000"/>
                      </a:solidFill>
                      <a:prstDash val="dot"/>
                      <a:round/>
                      <a:headEnd type="none" w="med" len="med"/>
                      <a:tailEnd type="none" w="med" len="med"/>
                    </a:lnL>
                    <a:lnR w="6350" cap="flat" cmpd="sng" algn="ctr">
                      <a:solidFill>
                        <a:srgbClr val="000000"/>
                      </a:solidFill>
                      <a:prstDash val="dot"/>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b">
                        <a:buNone/>
                      </a:pPr>
                      <a:r>
                        <a:rPr lang="es-AR" sz="1100" b="1" i="0" u="none" strike="noStrike">
                          <a:solidFill>
                            <a:srgbClr val="000000"/>
                          </a:solidFill>
                          <a:effectLst/>
                          <a:latin typeface="Lucida Bright" panose="02040602050505020304" pitchFamily="18" charset="0"/>
                        </a:rPr>
                        <a:t>0.577</a:t>
                      </a:r>
                    </a:p>
                  </a:txBody>
                  <a:tcPr marL="9525" marR="9525" marT="9525" marB="0" anchor="b">
                    <a:lnL w="6350" cap="flat" cmpd="sng" algn="ctr">
                      <a:solidFill>
                        <a:srgbClr val="000000"/>
                      </a:solidFill>
                      <a:prstDash val="dot"/>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b">
                        <a:buNone/>
                      </a:pPr>
                      <a:r>
                        <a:rPr lang="es-AR" sz="1100" b="1" i="0" u="none" strike="noStrike">
                          <a:solidFill>
                            <a:srgbClr val="000000"/>
                          </a:solidFill>
                          <a:effectLst/>
                          <a:latin typeface="Lucida Bright" panose="02040602050505020304" pitchFamily="18" charset="0"/>
                        </a:rPr>
                        <a:t>0.754</a:t>
                      </a:r>
                    </a:p>
                  </a:txBody>
                  <a:tcPr marL="9525" marR="9525" marT="9525" marB="0" anchor="b">
                    <a:lnL w="6350" cap="flat" cmpd="sng" algn="ctr">
                      <a:solidFill>
                        <a:srgbClr val="000000"/>
                      </a:solidFill>
                      <a:prstDash val="solid"/>
                      <a:round/>
                      <a:headEnd type="none" w="med" len="med"/>
                      <a:tailEnd type="none" w="med" len="med"/>
                    </a:lnL>
                    <a:lnR w="6350" cap="flat" cmpd="sng" algn="ctr">
                      <a:solidFill>
                        <a:srgbClr val="000000"/>
                      </a:solidFill>
                      <a:prstDash val="dot"/>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b">
                        <a:buNone/>
                      </a:pPr>
                      <a:r>
                        <a:rPr lang="es-AR" sz="1100" b="1" i="0" u="none" strike="noStrike">
                          <a:solidFill>
                            <a:srgbClr val="000000"/>
                          </a:solidFill>
                          <a:effectLst/>
                          <a:latin typeface="Lucida Bright" panose="02040602050505020304" pitchFamily="18" charset="0"/>
                        </a:rPr>
                        <a:t>0.582</a:t>
                      </a:r>
                    </a:p>
                  </a:txBody>
                  <a:tcPr marL="9525" marR="9525" marT="9525" marB="0" anchor="b">
                    <a:lnL w="6350" cap="flat" cmpd="sng" algn="ctr">
                      <a:solidFill>
                        <a:srgbClr val="000000"/>
                      </a:solidFill>
                      <a:prstDash val="dot"/>
                      <a:round/>
                      <a:headEnd type="none" w="med" len="med"/>
                      <a:tailEnd type="none" w="med" len="med"/>
                    </a:lnL>
                    <a:lnR w="6350" cap="flat" cmpd="sng" algn="ctr">
                      <a:solidFill>
                        <a:srgbClr val="000000"/>
                      </a:solidFill>
                      <a:prstDash val="dot"/>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b">
                        <a:buNone/>
                      </a:pPr>
                      <a:r>
                        <a:rPr lang="es-AR" sz="1100" b="1" i="0" u="none" strike="noStrike" dirty="0">
                          <a:solidFill>
                            <a:srgbClr val="000000"/>
                          </a:solidFill>
                          <a:effectLst/>
                          <a:latin typeface="Lucida Bright" panose="02040602050505020304" pitchFamily="18" charset="0"/>
                        </a:rPr>
                        <a:t>0.597</a:t>
                      </a:r>
                    </a:p>
                  </a:txBody>
                  <a:tcPr marL="9525" marR="9525" marT="9525" marB="0" anchor="b">
                    <a:lnL w="6350" cap="flat" cmpd="sng" algn="ctr">
                      <a:solidFill>
                        <a:srgbClr val="000000"/>
                      </a:solidFill>
                      <a:prstDash val="dot"/>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1956195911"/>
                  </a:ext>
                </a:extLst>
              </a:tr>
            </a:tbl>
          </a:graphicData>
        </a:graphic>
      </p:graphicFrame>
      <p:sp>
        <p:nvSpPr>
          <p:cNvPr id="13" name="CuadroTexto 12">
            <a:extLst>
              <a:ext uri="{FF2B5EF4-FFF2-40B4-BE49-F238E27FC236}">
                <a16:creationId xmlns:a16="http://schemas.microsoft.com/office/drawing/2014/main" id="{51AC369A-CFE0-6518-867D-D9AC26036C09}"/>
              </a:ext>
            </a:extLst>
          </p:cNvPr>
          <p:cNvSpPr txBox="1"/>
          <p:nvPr/>
        </p:nvSpPr>
        <p:spPr>
          <a:xfrm>
            <a:off x="3004917" y="1287662"/>
            <a:ext cx="5450645" cy="253916"/>
          </a:xfrm>
          <a:prstGeom prst="rect">
            <a:avLst/>
          </a:prstGeom>
          <a:noFill/>
        </p:spPr>
        <p:txBody>
          <a:bodyPr wrap="square" rtlCol="0">
            <a:spAutoFit/>
          </a:bodyPr>
          <a:lstStyle/>
          <a:p>
            <a:r>
              <a:rPr lang="es-MX" sz="1050" b="1" dirty="0">
                <a:latin typeface="Lucida Bright" panose="02040602050505020304" pitchFamily="18" charset="0"/>
              </a:rPr>
              <a:t>Cuadro 3</a:t>
            </a:r>
            <a:r>
              <a:rPr lang="es-MX" sz="1050" dirty="0">
                <a:latin typeface="Lucida Bright" panose="02040602050505020304" pitchFamily="18" charset="0"/>
              </a:rPr>
              <a:t> | Resultado de regresiones sobre exportaciones de </a:t>
            </a:r>
            <a:r>
              <a:rPr lang="es-MX" sz="1050" b="1" dirty="0">
                <a:latin typeface="Lucida Bright" panose="02040602050505020304" pitchFamily="18" charset="0"/>
              </a:rPr>
              <a:t>MOA</a:t>
            </a:r>
            <a:r>
              <a:rPr lang="es-MX" sz="1050" dirty="0">
                <a:latin typeface="Lucida Bright" panose="02040602050505020304" pitchFamily="18" charset="0"/>
              </a:rPr>
              <a:t> de Santa Fe</a:t>
            </a:r>
            <a:endParaRPr lang="es-AR" sz="1050" dirty="0">
              <a:latin typeface="Lucida Bright" panose="02040602050505020304" pitchFamily="18" charset="0"/>
            </a:endParaRPr>
          </a:p>
        </p:txBody>
      </p:sp>
      <p:sp>
        <p:nvSpPr>
          <p:cNvPr id="14" name="CuadroTexto 13">
            <a:extLst>
              <a:ext uri="{FF2B5EF4-FFF2-40B4-BE49-F238E27FC236}">
                <a16:creationId xmlns:a16="http://schemas.microsoft.com/office/drawing/2014/main" id="{D6A66AB1-5602-B98C-B8F9-B08AAC24B87F}"/>
              </a:ext>
            </a:extLst>
          </p:cNvPr>
          <p:cNvSpPr txBox="1"/>
          <p:nvPr/>
        </p:nvSpPr>
        <p:spPr>
          <a:xfrm>
            <a:off x="3004916" y="3490195"/>
            <a:ext cx="5450645" cy="253916"/>
          </a:xfrm>
          <a:prstGeom prst="rect">
            <a:avLst/>
          </a:prstGeom>
          <a:noFill/>
        </p:spPr>
        <p:txBody>
          <a:bodyPr wrap="square" rtlCol="0">
            <a:spAutoFit/>
          </a:bodyPr>
          <a:lstStyle/>
          <a:p>
            <a:r>
              <a:rPr lang="es-MX" sz="1050" b="1" dirty="0">
                <a:latin typeface="Lucida Bright" panose="02040602050505020304" pitchFamily="18" charset="0"/>
              </a:rPr>
              <a:t>Cuadro 4</a:t>
            </a:r>
            <a:r>
              <a:rPr lang="es-MX" sz="1050" dirty="0">
                <a:latin typeface="Lucida Bright" panose="02040602050505020304" pitchFamily="18" charset="0"/>
              </a:rPr>
              <a:t> | Resultado de regresiones sobre exportaciones de </a:t>
            </a:r>
            <a:r>
              <a:rPr lang="es-MX" sz="1050" b="1" dirty="0">
                <a:latin typeface="Lucida Bright" panose="02040602050505020304" pitchFamily="18" charset="0"/>
              </a:rPr>
              <a:t>MOI</a:t>
            </a:r>
            <a:r>
              <a:rPr lang="es-MX" sz="1050" dirty="0">
                <a:latin typeface="Lucida Bright" panose="02040602050505020304" pitchFamily="18" charset="0"/>
              </a:rPr>
              <a:t> de Santa Fe</a:t>
            </a:r>
            <a:endParaRPr lang="es-AR" sz="1050" dirty="0">
              <a:latin typeface="Lucida Bright" panose="02040602050505020304" pitchFamily="18" charset="0"/>
            </a:endParaRPr>
          </a:p>
        </p:txBody>
      </p:sp>
    </p:spTree>
    <p:extLst>
      <p:ext uri="{BB962C8B-B14F-4D97-AF65-F5344CB8AC3E}">
        <p14:creationId xmlns:p14="http://schemas.microsoft.com/office/powerpoint/2010/main" val="238102761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4FFA576-7D2D-4544-E852-F15026EEE764}"/>
            </a:ext>
          </a:extLst>
        </p:cNvPr>
        <p:cNvGrpSpPr/>
        <p:nvPr/>
      </p:nvGrpSpPr>
      <p:grpSpPr>
        <a:xfrm>
          <a:off x="0" y="0"/>
          <a:ext cx="0" cy="0"/>
          <a:chOff x="0" y="0"/>
          <a:chExt cx="0" cy="0"/>
        </a:xfrm>
      </p:grpSpPr>
      <p:pic>
        <p:nvPicPr>
          <p:cNvPr id="3" name="Imagen 2" descr="Texto&#10;&#10;El contenido generado por IA puede ser incorrecto.">
            <a:extLst>
              <a:ext uri="{FF2B5EF4-FFF2-40B4-BE49-F238E27FC236}">
                <a16:creationId xmlns:a16="http://schemas.microsoft.com/office/drawing/2014/main" id="{39903DAD-A902-16F3-279B-3C40A3B6E26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428"/>
            <a:ext cx="12192000" cy="6857143"/>
          </a:xfrm>
          <a:prstGeom prst="rect">
            <a:avLst/>
          </a:prstGeom>
        </p:spPr>
      </p:pic>
    </p:spTree>
    <p:extLst>
      <p:ext uri="{BB962C8B-B14F-4D97-AF65-F5344CB8AC3E}">
        <p14:creationId xmlns:p14="http://schemas.microsoft.com/office/powerpoint/2010/main" val="1799056320"/>
      </p:ext>
    </p:extLst>
  </p:cSld>
  <p:clrMapOvr>
    <a:masterClrMapping/>
  </p:clrMapOvr>
</p:sld>
</file>

<file path=ppt/theme/theme1.xml><?xml version="1.0" encoding="utf-8"?>
<a:theme xmlns:a="http://schemas.openxmlformats.org/drawingml/2006/main" name="Tema d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501</TotalTime>
  <Words>1585</Words>
  <Application>Microsoft Office PowerPoint</Application>
  <PresentationFormat>Panorámica</PresentationFormat>
  <Paragraphs>661</Paragraphs>
  <Slides>12</Slides>
  <Notes>0</Notes>
  <HiddenSlides>0</HiddenSlides>
  <MMClips>0</MMClips>
  <ScaleCrop>false</ScaleCrop>
  <HeadingPairs>
    <vt:vector size="6" baseType="variant">
      <vt:variant>
        <vt:lpstr>Fuentes usadas</vt:lpstr>
      </vt:variant>
      <vt:variant>
        <vt:i4>4</vt:i4>
      </vt:variant>
      <vt:variant>
        <vt:lpstr>Tema</vt:lpstr>
      </vt:variant>
      <vt:variant>
        <vt:i4>1</vt:i4>
      </vt:variant>
      <vt:variant>
        <vt:lpstr>Títulos de diapositiva</vt:lpstr>
      </vt:variant>
      <vt:variant>
        <vt:i4>12</vt:i4>
      </vt:variant>
    </vt:vector>
  </HeadingPairs>
  <TitlesOfParts>
    <vt:vector size="17" baseType="lpstr">
      <vt:lpstr>Aptos</vt:lpstr>
      <vt:lpstr>Aptos Display</vt:lpstr>
      <vt:lpstr>Arial</vt:lpstr>
      <vt:lpstr>Lucida Bright</vt:lpstr>
      <vt:lpstr>Tema de Office</vt:lpstr>
      <vt:lpstr>Presentación de PowerPoint</vt:lpstr>
      <vt:lpstr>Presentación de PowerPoint</vt:lpstr>
      <vt:lpstr>Presentación de PowerPoint</vt:lpstr>
      <vt:lpstr>Evidencia empírica para Argentina </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Katia Ingerman</dc:creator>
  <cp:lastModifiedBy>Francisco Leiva</cp:lastModifiedBy>
  <cp:revision>5</cp:revision>
  <dcterms:created xsi:type="dcterms:W3CDTF">2025-05-30T17:22:38Z</dcterms:created>
  <dcterms:modified xsi:type="dcterms:W3CDTF">2026-02-11T14:23:18Z</dcterms:modified>
</cp:coreProperties>
</file>